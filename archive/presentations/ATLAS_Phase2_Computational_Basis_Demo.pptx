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311" r:id="rId22"/>
    <p:sldId id="312" r:id="rId23"/>
    <p:sldId id="313" r:id="rId24"/>
    <p:sldId id="314" r:id="rId25"/>
    <p:sldId id="273" r:id="rId26"/>
    <p:sldId id="274" r:id="rId27"/>
    <p:sldId id="275" r:id="rId28"/>
    <p:sldId id="315" r:id="rId29"/>
    <p:sldId id="316" r:id="rId30"/>
    <p:sldId id="317" r:id="rId31"/>
    <p:sldId id="318" r:id="rId32"/>
    <p:sldId id="276" r:id="rId33"/>
    <p:sldId id="277" r:id="rId34"/>
    <p:sldId id="278" r:id="rId35"/>
    <p:sldId id="319" r:id="rId36"/>
    <p:sldId id="320" r:id="rId37"/>
    <p:sldId id="321" r:id="rId38"/>
    <p:sldId id="322" r:id="rId39"/>
    <p:sldId id="279" r:id="rId40"/>
    <p:sldId id="280" r:id="rId41"/>
    <p:sldId id="281" r:id="rId42"/>
    <p:sldId id="323" r:id="rId43"/>
    <p:sldId id="324" r:id="rId44"/>
    <p:sldId id="325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2.xml"/><Relationship Id="rId59" Type="http://schemas.openxmlformats.org/officeDocument/2006/relationships/presProps" Target="presProps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the payroll team that their written policies in Annex B are now configurable, computable and traceable in the application. Every screenshot is taken from the running prototype in wireframe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session: this is about traceability from their Excel to a working screen, not about software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nobody edits a formula. They pick an approved code and set its values for a group of employees.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engine has its own tab. The code beside the tab name is the governed policy code you assign in Company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wording from their own sample policy 3, typed straight into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codes on one engine: one governs the protected minimum, the other the caps. Both are assignable to their own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reuse: the schema is governed centrally, the values are the client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through the ledger: due, deducted, deferred, accumulated. This is their row 143-152 payslip requirement made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is the point: the system computes both and uses the better one, and records why it is tax exempt.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the link: retirement pay forms part of final pay, exactly as row 48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 used: from ₱33,333 with fixed tax ₱1,875 plus 20% on the excess. The trace shows the iteration and the gap closing to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re-keyed between engines. This is the answer to "does it connect".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open during Q&amp;A so anyone can challenge a screen and be shown the row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source of truth. Anything on screen that is not in one of these is flagged on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statutory numbers on screen are sample data pending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them to challenge any screen — the appendix has the row reference for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7373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ATLAS PHASE 2 · PAYROLL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103120"/>
            <a:ext cx="8229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Computational Basis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7680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your take-home pay, retirement, final pay and gross-up rules</a:t>
            </a:r>
            <a:endParaRPr lang="en-US" sz="17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inside the application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62656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58384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8384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54112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54112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25780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0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prototype · wireframe view · every screen in this deck is a live screenshot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will walk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25296" y="13624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33088" y="1362456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written policy becomes a governed code, then a Company Rule, then a payroll result.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386584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566928" y="238658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25296" y="23317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engines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33088" y="23317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Pay, Retirement Pay, Final Pay and Gross Up — each configured, each with a live scenario.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355848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566928" y="3355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25296" y="33009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33088" y="3300984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numbers your Annex B samples use, computed on screen.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325112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566928" y="43251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25296" y="427024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connects 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33088" y="4270248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Rules, reference tables, statutory tables and the employee masterfile.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294376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566928" y="52943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25296" y="523951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33088" y="5239512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maps every screen back to the exact workbook rows it came from.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IDEA IN ONE PICTURE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your written policy to a payroll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86384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policy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Annex B, written in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 business language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65476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7792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27248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127248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Governed code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08960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reusable policy-engine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code, e.g. THP-001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06340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68112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5468112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9824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Rule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49824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Assigned to an employee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with its own values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47204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08976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4" name="Text 22"/>
          <p:cNvSpPr/>
          <p:nvPr/>
        </p:nvSpPr>
        <p:spPr>
          <a:xfrm>
            <a:off x="7808976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90688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engine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90688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Computes and shows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its full working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88068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30384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49840" y="182880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0" name="Text 28"/>
          <p:cNvSpPr/>
          <p:nvPr/>
        </p:nvSpPr>
        <p:spPr>
          <a:xfrm>
            <a:off x="10149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31552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Payroll result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131552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Deductions, deferrals,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ledger and payslip tags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4343400"/>
            <a:ext cx="11027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code can be reused by many rules. The values change per rule; the approved formula never does.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" y="4892040"/>
            <a:ext cx="859536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89204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BRD “Rules Set Up — Client-defined Rules”; Annex B Take Home Pay rows 113–156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Computational Basis sits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6-basis-computa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Computational Basis — wireframe view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controlled library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formulas, the client assignments that use them, the four policy engines, and the reference sources they read.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Nothing is hand-typed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Rates, brackets and ceilings live in versioned tables — not inside a formula.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Reached from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Configuration → Services Information → Computational Basis.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BRD Computational Basis Module (feature points 73–82)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OF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four policy engines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9c-takehome-tab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280160"/>
            <a:ext cx="9290304" cy="56692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66928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4"/>
          <p:cNvSpPr/>
          <p:nvPr/>
        </p:nvSpPr>
        <p:spPr>
          <a:xfrm>
            <a:off x="804672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THP-001 · THP-002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Protects a minimum net pay and caps controllable deductions, deferring the rest in a set order.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56432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94176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/>
          <p:nvPr/>
        </p:nvSpPr>
        <p:spPr>
          <a:xfrm>
            <a:off x="3694176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94176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94176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RET-001 · RET-002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94176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the statutory 22.5-day formula, compares it with the company plan, and takes the better one.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45936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/>
          <p:nvPr/>
        </p:nvSpPr>
        <p:spPr>
          <a:xfrm>
            <a:off x="6583680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83680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83680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FIN-001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every enabled component, offsets authorised balances, and returns a net final pay breakdown.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235440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73184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/>
          <p:nvPr/>
        </p:nvSpPr>
        <p:spPr>
          <a:xfrm>
            <a:off x="9473184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473184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473184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GUP-001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473184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Solves the gross needed to guarantee a net amount, using the effective BIR withholding table.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66928" y="5623560"/>
            <a:ext cx="8778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562356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sheets: Take Home Pay · Retirement Pay · Final Pay · Gross Up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CONNECTION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Company Rules is where a policy is applied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2-company-ru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Rules register — wireframe view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register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rule for the company, whichever engine computes it.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Engine-owned rows are locked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rule backed by a policy engine can only be changed in that engine — so the register can never disagree with the calculation.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New Rule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steps: who it applies to, which governed code, then the values.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BRD feature point 60, “Rules Set Up — Client-defined Rules”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APPLYING A RULE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 1 — who and what it applies to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3-rule-step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46" y="1325880"/>
            <a:ext cx="5977563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rule in your own words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“Employees must receive at least 30% of their total gross pay less reimbursements / receivables.”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group basis is chosen first, so the same policy can differ by group — exactly as your samples are written “(employee group assignment)”.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“Take Home Pay” rows 21–27 (policy 3)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APPLYING A RULE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 2 — pick the governed computation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4-rule-step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408"/>
            <a:ext cx="6400800" cy="4407824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approved codes appear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87768" y="1810512"/>
            <a:ext cx="430682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list is filtered to codes mapped to the chosen sub-category. A user cannot invent a formula here — they can only start a variant from an approved template.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287768" y="3154680"/>
            <a:ext cx="430682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THP-001  Minimum Take-Home Pay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THP-002  Maximum Controllable Deductions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87768" y="420624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34072" y="420624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rows 4–5 (policy 1) and 45–51 (loan cap)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APPLYING A RULE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 3 — set the values for this rule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5-rule-paramet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325880"/>
            <a:ext cx="4754880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556248" y="1463040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Values vary, the schema does not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56248" y="1810512"/>
            <a:ext cx="5038344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parameter list comes from the approved code. This rule sets its own base, threshold type and threshold — another rule on the same code can set different ones.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56248" y="3291840"/>
            <a:ext cx="5038344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what makes one policy library serve many companies and many employee groups without copying formulas.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56248" y="4572000"/>
            <a:ext cx="50383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02552" y="4572000"/>
            <a:ext cx="47640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rows 113–124, “Possible Company Set Up” 1–5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LIBRARY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 sub-category has a governed code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7-code-libr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0820"/>
            <a:ext cx="7680960" cy="436212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879592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engine code library — wireframe view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659368" y="13716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is measured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59368" y="16093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header shows how many Company Rules sub-categories already have an approved template behind them.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59368" y="22860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vs variant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59368" y="25237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codes are locked. A client variant starts from a standard code and only its values differ.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59368" y="32004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engine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59368" y="34381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Jumps straight to the engine that computes that code.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59368" y="6053328"/>
            <a:ext cx="29352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05672" y="6053328"/>
            <a:ext cx="2660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BRD feature points 19–20, Computational Basis set-up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Take-Home Pay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 a minimum net pay, cap what can be deducted, and defer the rest in a defined order.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minimum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/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Deduction and loan caps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Adjustment hierarchy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/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Defer and carry forward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Your protected minimum, configured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8a-takehome-thresh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99" y="1463040"/>
            <a:ext cx="6262019" cy="310896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Take-Home Pay settings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Pay · Gross Pay · Gross Pay less reimbursements — the three bases your samples describe.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percentage or a fixed peso amount, including zero.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 of ₱34,500 = a protected minimum of ₱10,350 for this scenario.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“Take Home Pay” rows 4, 13, 21, 29, 37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Caps on deductions, loans and attendance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8b-takehome-cap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09" y="1371600"/>
            <a:ext cx="4264197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 configuration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16168" y="13716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cap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16168" y="16093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“Total loan repayments may not exceed 25% of gross salary” — or a fixed amount such as ₱10,000.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16168" y="22860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LAABS cap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16168" y="25237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Lates, absences and undertime capped by percentage, peso amount, or a number of days.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16168" y="32004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priority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16168" y="34381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loans are already at their cap but net pay is still short, the company decides which rule wins.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16168" y="6053328"/>
            <a:ext cx="56784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62472" y="6053328"/>
            <a:ext cx="54041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rows 45–84 (caps) and 106–109 (conflict priority)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adjustment hierarchy, exactly as you ranked it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8c-takehome-hierarch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162" y="1371600"/>
            <a:ext cx="2393453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Deduction and loan hierarchy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910328" y="13716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Ranked, not guessed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10328" y="16093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Statutory deductions are rank 0 and always applied in full. Everything else is adjusted in your stated order.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10328" y="22860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 adjustment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10328" y="25237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engine only trims as much as it needs. If adjusting rank 1 is enough to meet the minimum, it stops there.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10328" y="32004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Maintained as a reference table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10328" y="34381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order is data, so it can change without touching the calculation.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910328" y="6053328"/>
            <a:ext cx="668426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56632" y="6053328"/>
            <a:ext cx="64099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rows 85–103, hierarchy table and note at row 87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payroll period, computed on screen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9a-takehome-inpu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08" y="1325880"/>
            <a:ext cx="3659160" cy="42062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5" name="Image 1" descr="C:/Users/josrp/AppData/Local/Temp/claude/C--Users-josrp-OneDrive-Documents-Atlas/61054054-2f2e-4fa9-befa-38d158ad8b42/scratchpad/deck/shots/09b-takehome-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60230"/>
            <a:ext cx="4206240" cy="294881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9281160" y="137160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pay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9281160" y="159105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₱36,500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281160" y="2130552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 reimbursements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281160" y="2350008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₱2,000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281160" y="2889504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base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281160" y="3108960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₱34,500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281160" y="3648456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minimum (30%)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281160" y="3867912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₱10,350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281160" y="4407408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take-home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281160" y="4626864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₱15,500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9281160" y="516636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Deferred this cutoff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281160" y="538581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₱750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800600" y="45262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Statutory stayed whole at ₱6,500. Only the ranked items moved.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00600" y="5120640"/>
            <a:ext cx="4206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46904" y="51206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rows 8–11 (statutory in full, defer, carry over, notify)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Deferred amounts are tracked, not lost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09c-takehome-carryforw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71" y="1371600"/>
            <a:ext cx="642459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6583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Carry-forward and payslip tagging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562088" y="13716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Carried forward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62088" y="16093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Outstanding amount, rescheduled deduction date and the new balance — the three fields you asked for.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62088" y="22860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Payslip tag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62088" y="25237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originally due, deducted, deferred, accumulated, remaining balance and the reason.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62088" y="32004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62088" y="34381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employee can trace a repayment across several cutoffs, and loan balances stay correct.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62088" y="6053328"/>
            <a:ext cx="40325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08392" y="6053328"/>
            <a:ext cx="3758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rows 138–155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codes, one company policy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0-takehome-thp0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090" y="1371600"/>
            <a:ext cx="48449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5669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Opened from THP-002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47688" y="13716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THP-001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47688" y="16093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Governs the protected minimum: base, threshold and deferral behaviour.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47688" y="22860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THP-002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47688" y="25237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Governs the caps: deductions, loans, attendance and conflict priority.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47688" y="32004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policy underneath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47688" y="34381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company keeps one take-home policy. The two codes let you assign its parts to different rules without duplicating 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47688" y="6053328"/>
            <a:ext cx="49469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93992" y="6053328"/>
            <a:ext cx="46725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rows 113–130, set-up items 1–6b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FIELD GUIDE 1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Protected minimum fields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th-1-protect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53237"/>
            <a:ext cx="5806440" cy="212876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2835533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8995" y="2835533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802282"/>
            <a:ext cx="0" cy="103325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9672" y="1802282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10400" y="319630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2809951"/>
            <a:ext cx="0" cy="38635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2809951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8995" y="2835533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8995" y="2835533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2835533"/>
            <a:ext cx="0" cy="9820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5509" y="3817620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0400" y="3858362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3858362"/>
            <a:ext cx="0" cy="9669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8427" y="482528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10400" y="4520418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51346" y="4520418"/>
            <a:ext cx="0" cy="131253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51346" y="5832958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280979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80979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0296" y="1371600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group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068312" y="1755648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this rule to a defined employee population, e.g. Rank and File.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82384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82384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40296" y="2379269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50024" y="2488997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/>
          <p:nvPr/>
        </p:nvSpPr>
        <p:spPr>
          <a:xfrm>
            <a:off x="7050024" y="248899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379208" y="2452421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base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068312" y="2763317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earnings amount used to calculate the minimum take-home threshold.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280979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80979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940296" y="3386938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050024" y="349666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0" name="Text 37"/>
          <p:cNvSpPr/>
          <p:nvPr/>
        </p:nvSpPr>
        <p:spPr>
          <a:xfrm>
            <a:off x="7050024" y="349666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379208" y="346009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type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068312" y="3770986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the protected minimum is a percentage or a fixed peso amount.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082384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082384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940296" y="4394606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50024" y="450433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7" name="Text 44"/>
          <p:cNvSpPr/>
          <p:nvPr/>
        </p:nvSpPr>
        <p:spPr>
          <a:xfrm>
            <a:off x="7050024" y="450433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379208" y="446775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7068312" y="4778654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protected minimum value applied to the selected base.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082384" y="43924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082384" y="43924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940296" y="5402275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050024" y="5512003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4" name="Text 51"/>
          <p:cNvSpPr/>
          <p:nvPr/>
        </p:nvSpPr>
        <p:spPr>
          <a:xfrm>
            <a:off x="7050024" y="5512003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379208" y="5475427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priority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7068312" y="5786323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happens when loans are already at their cap but net pay is still short — protect take-home pay, or protect loan collection instead.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FIELD GUIDE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Deductions cap fields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th-2-deduc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46981"/>
            <a:ext cx="5806440" cy="254127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00215" y="3203945"/>
            <a:ext cx="31945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19672" y="1928241"/>
            <a:ext cx="0" cy="127570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408995" y="2629277"/>
            <a:ext cx="0" cy="143534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08995" y="2629277"/>
            <a:ext cx="314359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2629277"/>
            <a:ext cx="0" cy="55855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210400" y="4064618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5509" y="4064618"/>
            <a:ext cx="0" cy="38279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408995" y="4726674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18427" y="4726674"/>
            <a:ext cx="0" cy="98032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072199" y="307592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72199" y="307592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 total deductions cap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the total non-loan deductions that may be collected in one payroll period.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80979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80979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Deductions cap base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Earnings amount the deductions cap percentage is measured against.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82384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82384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Deductions cap type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the deductions cap is a percentage of the base or a fixed amount.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280979" y="459865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80979" y="459865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Deductions cap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Maximum total non-loan deduction allowed for the payroll period.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FIELD GUIDE 3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Loan cap and attendance cap fields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th-3-cap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3863"/>
            <a:ext cx="5806440" cy="370751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2046159"/>
            <a:ext cx="0" cy="72235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8995" y="2046159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718310"/>
            <a:ext cx="0" cy="3278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9672" y="1718310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10400" y="276851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2558034"/>
            <a:ext cx="0" cy="21048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2558034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8995" y="343057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5509" y="3397758"/>
            <a:ext cx="0" cy="3281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3397758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408995" y="2046159"/>
            <a:ext cx="0" cy="26015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8995" y="2046159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2046159"/>
            <a:ext cx="0" cy="219132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8427" y="4237482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10400" y="4647737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51346" y="4647737"/>
            <a:ext cx="0" cy="4294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51346" y="5077206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408995" y="5309793"/>
            <a:ext cx="3275269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84264" y="5309793"/>
            <a:ext cx="0" cy="60713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84264" y="5916930"/>
            <a:ext cx="256032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280979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80979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940296" y="137160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cap base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068312" y="175564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Earnings amount the loan cap percentage is measured against.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082384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82384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940296" y="2211324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50024" y="232105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/>
          <p:nvPr/>
        </p:nvSpPr>
        <p:spPr>
          <a:xfrm>
            <a:off x="7050024" y="23210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379208" y="228447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cap type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068312" y="2595372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the loan cap is a percentage of the base or a fixed amount.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280979" y="330255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80979" y="33025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940296" y="3051048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50024" y="316077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/>
          <p:nvPr/>
        </p:nvSpPr>
        <p:spPr>
          <a:xfrm>
            <a:off x="7050024" y="31607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379208" y="312420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cap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7068312" y="3435096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Maximum total loan repayment that can be deducted in the current payroll.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80979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80979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940296" y="3890772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0" name="Text 47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cap base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7068312" y="4274820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Earnings amount the attendance cap percentage is measured against.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6082384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082384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940296" y="4730496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050024" y="484022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7" name="Text 54"/>
          <p:cNvSpPr/>
          <p:nvPr/>
        </p:nvSpPr>
        <p:spPr>
          <a:xfrm>
            <a:off x="7050024" y="48402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7379208" y="480364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cap type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7068312" y="5114544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the attendance limit is days, a percentage, or a fixed amount.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3280979" y="518177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280979" y="518177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6940296" y="557022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050024" y="567994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4" name="Text 61"/>
          <p:cNvSpPr/>
          <p:nvPr/>
        </p:nvSpPr>
        <p:spPr>
          <a:xfrm>
            <a:off x="7050024" y="56799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7379208" y="564337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Attendance cap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7068312" y="595426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Maximum lates / absence / undertime adjustment allowed per payroll.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 · FIELD GUIDE 4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Automation and payslip behaviour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th-4-behaviou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1059"/>
            <a:ext cx="5806440" cy="2453122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09827" y="3030577"/>
            <a:ext cx="3098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19672" y="1928241"/>
            <a:ext cx="0" cy="110233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209827" y="3582529"/>
            <a:ext cx="34276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2590" y="3187827"/>
            <a:ext cx="0" cy="39470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09827" y="4134482"/>
            <a:ext cx="37568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5509" y="4134482"/>
            <a:ext cx="0" cy="31293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09827" y="4686434"/>
            <a:ext cx="408601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18427" y="4686434"/>
            <a:ext cx="0" cy="102056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081811" y="290256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1811" y="290256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Auto-defer or stagger deductions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Moves eligible lower-priority deductions to a later payroll when the protected minimum would be breached.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81811" y="345451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1811" y="345451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Carry forward to next payroll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the outstanding amount, next schedule, and remaining balance for the next payroll.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1811" y="400646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81811" y="400646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Payslip tagging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the original due, deducted, deferred and accumulated balance on the payslip.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81811" y="45584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1811" y="45584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and employee notification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an alert when a deduction is deferred or an exception remains.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Retirement Pay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the statutory formula, compare it with the company plan, and use whichever is more beneficial.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type and formula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/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Eligibility rules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Service-year rounding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/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 treatment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Statutory and company plan, side by side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1-retirement-sett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4" y="1371600"/>
            <a:ext cx="297582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settings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type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Statutory RA 7641, a company plan, or “best of both”.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input is configurable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Daily-rate divisor, days per service year, salary basis, additional benefits, minimum guarantee and maximum cap.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Eligibility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age 60, compulsory 65, five years of service, plus an optional company early-retirement age.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“Retirement Pay” rows 11–37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·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6-month rule, visible in the result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1b-retirement-inpu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160" y="1371600"/>
            <a:ext cx="32554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937760" y="146304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12 years 6 months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937760" y="1810512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rounds to 13 qualifying years, because a fraction of six months or more counts as a full year.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937760" y="269748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75504" y="28072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Statutory value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75504" y="31181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₱60,000 ÷ 30 × 22.5 × 13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0" y="2880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₱585,000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937760" y="365760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75504" y="37673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Company-plan value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75504" y="407822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divisor, days and benefits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0" y="3840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₱795,000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4937760" y="461772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75504" y="47274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used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75504" y="50383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more beneficial of the two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₱795,000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937760" y="5623560"/>
            <a:ext cx="66568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as tax exempt under RA 4917 — the BIR-approved company plan condition.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937760" y="6035040"/>
            <a:ext cx="665683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84064" y="603504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“Retirement Pay” rows 3–6, 30, 38–41, 67–72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· FIELD GUIDE 1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Plan type and salary basis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ret-1-pl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group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this rule to a defined employee population, e.g. Rank and File.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plan type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Chooses the statutory plan, the company plan, or the more beneficial of the two.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salary basis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Salary measure used to calculate the company retirement-plan value.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rate divisor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Divides monthly basic pay to derive the daily rate used in the formula.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· FIELD GUIDE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Formula and benefit inputs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ret-2-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Statutory days per service year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statutory retirement-day equivalent per rounded service year (22.5 days).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Company-plan days per service year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Company-plan days applied for each qualifying service year.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benefits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Qualifying lump sum, gratuity, or similar benefit added to the company-plan value.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retirement age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Earliest statutory age used for normal retirement eligibility.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· FIELD GUIDE 3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Eligibility conditions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ret-3-eligi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Compulsory retirement age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at which compulsory retirement eligibility is reached.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service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completed service required before the retirement benefit qualifies.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early-retirement age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earlier age allowed for a qualifying company-plan member.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Minimum guarantee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Floor applied to the company-plan value when configured.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· FIELD GUIDE 4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Caps, rounding and tax treatment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ret-4-caps-ta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6745"/>
            <a:ext cx="5806440" cy="284174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2839814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19672" y="1928241"/>
            <a:ext cx="0" cy="91157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210400" y="3501870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2590" y="3187827"/>
            <a:ext cx="0" cy="31404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10400" y="4163926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5509" y="4163926"/>
            <a:ext cx="0" cy="2834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00215" y="4882003"/>
            <a:ext cx="41821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18427" y="4882003"/>
            <a:ext cx="0" cy="82499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280979" y="271179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80979" y="27117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Maximum cap (0 = none)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ceiling on the company-plan value; zero means no ceiling.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82384" y="337385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2384" y="337385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rounding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fractional final year of service is converted into whole years.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2384" y="403591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82384" y="403591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Taxation rule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exemption conditions are evaluated for the retirement result.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72199" y="475398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72199" y="475398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BIR-approved company retirement plan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Marks whether the company plan meets the RA 4917 approval condition.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Pay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Assemble every enabled component, offset authorised balances, and show the full breakdown.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Mandatory components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/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components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Authorised offsets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/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net rule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Components are switches, not code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2-finalpay-sett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850" y="1371600"/>
            <a:ext cx="2355756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settings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Mandatory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Unpaid salary, prorated 13th month, SIL conversion, separation pay, retirement pay, final tax.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Convertible VL/SL beyond SIL, allowances, commissions, cash bond return, gratuity.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rules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Leave conversion, divisor, rounding, advance 13th month recovery, loan balance treatment and the negative-net rule.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“Final Pay” rows 5–18 (components) and 19–29 (rules)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·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Retirement pay flows straight in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2c-finalpay-breakdow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77" y="1371600"/>
            <a:ext cx="3912942" cy="27432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035040" y="1463040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final pay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35040" y="1700784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₱856,500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035040" y="2487168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included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2724912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₱795,000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35040" y="3511296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offsets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3749040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−₱47,800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035040" y="4535424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final pay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4773168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₱808,700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66928" y="443484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₱795,000 comes from the Retirement engine on the previous slide. It is not re-entered — the two engines are linked.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5486400"/>
            <a:ext cx="51206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548640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“Retirement Pay” rows 46–49; “Final Pay” rows 30–34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· FIELD GUIDE 1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 and components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fin-1-sco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69175"/>
            <a:ext cx="5806440" cy="449689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10400" y="2012244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19672" y="2012244"/>
            <a:ext cx="0" cy="4703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419181" y="1651471"/>
            <a:ext cx="0" cy="256338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19181" y="1651471"/>
            <a:ext cx="313341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1651471"/>
            <a:ext cx="0" cy="21661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210400" y="4214854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5509" y="4214854"/>
            <a:ext cx="0" cy="9377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082384" y="188422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2384" y="1884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/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group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this rule to a defined employee population, e.g. Rank and File.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91165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165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/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Mandatory components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items that always form part of final pay when applicable.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82384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82384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/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company components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Company-specific items added to final pay.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· FIELD GUIDE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Separation and timing rules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fin-2-separ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2816"/>
            <a:ext cx="5806440" cy="244960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10400" y="3387283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19672" y="1928241"/>
            <a:ext cx="0" cy="14590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210400" y="402896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2590" y="3187827"/>
            <a:ext cx="0" cy="8411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08995" y="2675112"/>
            <a:ext cx="0" cy="20057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8995" y="267511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5509" y="2675112"/>
            <a:ext cx="0" cy="177230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210400" y="4680839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18427" y="4680839"/>
            <a:ext cx="0" cy="102616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082384" y="325926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2384" y="325926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Leave conversion rule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unused leave (VL / SIL) converts to cash in final pay, and at what rate.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82384" y="390095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2384" y="390095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Separation pay rule by cause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Selects the separation-pay formula for the stated reason — redundancy, retrenchment, or none.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80979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80979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rate divisor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Divides monthly basic pay to derive the daily rate used in the formula.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82384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82384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Rounding of service years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fractional final year of service is converted into whole years for final pay.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· FIELD GUIDE 3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Recovery and outstanding balances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fin-3-recove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04636"/>
            <a:ext cx="5806440" cy="142596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3186932"/>
            <a:ext cx="0" cy="3505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8995" y="318693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0" cy="125869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10400" y="353751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0" cy="34969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8995" y="3186932"/>
            <a:ext cx="0" cy="9922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8995" y="318693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3186932"/>
            <a:ext cx="0" cy="126048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0400" y="4179205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4179205"/>
            <a:ext cx="0" cy="152779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280979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80979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 13th month rule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an already-released 13th month advance is deducted back from final pay.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2384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2384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 cutoff rule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the still-unposted last payroll cutoff is folded into final pay or processed separately.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80979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80979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Government loan balance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an outstanding government loan balance (SSS, HDMF) is settled at separation.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82384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82384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loan balance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an outstanding company loan balance is settled at separation.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· FIELD GUIDE 4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 pay outcome rules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fin-4-outc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3794"/>
            <a:ext cx="5806440" cy="206765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10400" y="3226862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19672" y="2482596"/>
            <a:ext cx="0" cy="74426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200215" y="3944939"/>
            <a:ext cx="352376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2590" y="3817620"/>
            <a:ext cx="0" cy="12731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00215" y="4494954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5509" y="4494954"/>
            <a:ext cx="0" cy="6576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082384" y="30988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2384" y="30988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/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pay rule when negative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happens when deductions exceed the final pay earnings.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72199" y="38169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72199" y="38169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/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Auto-offset authorized deductions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Offsets loan balances and property accountabilities before net final pay.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072199" y="43669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72199" y="43669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/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Notify admin on release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 payroll administrators once the final pay breakdown is ready for review.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Gross Up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Solve the gross amount that leaves the employee a guaranteed net, with the employer absorbing the tax.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Guaranteed net target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/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Graduated BIR table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Iterate to convergence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/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Employer cost shown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 ·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income, which method, who absorbs the tax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3-grossup-sett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09" y="1371600"/>
            <a:ext cx="373727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 settings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guaranteed net pay or net benefit, entered or uploaded.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graduated BIR withholding table, or a flat rate for final and expanded tax cases.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Employer share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for a classic gross-up, or a split such as 50/50.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Convergence tolerance, iteration limit and rounding stage are all set by the company.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“Gross Up” rows 6–18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 ·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Guarantee ₱50,000 net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3b-grossup-inpu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92" y="1371600"/>
            <a:ext cx="3324432" cy="32918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5" name="Image 1" descr="C:/Users/josrp/AppData/Local/Temp/claude/C--Users-josrp-OneDrive-Documents-Atlas/61054054-2f2e-4fa9-befa-38d158ad8b42/scratchpad/deck/shots/13c-grossup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4800600"/>
            <a:ext cx="3110789" cy="12344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029200" y="1417320"/>
            <a:ext cx="65653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is not simply net ÷ (1 − rate)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029200" y="1783080"/>
            <a:ext cx="656539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shortcut assumes one flat rate. Compensation tax is graduated, so the engine tests a gross, reads the bracket, recomputes the net and repeats until it lands on the target.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029200" y="2971800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taxable pay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217152" y="297180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₱51,875.00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029200" y="3355848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0" y="3721608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Withholding tax absorbed by employer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217152" y="372160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₱5,208.40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029200" y="4105656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0" y="4471416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released to employee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217152" y="447141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₱50,000.00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029200" y="4855464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0" y="5221224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employer cost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217152" y="52212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₱57,083.40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029200" y="6035040"/>
            <a:ext cx="656539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75504" y="6035040"/>
            <a:ext cx="62910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“Gross Up” rows 2–4 and steps 4–12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 · FIELD GUIDE 1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and method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gup-1-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group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this rule to a defined employee population, e.g. Rank and File.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Guaranteed target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the company guarantees a net pay figure or a net benefit amount.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 method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Graduated iterates against the effective BIR table; flat applies a single final/expanded rate.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Payroll frequency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frequency of the effective withholding table the iteration reads.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 · FIELD GUIDE 2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Effective table and tax rate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gup-2-effec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/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effective date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used to pick the statutory table version in force for the run.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/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Flat / final tax rate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rate used for a final or expanded tax scenario instead of graduated withholding.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/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Employer-absorbed share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Portion of the withholding the employer shoulders — 50% models a shared gross-up.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/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Convergence tolerance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close the computed net must land to the target before the iteration stops.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 · FIELD GUIDE 3 OF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Iteration limits and rounding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-fields/f-gup-3-iter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27774"/>
            <a:ext cx="5806440" cy="217969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408995" y="317084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19672" y="2482596"/>
            <a:ext cx="0" cy="68824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210400" y="3832898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2590" y="3817620"/>
            <a:ext cx="0" cy="152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00215" y="4550975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5509" y="4550975"/>
            <a:ext cx="0" cy="6016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280979" y="304282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80979" y="304282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/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Maximum iterations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limit so a non-converging setup fails visibly instead of looping.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82384" y="370488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2384" y="370488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/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Rounding stage applied to the solved gross before the final tax is computed.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072199" y="442295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72199" y="442295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/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 mandatory contributions before tax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44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Deducts the employee statutory share from taxable pay before the bracket is applied.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WIRING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each engine reads and feeds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703320" y="1298448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from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01000" y="1298448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749808" y="1627632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Take-Home Pay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66160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627632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Deduction hierarchy reference table · employee loan and deduction balances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82128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627632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Deferred amounts, carry-forward schedule, payslip tags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743200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749808" y="2743200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566160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743200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dates of birth, hire and retirement · plan membership · salary basis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82128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743200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pay value and its tax status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858768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749808" y="3858768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566160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858768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Retirement engine result · leave balances · outstanding loan and deduction balances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82128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858768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final pay breakdown for release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974336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749808" y="4974336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566160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974336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Effective BIR withholding table · employee statutory share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82128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4974336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to pay and the tax the employer absorbs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Rates and ceilings live in versioned tables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6-statutory-ta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 withholding table — wireframe view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Effective-dated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Payroll picks the version in force for the run, so a historical payroll can always be reproduced.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Locked once used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table a payroll has consumed cannot be edited — you publish a new version instead.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Feeds Gross Up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bracket in the gross-up trace is read from this table, never hard-coded.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Tax Tables Flow v2 (14 May 2026); BRD Statutory Requirements 180–184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 sources behind the formulas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5-reference-sourc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 reference sources — wireframe view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Named sources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formula input points at a maintained reference source rather than a number typed into a rule.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Deduction hierarchy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take-home adjustment order is one of these sources, so it is maintained by the business.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once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the source and every rule that reads it follows.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BRD Reference Table Module (feature points 62–63, 97–98)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Employee payroll records feed the engines</a:t>
            </a:r>
            <a:endParaRPr lang="en-US" sz="3000" dirty="0"/>
          </a:p>
        </p:txBody>
      </p:sp>
      <p:pic>
        <p:nvPicPr>
          <p:cNvPr id="4" name="Image 0" descr="C:/Users/josrp/AppData/Local/Temp/claude/C--Users-josrp-OneDrive-Documents-Atlas/61054054-2f2e-4fa9-befa-38d158ad8b42/scratchpad/deck/shots/17-employee-payro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Masterfile — payroll data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Loans and deductions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Balances, amortisation, holds and remarks — the values the take-home engine adjusts.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Dates and plan type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Hire date, birth date and plan membership drive retirement eligibility.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Ceilings applied here too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and De Minimis ceilings split taxable and non-taxable amounts on the record itself.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· Annex B Dorado sheets: Loans, Deduction, Cost Allocation, Previous Employer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999232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every screen came from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886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Sources, row-level traceability and a glossary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Source documents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Annex 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883664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Masterfile Payroll Data Tables from Dorado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84448" y="1371600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578608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88336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Annex 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1272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Module 3 — Payroll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84448" y="2615184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Payroll transaction preparation, inputs, calculation and approval lifecycle. Referenced for how a computed policy is consumed by a payroll run.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822192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BRD Audit Summary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370832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status — 331 requirement rows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84448" y="3858768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Computational Basis module (feature points 73–82), Settings module set-up rows 18–20 and 50–55, Statutory Requirements 180–184.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65776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175504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 Tables Flow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614416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 dated 14 May 2026 (supersedes v1)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84448" y="5102352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structure, effectivity selection, and the rule that a table used by a payroll transaction may not be edited.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Take-Home Pay traceability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Annex B → sheet “Take Home Pay”</a:t>
            </a:r>
            <a:endParaRPr lang="en-US" sz="11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/>
        </p:nvGraphicFramePr>
        <p:xfrm>
          <a:off x="566928" y="1481328"/>
          <a:ext cx="11027664" cy="4224528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 rows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the workbook says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it appears in the app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4–5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Minimum take-home based on basic salary, 40% example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Protected base = Basic Pay; threshold type Percentage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13–14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Guarantee on gross pay, 30% example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Protected base = Gross Pay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21–22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Guarantee on gross less reimbursements, 30%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Protected base = Gross Pay less reimbursements — used in the demo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29–30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Guaranteed minimum peso net pay, ₱8,000 example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Threshold type = Fixed Amount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8–11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Statutory in full; loans may be deferred; carry over; notify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Statutory rank 0; auto-defer, carry-forward and notification switches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45–59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Loan repayment cap, 25% of gross or a fixed ₱10,000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Loan cap base, type and value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61–83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LAABS and undertime cap by %, days, or protected net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Attendance cap base, type and value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85–103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Hierarchy table, statutory rank 0, optional last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Deduction and loan hierarchy, maintained as a reference source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106–109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Loans at cap but net still short — choose what wins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Conflict priority selector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138–155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Deferred tracking, payslip tag fields, deduction ledger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Carry-forward table, payslip tag block and deduction ledger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Retirement Pay traceability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Annex B → sheet “Retirement Pay”</a:t>
            </a:r>
            <a:endParaRPr lang="en-US" sz="11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 rows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the workbook says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it appears in the app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3–6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Daily rate × 22.5 × years of service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Statutory value shown in the scenario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 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Fractions of six months or more count as one year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 rounding rule; 12y 6m → 13 years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13–15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Statutory RA 7641, company plan, or override if more beneficial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Retirement plan type selector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24–29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Divisor, days per year, salary basis, benefits, rounding, cap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Formula inputs, all configurable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 30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RetirementPay = MAX(statutory, company plan)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“Best of” option; both values displayed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31–37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 60, compulsory 65, five years service, early retirement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Eligibility rules and the eligibility strip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38–41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 7641 and RA 4917 tax exemption conditions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Taxation rule; the result records why it is exempt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46–49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Retirement pay forms part of final pay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Result feeds the Final Pay engine automatically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Pay traceability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Annex B → sheet “Final Pay”</a:t>
            </a:r>
            <a:endParaRPr lang="en-US" sz="11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/>
        </p:nvGraphicFramePr>
        <p:xfrm>
          <a:off x="566928" y="1481328"/>
          <a:ext cx="11027664" cy="2688336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 rows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the workbook says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it appears in the app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5–11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Mandatory: unpaid salary, 13th month, SIL, separation, retirement, final tax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Mandatory component switches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12–18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Optional: convertible leave, allowances, commissions, cash bond, gratuity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Optional component switches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19–29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Company rules: conversion, divisor, rounding, advance 13th, loan balances, negative net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Company rule selectors on the settings card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30–31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Pull last days worked, leave balances, unpaid OT and LAABS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Scenario inputs drawn from the employee record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32–34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Only authorised deductions; auto-offset before net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Offsets shown as negative lines in the breakdown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 36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Output — final pay breakdown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Component-by-component breakdown table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Gross Up traceability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Annex B → sheet “Gross Up”</a:t>
            </a:r>
            <a:endParaRPr lang="en-US" sz="11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 rows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the workbook says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it appears in the app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 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Employer shoulders the tax so the employee receives a guaranteed net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Employer-absorbed share, default 100%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 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Divide the intended net by (1 − rate)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Available as the flat / final tax method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 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 BIR tables: taxable income, correct bracket, base tax + excess 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Graduated method, reading the effective BIR table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7–8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Choose the income and enable gross-up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Guaranteed target selector and engine switch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10–11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Add grossed-up income; subtract mandatory contributions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Taxable compensation line in the calculation trace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12–14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Identify bracket; apply base tax + excess × rate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Bracket named in the trace, e.g. from ₱33,333, ₱1,875 + 20%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 15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Recompute gross until net equals the required amount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Iteration table with the gap closing to zero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Rows 16–18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 gross, employer-absorbed tax, and net released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3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four result tiles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Glossary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Computational Basis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controlled library of standard formulas, policy engines and the reference sources they read.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engine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screen that computes one family of payroll policy and shows its full working. There are four.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code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reusable, approved handle on an engine — for example THP-001. Assigned to Company Rules.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Rule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policy applied to an employee group, with its own parameter values.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52486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minimum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522976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net pay a rule guarantees, expressed as a percentage of a base or a fixed amount.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9048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Hierarchy / rank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9048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order in which controllable deductions are trimmed. Statutory items are rank 0 and never adjusted.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9048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Deferral / carry-forward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9048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amount not collected this cutoff, rescheduled with its outstanding balance preserved.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9048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Effective-dated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048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version with a start date. Payroll uses the version in force for that run.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9048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Convergence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9048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gross-up: repeating the calculation until the computed net matches the target within tolerance.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APPENDIX 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still needs a business decision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27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are places where the workbooks offer alternatives or leave a value open. The app makes each one configurable rather than assuming an answer.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66928" y="1627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5910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take-home policy is active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591056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Annex B lists five alternative minimum-net policies and several cap rules. Only one set should be switched on per company or group.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10928" y="15910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 Home Pay rows 4–43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596896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566928" y="25968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5603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threshold priority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8848" y="2560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several bonus types share one non-taxable ceiling, the consuming order must be agreed.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710928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BRD 13th month / bonus ceiling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352958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when net is negative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8848" y="352958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treatment of a residual balance needs a stated rule.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10928" y="35295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Pay row 29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535424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566928" y="4535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44988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Gross-up convergence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98848" y="449884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Tolerance, iteration limit and rounding stage are currently set to sensible defaults in the app.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10928" y="44988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Gross Up rows 15–16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5504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566928" y="5504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546811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Statutory values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98848" y="54681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B3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rates, brackets and ceilings on screen are sample data and must be confirmed against the effective official tables before use.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10928" y="54681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Statutory tables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488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demonstrates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66928" y="310896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/>
          <p:nvPr/>
        </p:nvSpPr>
        <p:spPr>
          <a:xfrm>
            <a:off x="566928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307238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written policies are configurable settings, not code changes.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/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73075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result shows its working — base, threshold, ranks, brackets and iterations.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425696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0" name="Text 8"/>
          <p:cNvSpPr/>
          <p:nvPr/>
        </p:nvSpPr>
        <p:spPr>
          <a:xfrm>
            <a:off x="566928" y="4425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3891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engines feed each other; nothing is re-keyed between them.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5084064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3" name="Text 11"/>
          <p:cNvSpPr/>
          <p:nvPr/>
        </p:nvSpPr>
        <p:spPr>
          <a:xfrm>
            <a:off x="566928" y="5084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0474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screen traces back to a row in your own workbooks.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25857</Words>
  <Application>WPS Presentation</Application>
  <PresentationFormat>On-screen Show (16:9)</PresentationFormat>
  <Paragraphs>1603</Paragraphs>
  <Slides>54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Phase 2 — Computational Basis</dc:title>
  <dc:creator>Atlas Phase 2</dc:creator>
  <dc:subject>PptxGenJS Presentation</dc:subject>
  <cp:lastModifiedBy>josrp</cp:lastModifiedBy>
  <cp:revision>2</cp:revision>
  <dcterms:created xsi:type="dcterms:W3CDTF">2026-08-10T14:36:00Z</dcterms:created>
  <dcterms:modified xsi:type="dcterms:W3CDTF">2026-08-10T14:47:17Z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F94976F4662A4D01A5C7DC72E8FA6132_12</vt:lpwstr>
  </property>
  <property fmtid="{D5CDD505-2E9C-101B-9397-08002B2CF9AE}" pid="3" name="KSOProductBuildVer">
    <vt:lpwstr>1033-12.1.0.28032</vt:lpwstr>
  </property>
</Properties>
</file>