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session: this is about traceability from their Excel to a working screen, not about software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nobody edits a formula. They pick an approved code and set its values for a group of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engine has its own tab. The code beside the tab name is the governed policy code you assign in Company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wording from their own sample policy 3, typed straight into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codes on one engine: one governs the protected minimum, the other the caps. Both are assignable to their own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reuse: the schema is governed centrally, the values are the client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Company Rules / Apply New Rule.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C:\Users\josrp\OneDrive\Documents\Atlas\ATLAS_Demo_Videos\01-company-rules.mp4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THP-001 Minimum Take-Home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C:\Users\josrp\OneDrive\Documents\Atlas\ATLAS_Demo_Videos\02-take-home-pay.mp4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 through the ledger: due, deducted, deferred, accumulated. This is their row 143-152 payslip requirement made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RET-001 Retirement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C:\Users\josrp\OneDrive\Documents\Atlas\ATLAS_Demo_Videos\03-retirement-pay.mp4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comparison is the point: the system computes both and uses the better one, and records why it is tax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FIN-001 Final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C:\Users\josrp\OneDrive\Documents\Atlas\ATLAS_Demo_Videos\04-final-pay.mp4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the link: retirement pay forms part of final pay, exactly as row 48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GUP-001 Gross Up.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C:\Users\josrp\OneDrive\Documents\Atlas\ATLAS_Demo_Videos\05-gross-up.mp4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Bracket used: from ₱33,333 with fixed tax ₱1,875 plus 20% on the excess. The trace shows the iteration and the gap closing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re-keyed between engines. This is the answer to "does it connect".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open during Q&amp;A so anyone can challenge a screen and be shown the row it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are the source of truth. Anything on screen that is not in one of these is flagged on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that statutory numbers on screen are sample data pending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inviting them to challenge any screen — the appendix has the row reference for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GI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173736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ATLAS PHASE 2 · PAYROLL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103120"/>
            <a:ext cx="822960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Computational Basis</a:t>
            </a:r>
            <a:endParaRPr sz="52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063240"/>
            <a:ext cx="76809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your take-home pay, retirement, final pay and gross-up rules</a:t>
            </a:r>
            <a:endParaRPr sz="1700"/>
          </a:p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 inside the application</a:t>
            </a:r>
            <a:endParaRPr sz="17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25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2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257800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Working prototype · wireframe view · every screen in this deck is a live screenshot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AGENDA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 will walk through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225296" y="13624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chain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4133088" y="1362456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225296" y="23317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engines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133088" y="23317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225296" y="33009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Worked examples</a:t>
            </a:r>
            <a:endParaRPr sz="14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133088" y="3300984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225296" y="427024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connects to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133088" y="4270248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225296" y="523951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Traceability</a:t>
            </a:r>
            <a:endParaRPr sz="14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133088" y="5239512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maps every screen back to the exact workbook rows it came from.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IDEA IN ONE PICTURE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your written policy to a payroll result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8096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policy</a:t>
            </a:r>
            <a:endParaRPr sz="13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68096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B, written in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plain business language</a:t>
            </a:r>
            <a:endParaRPr sz="10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2665476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2907792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108960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Governed code</a:t>
            </a:r>
            <a:endParaRPr sz="13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3108960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 policy-engine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code, e.g. THP-001</a:t>
            </a:r>
            <a:endParaRPr sz="10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006340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5248656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5449824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449824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Assigned to an employee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group with its own values</a:t>
            </a:r>
            <a:endParaRPr sz="105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7347204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7589520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790688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3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7790688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Computes and shows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its full working</a:t>
            </a:r>
            <a:endParaRPr sz="1050"/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9688068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9930384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0" name="Text 28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0131552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result</a:t>
            </a:r>
            <a:endParaRPr sz="135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0131552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Deductions, deferrals,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ledger and payslip tags</a:t>
            </a:r>
            <a:endParaRPr sz="105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566928" y="4343400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566928" y="4892040"/>
            <a:ext cx="859536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713232" y="489204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“Rules Set Up — Client-defined Rules”; Annex B Take Home Pay rows 113–156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ORIENTATION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controlled library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Nothing is hand-typed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Reached from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Computational Basis Module (feature points 73–82)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SCOPE OF TODAY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80160"/>
            <a:ext cx="9290304" cy="56692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566928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04672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4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04672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· THP-002</a:t>
            </a:r>
            <a:endParaRPr sz="10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04672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456432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3694176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400"/>
          </a:p>
        </p:txBody>
      </p:sp>
      <p:sp>
        <p:nvSpPr>
          <p:cNvPr id="15" name="Text 12"/>
          <p:cNvSpPr>
            <a:spLocks noGrp="1"/>
          </p:cNvSpPr>
          <p:nvPr/>
        </p:nvSpPr>
        <p:spPr>
          <a:xfrm>
            <a:off x="3694176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RET-001 · RET-002</a:t>
            </a:r>
            <a:endParaRPr sz="1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3694176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345936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6583680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4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583680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FIN-001</a:t>
            </a:r>
            <a:endParaRPr sz="10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583680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235440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9473184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4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9473184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GUP-001</a:t>
            </a:r>
            <a:endParaRPr sz="10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9473184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566928" y="5623560"/>
            <a:ext cx="8778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13232" y="562356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sheets: Take Home Pay · Retirement Pay · Final Pay · Gross Up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CONNECTION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register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register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Engine-owned rows are locked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New Rule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 60, “Rules Set Up — Client-defined Rules”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46" y="1325880"/>
            <a:ext cx="5977563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rule in your own words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21–27 (policy 3)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408"/>
            <a:ext cx="6400800" cy="4407824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 approved codes appear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3154680"/>
            <a:ext cx="4306824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 Minimum Take-Home Pay</a:t>
            </a:r>
            <a:endParaRPr sz="1200"/>
          </a:p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  Maximum Controllable Deductions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20624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20624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4–5 (policy 1) and 45–51 (loan cap)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325880"/>
            <a:ext cx="4754880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556248" y="1463040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Values vary, the schema does not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556248" y="1810512"/>
            <a:ext cx="5038344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556248" y="3291840"/>
            <a:ext cx="503834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556248" y="4572000"/>
            <a:ext cx="50383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6702552" y="4572000"/>
            <a:ext cx="47640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113–124, “Possible Company Set Up” 1–5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LIBRARY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0820"/>
            <a:ext cx="7680960" cy="436212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879592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 code library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659368" y="13716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Coverage is measured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659368" y="16093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659368" y="22860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vs variant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659368" y="25237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659368" y="32004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engine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659368" y="34381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659368" y="6053328"/>
            <a:ext cx="29352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805672" y="6053328"/>
            <a:ext cx="2660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points 19–20, Computational Basis set-up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business rule to governed computation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Watch the three-step flow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ANIMATED DEMO -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Company Rules animated walkthrough" descr="Company Rules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1325880"/>
            <a:ext cx="59772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1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caps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Adjustment hierarchy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 and carry forward</a:t>
            </a:r>
            <a:endParaRPr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protection, caps and deferral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THP-001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ANIMATED DEMO -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Take-Home Pay animated walkthrough" descr="Take-Home Pay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462405"/>
            <a:ext cx="6261735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99" y="1463040"/>
            <a:ext cx="6262019" cy="310896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Take-Home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4, 13, 21, 29, 37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09" y="1371600"/>
            <a:ext cx="4264197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937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Cap configuration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916168" y="13716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16168" y="16093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916168" y="22860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LAABS cap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916168" y="25237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916168" y="32004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916168" y="34381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916168" y="6053328"/>
            <a:ext cx="56784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062472" y="6053328"/>
            <a:ext cx="54041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45–84 (caps) and 106–109 (conflict priority)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62" y="1371600"/>
            <a:ext cx="2393453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931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hierarchy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10328" y="13716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Ranked, not guessed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910328" y="16093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910328" y="22860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Partial adjustment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910328" y="25237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910328" y="32004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Maintained as a reference table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910328" y="34381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910328" y="6053328"/>
            <a:ext cx="668426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056632" y="6053328"/>
            <a:ext cx="640994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85–103, hierarchy table and note at row 87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08" y="1325880"/>
            <a:ext cx="3659160" cy="42062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60230"/>
            <a:ext cx="4206240" cy="294881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9281160" y="137160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pay</a:t>
            </a:r>
            <a:endParaRPr sz="10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9281160" y="159105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₱36,500</a:t>
            </a:r>
            <a:endParaRPr sz="170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9281160" y="2130552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Less reimbursements</a:t>
            </a:r>
            <a:endParaRPr sz="100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81160" y="2350008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₱2,000</a:t>
            </a:r>
            <a:endParaRPr sz="1700"/>
          </a:p>
        </p:txBody>
      </p:sp>
      <p:sp>
        <p:nvSpPr>
          <p:cNvPr id="10" name="Text 6"/>
          <p:cNvSpPr>
            <a:spLocks noGrp="1"/>
          </p:cNvSpPr>
          <p:nvPr/>
        </p:nvSpPr>
        <p:spPr>
          <a:xfrm>
            <a:off x="9281160" y="2889504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9281160" y="3108960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₱34,500</a:t>
            </a:r>
            <a:endParaRPr sz="17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81160" y="3648456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 (30%)</a:t>
            </a:r>
            <a:endParaRPr sz="100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9281160" y="3867912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₱10,350</a:t>
            </a:r>
            <a:endParaRPr sz="1700"/>
          </a:p>
        </p:txBody>
      </p:sp>
      <p:sp>
        <p:nvSpPr>
          <p:cNvPr id="14" name="Text 10"/>
          <p:cNvSpPr>
            <a:spLocks noGrp="1"/>
          </p:cNvSpPr>
          <p:nvPr/>
        </p:nvSpPr>
        <p:spPr>
          <a:xfrm>
            <a:off x="9281160" y="4407408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take-home</a:t>
            </a:r>
            <a:endParaRPr sz="100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81160" y="4626864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₱15,500</a:t>
            </a:r>
            <a:endParaRPr sz="1700"/>
          </a:p>
        </p:txBody>
      </p:sp>
      <p:sp>
        <p:nvSpPr>
          <p:cNvPr id="16" name="Text 12"/>
          <p:cNvSpPr>
            <a:spLocks noGrp="1"/>
          </p:cNvSpPr>
          <p:nvPr/>
        </p:nvSpPr>
        <p:spPr>
          <a:xfrm>
            <a:off x="9281160" y="516636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this cutoff</a:t>
            </a:r>
            <a:endParaRPr sz="10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9281160" y="538581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₱750</a:t>
            </a:r>
            <a:endParaRPr sz="17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4800600" y="45262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4800600" y="5120640"/>
            <a:ext cx="4206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4946904" y="51206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8–11 (statutory in full, defer, carry over, notify)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71" y="1371600"/>
            <a:ext cx="642459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6583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Carry-forward and payslip tagging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562088" y="13716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Carried forward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562088" y="16093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562088" y="22860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562088" y="25237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562088" y="32004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matters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562088" y="34381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562088" y="6053328"/>
            <a:ext cx="40325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708392" y="6053328"/>
            <a:ext cx="37581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138–155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GOVERNANCE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090" y="1371600"/>
            <a:ext cx="48449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5669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Opened from THP-002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647688" y="13716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647688" y="16093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47688" y="22860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647688" y="25237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647688" y="32004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underneath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647688" y="34381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6647688" y="6053328"/>
            <a:ext cx="49469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793992" y="6053328"/>
            <a:ext cx="46725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113–130, set-up items 1–6b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53237"/>
            <a:ext cx="5806440" cy="212876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5533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835533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802282"/>
            <a:ext cx="0" cy="103325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802282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19630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809951"/>
            <a:ext cx="0" cy="38635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809951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835533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2835533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2835533"/>
            <a:ext cx="0" cy="9820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3817620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3858362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3858362"/>
            <a:ext cx="0" cy="9669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82528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520418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520418"/>
            <a:ext cx="0" cy="131253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832958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1371600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05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1755648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2379269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2452421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5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2763317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940296" y="3386938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Shape 36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1" name="Text 38"/>
          <p:cNvSpPr>
            <a:spLocks noGrp="1"/>
          </p:cNvSpPr>
          <p:nvPr/>
        </p:nvSpPr>
        <p:spPr>
          <a:xfrm>
            <a:off x="7379208" y="346009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 type</a:t>
            </a:r>
            <a:endParaRPr sz="1050"/>
          </a:p>
        </p:txBody>
      </p:sp>
      <p:sp>
        <p:nvSpPr>
          <p:cNvPr id="42" name="Text 39"/>
          <p:cNvSpPr>
            <a:spLocks noGrp="1"/>
          </p:cNvSpPr>
          <p:nvPr/>
        </p:nvSpPr>
        <p:spPr>
          <a:xfrm>
            <a:off x="7068312" y="3770986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6940296" y="4394606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6" name="Shape 43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8" name="Text 45"/>
          <p:cNvSpPr>
            <a:spLocks noGrp="1"/>
          </p:cNvSpPr>
          <p:nvPr/>
        </p:nvSpPr>
        <p:spPr>
          <a:xfrm>
            <a:off x="7379208" y="446775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50"/>
          </a:p>
        </p:txBody>
      </p:sp>
      <p:sp>
        <p:nvSpPr>
          <p:cNvPr id="49" name="Text 46"/>
          <p:cNvSpPr>
            <a:spLocks noGrp="1"/>
          </p:cNvSpPr>
          <p:nvPr/>
        </p:nvSpPr>
        <p:spPr>
          <a:xfrm>
            <a:off x="7068312" y="4778654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2" name="Shape 49"/>
          <p:cNvSpPr>
            <a:spLocks noGrp="1"/>
          </p:cNvSpPr>
          <p:nvPr/>
        </p:nvSpPr>
        <p:spPr>
          <a:xfrm>
            <a:off x="6940296" y="5402275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3" name="Shape 50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5" name="Text 52"/>
          <p:cNvSpPr>
            <a:spLocks noGrp="1"/>
          </p:cNvSpPr>
          <p:nvPr/>
        </p:nvSpPr>
        <p:spPr>
          <a:xfrm>
            <a:off x="7379208" y="5475427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50"/>
          </a:p>
        </p:txBody>
      </p:sp>
      <p:sp>
        <p:nvSpPr>
          <p:cNvPr id="56" name="Text 53"/>
          <p:cNvSpPr>
            <a:spLocks noGrp="1"/>
          </p:cNvSpPr>
          <p:nvPr/>
        </p:nvSpPr>
        <p:spPr>
          <a:xfrm>
            <a:off x="7068312" y="5786323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46981"/>
            <a:ext cx="5806440" cy="254127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0215" y="3203945"/>
            <a:ext cx="31945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27570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08995" y="2629277"/>
            <a:ext cx="0" cy="143534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08995" y="2629277"/>
            <a:ext cx="314359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629277"/>
            <a:ext cx="0" cy="55855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064618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064618"/>
            <a:ext cx="0" cy="38279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4726674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726674"/>
            <a:ext cx="0" cy="98032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a total deductions cap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base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type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non-loan deduction allowed for the payroll period.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3863"/>
            <a:ext cx="5806440" cy="370751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046159"/>
            <a:ext cx="0" cy="72235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046159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718310"/>
            <a:ext cx="0" cy="3278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718310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276851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558034"/>
            <a:ext cx="0" cy="21048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558034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43057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3397758"/>
            <a:ext cx="0" cy="3281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397758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2046159"/>
            <a:ext cx="0" cy="26015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3408995" y="2046159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2046159"/>
            <a:ext cx="0" cy="219132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237482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647737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647737"/>
            <a:ext cx="0" cy="4294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077206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408995" y="5309793"/>
            <a:ext cx="3275269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3" name="Shape 20"/>
          <p:cNvSpPr>
            <a:spLocks noGrp="1"/>
          </p:cNvSpPr>
          <p:nvPr/>
        </p:nvSpPr>
        <p:spPr>
          <a:xfrm>
            <a:off x="6684264" y="5309793"/>
            <a:ext cx="0" cy="60713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6684264" y="5916930"/>
            <a:ext cx="256032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137160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base</a:t>
            </a:r>
            <a:endParaRPr sz="10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175564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2211324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228447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type</a:t>
            </a:r>
            <a:endParaRPr sz="10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2595372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3051048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312420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3435096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8" name="Shape 45"/>
          <p:cNvSpPr>
            <a:spLocks noGrp="1"/>
          </p:cNvSpPr>
          <p:nvPr/>
        </p:nvSpPr>
        <p:spPr>
          <a:xfrm>
            <a:off x="6940296" y="3890772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9" name="Shape 46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0" name="Text 47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51" name="Text 48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base</a:t>
            </a:r>
            <a:endParaRPr sz="1050"/>
          </a:p>
        </p:txBody>
      </p:sp>
      <p:sp>
        <p:nvSpPr>
          <p:cNvPr id="52" name="Text 49"/>
          <p:cNvSpPr>
            <a:spLocks noGrp="1"/>
          </p:cNvSpPr>
          <p:nvPr/>
        </p:nvSpPr>
        <p:spPr>
          <a:xfrm>
            <a:off x="7068312" y="4274820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5" name="Shape 52"/>
          <p:cNvSpPr>
            <a:spLocks noGrp="1"/>
          </p:cNvSpPr>
          <p:nvPr/>
        </p:nvSpPr>
        <p:spPr>
          <a:xfrm>
            <a:off x="6940296" y="4730496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6" name="Shape 53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7" name="Text 54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8" name="Text 55"/>
          <p:cNvSpPr>
            <a:spLocks noGrp="1"/>
          </p:cNvSpPr>
          <p:nvPr/>
        </p:nvSpPr>
        <p:spPr>
          <a:xfrm>
            <a:off x="7379208" y="480364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type</a:t>
            </a:r>
            <a:endParaRPr sz="1050"/>
          </a:p>
        </p:txBody>
      </p:sp>
      <p:sp>
        <p:nvSpPr>
          <p:cNvPr id="59" name="Text 56"/>
          <p:cNvSpPr>
            <a:spLocks noGrp="1"/>
          </p:cNvSpPr>
          <p:nvPr/>
        </p:nvSpPr>
        <p:spPr>
          <a:xfrm>
            <a:off x="7068312" y="5114544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50"/>
          </a:p>
        </p:txBody>
      </p:sp>
      <p:sp>
        <p:nvSpPr>
          <p:cNvPr id="62" name="Shape 59"/>
          <p:cNvSpPr>
            <a:spLocks noGrp="1"/>
          </p:cNvSpPr>
          <p:nvPr/>
        </p:nvSpPr>
        <p:spPr>
          <a:xfrm>
            <a:off x="6940296" y="557022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3" name="Shape 60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4" name="Text 61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00"/>
          </a:p>
        </p:txBody>
      </p:sp>
      <p:sp>
        <p:nvSpPr>
          <p:cNvPr id="65" name="Text 62"/>
          <p:cNvSpPr>
            <a:spLocks noGrp="1"/>
          </p:cNvSpPr>
          <p:nvPr/>
        </p:nvSpPr>
        <p:spPr>
          <a:xfrm>
            <a:off x="7379208" y="564337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</a:t>
            </a:r>
            <a:endParaRPr sz="1050"/>
          </a:p>
        </p:txBody>
      </p:sp>
      <p:sp>
        <p:nvSpPr>
          <p:cNvPr id="66" name="Text 63"/>
          <p:cNvSpPr>
            <a:spLocks noGrp="1"/>
          </p:cNvSpPr>
          <p:nvPr/>
        </p:nvSpPr>
        <p:spPr>
          <a:xfrm>
            <a:off x="7068312" y="595426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lates / absence / undertime adjustment allowed per payroll.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1059"/>
            <a:ext cx="5806440" cy="2453122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9827" y="3030577"/>
            <a:ext cx="3098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10233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9827" y="3582529"/>
            <a:ext cx="34276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9470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9827" y="4134482"/>
            <a:ext cx="37568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34482"/>
            <a:ext cx="0" cy="31293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9827" y="4686434"/>
            <a:ext cx="408601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686434"/>
            <a:ext cx="0" cy="102056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Auto-defer or stagger deductions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 forward to next payroll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tagging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Admin and employee notification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Creates an alert when a deduction is deferred or an exception remains.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2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 and formula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 rules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Service-year rounding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treatment</a:t>
            </a:r>
            <a:endParaRPr sz="12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eligibility and benefit basis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RET-001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ANIMATED DEMO -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Retirement Pay animated walkthrough" descr="Retirement Pay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35" y="1371600"/>
            <a:ext cx="29756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4" y="1371600"/>
            <a:ext cx="297582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input is configurable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11–37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160" y="1371600"/>
            <a:ext cx="32554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4937760" y="146304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12 years 6 months</a:t>
            </a:r>
            <a:endParaRPr sz="15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37760" y="1810512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4937760" y="269748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5175504" y="28072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</a:t>
            </a:r>
            <a:endParaRPr sz="1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75504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₱60,000 ÷ 30 × 22.5 × 13</a:t>
            </a:r>
            <a:endParaRPr sz="10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₱585,000</a:t>
            </a:r>
            <a:endParaRPr sz="19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937760" y="365760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175504" y="3767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value</a:t>
            </a:r>
            <a:endParaRPr sz="12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75504" y="407822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divisor, days and benefits</a:t>
            </a:r>
            <a:endParaRPr sz="105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914400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937760" y="461772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175504" y="47274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used</a:t>
            </a:r>
            <a:endParaRPr sz="12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5175504" y="50383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more beneficial of the two</a:t>
            </a:r>
            <a:endParaRPr sz="105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4937760" y="5623560"/>
            <a:ext cx="66568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4937760" y="6035040"/>
            <a:ext cx="665683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5084064" y="603504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3–6, 30, 38–41, 67–72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plan type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salary basis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days per service year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per service year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Additional benefits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retirement age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Earliest statutory age used for normal retirement eligibility.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Compulsory retirement age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service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early-retirement age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guarantee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Floor applied to the company-plan value when configured.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6745"/>
            <a:ext cx="5806440" cy="284174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9814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91157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501870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1404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10400" y="4163926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63926"/>
            <a:ext cx="0" cy="2834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0215" y="4882003"/>
            <a:ext cx="41821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882003"/>
            <a:ext cx="0" cy="82499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cap (0 = none)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rounding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Taxation rule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BIR-approved company retirement plan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Marks whether the company plan meets the RA 4917 approval condition.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3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components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Authorised offsets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Negative net rule</a:t>
            </a:r>
            <a:endParaRPr sz="12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Select components, offsets and settlement rules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FIN-001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ANIMATED DEMO -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Final Pay animated walkthrough" descr="Final Pay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95" y="1371600"/>
            <a:ext cx="23552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850" y="1371600"/>
            <a:ext cx="2355756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“Final Pay” rows 5–18 (components) and 19–29 (rules)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77" y="1371600"/>
            <a:ext cx="3912942" cy="27432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035040" y="1463040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final pay</a:t>
            </a:r>
            <a:endParaRPr sz="11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35040" y="1700784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₱856,500</a:t>
            </a:r>
            <a:endParaRPr sz="26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035040" y="2487168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included</a:t>
            </a:r>
            <a:endParaRPr sz="11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035040" y="2724912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26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035040" y="3511296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offsets</a:t>
            </a:r>
            <a:endParaRPr sz="11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035040" y="3749040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−₱47,800</a:t>
            </a:r>
            <a:endParaRPr sz="26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035040" y="4535424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</a:t>
            </a:r>
            <a:endParaRPr sz="11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6035040" y="4773168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₱808,700</a:t>
            </a:r>
            <a:endParaRPr sz="26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66928" y="443484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66928" y="5486400"/>
            <a:ext cx="51206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713232" y="548640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46–49; “Final Pay” rows 30–34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9175"/>
            <a:ext cx="5806440" cy="449689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2012244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012244"/>
            <a:ext cx="0" cy="4703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19181" y="1651471"/>
            <a:ext cx="0" cy="256338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19181" y="1651471"/>
            <a:ext cx="313341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1651471"/>
            <a:ext cx="0" cy="21661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214854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214854"/>
            <a:ext cx="0" cy="9377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2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company components</a:t>
            </a:r>
            <a:endParaRPr sz="120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Company-specific items added to final pay.</a:t>
            </a:r>
            <a:endParaRPr sz="10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2816"/>
            <a:ext cx="5806440" cy="244960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387283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4590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402896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8411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3408995" y="2675112"/>
            <a:ext cx="0" cy="20057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67511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2675112"/>
            <a:ext cx="0" cy="177230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210400" y="4680839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680839"/>
            <a:ext cx="0" cy="102616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 rule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Separation pay rule by cause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of service years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 for final pay.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04636"/>
            <a:ext cx="5806440" cy="142596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86932"/>
            <a:ext cx="0" cy="3505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8693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5869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3751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4969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86932"/>
            <a:ext cx="0" cy="9922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8693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86932"/>
            <a:ext cx="0" cy="126048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79205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79205"/>
            <a:ext cx="0" cy="152779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Advance 13th month rule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Last cutoff rule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Government loan balance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loan balance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company loan balance is settled at separation.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3794"/>
            <a:ext cx="5806440" cy="206765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226862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74426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0215" y="3944939"/>
            <a:ext cx="352376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2731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494954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494954"/>
            <a:ext cx="0" cy="6576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pay rule when negative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Auto-offset authorized deductions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Notify admin on release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Alerts payroll administrators once the final pay breakdown is ready for review.</a:t>
            </a:r>
            <a:endParaRPr sz="10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4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net target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BIR table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Iterate to convergence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cost shown</a:t>
            </a:r>
            <a:endParaRPr sz="12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Define the net target and tax absorption method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GUP-001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Define target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Control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· Validate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ANIMATED DEMO -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Gross Up animated walkthrough" descr="Gross Up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1371600"/>
            <a:ext cx="37369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9" y="1371600"/>
            <a:ext cx="373727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Target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Method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share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Controls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6–18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92" y="1371600"/>
            <a:ext cx="3324432" cy="32918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800600"/>
            <a:ext cx="3110789" cy="12344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5029200" y="1417320"/>
            <a:ext cx="656539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is not simply net ÷ (1 − rate)</a:t>
            </a:r>
            <a:endParaRPr sz="15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5029200" y="1783080"/>
            <a:ext cx="6565392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5029200" y="2971800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taxable pay</a:t>
            </a:r>
            <a:endParaRPr sz="115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17152" y="297180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₱51,875.00</a:t>
            </a:r>
            <a:endParaRPr sz="1500"/>
          </a:p>
        </p:txBody>
      </p:sp>
      <p:sp>
        <p:nvSpPr>
          <p:cNvPr id="10" name="Shape 6"/>
          <p:cNvSpPr>
            <a:spLocks noGrp="1"/>
          </p:cNvSpPr>
          <p:nvPr/>
        </p:nvSpPr>
        <p:spPr>
          <a:xfrm>
            <a:off x="5029200" y="3355848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7"/>
          <p:cNvSpPr>
            <a:spLocks noGrp="1"/>
          </p:cNvSpPr>
          <p:nvPr/>
        </p:nvSpPr>
        <p:spPr>
          <a:xfrm>
            <a:off x="5029200" y="3721608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Withholding tax absorbed by employer</a:t>
            </a:r>
            <a:endParaRPr sz="115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17152" y="372160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₱5,208.40</a:t>
            </a:r>
            <a:endParaRPr sz="1500"/>
          </a:p>
        </p:txBody>
      </p:sp>
      <p:sp>
        <p:nvSpPr>
          <p:cNvPr id="13" name="Shape 9"/>
          <p:cNvSpPr>
            <a:spLocks noGrp="1"/>
          </p:cNvSpPr>
          <p:nvPr/>
        </p:nvSpPr>
        <p:spPr>
          <a:xfrm>
            <a:off x="5029200" y="4105656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0"/>
          <p:cNvSpPr>
            <a:spLocks noGrp="1"/>
          </p:cNvSpPr>
          <p:nvPr/>
        </p:nvSpPr>
        <p:spPr>
          <a:xfrm>
            <a:off x="5029200" y="447141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released to employee</a:t>
            </a:r>
            <a:endParaRPr sz="115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17152" y="44714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₱50,000.00</a:t>
            </a:r>
            <a:endParaRPr sz="1500"/>
          </a:p>
        </p:txBody>
      </p:sp>
      <p:sp>
        <p:nvSpPr>
          <p:cNvPr id="16" name="Shape 12"/>
          <p:cNvSpPr>
            <a:spLocks noGrp="1"/>
          </p:cNvSpPr>
          <p:nvPr/>
        </p:nvSpPr>
        <p:spPr>
          <a:xfrm>
            <a:off x="5029200" y="4855464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3"/>
          <p:cNvSpPr>
            <a:spLocks noGrp="1"/>
          </p:cNvSpPr>
          <p:nvPr/>
        </p:nvSpPr>
        <p:spPr>
          <a:xfrm>
            <a:off x="5029200" y="5221224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employer cost</a:t>
            </a:r>
            <a:endParaRPr sz="115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9217152" y="52212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₱57,083.40</a:t>
            </a:r>
            <a:endParaRPr sz="150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5029200" y="6035040"/>
            <a:ext cx="656539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5175504" y="6035040"/>
            <a:ext cx="62910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2–4 and steps 4–12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1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target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method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frequency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frequency of the effective withholding table the iteration reads.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2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effective date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Flat / final tax rate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Employer-absorbed share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close the computed net must land to the target before the iteration stops.</a:t>
            </a: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3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27774"/>
            <a:ext cx="5806440" cy="217969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7084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68824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832898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52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550975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550975"/>
            <a:ext cx="0" cy="6016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iterations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 mandatory contributions before tax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Deducts the employee statutory share from taxable pay before the bracket is applied.</a:t>
            </a:r>
            <a:endParaRPr sz="10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WIRING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each engine reads and feeds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703320" y="1298448"/>
            <a:ext cx="40233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Reads from</a:t>
            </a:r>
            <a:endParaRPr sz="10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001000" y="1298448"/>
            <a:ext cx="3566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Produces</a:t>
            </a:r>
            <a:endParaRPr sz="105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1627632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749808" y="1627632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3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3566160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840480" y="1627632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7882128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183880" y="1627632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274320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49808" y="2743200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566160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3840480" y="2743200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7882128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8183880" y="2743200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value and its tax status</a:t>
            </a:r>
            <a:endParaRPr sz="110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566928" y="3858768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49808" y="3858768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3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3566160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3840480" y="3858768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7882128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8183880" y="3858768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 breakdown for release</a:t>
            </a:r>
            <a:endParaRPr sz="110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566928" y="4974336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749808" y="4974336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35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3566160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3840480" y="4974336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7882128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8183880" y="4974336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to pay and the tax the employer absorbs</a:t>
            </a:r>
            <a:endParaRPr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 withholding table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Locked once used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Feeds Gross Up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Tax Tables Flow v2 (14 May 2026); BRD Statutory Requirements 180–184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Formula reference sources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Named sources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Change once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Reference Table Module (feature points 62–63, 97–98)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— payroll data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Loans and deductions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Dates and plan type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Ceilings applied here too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Dorado sheets: Loans, Deduction, Cost Allocation, Previous Employer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6928" y="301752"/>
            <a:ext cx="3749039" cy="2103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7055" y="567055"/>
            <a:ext cx="11311890" cy="438785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0000"/>
          </a:bodyPr>
          <a:lstStyle/>
          <a:p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85216" y="99669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66928" y="1353312"/>
            <a:ext cx="11018520" cy="56692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68096" y="1481328"/>
            <a:ext cx="10058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SETUP PATH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828800" y="1435608"/>
            <a:ext cx="1874519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
Configuration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3758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160520" y="1435608"/>
            <a:ext cx="18288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Services
Information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Connector 9"/>
          <p:cNvSpPr>
            <a:spLocks noGrp="1"/>
          </p:cNvSpPr>
          <p:nvPr/>
        </p:nvSpPr>
        <p:spPr>
          <a:xfrm>
            <a:off x="6044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46520" y="1435608"/>
            <a:ext cx="1828800" cy="384048"/>
          </a:xfrm>
          <a:prstGeom prst="roundRect">
            <a:avLst/>
          </a:prstGeom>
          <a:solidFill>
            <a:srgbClr val="F6F1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
Basis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Connector 11"/>
          <p:cNvSpPr>
            <a:spLocks noGrp="1"/>
          </p:cNvSpPr>
          <p:nvPr/>
        </p:nvSpPr>
        <p:spPr>
          <a:xfrm>
            <a:off x="8330184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732520" y="1435608"/>
            <a:ext cx="2240280" cy="384048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2660904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4974336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7287768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9601200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66928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76656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713232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78992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Written policy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2880360" y="2249424"/>
            <a:ext cx="2057400" cy="1993392"/>
          </a:xfrm>
          <a:prstGeom prst="roundRect">
            <a:avLst/>
          </a:prstGeom>
          <a:solidFill>
            <a:srgbClr val="F6F1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2990088" y="2359152"/>
            <a:ext cx="1837943" cy="32004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3026664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392424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Governed code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3044952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5193792" y="2249424"/>
            <a:ext cx="2057400" cy="1993392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303520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5340096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705856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358384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507224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7616952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7653528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8019288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engines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7671816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708392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8513064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7708392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8513064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9820656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9930384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9966960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0332720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Payroll output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9985248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566928" y="4498848"/>
            <a:ext cx="11018520" cy="566928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768096" y="4626864"/>
            <a:ext cx="11430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 RULE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1874519" y="4572000"/>
            <a:ext cx="17830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 Employee group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Connector 49"/>
          <p:cNvSpPr>
            <a:spLocks noGrp="1"/>
          </p:cNvSpPr>
          <p:nvPr/>
        </p:nvSpPr>
        <p:spPr>
          <a:xfrm>
            <a:off x="3721608" y="4727448"/>
            <a:ext cx="256031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4041648" y="4572000"/>
            <a:ext cx="18288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 Approved code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Connector 51"/>
          <p:cNvSpPr>
            <a:spLocks noGrp="1"/>
          </p:cNvSpPr>
          <p:nvPr/>
        </p:nvSpPr>
        <p:spPr>
          <a:xfrm>
            <a:off x="5934456" y="4727448"/>
            <a:ext cx="256032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6263640" y="4572000"/>
            <a:ext cx="20116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 Company values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Connector 53"/>
          <p:cNvSpPr>
            <a:spLocks noGrp="1"/>
          </p:cNvSpPr>
          <p:nvPr/>
        </p:nvSpPr>
        <p:spPr>
          <a:xfrm>
            <a:off x="8339327" y="4727448"/>
            <a:ext cx="256033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8668512" y="4572000"/>
            <a:ext cx="2212848" cy="310896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 Enable + compute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566928" y="5285232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GUARDRAILS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566928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694944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 approved codes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694944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364992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3493008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Formula locked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3493008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6163056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291072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291072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8961119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089136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9089136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7406640" y="6419088"/>
            <a:ext cx="4178808" cy="29260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2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651760"/>
            <a:ext cx="5486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999232"/>
            <a:ext cx="8229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every screen came from</a:t>
            </a:r>
            <a:endParaRPr sz="4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Sources, row-level traceability and a glossary</a:t>
            </a:r>
            <a:endParaRPr sz="15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Source documents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335024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31520" y="1444752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</a:t>
            </a:r>
            <a:endParaRPr sz="12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883664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584448" y="1371600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578608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31520" y="2688336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C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1272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Sub Module 3 — Payroll</a:t>
            </a:r>
            <a:endParaRPr sz="8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3584448" y="2615184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82219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31520" y="3931920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Phase 2 BRD Audit Summary</a:t>
            </a:r>
            <a:endParaRPr sz="12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31520" y="4370832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Overall status — 331 requirement rows</a:t>
            </a:r>
            <a:endParaRPr sz="8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3584448" y="3858768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5065776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5175504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Tables Flow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5614416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v2 dated 14 May 2026 (supersedes v1)</a:t>
            </a:r>
            <a:endParaRPr sz="8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584448" y="5102352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B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4224528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4–5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Minimum take-home based on basic salary, 40%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Basic Pay; threshold type Percentage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pay, 30%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21–22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less reimbursements, 30%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 less reimbursements — used in the demo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29–30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minimum peso net pay, ₱8,000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Threshold type = Fixed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in full; loans may be deferred; carry over; notify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rank 0; auto-defer, carry-forward and notification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45–59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repayment cap, 25% of gross or a fixed ₱10,000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61–83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LAABS and undertime cap by %, days, or protected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Attendance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85–103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Hierarchy table, statutory rank 0, optional last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Deduction and loan hierarchy, maintained as a reference source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106–109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Loans at cap but net still short — choose what wins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Conflict priority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138–155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Deferred tracking, payslip tag fields,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Carry-forward table, payslip tag block and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C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3–6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Daily rate × 22.5 × years of service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value shown in the scenario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Fractions of six months or more count as one year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Service rounding rule; 12y 6m → 13 years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 7641, company plan, or override if more beneficial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plan type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24–29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Divisor, days per year, salary basis, benefits, rounding, cap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Formula inputs, all configurable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RetirementPay = MAX(statutory, company plan)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“Best of” option; both values displayed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31–37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Age 60, compulsory 65, five years service, early retirement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Eligibility rules and the eligibility strip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38–41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RA 7641 and RA 4917 tax exemption conditions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Taxation rule; the result records why it is exempt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46–49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pay forms part of final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Result feeds the Final Pay engine automatically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D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2688336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5–11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Mandatory: unpaid salary, 13th month, SIL, separation, retirement, final tax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Optional: convertible leave, allowances, commissions, cash bond, gratuity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19–29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 selectors on the settings card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30–31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Pull last days worked, leave balances, unpaid OT and LAABS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Scenario inputs drawn from the employee record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32–34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Only authorised deductions; auto-offset before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Offsets shown as negative lines in the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Output — final pay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Component-by-component breakdown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 shoulders the tax so the employee receives a guaranteed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Employer-absorbed share, default 100%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Divide the intended net by (1 − rate)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Available as the flat / final tax method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Use BIR tables: taxable income, correct bracket, base tax + excess 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Graduated method, reading the effective BIR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7–8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Choose the income and enable gross-up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target selector and engine switch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Add grossed-up income; subtract mandatory contributions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Taxable compensation line in the calculation trace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Identify bracket; apply base tax + excess × rate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Bracket named in the trace, e.g. from ₱33,333, ₱1,875 + 20%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Recompute gross until net equals the required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Iteration table with the gap closing to zero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16–18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Show gross, employer-absorbed tax, and net released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The four result tiles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F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Glossary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</a:t>
            </a:r>
            <a:endParaRPr sz="12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56692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2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56692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56692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code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56692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2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566928" y="52486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522976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19048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Hierarchy / rank</a:t>
            </a:r>
            <a:endParaRPr sz="12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19048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19048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Deferral / carry-forward</a:t>
            </a:r>
            <a:endParaRPr sz="12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19048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19048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2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19048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19048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19048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 gross-up: repeating the calculation until the computed net matches the target within tolerance.</a:t>
            </a:r>
            <a:endParaRPr sz="10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still needs a business decision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15568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170432" y="15910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take-home policy is active</a:t>
            </a:r>
            <a:endParaRPr sz="12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4498848" y="159105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710928" y="15910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 Home Pay rows 4–43</a:t>
            </a:r>
            <a:endParaRPr sz="95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70432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threshold priority</a:t>
            </a:r>
            <a:endParaRPr sz="12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498848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9710928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BRD 13th month / bonus ceiling</a:t>
            </a:r>
            <a:endParaRPr sz="9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170432" y="35295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when net is negative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498848" y="352958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9710928" y="35295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row 29</a:t>
            </a:r>
            <a:endParaRPr sz="9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170432" y="4498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Gross-up convergence</a:t>
            </a:r>
            <a:endParaRPr sz="12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498848" y="449884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9710928" y="44988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rows 15–16</a:t>
            </a:r>
            <a:endParaRPr sz="95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170432" y="546811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values</a:t>
            </a:r>
            <a:endParaRPr sz="120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4498848" y="54681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710928" y="54681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tables</a:t>
            </a:r>
            <a:endParaRPr sz="9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14884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this demonstrates</a:t>
            </a:r>
            <a:endParaRPr sz="38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88720" y="307238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188720" y="373075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1188720" y="4389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88720" y="50474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screen traces back to a row in your own workbooks.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28853</Words>
  <Application>WPS Presentation</Application>
  <PresentationFormat>Converted Presentation</PresentationFormat>
  <Paragraphs>1783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1" baseType="lpstr">
      <vt:lpstr>Arial</vt:lpstr>
      <vt:lpstr>SimSun</vt:lpstr>
      <vt:lpstr>Wingdings</vt:lpstr>
      <vt:lpstr>Arial</vt:lpstr>
      <vt:lpstr>Calibri</vt:lpstr>
      <vt:lpstr>Cambria</vt:lpstr>
      <vt:lpstr>Microsoft YaHei</vt:lpstr>
      <vt:lpstr>Arial Unicode MS</vt:lpstr>
      <vt:lpstr>Georgia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josrp</cp:lastModifiedBy>
  <cp:revision>1</cp:revision>
  <dcterms:created xsi:type="dcterms:W3CDTF">2026-08-10T16:34:32Z</dcterms:created>
  <dcterms:modified xsi:type="dcterms:W3CDTF">2026-08-10T16:34:32Z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EA5293D6F12040ECA60CA5E2FC1C35A6_13</vt:lpwstr>
  </property>
  <property fmtid="{D5CDD505-2E9C-101B-9397-08002B2CF9AE}" pid="3" name="KSOProductBuildVer">
    <vt:lpwstr>1033-12.1.0.28032</vt:lpwstr>
  </property>
</Properties>
</file>