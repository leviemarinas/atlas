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session: this is about traceability from their Excel to a working screen, not about software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nobody edits a formula. They pick an approved code and set its values for a group of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engine has its own tab. The code beside the tab name is the governed policy code you assign in Company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wording from their own sample policy 3, typed straight into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codes on one engine: one governs the protected minimum, the other the caps. Both are assignable to their own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Emphasise reuse: the schema is governed centrally, the values are the client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Company Rules / Apply New Rule.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C:\Users\josrp\OneDrive\Documents\Atlas\ATLAS_Demo_Videos\01-company-rules.mp4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THP-001 Minimum Take-Home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C:\Users\josrp\OneDrive\Documents\Atlas\ATLAS_Demo_Videos\02-take-home-pay.mp4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room through the ledger: due, deducted, deferred, accumulated. This is their row 143-152 payslip requirement made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RET-001 Retirement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C:\Users\josrp\OneDrive\Documents\Atlas\ATLAS_Demo_Videos\03-retirement-pay.mp4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comparison is the point: the system computes both and uses the better one, and records why it is tax exempt.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FIN-001 Final Pay.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C:\Users\josrp\OneDrive\Documents\Atlas\ATLAS_Demo_Videos\04-final-pay.mp4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the link: retirement pay forms part of final pay, exactly as row 48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cue: Atlas wireframe — GUP-001 Gross Up.</a:t>
            </a:r>
          </a:p>
          <a:p>
            <a:r>
              <a:t>The 1280×720 MP4 is embedded in the slide. Select the video frame to play it in Slide Show mode.</a:t>
            </a:r>
          </a:p>
          <a:p/>
          <a:p>
            <a:r>
              <a:t>[Sources]</a:t>
            </a:r>
          </a:p>
          <a:p>
            <a:r>
              <a:t>- http://localhost:5173/wireframe (Atlas wireframe, captured 2026-08-10)</a:t>
            </a:r>
          </a:p>
          <a:p>
            <a:r>
              <a:t>- C:\Users\josrp\OneDrive\Documents\Atlas\ATLAS_Demo_Videos\05-gross-up.mp4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Bracket used: from ₱33,333 with fixed tax ₱1,875 plus 20% on the excess. The trace shows the iteration and the gap closing to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re-keyed between engines. This is the answer to "does it connect".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Leave this open during Q&amp;A so anyone can challenge a screen and be shown the row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four are the source of truth. Anything on screen that is not in one of these is flagged on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that statutory numbers on screen are sample data pending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inviting them to challenge any screen — the appendix has the row reference for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1737360"/>
            <a:ext cx="73152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ATLAS PHASE 2 · PAYROLL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103120"/>
            <a:ext cx="822960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Computational Basis</a:t>
            </a:r>
            <a:endParaRPr sz="52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063240"/>
            <a:ext cx="76809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your take-home pay, retirement, final pay and gross-up rules</a:t>
            </a:r>
            <a:endParaRPr sz="1700"/>
          </a:p>
          <a:p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 inside the application</a:t>
            </a:r>
            <a:endParaRPr sz="17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250"/>
          </a:p>
        </p:txBody>
      </p:sp>
      <p:sp>
        <p:nvSpPr>
          <p:cNvPr id="7" name="Shape 5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8" name="Text 6"/>
          <p:cNvSpPr>
            <a:spLocks noGrp="1"/>
          </p:cNvSpPr>
          <p:nvPr/>
        </p:nvSpPr>
        <p:spPr>
          <a:xfrm>
            <a:off x="2962656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2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358384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oundRect">
            <a:avLst>
              <a:gd name="adj" fmla="val 16129"/>
            </a:avLst>
          </a:prstGeom>
          <a:solidFill>
            <a:srgbClr val="1B2246"/>
          </a:solidFill>
          <a:ln w="12700">
            <a:solidFill>
              <a:srgbClr val="313C6B"/>
            </a:solidFill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54112" y="4343400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257800"/>
            <a:ext cx="9144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Working prototype · wireframe view · every screen in this deck is a live screenshot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AGENDA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we will walk through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1225296" y="13624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chain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4133088" y="1362456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policy becomes a governed code, then a Company Rule, then a payroll result.</a:t>
            </a:r>
            <a:endParaRPr sz="13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566928" y="238658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1225296" y="233172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Four engines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4133088" y="23317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Pay, Retirement Pay, Final Pay and Gross Up — each configured, each with a live scenario.</a:t>
            </a:r>
            <a:endParaRPr sz="13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33558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225296" y="330098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Worked examples</a:t>
            </a:r>
            <a:endParaRPr sz="140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4133088" y="3300984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numbers your Annex B samples use, computed on screen.</a:t>
            </a:r>
            <a:endParaRPr sz="13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566928" y="432511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1225296" y="427024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it connects to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133088" y="4270248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Rules, reference tables, statutory tables and the employee masterfile.</a:t>
            </a:r>
            <a:endParaRPr sz="130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529437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225296" y="523951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Traceability</a:t>
            </a:r>
            <a:endParaRPr sz="14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133088" y="5239512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maps every screen back to the exact workbook rows it came from.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IDEA IN ONE PICTURE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your written policy to a payroll result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86384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68096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policy</a:t>
            </a:r>
            <a:endParaRPr sz="13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768096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B, written in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plain business language</a:t>
            </a:r>
            <a:endParaRPr sz="105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2665476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>
            <a:spLocks noGrp="1"/>
          </p:cNvSpPr>
          <p:nvPr/>
        </p:nvSpPr>
        <p:spPr>
          <a:xfrm>
            <a:off x="2907792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3127248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3108960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Governed code</a:t>
            </a:r>
            <a:endParaRPr sz="13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3108960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 policy-engine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code, e.g. THP-001</a:t>
            </a:r>
            <a:endParaRPr sz="10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006340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16" name="Shape 14"/>
          <p:cNvSpPr>
            <a:spLocks noGrp="1"/>
          </p:cNvSpPr>
          <p:nvPr/>
        </p:nvSpPr>
        <p:spPr>
          <a:xfrm>
            <a:off x="5248656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>
            <a:spLocks noGrp="1"/>
          </p:cNvSpPr>
          <p:nvPr/>
        </p:nvSpPr>
        <p:spPr>
          <a:xfrm>
            <a:off x="5468112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5449824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3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5449824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Assigned to an employee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group with its own values</a:t>
            </a:r>
            <a:endParaRPr sz="1050"/>
          </a:p>
        </p:txBody>
      </p:sp>
      <p:sp>
        <p:nvSpPr>
          <p:cNvPr id="21" name="Shape 19"/>
          <p:cNvSpPr>
            <a:spLocks noGrp="1"/>
          </p:cNvSpPr>
          <p:nvPr/>
        </p:nvSpPr>
        <p:spPr>
          <a:xfrm>
            <a:off x="7347204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2" name="Shape 20"/>
          <p:cNvSpPr>
            <a:spLocks noGrp="1"/>
          </p:cNvSpPr>
          <p:nvPr/>
        </p:nvSpPr>
        <p:spPr>
          <a:xfrm>
            <a:off x="7589520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7808976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7790688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350"/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7790688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Computes and shows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its full working</a:t>
            </a:r>
            <a:endParaRPr sz="1050"/>
          </a:p>
        </p:txBody>
      </p:sp>
      <p:sp>
        <p:nvSpPr>
          <p:cNvPr id="27" name="Shape 25"/>
          <p:cNvSpPr>
            <a:spLocks noGrp="1"/>
          </p:cNvSpPr>
          <p:nvPr/>
        </p:nvSpPr>
        <p:spPr>
          <a:xfrm>
            <a:off x="9688068" y="2697480"/>
            <a:ext cx="201168" cy="182880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9AA6C4"/>
            </a:solidFill>
            <a:prstDash val="solid"/>
          </a:ln>
        </p:spPr>
      </p:sp>
      <p:sp>
        <p:nvSpPr>
          <p:cNvPr id="28" name="Shape 26"/>
          <p:cNvSpPr>
            <a:spLocks noGrp="1"/>
          </p:cNvSpPr>
          <p:nvPr/>
        </p:nvSpPr>
        <p:spPr>
          <a:xfrm>
            <a:off x="9930384" y="1600200"/>
            <a:ext cx="2057400" cy="2377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8"/>
          <p:cNvSpPr>
            <a:spLocks noGrp="1"/>
          </p:cNvSpPr>
          <p:nvPr/>
        </p:nvSpPr>
        <p:spPr>
          <a:xfrm>
            <a:off x="1014984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31" name="Text 29"/>
          <p:cNvSpPr>
            <a:spLocks noGrp="1"/>
          </p:cNvSpPr>
          <p:nvPr/>
        </p:nvSpPr>
        <p:spPr>
          <a:xfrm>
            <a:off x="10131552" y="2377440"/>
            <a:ext cx="1655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result</a:t>
            </a:r>
            <a:endParaRPr sz="1350"/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10131552" y="2761488"/>
            <a:ext cx="165506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Deductions, deferrals,</a:t>
            </a:r>
            <a:endParaRPr sz="1050"/>
          </a:p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ledger and payslip tags</a:t>
            </a:r>
            <a:endParaRPr sz="1050"/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566928" y="4343400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same code can be reused by many rules. The values change per rule; the approved formula never does.</a:t>
            </a:r>
            <a:endParaRPr sz="1300"/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566928" y="4892040"/>
            <a:ext cx="859536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713232" y="4892040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“Rules Set Up — Client-defined Rules”; Annex B Take Home Pay rows 113–156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ORIENTATION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Computational Basis sits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controlled library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formulas, the client assignments that use them, the four policy engines, and the reference sources they read.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Nothing is hand-typed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Rates, brackets and ceilings live in versioned tables — not inside a formula.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Reached from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Computational Basis Module (feature points 73–82)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SCOPE OF TODAY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four policy engines</a:t>
            </a:r>
            <a:endParaRPr sz="3000"/>
          </a:p>
        </p:txBody>
      </p:sp>
      <p:pic>
        <p:nvPicPr>
          <p:cNvPr id="34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280160"/>
            <a:ext cx="9290304" cy="56692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566928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>
            <a:spLocks noGrp="1"/>
          </p:cNvSpPr>
          <p:nvPr/>
        </p:nvSpPr>
        <p:spPr>
          <a:xfrm>
            <a:off x="804672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04672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4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04672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· THP-002</a:t>
            </a:r>
            <a:endParaRPr sz="10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04672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Protects a minimum net pay and caps controllable deductions, deferring the rest in a set order.</a:t>
            </a:r>
            <a:endParaRPr sz="11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3456432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3694176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3694176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400"/>
          </a:p>
        </p:txBody>
      </p:sp>
      <p:sp>
        <p:nvSpPr>
          <p:cNvPr id="15" name="Text 12"/>
          <p:cNvSpPr>
            <a:spLocks noGrp="1"/>
          </p:cNvSpPr>
          <p:nvPr/>
        </p:nvSpPr>
        <p:spPr>
          <a:xfrm>
            <a:off x="3694176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RET-001 · RET-002</a:t>
            </a:r>
            <a:endParaRPr sz="1000"/>
          </a:p>
        </p:txBody>
      </p:sp>
      <p:sp>
        <p:nvSpPr>
          <p:cNvPr id="16" name="Text 13"/>
          <p:cNvSpPr>
            <a:spLocks noGrp="1"/>
          </p:cNvSpPr>
          <p:nvPr/>
        </p:nvSpPr>
        <p:spPr>
          <a:xfrm>
            <a:off x="3694176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Applies the statutory 22.5-day formula, compares it with the company plan, and takes the better one.</a:t>
            </a:r>
            <a:endParaRPr sz="110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345936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583680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6583680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4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6583680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FIN-001</a:t>
            </a:r>
            <a:endParaRPr sz="10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6583680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Adds every enabled component, offsets authorised balances, and returns a net final pay breakdown.</a:t>
            </a:r>
            <a:endParaRPr sz="110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9235440" y="2286000"/>
            <a:ext cx="2670048" cy="297180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9473184" y="252374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9473184" y="305409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4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9473184" y="33832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GUP-001</a:t>
            </a:r>
            <a:endParaRPr sz="10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9473184" y="3694176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Solves the gross needed to guarantee a net amount, using the effective BIR withholding table.</a:t>
            </a:r>
            <a:endParaRPr sz="11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566928" y="5623560"/>
            <a:ext cx="8778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13232" y="562356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sheets: Take Home Pay · Retirement Pay · Final Pay · Gross Up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CONNECTION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Company Rules is where a policy is applied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register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register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rule for the company, whichever engine computes it.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Engine-owned rows are locked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rule backed by a policy engine can only be changed in that engine — so the register can never disagree with the calculation.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New Rule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Three steps: who it applies to, which governed code, then the values.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 60, “Rules Set Up — Client-defined Rules”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1 — who and what it applies to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46" y="1325880"/>
            <a:ext cx="5977563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rule in your own words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“Employees must receive at least 30% of their total gross pay less reimbursements / receivables.”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 basis is chosen first, so the same policy can differ by group — exactly as your samples are written “(employee group assignment)”.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21–27 (policy 3)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2 — pick the governed computation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99408"/>
            <a:ext cx="6400800" cy="4407824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Only approved codes appear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list is filtered to codes mapped to the chosen sub-category. A user cannot invent a formula here — they can only start a variant from an approved template.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3154680"/>
            <a:ext cx="4306824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  Minimum Take-Home Pay</a:t>
            </a:r>
            <a:endParaRPr sz="1200"/>
          </a:p>
          <a:p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  Maximum Controllable Deductions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20624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20624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4–5 (policy 1) and 45–51 (loan cap)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APPLYING A RULE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Step 3 — set the values for this rule</a:t>
            </a:r>
            <a:endParaRPr sz="3000"/>
          </a:p>
        </p:txBody>
      </p:sp>
      <p:pic>
        <p:nvPicPr>
          <p:cNvPr id="13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25880"/>
            <a:ext cx="4754880" cy="475488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556248" y="1463040"/>
            <a:ext cx="503834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Values vary, the schema does not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556248" y="1810512"/>
            <a:ext cx="5038344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parameter list comes from the approved code. This rule sets its own base, threshold type and threshold — another rule on the same code can set different ones.</a:t>
            </a:r>
            <a:endParaRPr sz="125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556248" y="32918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This is what makes one policy library serve many companies and many employee groups without copying formulas.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6556248" y="4572000"/>
            <a:ext cx="50383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6702552" y="4572000"/>
            <a:ext cx="47640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113–124, “Possible Company Set Up” 1–5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LIBRARY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Every sub-category has a governed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0820"/>
            <a:ext cx="7680960" cy="436212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879592"/>
            <a:ext cx="76809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 code library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659368" y="13716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Coverage is measured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659368" y="16093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header shows how many Company Rules sub-categories already have an approved template behind them.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659368" y="22860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vs variant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659368" y="25237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Standard codes are locked. A client variant starts from a standard code and only its values differ.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659368" y="3200400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engine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659368" y="3438144"/>
            <a:ext cx="29352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Jumps straight to the engine that computes that code.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659368" y="6053328"/>
            <a:ext cx="29352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805672" y="6053328"/>
            <a:ext cx="26609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feature points 19–20, Computational Basis set-up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From business rule to governed computation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7287768" y="1463040"/>
            <a:ext cx="4306824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Watch the three-step flow</a:t>
            </a:r>
            <a:endParaRPr sz="14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287768" y="1810512"/>
            <a:ext cx="4306824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Define the employee scope, category and plain-language rule.</a:t>
            </a:r>
            <a:endParaRPr sz="13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287768" y="2880360"/>
            <a:ext cx="4306824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Select an approved policy-engine code.
3 · Review its parameters and linkage before applying.</a:t>
            </a:r>
            <a:endParaRPr sz="1200"/>
          </a:p>
        </p:txBody>
      </p:sp>
      <p:sp>
        <p:nvSpPr>
          <p:cNvPr id="8" name="Shape 5"/>
          <p:cNvSpPr>
            <a:spLocks noGrp="1"/>
          </p:cNvSpPr>
          <p:nvPr/>
        </p:nvSpPr>
        <p:spPr>
          <a:xfrm>
            <a:off x="7287768" y="4114800"/>
            <a:ext cx="43068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>
            <a:spLocks noGrp="1"/>
          </p:cNvSpPr>
          <p:nvPr/>
        </p:nvSpPr>
        <p:spPr>
          <a:xfrm>
            <a:off x="7434072" y="4114800"/>
            <a:ext cx="40325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14-SECOND VIDEO · CLICK TO PLAY</a:t>
            </a:r>
            <a:endParaRPr sz="1000"/>
          </a:p>
        </p:txBody>
      </p:sp>
      <p:pic>
        <p:nvPicPr>
          <p:cNvPr id="4" name="Embedded Video - Company Rules walkthrough" descr="Company Rules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78510" y="1325880"/>
            <a:ext cx="5977255" cy="4754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1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 a minimum net pay, cap what can be deducted, and defer the rest in a defined order.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caps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Adjustment hierarchy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 and carry forward</a:t>
            </a:r>
            <a:endParaRPr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protection, caps and deferral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THP-001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the protected base, minimum threshold and deduction / loan caps.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 the simulator and deduction ledger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  <p:pic>
        <p:nvPicPr>
          <p:cNvPr id="4" name="Embedded Video - Take-Home Pay walkthrough" descr="Take-Home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9150" y="1463040"/>
            <a:ext cx="6261735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Your protected minimum, configured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99" y="1463040"/>
            <a:ext cx="6262019" cy="310896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4599432"/>
            <a:ext cx="67665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Take-Home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744968" y="13716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744968" y="16093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Basic Pay · Gross Pay · Gross Pay less reimbursements — the three bases your samples describe.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744968" y="22860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744968" y="25237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percentage or a fixed peso amount, including zero.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744968" y="3200400"/>
            <a:ext cx="38496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744968" y="3438144"/>
            <a:ext cx="38496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30% of ₱34,500 = a protected minimum of ₱10,350 for this scenario.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744968" y="6053328"/>
            <a:ext cx="38496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891272" y="6053328"/>
            <a:ext cx="35753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“Take Home Pay” rows 4, 13, 21, 29, 37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 on deductions, loans and attendance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09" y="1371600"/>
            <a:ext cx="4264197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937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Cap configuration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916168" y="13716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916168" y="16093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“Total loan repayments may not exceed 25% of gross salary” — or a fixed amount such as ₱10,000.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916168" y="22860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LAABS cap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916168" y="25237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Lates, absences and undertime capped by percentage, peso amount, or a number of days.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916168" y="3200400"/>
            <a:ext cx="567842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916168" y="3438144"/>
            <a:ext cx="567842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loans are already at their cap but net pay is still short, the company decides which rule wins.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5916168" y="6053328"/>
            <a:ext cx="567842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062472" y="6053328"/>
            <a:ext cx="540410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45–84 (caps) and 106–109 (conflict priority)</a:t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adjustment hierarchy, exactly as you ranked it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162" y="1371600"/>
            <a:ext cx="2393453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931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and loan hierarchy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10328" y="13716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Ranked, not guessed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910328" y="16093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deductions are rank 0 and always applied in full. Everything else is adjusted in your stated order.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910328" y="22860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Partial adjustment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910328" y="25237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 only trims as much as it needs. If adjusting rank 1 is enough to meet the minimum, it stops there.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910328" y="3200400"/>
            <a:ext cx="668426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Maintained as a reference table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910328" y="3438144"/>
            <a:ext cx="66842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is data, so it can change without touching the calculation.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910328" y="6053328"/>
            <a:ext cx="668426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5056632" y="6053328"/>
            <a:ext cx="640994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85–103, hierarchy table and note at row 87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One payroll period, computed on screen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308" y="1325880"/>
            <a:ext cx="3659160" cy="42062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60230"/>
            <a:ext cx="4206240" cy="294881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9281160" y="137160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pay</a:t>
            </a:r>
            <a:endParaRPr sz="10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9281160" y="159105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₱36,500</a:t>
            </a:r>
            <a:endParaRPr sz="170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9281160" y="2130552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Less reimbursements</a:t>
            </a:r>
            <a:endParaRPr sz="100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81160" y="2350008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₱2,000</a:t>
            </a:r>
            <a:endParaRPr sz="1700"/>
          </a:p>
        </p:txBody>
      </p:sp>
      <p:sp>
        <p:nvSpPr>
          <p:cNvPr id="10" name="Text 6"/>
          <p:cNvSpPr>
            <a:spLocks noGrp="1"/>
          </p:cNvSpPr>
          <p:nvPr/>
        </p:nvSpPr>
        <p:spPr>
          <a:xfrm>
            <a:off x="9281160" y="2889504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00"/>
          </a:p>
        </p:txBody>
      </p:sp>
      <p:sp>
        <p:nvSpPr>
          <p:cNvPr id="11" name="Text 7"/>
          <p:cNvSpPr>
            <a:spLocks noGrp="1"/>
          </p:cNvSpPr>
          <p:nvPr/>
        </p:nvSpPr>
        <p:spPr>
          <a:xfrm>
            <a:off x="9281160" y="3108960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₱34,500</a:t>
            </a:r>
            <a:endParaRPr sz="170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81160" y="3648456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 (30%)</a:t>
            </a:r>
            <a:endParaRPr sz="1000"/>
          </a:p>
        </p:txBody>
      </p:sp>
      <p:sp>
        <p:nvSpPr>
          <p:cNvPr id="13" name="Text 9"/>
          <p:cNvSpPr>
            <a:spLocks noGrp="1"/>
          </p:cNvSpPr>
          <p:nvPr/>
        </p:nvSpPr>
        <p:spPr>
          <a:xfrm>
            <a:off x="9281160" y="3867912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₱10,350</a:t>
            </a:r>
            <a:endParaRPr sz="1700"/>
          </a:p>
        </p:txBody>
      </p:sp>
      <p:sp>
        <p:nvSpPr>
          <p:cNvPr id="14" name="Text 10"/>
          <p:cNvSpPr>
            <a:spLocks noGrp="1"/>
          </p:cNvSpPr>
          <p:nvPr/>
        </p:nvSpPr>
        <p:spPr>
          <a:xfrm>
            <a:off x="9281160" y="4407408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take-home</a:t>
            </a:r>
            <a:endParaRPr sz="100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81160" y="4626864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₱15,500</a:t>
            </a:r>
            <a:endParaRPr sz="1700"/>
          </a:p>
        </p:txBody>
      </p:sp>
      <p:sp>
        <p:nvSpPr>
          <p:cNvPr id="16" name="Text 12"/>
          <p:cNvSpPr>
            <a:spLocks noGrp="1"/>
          </p:cNvSpPr>
          <p:nvPr/>
        </p:nvSpPr>
        <p:spPr>
          <a:xfrm>
            <a:off x="9281160" y="5166360"/>
            <a:ext cx="2313432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this cutoff</a:t>
            </a:r>
            <a:endParaRPr sz="1000"/>
          </a:p>
        </p:txBody>
      </p:sp>
      <p:sp>
        <p:nvSpPr>
          <p:cNvPr id="17" name="Text 13"/>
          <p:cNvSpPr>
            <a:spLocks noGrp="1"/>
          </p:cNvSpPr>
          <p:nvPr/>
        </p:nvSpPr>
        <p:spPr>
          <a:xfrm>
            <a:off x="9281160" y="5385816"/>
            <a:ext cx="2313432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₱750</a:t>
            </a:r>
            <a:endParaRPr sz="170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4800600" y="452628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stayed whole at ₱6,500. Only the ranked items moved.</a:t>
            </a:r>
            <a:endParaRPr sz="115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4800600" y="512064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4946904" y="5120640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8–11 (statutory in full, defer, carry over, notify)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Deferred amounts are tracked, not lost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471" y="1371600"/>
            <a:ext cx="642459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6583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Carry-forward and payslip tagging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7562088" y="13716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Carried forward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7562088" y="16093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Outstanding amount, rescheduled deduction date and the new balance — the three fields you asked for.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7562088" y="22860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7562088" y="25237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Name, originally due, deducted, deferred, accumulated, remaining balance and the reason.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7562088" y="3200400"/>
            <a:ext cx="40325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matters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7562088" y="3438144"/>
            <a:ext cx="40325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employee can trace a repayment across several cutoffs, and loan balances stay correct.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7562088" y="6053328"/>
            <a:ext cx="40325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7708392" y="6053328"/>
            <a:ext cx="37581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138–155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GOVERNANCE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Two codes, one company policy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090" y="1371600"/>
            <a:ext cx="48449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5669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Opened from THP-002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647688" y="13716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THP-001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647688" y="16093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protected minimum: base, threshold and deferral behaviour.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647688" y="22860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THP-002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647688" y="25237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Governs the caps: deductions, loans, attendance and conflict priority.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647688" y="3200400"/>
            <a:ext cx="494690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underneath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647688" y="3438144"/>
            <a:ext cx="49469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company keeps one take-home policy. The two codes let you assign its parts to different rules without duplicating it.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6647688" y="6053328"/>
            <a:ext cx="494690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6793992" y="6053328"/>
            <a:ext cx="467258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rows 113–130, set-up items 1–6b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Protected minimum fields</a:t>
            </a:r>
            <a:endParaRPr sz="3000"/>
          </a:p>
        </p:txBody>
      </p:sp>
      <p:pic>
        <p:nvPicPr>
          <p:cNvPr id="6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53237"/>
            <a:ext cx="5806440" cy="212876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5533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835533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802282"/>
            <a:ext cx="0" cy="103325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802282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19630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809951"/>
            <a:ext cx="0" cy="38635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809951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835533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2835533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2835533"/>
            <a:ext cx="0" cy="9820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3817620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3858362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3858362"/>
            <a:ext cx="0" cy="9669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82528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520418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520418"/>
            <a:ext cx="0" cy="131253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832958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80979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1371600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05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1755648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90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306829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2379269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2488997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2452421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base</a:t>
            </a:r>
            <a:endParaRPr sz="105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2763317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earnings amount used to calculate the minimum take-home threshold.</a:t>
            </a:r>
            <a:endParaRPr sz="900"/>
          </a:p>
        </p:txBody>
      </p:sp>
      <p:sp>
        <p:nvSpPr>
          <p:cNvPr id="36" name="Shape 33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3280979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940296" y="3386938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6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7050024" y="349666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1" name="Text 38"/>
          <p:cNvSpPr>
            <a:spLocks noGrp="1"/>
          </p:cNvSpPr>
          <p:nvPr/>
        </p:nvSpPr>
        <p:spPr>
          <a:xfrm>
            <a:off x="7379208" y="346009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 type</a:t>
            </a:r>
            <a:endParaRPr sz="1050"/>
          </a:p>
        </p:txBody>
      </p:sp>
      <p:sp>
        <p:nvSpPr>
          <p:cNvPr id="42" name="Text 39"/>
          <p:cNvSpPr>
            <a:spLocks noGrp="1"/>
          </p:cNvSpPr>
          <p:nvPr/>
        </p:nvSpPr>
        <p:spPr>
          <a:xfrm>
            <a:off x="7068312" y="3770986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protected minimum is a percentage or a fixed peso amount.</a:t>
            </a:r>
            <a:endParaRPr sz="900"/>
          </a:p>
        </p:txBody>
      </p:sp>
      <p:sp>
        <p:nvSpPr>
          <p:cNvPr id="43" name="Shape 40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6082384" y="37303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5" name="Shape 42"/>
          <p:cNvSpPr>
            <a:spLocks noGrp="1"/>
          </p:cNvSpPr>
          <p:nvPr/>
        </p:nvSpPr>
        <p:spPr>
          <a:xfrm>
            <a:off x="6940296" y="4394606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3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7050024" y="450433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8" name="Text 45"/>
          <p:cNvSpPr>
            <a:spLocks noGrp="1"/>
          </p:cNvSpPr>
          <p:nvPr/>
        </p:nvSpPr>
        <p:spPr>
          <a:xfrm>
            <a:off x="7379208" y="446775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Threshold</a:t>
            </a:r>
            <a:endParaRPr sz="1050"/>
          </a:p>
        </p:txBody>
      </p:sp>
      <p:sp>
        <p:nvSpPr>
          <p:cNvPr id="49" name="Text 46"/>
          <p:cNvSpPr>
            <a:spLocks noGrp="1"/>
          </p:cNvSpPr>
          <p:nvPr/>
        </p:nvSpPr>
        <p:spPr>
          <a:xfrm>
            <a:off x="7068312" y="4778654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protected minimum value applied to the selected base.</a:t>
            </a:r>
            <a:endParaRPr sz="900"/>
          </a:p>
        </p:txBody>
      </p:sp>
      <p:sp>
        <p:nvSpPr>
          <p:cNvPr id="50" name="Shape 47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>
            <a:spLocks noGrp="1"/>
          </p:cNvSpPr>
          <p:nvPr/>
        </p:nvSpPr>
        <p:spPr>
          <a:xfrm>
            <a:off x="6082384" y="43924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2" name="Shape 49"/>
          <p:cNvSpPr>
            <a:spLocks noGrp="1"/>
          </p:cNvSpPr>
          <p:nvPr/>
        </p:nvSpPr>
        <p:spPr>
          <a:xfrm>
            <a:off x="6940296" y="5402275"/>
            <a:ext cx="4654296" cy="861365"/>
          </a:xfrm>
          <a:prstGeom prst="roundRect">
            <a:avLst>
              <a:gd name="adj" fmla="val 636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3" name="Shape 50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7050024" y="5512003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5" name="Text 52"/>
          <p:cNvSpPr>
            <a:spLocks noGrp="1"/>
          </p:cNvSpPr>
          <p:nvPr/>
        </p:nvSpPr>
        <p:spPr>
          <a:xfrm>
            <a:off x="7379208" y="5475427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Conflict priority</a:t>
            </a:r>
            <a:endParaRPr sz="1050"/>
          </a:p>
        </p:txBody>
      </p:sp>
      <p:sp>
        <p:nvSpPr>
          <p:cNvPr id="56" name="Text 53"/>
          <p:cNvSpPr>
            <a:spLocks noGrp="1"/>
          </p:cNvSpPr>
          <p:nvPr/>
        </p:nvSpPr>
        <p:spPr>
          <a:xfrm>
            <a:off x="7068312" y="5786323"/>
            <a:ext cx="4398264" cy="404165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loans are already at their cap but net pay is still short — protect take-home pay, or protect loan collection instead.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Deductions cap fields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46981"/>
            <a:ext cx="5806440" cy="254127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0215" y="3203945"/>
            <a:ext cx="31945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27570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08995" y="2629277"/>
            <a:ext cx="0" cy="143534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08995" y="2629277"/>
            <a:ext cx="314359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629277"/>
            <a:ext cx="0" cy="55855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064618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064618"/>
            <a:ext cx="0" cy="38279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4726674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726674"/>
            <a:ext cx="0" cy="98032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72199" y="307592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a total deductions cap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the total non-loan deductions that may be collected in one payroll period.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base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deductions cap percentage is measured against.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393660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 type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deductions cap is a percentage of the base or a fixed amount.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459865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Deductions cap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non-loan deduction allowed for the payroll period.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Loan cap and attendance cap fields</a:t>
            </a:r>
            <a:endParaRPr sz="3000"/>
          </a:p>
        </p:txBody>
      </p:sp>
      <p:pic>
        <p:nvPicPr>
          <p:cNvPr id="7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63863"/>
            <a:ext cx="5806440" cy="3707515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046159"/>
            <a:ext cx="0" cy="72235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2046159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718310"/>
            <a:ext cx="0" cy="3278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718310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2768516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2558034"/>
            <a:ext cx="0" cy="21048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2558034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43057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3397758"/>
            <a:ext cx="0" cy="3281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397758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3408995" y="2046159"/>
            <a:ext cx="0" cy="26015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3408995" y="2046159"/>
            <a:ext cx="320943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2046159"/>
            <a:ext cx="0" cy="219132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4237482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6210400" y="4647737"/>
            <a:ext cx="4409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6651346" y="4647737"/>
            <a:ext cx="0" cy="4294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6651346" y="5077206"/>
            <a:ext cx="288950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3408995" y="5309793"/>
            <a:ext cx="3275269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3" name="Shape 20"/>
          <p:cNvSpPr>
            <a:spLocks noGrp="1"/>
          </p:cNvSpPr>
          <p:nvPr/>
        </p:nvSpPr>
        <p:spPr>
          <a:xfrm>
            <a:off x="6684264" y="5309793"/>
            <a:ext cx="0" cy="60713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6684264" y="5916930"/>
            <a:ext cx="256032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3280979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137160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base</a:t>
            </a:r>
            <a:endParaRPr sz="10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175564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loan cap percentage is measured against.</a:t>
            </a:r>
            <a:endParaRPr sz="9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6082384" y="26405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2211324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232105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228447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 type</a:t>
            </a:r>
            <a:endParaRPr sz="10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2595372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loan cap is a percentage of the base or a fixed amount.</a:t>
            </a:r>
            <a:endParaRPr sz="9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3280979" y="33025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3051048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31607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312420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 cap</a:t>
            </a:r>
            <a:endParaRPr sz="10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3435096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total loan repayment that can be deducted in the current payroll.</a:t>
            </a:r>
            <a:endParaRPr sz="900"/>
          </a:p>
        </p:txBody>
      </p:sp>
      <p:sp>
        <p:nvSpPr>
          <p:cNvPr id="46" name="Shape 43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>
            <a:spLocks noGrp="1"/>
          </p:cNvSpPr>
          <p:nvPr/>
        </p:nvSpPr>
        <p:spPr>
          <a:xfrm>
            <a:off x="3280979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8" name="Shape 45"/>
          <p:cNvSpPr>
            <a:spLocks noGrp="1"/>
          </p:cNvSpPr>
          <p:nvPr/>
        </p:nvSpPr>
        <p:spPr>
          <a:xfrm>
            <a:off x="6940296" y="3890772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9" name="Shape 46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0" name="Text 47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51" name="Text 48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base</a:t>
            </a:r>
            <a:endParaRPr sz="1050"/>
          </a:p>
        </p:txBody>
      </p:sp>
      <p:sp>
        <p:nvSpPr>
          <p:cNvPr id="52" name="Text 49"/>
          <p:cNvSpPr>
            <a:spLocks noGrp="1"/>
          </p:cNvSpPr>
          <p:nvPr/>
        </p:nvSpPr>
        <p:spPr>
          <a:xfrm>
            <a:off x="7068312" y="4274820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Earnings amount the attendance cap percentage is measured against.</a:t>
            </a:r>
            <a:endParaRPr sz="900"/>
          </a:p>
        </p:txBody>
      </p:sp>
      <p:sp>
        <p:nvSpPr>
          <p:cNvPr id="53" name="Shape 50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>
            <a:spLocks noGrp="1"/>
          </p:cNvSpPr>
          <p:nvPr/>
        </p:nvSpPr>
        <p:spPr>
          <a:xfrm>
            <a:off x="6082384" y="451972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50"/>
          </a:p>
        </p:txBody>
      </p:sp>
      <p:sp>
        <p:nvSpPr>
          <p:cNvPr id="55" name="Shape 52"/>
          <p:cNvSpPr>
            <a:spLocks noGrp="1"/>
          </p:cNvSpPr>
          <p:nvPr/>
        </p:nvSpPr>
        <p:spPr>
          <a:xfrm>
            <a:off x="6940296" y="4730496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6" name="Shape 53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7" name="Text 54"/>
          <p:cNvSpPr>
            <a:spLocks noGrp="1"/>
          </p:cNvSpPr>
          <p:nvPr/>
        </p:nvSpPr>
        <p:spPr>
          <a:xfrm>
            <a:off x="7050024" y="484022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800"/>
          </a:p>
        </p:txBody>
      </p:sp>
      <p:sp>
        <p:nvSpPr>
          <p:cNvPr id="58" name="Text 55"/>
          <p:cNvSpPr>
            <a:spLocks noGrp="1"/>
          </p:cNvSpPr>
          <p:nvPr/>
        </p:nvSpPr>
        <p:spPr>
          <a:xfrm>
            <a:off x="7379208" y="480364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 type</a:t>
            </a:r>
            <a:endParaRPr sz="1050"/>
          </a:p>
        </p:txBody>
      </p:sp>
      <p:sp>
        <p:nvSpPr>
          <p:cNvPr id="59" name="Text 56"/>
          <p:cNvSpPr>
            <a:spLocks noGrp="1"/>
          </p:cNvSpPr>
          <p:nvPr/>
        </p:nvSpPr>
        <p:spPr>
          <a:xfrm>
            <a:off x="7068312" y="5114544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attendance limit is days, a percentage, or a fixed amount.</a:t>
            </a:r>
            <a:endParaRPr sz="900"/>
          </a:p>
        </p:txBody>
      </p:sp>
      <p:sp>
        <p:nvSpPr>
          <p:cNvPr id="60" name="Shape 57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>
            <a:spLocks noGrp="1"/>
          </p:cNvSpPr>
          <p:nvPr/>
        </p:nvSpPr>
        <p:spPr>
          <a:xfrm>
            <a:off x="3280979" y="518177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50"/>
          </a:p>
        </p:txBody>
      </p:sp>
      <p:sp>
        <p:nvSpPr>
          <p:cNvPr id="62" name="Shape 59"/>
          <p:cNvSpPr>
            <a:spLocks noGrp="1"/>
          </p:cNvSpPr>
          <p:nvPr/>
        </p:nvSpPr>
        <p:spPr>
          <a:xfrm>
            <a:off x="6940296" y="5570220"/>
            <a:ext cx="4654296" cy="693420"/>
          </a:xfrm>
          <a:prstGeom prst="roundRect">
            <a:avLst>
              <a:gd name="adj" fmla="val 7912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63" name="Shape 60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4" name="Text 61"/>
          <p:cNvSpPr>
            <a:spLocks noGrp="1"/>
          </p:cNvSpPr>
          <p:nvPr/>
        </p:nvSpPr>
        <p:spPr>
          <a:xfrm>
            <a:off x="7050024" y="567994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</a:t>
            </a:r>
            <a:endParaRPr sz="800"/>
          </a:p>
        </p:txBody>
      </p:sp>
      <p:sp>
        <p:nvSpPr>
          <p:cNvPr id="65" name="Text 62"/>
          <p:cNvSpPr>
            <a:spLocks noGrp="1"/>
          </p:cNvSpPr>
          <p:nvPr/>
        </p:nvSpPr>
        <p:spPr>
          <a:xfrm>
            <a:off x="7379208" y="564337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cap</a:t>
            </a:r>
            <a:endParaRPr sz="1050"/>
          </a:p>
        </p:txBody>
      </p:sp>
      <p:sp>
        <p:nvSpPr>
          <p:cNvPr id="66" name="Text 63"/>
          <p:cNvSpPr>
            <a:spLocks noGrp="1"/>
          </p:cNvSpPr>
          <p:nvPr/>
        </p:nvSpPr>
        <p:spPr>
          <a:xfrm>
            <a:off x="7068312" y="5954268"/>
            <a:ext cx="4398264" cy="2362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lates / absence / undertime adjustment allowed per payroll.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Automation and payslip behaviour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1059"/>
            <a:ext cx="5806440" cy="2453122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09827" y="3030577"/>
            <a:ext cx="309845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10233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9827" y="3582529"/>
            <a:ext cx="34276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9470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9827" y="4134482"/>
            <a:ext cx="37568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34482"/>
            <a:ext cx="0" cy="31293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9827" y="4686434"/>
            <a:ext cx="408601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686434"/>
            <a:ext cx="0" cy="1020565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6081811" y="290256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Auto-defer or stagger deductions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Moves eligible lower-priority deductions to a later payroll when the protected minimum would be breached.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1811" y="345451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Carry forward to next payroll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Stores the outstanding amount, next schedule, and remaining balance for the next payroll.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1811" y="400646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Payslip tagging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Shows the original due, deducted, deferred and accumulated balance on the payslip.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81811" y="45584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Admin and employee notification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Creates an alert when a deduction is deferred or an exception remains.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2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Apply the statutory formula, compare it with the company plan, and use whichever is more beneficial.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 and formula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 rules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Service-year rounding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treatment</a:t>
            </a:r>
            <a:endParaRPr sz="12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Configure eligibility and benefit basis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RET-001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plan type, service-year basis, age and salary inputs.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Compare statutory and company-plan outcomes before saving.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  <p:pic>
        <p:nvPicPr>
          <p:cNvPr id="4" name="Embedded Video - Retirement Pay walkthrough" descr="Retirement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53135" y="1371600"/>
            <a:ext cx="297561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Statutory and company plan, side by side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34" y="1371600"/>
            <a:ext cx="297582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7490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727448" y="13716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Plan type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727448" y="16093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RA 7641, a company plan, or “best of both”.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727448" y="22860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input is configurable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727448" y="25237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Daily-rate divisor, days per service year, salary basis, additional benefits, minimum guarantee and maximum cap.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727448" y="3200400"/>
            <a:ext cx="68671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Eligibility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727448" y="3438144"/>
            <a:ext cx="68671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age 60, compulsory 65, five years of service, plus an optional company early-retirement age.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727448" y="6053328"/>
            <a:ext cx="68671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873752" y="6053328"/>
            <a:ext cx="65928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11–37</a:t>
            </a:r>
            <a:endParaRPr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The 6-month rule, visible in the result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60" y="1371600"/>
            <a:ext cx="3255455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4937760" y="146304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12 years 6 months</a:t>
            </a:r>
            <a:endParaRPr sz="15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937760" y="1810512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rounds to 13 qualifying years, because a fraction of six months or more counts as a full year.</a:t>
            </a:r>
            <a:endParaRPr sz="1250"/>
          </a:p>
        </p:txBody>
      </p:sp>
      <p:sp>
        <p:nvSpPr>
          <p:cNvPr id="7" name="Shape 4"/>
          <p:cNvSpPr>
            <a:spLocks noGrp="1"/>
          </p:cNvSpPr>
          <p:nvPr/>
        </p:nvSpPr>
        <p:spPr>
          <a:xfrm>
            <a:off x="4937760" y="269748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5"/>
          <p:cNvSpPr>
            <a:spLocks noGrp="1"/>
          </p:cNvSpPr>
          <p:nvPr/>
        </p:nvSpPr>
        <p:spPr>
          <a:xfrm>
            <a:off x="5175504" y="28072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</a:t>
            </a:r>
            <a:endParaRPr sz="12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75504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₱60,000 ÷ 30 × 22.5 × 13</a:t>
            </a:r>
            <a:endParaRPr sz="10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9144000" y="28803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₱585,000</a:t>
            </a:r>
            <a:endParaRPr sz="1900"/>
          </a:p>
        </p:txBody>
      </p:sp>
      <p:sp>
        <p:nvSpPr>
          <p:cNvPr id="11" name="Shape 8"/>
          <p:cNvSpPr>
            <a:spLocks noGrp="1"/>
          </p:cNvSpPr>
          <p:nvPr/>
        </p:nvSpPr>
        <p:spPr>
          <a:xfrm>
            <a:off x="4937760" y="365760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9"/>
          <p:cNvSpPr>
            <a:spLocks noGrp="1"/>
          </p:cNvSpPr>
          <p:nvPr/>
        </p:nvSpPr>
        <p:spPr>
          <a:xfrm>
            <a:off x="5175504" y="37673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value</a:t>
            </a:r>
            <a:endParaRPr sz="12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75504" y="407822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divisor, days and benefits</a:t>
            </a:r>
            <a:endParaRPr sz="1050"/>
          </a:p>
        </p:txBody>
      </p:sp>
      <p:sp>
        <p:nvSpPr>
          <p:cNvPr id="14" name="Text 11"/>
          <p:cNvSpPr>
            <a:spLocks noGrp="1"/>
          </p:cNvSpPr>
          <p:nvPr/>
        </p:nvSpPr>
        <p:spPr>
          <a:xfrm>
            <a:off x="9144000" y="384048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5" name="Shape 12"/>
          <p:cNvSpPr>
            <a:spLocks noGrp="1"/>
          </p:cNvSpPr>
          <p:nvPr/>
        </p:nvSpPr>
        <p:spPr>
          <a:xfrm>
            <a:off x="4937760" y="4617720"/>
            <a:ext cx="6656832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5175504" y="47274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used</a:t>
            </a:r>
            <a:endParaRPr sz="1200"/>
          </a:p>
        </p:txBody>
      </p:sp>
      <p:sp>
        <p:nvSpPr>
          <p:cNvPr id="17" name="Text 14"/>
          <p:cNvSpPr>
            <a:spLocks noGrp="1"/>
          </p:cNvSpPr>
          <p:nvPr/>
        </p:nvSpPr>
        <p:spPr>
          <a:xfrm>
            <a:off x="5175504" y="50383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more beneficial of the two</a:t>
            </a:r>
            <a:endParaRPr sz="1050"/>
          </a:p>
        </p:txBody>
      </p:sp>
      <p:sp>
        <p:nvSpPr>
          <p:cNvPr id="18" name="Text 15"/>
          <p:cNvSpPr>
            <a:spLocks noGrp="1"/>
          </p:cNvSpPr>
          <p:nvPr/>
        </p:nvSpPr>
        <p:spPr>
          <a:xfrm>
            <a:off x="9144000" y="48006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19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4937760" y="5623560"/>
            <a:ext cx="66568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Stored as tax exempt under RA 4917 — the BIR-approved company plan condition.</a:t>
            </a:r>
            <a:endParaRPr sz="11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4937760" y="6035040"/>
            <a:ext cx="665683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5084064" y="6035040"/>
            <a:ext cx="638251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3–6, 30, 38–41, 67–72</a:t>
            </a:r>
            <a:endParaRPr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Plan type and salary basis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plan type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Chooses the statutory plan, the company plan, or the more beneficial of the two.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salary basis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Salary measure used to calculate the company retirement-plan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Formula and benefit inputs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days per service year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statutory retirement-day equivalent per rounded service year (22.5 days).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per service year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Company-plan days applied for each qualifying service year.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Additional benefits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Qualifying lump sum, gratuity, or similar benefit added to the company-plan value.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retirement age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Earliest statutory age used for normal retirement eligibility.</a:t>
            </a:r>
            <a:endParaRPr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Eligibility conditions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Compulsory retirement age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Age at which compulsory retirement eligibility is reached.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service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completed service required before the retirement benefit qualifies.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early-retirement age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earlier age allowed for a qualifying company-plan member.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Minimum guarantee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Floor applied to the company-plan value when configured.</a:t>
            </a:r>
            <a:endParaRPr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Caps, rounding and tax treatment</a:t>
            </a:r>
            <a:endParaRPr sz="3000"/>
          </a:p>
        </p:txBody>
      </p:sp>
      <p:pic>
        <p:nvPicPr>
          <p:cNvPr id="4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396745"/>
            <a:ext cx="5806440" cy="284174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2839814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91157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501870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31404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10400" y="4163926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163926"/>
            <a:ext cx="0" cy="2834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200215" y="4882003"/>
            <a:ext cx="41821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618427" y="4882003"/>
            <a:ext cx="0" cy="82499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3280979" y="271179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9" name="Shape 16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7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2" name="Text 19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cap (0 = none)</a:t>
            </a:r>
            <a:endParaRPr sz="115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ceiling on the company-plan value; zero means no ceiling.</a:t>
            </a:r>
            <a:endParaRPr sz="100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6082384" y="337385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4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9" name="Text 26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Service rounding</a:t>
            </a:r>
            <a:endParaRPr sz="115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years.</a:t>
            </a:r>
            <a:endParaRPr sz="100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6082384" y="403591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1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5" name="Text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6" name="Text 33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Taxation rule</a:t>
            </a:r>
            <a:endParaRPr sz="115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exemption conditions are evaluated for the retirement result.</a:t>
            </a:r>
            <a:endParaRPr sz="1000"/>
          </a:p>
        </p:txBody>
      </p:sp>
      <p:sp>
        <p:nvSpPr>
          <p:cNvPr id="38" name="Shape 35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>
            <a:spLocks noGrp="1"/>
          </p:cNvSpPr>
          <p:nvPr/>
        </p:nvSpPr>
        <p:spPr>
          <a:xfrm>
            <a:off x="6072199" y="475398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8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2" name="Text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3" name="Text 40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BIR-approved company retirement plan</a:t>
            </a:r>
            <a:endParaRPr sz="115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Marks whether the company plan meets the RA 4917 approval condition.</a:t>
            </a: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3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Assemble every enabled component, offset authorised balances, and show the full breakdown.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components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Authorised offsets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Negative net rule</a:t>
            </a:r>
            <a:endParaRPr sz="12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Select components, offsets and settlement rules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FIN-001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Configure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Enable pay components and define authorized offsets.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Validate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Review the employee-level breakdown and negative-net handling.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  <p:pic>
        <p:nvPicPr>
          <p:cNvPr id="4" name="Embedded Video - Final Pay walkthrough" descr="Final Pay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217295" y="1371600"/>
            <a:ext cx="2355215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Components are switches, not code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850" y="1371600"/>
            <a:ext cx="2355756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3657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4636008" y="13716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4636008" y="16093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Unpaid salary, prorated 13th month, SIL conversion, separation pay, retirement pay, final tax.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4636008" y="22860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4636008" y="25237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Convertible VL/SL beyond SIL, allowances, commissions, cash bond return, gratuity.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4636008" y="3200400"/>
            <a:ext cx="695858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rules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4636008" y="3438144"/>
            <a:ext cx="695858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conversion, divisor, rounding, advance 13th month recovery, loan balance treatment and the negative-net rule.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4636008" y="6053328"/>
            <a:ext cx="695858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4782312" y="6053328"/>
            <a:ext cx="668426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“Final Pay” rows 5–18 (components) and 19–29 (rules)</a:t>
            </a:r>
            <a:endParaRPr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flows straight in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777" y="1371600"/>
            <a:ext cx="3912942" cy="27432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6035040" y="1463040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final pay</a:t>
            </a:r>
            <a:endParaRPr sz="110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6035040" y="1700784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₱856,500</a:t>
            </a:r>
            <a:endParaRPr sz="26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6035040" y="2487168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included</a:t>
            </a:r>
            <a:endParaRPr sz="110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6035040" y="2724912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₱795,000</a:t>
            </a:r>
            <a:endParaRPr sz="26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6035040" y="3511296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offsets</a:t>
            </a:r>
            <a:endParaRPr sz="110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6035040" y="3749040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−₱47,800</a:t>
            </a:r>
            <a:endParaRPr sz="26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6035040" y="4535424"/>
            <a:ext cx="555955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</a:t>
            </a:r>
            <a:endParaRPr sz="110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6035040" y="4773168"/>
            <a:ext cx="5559552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₱808,700</a:t>
            </a:r>
            <a:endParaRPr sz="26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66928" y="443484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₱795,000 comes from the Retirement engine on the previous slide. It is not re-entered — the two engines are linked.</a:t>
            </a:r>
            <a:endParaRPr sz="120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66928" y="5486400"/>
            <a:ext cx="5120640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713232" y="548640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“Retirement Pay” rows 46–49; “Final Pay” rows 30–34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1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Scope and components</a:t>
            </a:r>
            <a:endParaRPr sz="3000"/>
          </a:p>
        </p:txBody>
      </p:sp>
      <p:pic>
        <p:nvPicPr>
          <p:cNvPr id="3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69175"/>
            <a:ext cx="5806440" cy="449689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2012244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012244"/>
            <a:ext cx="0" cy="4703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3419181" y="1651471"/>
            <a:ext cx="0" cy="2563383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3419181" y="1651471"/>
            <a:ext cx="313341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1651471"/>
            <a:ext cx="0" cy="216614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210400" y="4214854"/>
            <a:ext cx="375108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4214854"/>
            <a:ext cx="0" cy="9377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>
            <a:spLocks noGrp="1"/>
          </p:cNvSpPr>
          <p:nvPr/>
        </p:nvSpPr>
        <p:spPr>
          <a:xfrm>
            <a:off x="6082384" y="1884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7" name="Shape 14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200"/>
          </a:p>
        </p:txBody>
      </p:sp>
      <p:sp>
        <p:nvSpPr>
          <p:cNvPr id="21" name="Text 18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50"/>
          </a:p>
        </p:txBody>
      </p:sp>
      <p:sp>
        <p:nvSpPr>
          <p:cNvPr id="22" name="Shape 19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3291165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4" name="Shape 21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Mandatory components</a:t>
            </a:r>
            <a:endParaRPr sz="1200"/>
          </a:p>
        </p:txBody>
      </p:sp>
      <p:sp>
        <p:nvSpPr>
          <p:cNvPr id="28" name="Text 25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 items that always form part of final pay when applicable.</a:t>
            </a:r>
            <a:endParaRPr sz="1050"/>
          </a:p>
        </p:txBody>
      </p:sp>
      <p:sp>
        <p:nvSpPr>
          <p:cNvPr id="29" name="Shape 26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6082384" y="40868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1" name="Shape 28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Optional company components</a:t>
            </a:r>
            <a:endParaRPr sz="1200"/>
          </a:p>
        </p:txBody>
      </p:sp>
      <p:sp>
        <p:nvSpPr>
          <p:cNvPr id="35" name="Text 32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Company-specific items added to final pay.</a:t>
            </a:r>
            <a:endParaRPr sz="10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2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Separation and timing rules</a:t>
            </a:r>
            <a:endParaRPr sz="3000"/>
          </a:p>
        </p:txBody>
      </p:sp>
      <p:pic>
        <p:nvPicPr>
          <p:cNvPr id="4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92816"/>
            <a:ext cx="5806440" cy="2449608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387283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1928241"/>
            <a:ext cx="0" cy="14590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402896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187827"/>
            <a:ext cx="0" cy="84114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3408995" y="2675112"/>
            <a:ext cx="0" cy="200572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267511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2675112"/>
            <a:ext cx="0" cy="177230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210400" y="4680839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618427" y="4680839"/>
            <a:ext cx="0" cy="102616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>
            <a:spLocks noGrp="1"/>
          </p:cNvSpPr>
          <p:nvPr/>
        </p:nvSpPr>
        <p:spPr>
          <a:xfrm>
            <a:off x="6082384" y="3259267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0" name="Shape 17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8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3" name="Text 20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Leave conversion rule</a:t>
            </a:r>
            <a:endParaRPr sz="115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unused leave (VL / SIL) converts to cash in final pay, and at what rate.</a:t>
            </a:r>
            <a:endParaRPr sz="1000"/>
          </a:p>
        </p:txBody>
      </p:sp>
      <p:sp>
        <p:nvSpPr>
          <p:cNvPr id="25" name="Shape 22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>
            <a:spLocks noGrp="1"/>
          </p:cNvSpPr>
          <p:nvPr/>
        </p:nvSpPr>
        <p:spPr>
          <a:xfrm>
            <a:off x="6082384" y="390095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7" name="Shape 24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5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0" name="Text 27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Separation pay rule by cause</a:t>
            </a:r>
            <a:endParaRPr sz="115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Selects the separation-pay formula for the stated reason — redundancy, retrenchment, or none.</a:t>
            </a:r>
            <a:endParaRPr sz="1000"/>
          </a:p>
        </p:txBody>
      </p:sp>
      <p:sp>
        <p:nvSpPr>
          <p:cNvPr id="32" name="Shape 29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>
            <a:spLocks noGrp="1"/>
          </p:cNvSpPr>
          <p:nvPr/>
        </p:nvSpPr>
        <p:spPr>
          <a:xfrm>
            <a:off x="3280979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4" name="Shape 31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Shape 32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7" name="Text 34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Daily rate divisor</a:t>
            </a:r>
            <a:endParaRPr sz="115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Divides monthly basic pay to derive the daily rate used in the formula.</a:t>
            </a:r>
            <a:endParaRPr sz="1000"/>
          </a:p>
        </p:txBody>
      </p:sp>
      <p:sp>
        <p:nvSpPr>
          <p:cNvPr id="39" name="Shape 36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>
            <a:spLocks noGrp="1"/>
          </p:cNvSpPr>
          <p:nvPr/>
        </p:nvSpPr>
        <p:spPr>
          <a:xfrm>
            <a:off x="6082384" y="45528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1" name="Shape 38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2" name="Shape 39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3" name="Text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4" name="Text 41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of service years</a:t>
            </a:r>
            <a:endParaRPr sz="115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 fractional final year of service is converted into whole years for final pay.</a:t>
            </a:r>
            <a:endParaRPr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3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Recovery and outstanding balances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04636"/>
            <a:ext cx="5806440" cy="1425967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86932"/>
            <a:ext cx="0" cy="35058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8693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5869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37519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4969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86932"/>
            <a:ext cx="0" cy="9922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86932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86932"/>
            <a:ext cx="0" cy="1260481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79205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79205"/>
            <a:ext cx="0" cy="1527794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Advance 13th month rule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an already-released 13th month advance is deducted back from final pay.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40950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Last cutoff rule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still-unposted last payroll cutoff is folded into final pay or processed separately.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Government loan balance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government loan balance (SSS, HDMF) is settled at separation.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5118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loan balance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an outstanding company loan balance is settled at separation.</a:t>
            </a:r>
            <a:endParaRPr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· FIELD GUIDE 4 OF 4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Net pay outcome rules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3794"/>
            <a:ext cx="5806440" cy="206765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6210400" y="3226862"/>
            <a:ext cx="309272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74426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00215" y="3944939"/>
            <a:ext cx="352376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2731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494954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494954"/>
            <a:ext cx="0" cy="65769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6082384" y="309884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pay rule when negative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happens when deductions exceed the final pay earnings.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72199" y="3816923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Auto-offset authorized deductions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Offsets loan balances and property accountabilities before net final pay.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36693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Notify admin on release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Alerts payroll administrators once the final pay breakdown is ready for review.</a:t>
            </a:r>
            <a:endParaRPr sz="10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011680"/>
            <a:ext cx="5852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ENGINE 4 OF 4</a:t>
            </a:r>
            <a:endParaRPr sz="11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331720"/>
            <a:ext cx="65836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</a:t>
            </a:r>
            <a:endParaRPr sz="46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310128"/>
            <a:ext cx="63093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Solve the gross amount that leaves the employee a guaranteed net, with the employer absorbing the tax.</a:t>
            </a:r>
            <a:endParaRPr sz="15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7772400" y="23317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8339328" y="22951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net target</a:t>
            </a:r>
            <a:endParaRPr sz="12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772400" y="311810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8339328" y="308152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BIR table</a:t>
            </a:r>
            <a:endParaRPr sz="1250"/>
          </a:p>
        </p:txBody>
      </p:sp>
      <p:sp>
        <p:nvSpPr>
          <p:cNvPr id="11" name="Shape 9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7772400" y="390448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339328" y="38679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Iterate to convergence</a:t>
            </a:r>
            <a:endParaRPr sz="12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7772400" y="469087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8339328" y="465429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cost shown</a:t>
            </a:r>
            <a:endParaRPr sz="12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DEMO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Define the net target and tax absorption method</a:t>
            </a:r>
            <a:endParaRPr sz="3000"/>
          </a:p>
        </p:txBody>
      </p:sp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 to watch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 · Choose code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Open GUP-001 from the governed library.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 · Define target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Choose guaranteed net, tax method and rate source.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 · Control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Set employer share, rounding and convergence limits.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 · Validate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Confirm the calculated gross and employer tax cost.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▶ EMBEDDED 7-SECOND VIDEO · CLICK TO PLAY</a:t>
            </a:r>
            <a:endParaRPr sz="1000"/>
          </a:p>
        </p:txBody>
      </p:sp>
      <p:pic>
        <p:nvPicPr>
          <p:cNvPr id="4" name="Embedded Video - Gross Up walkthrough" descr="Gross Up walkthrough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01370" y="1371600"/>
            <a:ext cx="3736975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SETUP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Which income, which method, who absorbs the tax</a:t>
            </a:r>
            <a:endParaRPr sz="3000"/>
          </a:p>
        </p:txBody>
      </p:sp>
      <p:pic>
        <p:nvPicPr>
          <p:cNvPr id="19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09" y="1371600"/>
            <a:ext cx="3737278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42062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settings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5184648" y="13716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Target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5184648" y="16093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guaranteed net pay or net benefit, entered or uploaded.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5184648" y="22860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Method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5184648" y="25237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graduated BIR withholding table, or a flat rate for final and expanded tax cases.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5184648" y="32004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 share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5184648" y="34381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100% for a classic gross-up, or a split such as 50/50.</a:t>
            </a:r>
            <a:endParaRPr sz="1250"/>
          </a:p>
        </p:txBody>
      </p:sp>
      <p:sp>
        <p:nvSpPr>
          <p:cNvPr id="12" name="Text 9"/>
          <p:cNvSpPr>
            <a:spLocks noGrp="1"/>
          </p:cNvSpPr>
          <p:nvPr/>
        </p:nvSpPr>
        <p:spPr>
          <a:xfrm>
            <a:off x="5184648" y="4114800"/>
            <a:ext cx="64099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Controls</a:t>
            </a:r>
            <a:endParaRPr sz="1000"/>
          </a:p>
        </p:txBody>
      </p:sp>
      <p:sp>
        <p:nvSpPr>
          <p:cNvPr id="13" name="Text 10"/>
          <p:cNvSpPr>
            <a:spLocks noGrp="1"/>
          </p:cNvSpPr>
          <p:nvPr/>
        </p:nvSpPr>
        <p:spPr>
          <a:xfrm>
            <a:off x="5184648" y="4352544"/>
            <a:ext cx="64099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tolerance, iteration limit and rounding stage are all set by the company.</a:t>
            </a:r>
            <a:endParaRPr sz="1250"/>
          </a:p>
        </p:txBody>
      </p:sp>
      <p:sp>
        <p:nvSpPr>
          <p:cNvPr id="14" name="Shape 11"/>
          <p:cNvSpPr>
            <a:spLocks noGrp="1"/>
          </p:cNvSpPr>
          <p:nvPr/>
        </p:nvSpPr>
        <p:spPr>
          <a:xfrm>
            <a:off x="5184648" y="6053328"/>
            <a:ext cx="64099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5330952" y="6053328"/>
            <a:ext cx="61356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6–18</a:t>
            </a:r>
            <a:endParaRPr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WORKED EXAMPLE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Guarantee ₱50,000 net</a:t>
            </a:r>
            <a:endParaRPr sz="3000"/>
          </a:p>
        </p:txBody>
      </p:sp>
      <p:pic>
        <p:nvPicPr>
          <p:cNvPr id="25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92" y="1371600"/>
            <a:ext cx="3324432" cy="32918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4800600"/>
            <a:ext cx="3110789" cy="123444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/>
          <p:cNvSpPr>
            <a:spLocks noGrp="1"/>
          </p:cNvSpPr>
          <p:nvPr/>
        </p:nvSpPr>
        <p:spPr>
          <a:xfrm>
            <a:off x="5029200" y="1417320"/>
            <a:ext cx="6565392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it is not simply net ÷ (1 − rate)</a:t>
            </a:r>
            <a:endParaRPr sz="1500"/>
          </a:p>
        </p:txBody>
      </p:sp>
      <p:sp>
        <p:nvSpPr>
          <p:cNvPr id="7" name="Text 3"/>
          <p:cNvSpPr>
            <a:spLocks noGrp="1"/>
          </p:cNvSpPr>
          <p:nvPr/>
        </p:nvSpPr>
        <p:spPr>
          <a:xfrm>
            <a:off x="5029200" y="1783080"/>
            <a:ext cx="6565392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That shortcut assumes one flat rate. Compensation tax is graduated, so the engine tests a gross, reads the bracket, recomputes the net and repeats until it lands on the target.</a:t>
            </a:r>
            <a:endParaRPr sz="1250"/>
          </a:p>
        </p:txBody>
      </p:sp>
      <p:sp>
        <p:nvSpPr>
          <p:cNvPr id="8" name="Text 4"/>
          <p:cNvSpPr>
            <a:spLocks noGrp="1"/>
          </p:cNvSpPr>
          <p:nvPr/>
        </p:nvSpPr>
        <p:spPr>
          <a:xfrm>
            <a:off x="5029200" y="2971800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taxable pay</a:t>
            </a:r>
            <a:endParaRPr sz="1150"/>
          </a:p>
        </p:txBody>
      </p:sp>
      <p:sp>
        <p:nvSpPr>
          <p:cNvPr id="9" name="Text 5"/>
          <p:cNvSpPr>
            <a:spLocks noGrp="1"/>
          </p:cNvSpPr>
          <p:nvPr/>
        </p:nvSpPr>
        <p:spPr>
          <a:xfrm>
            <a:off x="9217152" y="297180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₱51,875.00</a:t>
            </a:r>
            <a:endParaRPr sz="1500"/>
          </a:p>
        </p:txBody>
      </p:sp>
      <p:sp>
        <p:nvSpPr>
          <p:cNvPr id="10" name="Shape 6"/>
          <p:cNvSpPr>
            <a:spLocks noGrp="1"/>
          </p:cNvSpPr>
          <p:nvPr/>
        </p:nvSpPr>
        <p:spPr>
          <a:xfrm>
            <a:off x="5029200" y="3355848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7"/>
          <p:cNvSpPr>
            <a:spLocks noGrp="1"/>
          </p:cNvSpPr>
          <p:nvPr/>
        </p:nvSpPr>
        <p:spPr>
          <a:xfrm>
            <a:off x="5029200" y="3721608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Withholding tax absorbed by employer</a:t>
            </a:r>
            <a:endParaRPr sz="1150"/>
          </a:p>
        </p:txBody>
      </p:sp>
      <p:sp>
        <p:nvSpPr>
          <p:cNvPr id="12" name="Text 8"/>
          <p:cNvSpPr>
            <a:spLocks noGrp="1"/>
          </p:cNvSpPr>
          <p:nvPr/>
        </p:nvSpPr>
        <p:spPr>
          <a:xfrm>
            <a:off x="9217152" y="372160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₱5,208.40</a:t>
            </a:r>
            <a:endParaRPr sz="1500"/>
          </a:p>
        </p:txBody>
      </p:sp>
      <p:sp>
        <p:nvSpPr>
          <p:cNvPr id="13" name="Shape 9"/>
          <p:cNvSpPr>
            <a:spLocks noGrp="1"/>
          </p:cNvSpPr>
          <p:nvPr/>
        </p:nvSpPr>
        <p:spPr>
          <a:xfrm>
            <a:off x="5029200" y="4105656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0"/>
          <p:cNvSpPr>
            <a:spLocks noGrp="1"/>
          </p:cNvSpPr>
          <p:nvPr/>
        </p:nvSpPr>
        <p:spPr>
          <a:xfrm>
            <a:off x="5029200" y="447141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released to employee</a:t>
            </a:r>
            <a:endParaRPr sz="1150"/>
          </a:p>
        </p:txBody>
      </p:sp>
      <p:sp>
        <p:nvSpPr>
          <p:cNvPr id="15" name="Text 11"/>
          <p:cNvSpPr>
            <a:spLocks noGrp="1"/>
          </p:cNvSpPr>
          <p:nvPr/>
        </p:nvSpPr>
        <p:spPr>
          <a:xfrm>
            <a:off x="9217152" y="44714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₱50,000.00</a:t>
            </a:r>
            <a:endParaRPr sz="1500"/>
          </a:p>
        </p:txBody>
      </p:sp>
      <p:sp>
        <p:nvSpPr>
          <p:cNvPr id="16" name="Shape 12"/>
          <p:cNvSpPr>
            <a:spLocks noGrp="1"/>
          </p:cNvSpPr>
          <p:nvPr/>
        </p:nvSpPr>
        <p:spPr>
          <a:xfrm>
            <a:off x="5029200" y="4855464"/>
            <a:ext cx="65653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3"/>
          <p:cNvSpPr>
            <a:spLocks noGrp="1"/>
          </p:cNvSpPr>
          <p:nvPr/>
        </p:nvSpPr>
        <p:spPr>
          <a:xfrm>
            <a:off x="5029200" y="5221224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Total employer cost</a:t>
            </a:r>
            <a:endParaRPr sz="1150"/>
          </a:p>
        </p:txBody>
      </p:sp>
      <p:sp>
        <p:nvSpPr>
          <p:cNvPr id="18" name="Text 14"/>
          <p:cNvSpPr>
            <a:spLocks noGrp="1"/>
          </p:cNvSpPr>
          <p:nvPr/>
        </p:nvSpPr>
        <p:spPr>
          <a:xfrm>
            <a:off x="9217152" y="522122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₱57,083.40</a:t>
            </a:r>
            <a:endParaRPr sz="1500"/>
          </a:p>
        </p:txBody>
      </p:sp>
      <p:sp>
        <p:nvSpPr>
          <p:cNvPr id="19" name="Shape 15"/>
          <p:cNvSpPr>
            <a:spLocks noGrp="1"/>
          </p:cNvSpPr>
          <p:nvPr/>
        </p:nvSpPr>
        <p:spPr>
          <a:xfrm>
            <a:off x="5029200" y="6035040"/>
            <a:ext cx="6565392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6"/>
          <p:cNvSpPr>
            <a:spLocks noGrp="1"/>
          </p:cNvSpPr>
          <p:nvPr/>
        </p:nvSpPr>
        <p:spPr>
          <a:xfrm>
            <a:off x="5175504" y="6035040"/>
            <a:ext cx="6291072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“Gross Up” rows 2–4 and steps 4–12</a:t>
            </a:r>
            <a:endParaRPr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1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Target and method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group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Limits this rule to a defined employee population, e.g. Rank and File.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Guaranteed target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Whether the company guarantees a net pay figure or a net benefit amount.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method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Graduated iterates against the effective BIR table; flat applies a single final/expanded rate.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frequency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frequency of the effective withholding table the iteration reads.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2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Effective table and tax rate</a:t>
            </a:r>
            <a:endParaRPr sz="30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84265"/>
            <a:ext cx="5806440" cy="1466709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66561"/>
            <a:ext cx="0" cy="36077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3408995" y="3166561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1928241"/>
            <a:ext cx="0" cy="123832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519672" y="1928241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210400" y="3527334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187827"/>
            <a:ext cx="0" cy="339507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552590" y="3187827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3408995" y="3166561"/>
            <a:ext cx="0" cy="102282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3408995" y="3166561"/>
            <a:ext cx="3176513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6585509" y="3166561"/>
            <a:ext cx="0" cy="1280852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5" name="Shape 12"/>
          <p:cNvSpPr>
            <a:spLocks noGrp="1"/>
          </p:cNvSpPr>
          <p:nvPr/>
        </p:nvSpPr>
        <p:spPr>
          <a:xfrm>
            <a:off x="6585509" y="4447413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6" name="Shape 13"/>
          <p:cNvSpPr>
            <a:spLocks noGrp="1"/>
          </p:cNvSpPr>
          <p:nvPr/>
        </p:nvSpPr>
        <p:spPr>
          <a:xfrm>
            <a:off x="6210400" y="4189390"/>
            <a:ext cx="40802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6618427" y="4189390"/>
            <a:ext cx="0" cy="151760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8" name="Shape 15"/>
          <p:cNvSpPr>
            <a:spLocks noGrp="1"/>
          </p:cNvSpPr>
          <p:nvPr/>
        </p:nvSpPr>
        <p:spPr>
          <a:xfrm>
            <a:off x="6618427" y="5706999"/>
            <a:ext cx="321869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9" name="Shape 16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>
            <a:spLocks noGrp="1"/>
          </p:cNvSpPr>
          <p:nvPr/>
        </p:nvSpPr>
        <p:spPr>
          <a:xfrm>
            <a:off x="3280979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940296" y="1371600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19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>
            <a:spLocks noGrp="1"/>
          </p:cNvSpPr>
          <p:nvPr/>
        </p:nvSpPr>
        <p:spPr>
          <a:xfrm>
            <a:off x="7050024" y="14813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24" name="Text 21"/>
          <p:cNvSpPr>
            <a:spLocks noGrp="1"/>
          </p:cNvSpPr>
          <p:nvPr/>
        </p:nvSpPr>
        <p:spPr>
          <a:xfrm>
            <a:off x="7379208" y="144475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effective date</a:t>
            </a:r>
            <a:endParaRPr sz="1150"/>
          </a:p>
        </p:txBody>
      </p:sp>
      <p:sp>
        <p:nvSpPr>
          <p:cNvPr id="25" name="Text 22"/>
          <p:cNvSpPr>
            <a:spLocks noGrp="1"/>
          </p:cNvSpPr>
          <p:nvPr/>
        </p:nvSpPr>
        <p:spPr>
          <a:xfrm>
            <a:off x="7068312" y="1755648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 used to pick the statutory table version in force for the run.</a:t>
            </a:r>
            <a:endParaRPr sz="1000"/>
          </a:p>
        </p:txBody>
      </p:sp>
      <p:sp>
        <p:nvSpPr>
          <p:cNvPr id="26" name="Shape 23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>
            <a:spLocks noGrp="1"/>
          </p:cNvSpPr>
          <p:nvPr/>
        </p:nvSpPr>
        <p:spPr>
          <a:xfrm>
            <a:off x="6082384" y="339931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940296" y="2631186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6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7"/>
          <p:cNvSpPr>
            <a:spLocks noGrp="1"/>
          </p:cNvSpPr>
          <p:nvPr/>
        </p:nvSpPr>
        <p:spPr>
          <a:xfrm>
            <a:off x="7050024" y="274091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31" name="Text 28"/>
          <p:cNvSpPr>
            <a:spLocks noGrp="1"/>
          </p:cNvSpPr>
          <p:nvPr/>
        </p:nvSpPr>
        <p:spPr>
          <a:xfrm>
            <a:off x="7379208" y="270433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Flat / final tax rate</a:t>
            </a:r>
            <a:endParaRPr sz="1150"/>
          </a:p>
        </p:txBody>
      </p:sp>
      <p:sp>
        <p:nvSpPr>
          <p:cNvPr id="32" name="Text 29"/>
          <p:cNvSpPr>
            <a:spLocks noGrp="1"/>
          </p:cNvSpPr>
          <p:nvPr/>
        </p:nvSpPr>
        <p:spPr>
          <a:xfrm>
            <a:off x="7068312" y="3015234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Single rate used for a final or expanded tax scenario instead of graduated withholding.</a:t>
            </a:r>
            <a:endParaRPr sz="1000"/>
          </a:p>
        </p:txBody>
      </p:sp>
      <p:sp>
        <p:nvSpPr>
          <p:cNvPr id="33" name="Shape 30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>
            <a:spLocks noGrp="1"/>
          </p:cNvSpPr>
          <p:nvPr/>
        </p:nvSpPr>
        <p:spPr>
          <a:xfrm>
            <a:off x="3280979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5" name="Shape 32"/>
          <p:cNvSpPr>
            <a:spLocks noGrp="1"/>
          </p:cNvSpPr>
          <p:nvPr/>
        </p:nvSpPr>
        <p:spPr>
          <a:xfrm>
            <a:off x="6940296" y="3890772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3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7" name="Text 34"/>
          <p:cNvSpPr>
            <a:spLocks noGrp="1"/>
          </p:cNvSpPr>
          <p:nvPr/>
        </p:nvSpPr>
        <p:spPr>
          <a:xfrm>
            <a:off x="7050024" y="400050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8" name="Text 35"/>
          <p:cNvSpPr>
            <a:spLocks noGrp="1"/>
          </p:cNvSpPr>
          <p:nvPr/>
        </p:nvSpPr>
        <p:spPr>
          <a:xfrm>
            <a:off x="7379208" y="3963924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Employer-absorbed share</a:t>
            </a:r>
            <a:endParaRPr sz="1150"/>
          </a:p>
        </p:txBody>
      </p:sp>
      <p:sp>
        <p:nvSpPr>
          <p:cNvPr id="39" name="Text 36"/>
          <p:cNvSpPr>
            <a:spLocks noGrp="1"/>
          </p:cNvSpPr>
          <p:nvPr/>
        </p:nvSpPr>
        <p:spPr>
          <a:xfrm>
            <a:off x="7068312" y="4274820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Portion of the withholding the employer shoulders — 50% models a shared gross-up.</a:t>
            </a:r>
            <a:endParaRPr sz="1000"/>
          </a:p>
        </p:txBody>
      </p:sp>
      <p:sp>
        <p:nvSpPr>
          <p:cNvPr id="40" name="Shape 37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>
            <a:spLocks noGrp="1"/>
          </p:cNvSpPr>
          <p:nvPr/>
        </p:nvSpPr>
        <p:spPr>
          <a:xfrm>
            <a:off x="6082384" y="406137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50"/>
          </a:p>
        </p:txBody>
      </p:sp>
      <p:sp>
        <p:nvSpPr>
          <p:cNvPr id="42" name="Shape 39"/>
          <p:cNvSpPr>
            <a:spLocks noGrp="1"/>
          </p:cNvSpPr>
          <p:nvPr/>
        </p:nvSpPr>
        <p:spPr>
          <a:xfrm>
            <a:off x="6940296" y="5150358"/>
            <a:ext cx="4654296" cy="1113282"/>
          </a:xfrm>
          <a:prstGeom prst="roundRect">
            <a:avLst>
              <a:gd name="adj" fmla="val 492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3" name="Shape 40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44" name="Text 41"/>
          <p:cNvSpPr>
            <a:spLocks noGrp="1"/>
          </p:cNvSpPr>
          <p:nvPr/>
        </p:nvSpPr>
        <p:spPr>
          <a:xfrm>
            <a:off x="7050024" y="526008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800"/>
          </a:p>
        </p:txBody>
      </p:sp>
      <p:sp>
        <p:nvSpPr>
          <p:cNvPr id="45" name="Text 42"/>
          <p:cNvSpPr>
            <a:spLocks noGrp="1"/>
          </p:cNvSpPr>
          <p:nvPr/>
        </p:nvSpPr>
        <p:spPr>
          <a:xfrm>
            <a:off x="7379208" y="5223510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 tolerance</a:t>
            </a:r>
            <a:endParaRPr sz="1150"/>
          </a:p>
        </p:txBody>
      </p:sp>
      <p:sp>
        <p:nvSpPr>
          <p:cNvPr id="46" name="Text 43"/>
          <p:cNvSpPr>
            <a:spLocks noGrp="1"/>
          </p:cNvSpPr>
          <p:nvPr/>
        </p:nvSpPr>
        <p:spPr>
          <a:xfrm>
            <a:off x="7068312" y="5534406"/>
            <a:ext cx="4398264" cy="65608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00"/>
              </a:lnSpc>
              <a:buNone/>
            </a:pPr>
            <a:r>
              <a:rPr sz="100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How close the computed net must land to the target before the iteration stops.</a:t>
            </a: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· FIELD GUIDE 3 OF 3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Iteration limits and rounding</a:t>
            </a:r>
            <a:endParaRPr sz="3000"/>
          </a:p>
        </p:txBody>
      </p:sp>
      <p:pic>
        <p:nvPicPr>
          <p:cNvPr id="38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27774"/>
            <a:ext cx="5806440" cy="2179693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/>
          <p:cNvSpPr>
            <a:spLocks noGrp="1"/>
          </p:cNvSpPr>
          <p:nvPr/>
        </p:nvSpPr>
        <p:spPr>
          <a:xfrm>
            <a:off x="3408995" y="3170842"/>
            <a:ext cx="3110677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6" name="Shape 3"/>
          <p:cNvSpPr>
            <a:spLocks noGrp="1"/>
          </p:cNvSpPr>
          <p:nvPr/>
        </p:nvSpPr>
        <p:spPr>
          <a:xfrm>
            <a:off x="6519672" y="2482596"/>
            <a:ext cx="0" cy="688246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7" name="Shape 4"/>
          <p:cNvSpPr>
            <a:spLocks noGrp="1"/>
          </p:cNvSpPr>
          <p:nvPr/>
        </p:nvSpPr>
        <p:spPr>
          <a:xfrm>
            <a:off x="6519672" y="2482596"/>
            <a:ext cx="420624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8" name="Shape 5"/>
          <p:cNvSpPr>
            <a:spLocks noGrp="1"/>
          </p:cNvSpPr>
          <p:nvPr/>
        </p:nvSpPr>
        <p:spPr>
          <a:xfrm>
            <a:off x="6210400" y="3832898"/>
            <a:ext cx="342190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9" name="Shape 6"/>
          <p:cNvSpPr>
            <a:spLocks noGrp="1"/>
          </p:cNvSpPr>
          <p:nvPr/>
        </p:nvSpPr>
        <p:spPr>
          <a:xfrm>
            <a:off x="6552590" y="3817620"/>
            <a:ext cx="0" cy="15278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0" name="Shape 7"/>
          <p:cNvSpPr>
            <a:spLocks noGrp="1"/>
          </p:cNvSpPr>
          <p:nvPr/>
        </p:nvSpPr>
        <p:spPr>
          <a:xfrm>
            <a:off x="6552590" y="3817620"/>
            <a:ext cx="387706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1" name="Shape 8"/>
          <p:cNvSpPr>
            <a:spLocks noGrp="1"/>
          </p:cNvSpPr>
          <p:nvPr/>
        </p:nvSpPr>
        <p:spPr>
          <a:xfrm>
            <a:off x="6200215" y="4550975"/>
            <a:ext cx="385294" cy="0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2" name="Shape 9"/>
          <p:cNvSpPr>
            <a:spLocks noGrp="1"/>
          </p:cNvSpPr>
          <p:nvPr/>
        </p:nvSpPr>
        <p:spPr>
          <a:xfrm>
            <a:off x="6585509" y="4550975"/>
            <a:ext cx="0" cy="601669"/>
          </a:xfrm>
          <a:prstGeom prst="line">
            <a:avLst/>
          </a:prstGeom>
          <a:noFill/>
          <a:ln w="12700">
            <a:solidFill>
              <a:srgbClr val="6E7EBD"/>
            </a:solidFill>
            <a:prstDash val="solid"/>
          </a:ln>
        </p:spPr>
      </p:sp>
      <p:sp>
        <p:nvSpPr>
          <p:cNvPr id="13" name="Shape 10"/>
          <p:cNvSpPr>
            <a:spLocks noGrp="1"/>
          </p:cNvSpPr>
          <p:nvPr/>
        </p:nvSpPr>
        <p:spPr>
          <a:xfrm>
            <a:off x="6585509" y="5152644"/>
            <a:ext cx="354787" cy="0"/>
          </a:xfrm>
          <a:prstGeom prst="line">
            <a:avLst/>
          </a:prstGeom>
          <a:noFill/>
          <a:ln w="15875">
            <a:solidFill>
              <a:srgbClr val="6E7EBD"/>
            </a:solidFill>
            <a:prstDash val="solid"/>
            <a:tailEnd type="triangle"/>
          </a:ln>
        </p:spPr>
      </p:sp>
      <p:sp>
        <p:nvSpPr>
          <p:cNvPr id="14" name="Shape 11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>
            <a:spLocks noGrp="1"/>
          </p:cNvSpPr>
          <p:nvPr/>
        </p:nvSpPr>
        <p:spPr>
          <a:xfrm>
            <a:off x="3280979" y="304282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50"/>
          </a:p>
        </p:txBody>
      </p:sp>
      <p:sp>
        <p:nvSpPr>
          <p:cNvPr id="16" name="Shape 13"/>
          <p:cNvSpPr>
            <a:spLocks noGrp="1"/>
          </p:cNvSpPr>
          <p:nvPr/>
        </p:nvSpPr>
        <p:spPr>
          <a:xfrm>
            <a:off x="6940296" y="1888236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4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>
            <a:spLocks noGrp="1"/>
          </p:cNvSpPr>
          <p:nvPr/>
        </p:nvSpPr>
        <p:spPr>
          <a:xfrm>
            <a:off x="7050024" y="19979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800"/>
          </a:p>
        </p:txBody>
      </p:sp>
      <p:sp>
        <p:nvSpPr>
          <p:cNvPr id="19" name="Text 16"/>
          <p:cNvSpPr>
            <a:spLocks noGrp="1"/>
          </p:cNvSpPr>
          <p:nvPr/>
        </p:nvSpPr>
        <p:spPr>
          <a:xfrm>
            <a:off x="7379208" y="1961388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Maximum iterations</a:t>
            </a:r>
            <a:endParaRPr sz="1200"/>
          </a:p>
        </p:txBody>
      </p:sp>
      <p:sp>
        <p:nvSpPr>
          <p:cNvPr id="20" name="Text 17"/>
          <p:cNvSpPr>
            <a:spLocks noGrp="1"/>
          </p:cNvSpPr>
          <p:nvPr/>
        </p:nvSpPr>
        <p:spPr>
          <a:xfrm>
            <a:off x="7068312" y="2272284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Safety limit so a non-converging setup fails visibly instead of looping.</a:t>
            </a:r>
            <a:endParaRPr sz="1050"/>
          </a:p>
        </p:txBody>
      </p:sp>
      <p:sp>
        <p:nvSpPr>
          <p:cNvPr id="21" name="Shape 18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>
            <a:spLocks noGrp="1"/>
          </p:cNvSpPr>
          <p:nvPr/>
        </p:nvSpPr>
        <p:spPr>
          <a:xfrm>
            <a:off x="6082384" y="370488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50"/>
          </a:p>
        </p:txBody>
      </p:sp>
      <p:sp>
        <p:nvSpPr>
          <p:cNvPr id="23" name="Shape 20"/>
          <p:cNvSpPr>
            <a:spLocks noGrp="1"/>
          </p:cNvSpPr>
          <p:nvPr/>
        </p:nvSpPr>
        <p:spPr>
          <a:xfrm>
            <a:off x="6940296" y="3223260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1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2"/>
          <p:cNvSpPr>
            <a:spLocks noGrp="1"/>
          </p:cNvSpPr>
          <p:nvPr/>
        </p:nvSpPr>
        <p:spPr>
          <a:xfrm>
            <a:off x="7050024" y="333298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800"/>
          </a:p>
        </p:txBody>
      </p:sp>
      <p:sp>
        <p:nvSpPr>
          <p:cNvPr id="26" name="Text 23"/>
          <p:cNvSpPr>
            <a:spLocks noGrp="1"/>
          </p:cNvSpPr>
          <p:nvPr/>
        </p:nvSpPr>
        <p:spPr>
          <a:xfrm>
            <a:off x="7379208" y="3296412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</a:t>
            </a:r>
            <a:endParaRPr sz="1200"/>
          </a:p>
        </p:txBody>
      </p:sp>
      <p:sp>
        <p:nvSpPr>
          <p:cNvPr id="27" name="Text 24"/>
          <p:cNvSpPr>
            <a:spLocks noGrp="1"/>
          </p:cNvSpPr>
          <p:nvPr/>
        </p:nvSpPr>
        <p:spPr>
          <a:xfrm>
            <a:off x="7068312" y="3607308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Rounding stage applied to the solved gross before the final tax is computed.</a:t>
            </a:r>
            <a:endParaRPr sz="1050"/>
          </a:p>
        </p:txBody>
      </p:sp>
      <p:sp>
        <p:nvSpPr>
          <p:cNvPr id="28" name="Shape 25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>
            <a:spLocks noGrp="1"/>
          </p:cNvSpPr>
          <p:nvPr/>
        </p:nvSpPr>
        <p:spPr>
          <a:xfrm>
            <a:off x="6072199" y="4422959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50"/>
          </a:p>
        </p:txBody>
      </p:sp>
      <p:sp>
        <p:nvSpPr>
          <p:cNvPr id="30" name="Shape 27"/>
          <p:cNvSpPr>
            <a:spLocks noGrp="1"/>
          </p:cNvSpPr>
          <p:nvPr/>
        </p:nvSpPr>
        <p:spPr>
          <a:xfrm>
            <a:off x="6940296" y="4558284"/>
            <a:ext cx="4654296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8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2" name="Text 29"/>
          <p:cNvSpPr>
            <a:spLocks noGrp="1"/>
          </p:cNvSpPr>
          <p:nvPr/>
        </p:nvSpPr>
        <p:spPr>
          <a:xfrm>
            <a:off x="7050024" y="466801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800"/>
          </a:p>
        </p:txBody>
      </p:sp>
      <p:sp>
        <p:nvSpPr>
          <p:cNvPr id="33" name="Text 30"/>
          <p:cNvSpPr>
            <a:spLocks noGrp="1"/>
          </p:cNvSpPr>
          <p:nvPr/>
        </p:nvSpPr>
        <p:spPr>
          <a:xfrm>
            <a:off x="7379208" y="4631436"/>
            <a:ext cx="408736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 mandatory contributions before tax</a:t>
            </a:r>
            <a:endParaRPr sz="1200"/>
          </a:p>
        </p:txBody>
      </p:sp>
      <p:sp>
        <p:nvSpPr>
          <p:cNvPr id="34" name="Text 31"/>
          <p:cNvSpPr>
            <a:spLocks noGrp="1"/>
          </p:cNvSpPr>
          <p:nvPr/>
        </p:nvSpPr>
        <p:spPr>
          <a:xfrm>
            <a:off x="7068312" y="4942332"/>
            <a:ext cx="439826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350"/>
              </a:lnSpc>
              <a:buNone/>
            </a:pPr>
            <a:r>
              <a:rPr sz="1050">
                <a:solidFill>
                  <a:srgbClr val="4B4458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Deducts the employee statutory share from taxable pay before the bracket is applied.</a:t>
            </a:r>
            <a:endParaRPr sz="10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WIRING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each engine reads and feeds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3703320" y="1298448"/>
            <a:ext cx="40233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Reads from</a:t>
            </a:r>
            <a:endParaRPr sz="10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8001000" y="1298448"/>
            <a:ext cx="35661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Produces</a:t>
            </a:r>
            <a:endParaRPr sz="105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1627632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749808" y="1627632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Take-Home Pay</a:t>
            </a:r>
            <a:endParaRPr sz="135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3566160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3840480" y="1627632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 reference table · employee loan and deduction balances</a:t>
            </a:r>
            <a:endParaRPr sz="110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82128" y="2029968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8183880" y="1627632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Deferred amounts, carry-forward schedule, payslip tags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2743200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49808" y="2743200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</a:t>
            </a:r>
            <a:endParaRPr sz="1350"/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66160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3840480" y="2743200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dates of birth, hire and retirement · plan membership · salary basis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7882128" y="3145536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8183880" y="2743200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pay value and its tax status</a:t>
            </a:r>
            <a:endParaRPr sz="1100"/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566928" y="3858768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749808" y="3858768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</a:t>
            </a:r>
            <a:endParaRPr sz="13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3566160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3840480" y="3858768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Retirement engine result · leave balances · outstanding loan and deduction balances</a:t>
            </a:r>
            <a:endParaRPr sz="1100"/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7882128" y="4261104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>
            <a:spLocks noGrp="1"/>
          </p:cNvSpPr>
          <p:nvPr/>
        </p:nvSpPr>
        <p:spPr>
          <a:xfrm>
            <a:off x="8183880" y="3858768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Net final pay breakdown for release</a:t>
            </a:r>
            <a:endParaRPr sz="1100"/>
          </a:p>
        </p:txBody>
      </p:sp>
      <p:sp>
        <p:nvSpPr>
          <p:cNvPr id="24" name="Shape 22"/>
          <p:cNvSpPr>
            <a:spLocks noGrp="1"/>
          </p:cNvSpPr>
          <p:nvPr/>
        </p:nvSpPr>
        <p:spPr>
          <a:xfrm>
            <a:off x="566928" y="4974336"/>
            <a:ext cx="2926080" cy="969264"/>
          </a:xfrm>
          <a:prstGeom prst="roundRect">
            <a:avLst>
              <a:gd name="adj" fmla="val 7547"/>
            </a:avLst>
          </a:prstGeom>
          <a:solidFill>
            <a:srgbClr val="1E2761"/>
          </a:solidFill>
        </p:spPr>
      </p:sp>
      <p:sp>
        <p:nvSpPr>
          <p:cNvPr id="25" name="Text 23"/>
          <p:cNvSpPr>
            <a:spLocks noGrp="1"/>
          </p:cNvSpPr>
          <p:nvPr/>
        </p:nvSpPr>
        <p:spPr>
          <a:xfrm>
            <a:off x="749808" y="4974336"/>
            <a:ext cx="256032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</a:t>
            </a:r>
            <a:endParaRPr sz="1350"/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3566160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3840480" y="4974336"/>
            <a:ext cx="397764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 BIR withholding table · employee statutory share</a:t>
            </a:r>
            <a:endParaRPr sz="1100"/>
          </a:p>
        </p:txBody>
      </p:sp>
      <p:sp>
        <p:nvSpPr>
          <p:cNvPr id="28" name="Shape 26"/>
          <p:cNvSpPr>
            <a:spLocks noGrp="1"/>
          </p:cNvSpPr>
          <p:nvPr/>
        </p:nvSpPr>
        <p:spPr>
          <a:xfrm>
            <a:off x="7882128" y="5376672"/>
            <a:ext cx="164592" cy="164592"/>
          </a:xfrm>
          <a:prstGeom prst="rightArrow">
            <a:avLst/>
          </a:prstGeom>
          <a:solidFill>
            <a:srgbClr val="9AA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183880" y="4974336"/>
            <a:ext cx="3383280" cy="9692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to pay and the tax the employer absorbs</a:t>
            </a:r>
            <a:endParaRPr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Rates and ceilings live in versioned tables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BIR withholding table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picks the version in force for the run, so a historical payroll can always be reproduced.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Locked once used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table a payroll has consumed cannot be edited — you publish a new version instead.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Feeds Gross Up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bracket in the gross-up trace is read from this table, never hard-coded.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Tax Tables Flow v2 (14 May 2026); BRD Statutory Requirements 180–184</a:t>
            </a:r>
            <a:endParaRPr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Reference sources behind the formulas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Formula reference sources — wireframe view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Named sources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Each formula input points at a maintained reference source rather than a number typed into a rule.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Deduction hierarchy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take-home adjustment order is one of these sources, so it is maintained by the business.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Change once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Update the source and every rule that reads it follows.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BRD Reference Table Module (feature points 62–63, 97–98)</a:t>
            </a:r>
            <a:endParaRPr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CONNECTED DATA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7315200" cy="4572000"/>
          </a:xfrm>
          <a:prstGeom prst="rect">
            <a:avLst/>
          </a:prstGeom>
          <a:effectLst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/>
          <p:cNvSpPr>
            <a:spLocks noGrp="1"/>
          </p:cNvSpPr>
          <p:nvPr/>
        </p:nvSpPr>
        <p:spPr>
          <a:xfrm>
            <a:off x="566928" y="5971032"/>
            <a:ext cx="7406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— payroll data</a:t>
            </a:r>
            <a:endParaRPr sz="950"/>
          </a:p>
        </p:txBody>
      </p:sp>
      <p:sp>
        <p:nvSpPr>
          <p:cNvPr id="6" name="Text 3"/>
          <p:cNvSpPr>
            <a:spLocks noGrp="1"/>
          </p:cNvSpPr>
          <p:nvPr/>
        </p:nvSpPr>
        <p:spPr>
          <a:xfrm>
            <a:off x="8385048" y="13716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Loans and deductions</a:t>
            </a:r>
            <a:endParaRPr sz="1000"/>
          </a:p>
        </p:txBody>
      </p:sp>
      <p:sp>
        <p:nvSpPr>
          <p:cNvPr id="7" name="Text 4"/>
          <p:cNvSpPr>
            <a:spLocks noGrp="1"/>
          </p:cNvSpPr>
          <p:nvPr/>
        </p:nvSpPr>
        <p:spPr>
          <a:xfrm>
            <a:off x="8385048" y="16093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Balances, amortisation, holds and remarks — the values the take-home engine adjusts.</a:t>
            </a:r>
            <a:endParaRPr sz="1250"/>
          </a:p>
        </p:txBody>
      </p:sp>
      <p:sp>
        <p:nvSpPr>
          <p:cNvPr id="8" name="Text 5"/>
          <p:cNvSpPr>
            <a:spLocks noGrp="1"/>
          </p:cNvSpPr>
          <p:nvPr/>
        </p:nvSpPr>
        <p:spPr>
          <a:xfrm>
            <a:off x="8385048" y="22860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Dates and plan type</a:t>
            </a:r>
            <a:endParaRPr sz="1000"/>
          </a:p>
        </p:txBody>
      </p:sp>
      <p:sp>
        <p:nvSpPr>
          <p:cNvPr id="9" name="Text 6"/>
          <p:cNvSpPr>
            <a:spLocks noGrp="1"/>
          </p:cNvSpPr>
          <p:nvPr/>
        </p:nvSpPr>
        <p:spPr>
          <a:xfrm>
            <a:off x="8385048" y="25237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Hire date, birth date and plan membership drive retirement eligibility.</a:t>
            </a:r>
            <a:endParaRPr sz="1250"/>
          </a:p>
        </p:txBody>
      </p:sp>
      <p:sp>
        <p:nvSpPr>
          <p:cNvPr id="10" name="Text 7"/>
          <p:cNvSpPr>
            <a:spLocks noGrp="1"/>
          </p:cNvSpPr>
          <p:nvPr/>
        </p:nvSpPr>
        <p:spPr>
          <a:xfrm>
            <a:off x="8385048" y="3200400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Ceilings applied here too</a:t>
            </a:r>
            <a:endParaRPr sz="1000"/>
          </a:p>
        </p:txBody>
      </p:sp>
      <p:sp>
        <p:nvSpPr>
          <p:cNvPr id="11" name="Text 8"/>
          <p:cNvSpPr>
            <a:spLocks noGrp="1"/>
          </p:cNvSpPr>
          <p:nvPr/>
        </p:nvSpPr>
        <p:spPr>
          <a:xfrm>
            <a:off x="8385048" y="3438144"/>
            <a:ext cx="320954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and De Minimis ceilings split taxable and non-taxable amounts on the record itself.</a:t>
            </a:r>
            <a:endParaRPr sz="1250"/>
          </a:p>
        </p:txBody>
      </p:sp>
      <p:sp>
        <p:nvSpPr>
          <p:cNvPr id="12" name="Shape 9"/>
          <p:cNvSpPr>
            <a:spLocks noGrp="1"/>
          </p:cNvSpPr>
          <p:nvPr/>
        </p:nvSpPr>
        <p:spPr>
          <a:xfrm>
            <a:off x="8385048" y="6053328"/>
            <a:ext cx="3209544" cy="384048"/>
          </a:xfrm>
          <a:prstGeom prst="roundRect">
            <a:avLst>
              <a:gd name="adj" fmla="val 4761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0"/>
          <p:cNvSpPr>
            <a:spLocks noGrp="1"/>
          </p:cNvSpPr>
          <p:nvPr/>
        </p:nvSpPr>
        <p:spPr>
          <a:xfrm>
            <a:off x="8531352" y="6053328"/>
            <a:ext cx="2935224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 · Annex B Dorado sheets: Loans, Deduction, Cost Allocation, Previous Employer</a:t>
            </a:r>
            <a:endParaRPr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66928" y="301752"/>
            <a:ext cx="3749039" cy="2103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N D - T O - E N D   F L O W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67055" y="567055"/>
            <a:ext cx="11311890" cy="438785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0000"/>
          </a:bodyPr>
          <a:lstStyle/>
          <a:p>
            <a:pPr algn="l">
              <a:buNone/>
            </a:pPr>
            <a:r>
              <a:rPr sz="2700" b="1" i="0">
                <a:solidFill>
                  <a:srgbClr val="1C235B"/>
                </a:solidFill>
                <a:latin typeface="Georgia" panose="02040502050405020303"/>
                <a:ea typeface="Georgia" panose="02040502050405020303"/>
                <a:cs typeface="Georgia" panose="02040502050405020303"/>
              </a:rPr>
              <a:t>How company policy becomes a payroll result</a:t>
            </a:r>
            <a:endParaRPr sz="2700" b="1" i="0">
              <a:solidFill>
                <a:srgbClr val="1C235B"/>
              </a:solidFill>
              <a:latin typeface="Georgia" panose="02040502050405020303"/>
              <a:ea typeface="Georgia" panose="02040502050405020303"/>
              <a:cs typeface="Georgia" panose="02040502050405020303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585216" y="99669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08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this as the “map” before showing the individual Computational Basis screens and the four policy engines.</a:t>
            </a:r>
            <a:endParaRPr sz="108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566928" y="1353312"/>
            <a:ext cx="11018520" cy="566928"/>
          </a:xfrm>
          <a:prstGeom prst="roundRect">
            <a:avLst/>
          </a:prstGeom>
          <a:solidFill>
            <a:srgbClr val="F6F7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8096" y="1481328"/>
            <a:ext cx="100584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SETUP PATH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828800" y="1435608"/>
            <a:ext cx="1874519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
Configuration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758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160520" y="1435608"/>
            <a:ext cx="182880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Services
Information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" name="Connector 9"/>
          <p:cNvSpPr>
            <a:spLocks noGrp="1"/>
          </p:cNvSpPr>
          <p:nvPr/>
        </p:nvSpPr>
        <p:spPr>
          <a:xfrm>
            <a:off x="6044183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446520" y="1435608"/>
            <a:ext cx="1828800" cy="384048"/>
          </a:xfrm>
          <a:prstGeom prst="roundRect">
            <a:avLst/>
          </a:prstGeom>
          <a:solidFill>
            <a:srgbClr val="F6F1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
Basis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Connector 11"/>
          <p:cNvSpPr>
            <a:spLocks noGrp="1"/>
          </p:cNvSpPr>
          <p:nvPr/>
        </p:nvSpPr>
        <p:spPr>
          <a:xfrm>
            <a:off x="8330184" y="1627632"/>
            <a:ext cx="228600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732520" y="1435608"/>
            <a:ext cx="2240280" cy="384048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Rules +
Policy Engines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2660904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4974336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287768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9601200" y="3246120"/>
            <a:ext cx="146304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566928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76656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713232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78992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Written policy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731520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Annex B / client policy is captured in business terms.
Example: protected net pay, retirement formula, final pay components.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3" name="Rounded Rectangle 22"/>
          <p:cNvSpPr>
            <a:spLocks noGrp="1"/>
          </p:cNvSpPr>
          <p:nvPr/>
        </p:nvSpPr>
        <p:spPr>
          <a:xfrm>
            <a:off x="2880360" y="2249424"/>
            <a:ext cx="2057400" cy="1993392"/>
          </a:xfrm>
          <a:prstGeom prst="roundRect">
            <a:avLst/>
          </a:prstGeom>
          <a:solidFill>
            <a:srgbClr val="F6F1FC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2990088" y="2359152"/>
            <a:ext cx="1837943" cy="32004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5" name="Oval 24"/>
          <p:cNvSpPr>
            <a:spLocks noGrp="1"/>
          </p:cNvSpPr>
          <p:nvPr/>
        </p:nvSpPr>
        <p:spPr>
          <a:xfrm>
            <a:off x="3026664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392424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Governed code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3044952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Computational Basis stores the approved formula/template.
Codes are reusable, versioned, and not hand-typed per rule.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5193792" y="2249424"/>
            <a:ext cx="2057400" cy="1993392"/>
          </a:xfrm>
          <a:prstGeom prst="roundRect">
            <a:avLst/>
          </a:prstGeom>
          <a:solidFill>
            <a:srgbClr val="EBF9F3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5303520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Oval 29"/>
          <p:cNvSpPr>
            <a:spLocks noGrp="1"/>
          </p:cNvSpPr>
          <p:nvPr/>
        </p:nvSpPr>
        <p:spPr>
          <a:xfrm>
            <a:off x="5340096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5705856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Company Rule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5358384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Apply New Rule from the Company Rules register.
Choose who it applies to, then the code, then company/group values.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07224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4" name="Rectangle 33"/>
          <p:cNvSpPr>
            <a:spLocks noGrp="1"/>
          </p:cNvSpPr>
          <p:nvPr/>
        </p:nvSpPr>
        <p:spPr>
          <a:xfrm>
            <a:off x="7616952" y="2359152"/>
            <a:ext cx="1837943" cy="32004"/>
          </a:xfrm>
          <a:prstGeom prst="rect">
            <a:avLst/>
          </a:prstGeom>
          <a:solidFill>
            <a:srgbClr val="257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5" name="Oval 34"/>
          <p:cNvSpPr>
            <a:spLocks noGrp="1"/>
          </p:cNvSpPr>
          <p:nvPr/>
        </p:nvSpPr>
        <p:spPr>
          <a:xfrm>
            <a:off x="7653528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8019288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Policy engines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7671816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selected engine runs the active rule during payroll.
Formula stays controlled; values differ by company or group.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708392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513064" y="371246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7708392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8513064" y="3986784"/>
            <a:ext cx="768096" cy="228600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75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GUP</a:t>
            </a:r>
            <a:endParaRPr sz="75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9820656" y="2249424"/>
            <a:ext cx="205740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Rectangle 42"/>
          <p:cNvSpPr>
            <a:spLocks noGrp="1"/>
          </p:cNvSpPr>
          <p:nvPr/>
        </p:nvSpPr>
        <p:spPr>
          <a:xfrm>
            <a:off x="9930384" y="2359152"/>
            <a:ext cx="1837943" cy="32004"/>
          </a:xfrm>
          <a:prstGeom prst="rect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9966960" y="2505456"/>
            <a:ext cx="310896" cy="310896"/>
          </a:xfrm>
          <a:prstGeom prst="ellipse">
            <a:avLst/>
          </a:prstGeom>
          <a:solidFill>
            <a:srgbClr val="1C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endParaRPr sz="100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10332720" y="2450592"/>
            <a:ext cx="141732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115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Payroll output</a:t>
            </a:r>
            <a:endParaRPr sz="115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9985248" y="2999232"/>
            <a:ext cx="1728216" cy="1124712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4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 feeds payroll calculation, deduction ledger, deferrals, carry-forward, and payslip tags.
Traceability shows what rule/code produced the result.</a:t>
            </a:r>
            <a:endParaRPr sz="94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566928" y="4498848"/>
            <a:ext cx="11018520" cy="566928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768096" y="4626864"/>
            <a:ext cx="11430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CREATE RULE</a:t>
            </a:r>
            <a:endParaRPr sz="80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9" name="Rounded Rectangle 48"/>
          <p:cNvSpPr>
            <a:spLocks noGrp="1"/>
          </p:cNvSpPr>
          <p:nvPr/>
        </p:nvSpPr>
        <p:spPr>
          <a:xfrm>
            <a:off x="1874519" y="4572000"/>
            <a:ext cx="17830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 Employee group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3721608" y="4727448"/>
            <a:ext cx="256031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Rounded Rectangle 50"/>
          <p:cNvSpPr>
            <a:spLocks noGrp="1"/>
          </p:cNvSpPr>
          <p:nvPr/>
        </p:nvSpPr>
        <p:spPr>
          <a:xfrm>
            <a:off x="4041648" y="4572000"/>
            <a:ext cx="182880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 Approved code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" name="Connector 51"/>
          <p:cNvSpPr>
            <a:spLocks noGrp="1"/>
          </p:cNvSpPr>
          <p:nvPr/>
        </p:nvSpPr>
        <p:spPr>
          <a:xfrm>
            <a:off x="5934456" y="4727448"/>
            <a:ext cx="256032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6263640" y="4572000"/>
            <a:ext cx="2011680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 Company values</a:t>
            </a:r>
            <a:endParaRPr sz="820" b="1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Connector 53"/>
          <p:cNvSpPr>
            <a:spLocks noGrp="1"/>
          </p:cNvSpPr>
          <p:nvPr/>
        </p:nvSpPr>
        <p:spPr>
          <a:xfrm>
            <a:off x="8339327" y="4727448"/>
            <a:ext cx="256033" cy="0"/>
          </a:xfrm>
          <a:prstGeom prst="line">
            <a:avLst/>
          </a:prstGeom>
          <a:ln w="17780">
            <a:solidFill>
              <a:srgbClr val="6E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8668512" y="4572000"/>
            <a:ext cx="2212848" cy="310896"/>
          </a:xfrm>
          <a:prstGeom prst="roundRect">
            <a:avLst/>
          </a:prstGeom>
          <a:solidFill>
            <a:srgbClr val="EBF9F3"/>
          </a:solidFill>
          <a:ln w="10160">
            <a:solidFill>
              <a:srgbClr val="C1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9144" rIns="27432" bIns="9144" anchor="ctr"/>
          <a:lstStyle/>
          <a:p>
            <a:pPr algn="ctr">
              <a:buNone/>
            </a:pPr>
            <a:r>
              <a:rPr sz="820" b="1">
                <a:solidFill>
                  <a:srgbClr val="257E5E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 Enable + compute</a:t>
            </a:r>
            <a:endParaRPr sz="820" b="1">
              <a:solidFill>
                <a:srgbClr val="257E5E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566928" y="5285232"/>
            <a:ext cx="1828800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50" b="1" i="0">
                <a:solidFill>
                  <a:srgbClr val="6E75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RULE GUARDRAILS</a:t>
            </a:r>
            <a:endParaRPr sz="850" b="1" i="0">
              <a:solidFill>
                <a:srgbClr val="6E758A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Rounded Rectangle 56"/>
          <p:cNvSpPr>
            <a:spLocks noGrp="1"/>
          </p:cNvSpPr>
          <p:nvPr/>
        </p:nvSpPr>
        <p:spPr>
          <a:xfrm>
            <a:off x="566928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694944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Only approved codes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694944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List is filtered by the selected sub-category.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364992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3493008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Formula locked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93008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Standard codes stay controlled; rule values vary.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6163056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291072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 cannot disagree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291072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Engine-owned rule rows are edited in the engine.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8961119" y="5541264"/>
            <a:ext cx="26517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9089136" y="5632703"/>
            <a:ext cx="2395728" cy="20116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920" b="1" i="0">
                <a:solidFill>
                  <a:srgbClr val="1C235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References are versioned</a:t>
            </a:r>
            <a:endParaRPr sz="920" b="1" i="0">
              <a:solidFill>
                <a:srgbClr val="1C235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9089136" y="5861303"/>
            <a:ext cx="2395728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>
              <a:buNone/>
            </a:pPr>
            <a:r>
              <a:rPr sz="820" b="0" i="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Rates, ceilings and brackets live in tables.</a:t>
            </a:r>
            <a:endParaRPr sz="820" b="0" i="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7406640" y="6419088"/>
            <a:ext cx="4178808" cy="2926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1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20">
                <a:solidFill>
                  <a:srgbClr val="444B6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Source · Existing deck pages 3–10: orientation, Company Rules, and policy-engine library</a:t>
            </a:r>
            <a:endParaRPr sz="720">
              <a:solidFill>
                <a:srgbClr val="444B60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651760"/>
            <a:ext cx="54864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</a:t>
            </a:r>
            <a:endParaRPr sz="12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2999232"/>
            <a:ext cx="822960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Where every screen came from</a:t>
            </a:r>
            <a:endParaRPr sz="4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Sources, row-level traceability and a glossary</a:t>
            </a:r>
            <a:endParaRPr sz="15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A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Source documents</a:t>
            </a:r>
            <a:endParaRPr sz="3000"/>
          </a:p>
        </p:txBody>
      </p:sp>
      <p:sp>
        <p:nvSpPr>
          <p:cNvPr id="4" name="Shape 2"/>
          <p:cNvSpPr>
            <a:spLocks noGrp="1"/>
          </p:cNvSpPr>
          <p:nvPr/>
        </p:nvSpPr>
        <p:spPr>
          <a:xfrm>
            <a:off x="566928" y="1335024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31520" y="1444752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</a:t>
            </a:r>
            <a:endParaRPr sz="12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731520" y="1883664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3584448" y="1371600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566928" y="2578608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>
            <a:spLocks noGrp="1"/>
          </p:cNvSpPr>
          <p:nvPr/>
        </p:nvSpPr>
        <p:spPr>
          <a:xfrm>
            <a:off x="731520" y="2688336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C</a:t>
            </a:r>
            <a:endParaRPr sz="12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731520" y="3127248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Sub Module 3 — Payroll</a:t>
            </a:r>
            <a:endParaRPr sz="8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3584448" y="2615184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Payroll transaction preparation, inputs, calculation and approval lifecycle. Referenced for how a computed policy is consumed by a payroll run.</a:t>
            </a:r>
            <a:endParaRPr sz="11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3822192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731520" y="3931920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Phase 2 BRD Audit Summary</a:t>
            </a:r>
            <a:endParaRPr sz="12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731520" y="4370832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Overall status — 331 requirement rows</a:t>
            </a:r>
            <a:endParaRPr sz="8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3584448" y="3858768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/>
          <p:cNvSpPr>
            <a:spLocks noGrp="1"/>
          </p:cNvSpPr>
          <p:nvPr/>
        </p:nvSpPr>
        <p:spPr>
          <a:xfrm>
            <a:off x="566928" y="5065776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731520" y="5175504"/>
            <a:ext cx="246888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Tax Tables Flow</a:t>
            </a:r>
            <a:endParaRPr sz="12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731520" y="5614416"/>
            <a:ext cx="248716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v2 dated 14 May 2026 (supersedes v1)</a:t>
            </a:r>
            <a:endParaRPr sz="8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584448" y="5102352"/>
            <a:ext cx="8001000" cy="10241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B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Take-Home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4–5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Minimum take-home based on basic salary, 40%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Basic Pay; threshold type Percentage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pay, 30%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21–22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 on gross less reimbursements, 30%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Protected base = Gross Pay less reimbursements — used in the demo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29–30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minimum peso net pay, ₱8,000 example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Threshold type = Fixed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in full; loans may be deferred; carry over; notify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rank 0; auto-defer, carry-forward and notification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45–59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repayment cap, 25% of gross or a fixed ₱10,000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61–83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LAABS and undertime cap by %, days, or protected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Attendance cap base, type and value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85–103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Hierarchy table, statutory rank 0, optional last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Deduction and loan hierarchy, maintained as a reference source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106–109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Loans at cap but net still short — choose what wins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Conflict priority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138–155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Deferred tracking, payslip tag fields,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Carry-forward table, payslip tag block and deduction ledger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C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Retirement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3–6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Daily rate × 22.5 × years of service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value shown in the scenario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Fractions of six months or more count as one year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Service rounding rule; 12y 6m → 13 years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13–15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Statutory RA 7641, company plan, or override if more beneficial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plan type selector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24–29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Divisor, days per year, salary basis, benefits, rounding, cap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Formula inputs, all configurable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30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RetirementPay = MAX(statutory, company plan)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“Best of” option; both values displayed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31–37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Age 60, compulsory 65, five years service, early retirement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Eligibility rules and the eligibility strip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38–41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RA 7641 and RA 4917 tax exemption conditions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Taxation rule; the result records why it is exempt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46–49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Retirement pay forms part of final pay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Result feeds the Final Pay engine automatically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D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Final Pay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2688336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5–11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Mandatory: unpaid salary, 13th month, SIL, separation, retirement, final tax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Mandatory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Optional: convertible leave, allowances, commissions, cash bond, gratuity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Optional component switches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19–29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Company rule selectors on the settings card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30–31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Pull last days worked, leave balances, unpaid OT and LAABS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Scenario inputs drawn from the employee record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32–34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Only authorised deductions; auto-offset before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Offsets shown as negative lines in the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36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Output — final pay breakdown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Component-by-component breakdown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E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Gross Up traceability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33856"/>
            <a:ext cx="110276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="566928" y="1481328"/>
          <a:ext cx="11027664" cy="3456432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Source rows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What the workbook says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Where it appears in the app</a:t>
                      </a:r>
                      <a:endParaRPr sz="11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2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 shoulders the tax so the employee receives a guaranteed net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Employer-absorbed share, default 100%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3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Divide the intended net by (1 − rate)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Available as the flat / final tax method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Use BIR tables: taxable income, correct bracket, base tax + excess 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Graduated method, reading the effective BIR table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7–8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Choose the income and enable gross-up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Guaranteed target selector and engine switch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10–11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Add grossed-up income; subtract mandatory contributions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Taxable compensation line in the calculation trace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12–14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Identify bracket; apply base tax + excess × rate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Bracket named in the trace, e.g. from ₱33,333, ₱1,875 + 20%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 15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Recompute gross until net equals the required amount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Iteration table with the gap closing to zero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Rows 16–18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Show gross, employer-absorbed tax, and net released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The four result tiles</a:t>
                      </a:r>
                      <a:endParaRPr sz="100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F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Glossary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Computational Basis</a:t>
            </a:r>
            <a:endParaRPr sz="125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56692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controlled library of standard formulas, policy engines and the reference sources they read.</a:t>
            </a:r>
            <a:endParaRPr sz="1050"/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56692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engine</a:t>
            </a:r>
            <a:endParaRPr sz="125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56692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screen that computes one family of payroll policy and shows its full working. There are four.</a:t>
            </a:r>
            <a:endParaRPr sz="105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56692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Policy code</a:t>
            </a:r>
            <a:endParaRPr sz="12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56692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reusable, approved handle on an engine — for example THP-001. Assigned to Company Rules.</a:t>
            </a:r>
            <a:endParaRPr sz="1050"/>
          </a:p>
        </p:txBody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Company Rule</a:t>
            </a:r>
            <a:endParaRPr sz="125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policy applied to an employee group, with its own parameter values.</a:t>
            </a:r>
            <a:endParaRPr sz="105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566928" y="5248656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Protected minimum</a:t>
            </a:r>
            <a:endParaRPr sz="125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522976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net pay a rule guarantees, expressed as a percentage of a base or a fixed amount.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6190488" y="13716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Hierarchy / rank</a:t>
            </a:r>
            <a:endParaRPr sz="1250"/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6190488" y="16459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order in which controllable deductions are trimmed. Statutory items are rank 0 and never adjusted.</a:t>
            </a:r>
            <a:endParaRPr sz="1050"/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6190488" y="23408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Deferral / carry-forward</a:t>
            </a:r>
            <a:endParaRPr sz="125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190488" y="2615184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amount not collected this cutoff, rescheduled with its outstanding balance preserved.</a:t>
            </a:r>
            <a:endParaRPr sz="105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6190488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Effective-dated</a:t>
            </a:r>
            <a:endParaRPr sz="12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6190488" y="3584448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 version with a start date. Payroll uses the version in force for that run.</a:t>
            </a:r>
            <a:endParaRPr sz="1050"/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6190488" y="427939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Convergence</a:t>
            </a:r>
            <a:endParaRPr sz="1250"/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190488" y="4553712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For gross-up: repeating the calculation until the computed net matches the target within tolerance.</a:t>
            </a:r>
            <a:endParaRPr sz="10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329184"/>
            <a:ext cx="1102766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APPENDIX G</a:t>
            </a:r>
            <a:endParaRPr sz="1000"/>
          </a:p>
        </p:txBody>
      </p:sp>
      <p:sp>
        <p:nvSpPr>
          <p:cNvPr id="3" name="Text 1"/>
          <p:cNvSpPr>
            <a:spLocks noGrp="1"/>
          </p:cNvSpPr>
          <p:nvPr/>
        </p:nvSpPr>
        <p:spPr>
          <a:xfrm>
            <a:off x="566928" y="548640"/>
            <a:ext cx="11027664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still needs a business decision</a:t>
            </a:r>
            <a:endParaRPr sz="3000"/>
          </a:p>
        </p:txBody>
      </p:sp>
      <p:sp>
        <p:nvSpPr>
          <p:cNvPr id="4" name="Text 2"/>
          <p:cNvSpPr>
            <a:spLocks noGrp="1"/>
          </p:cNvSpPr>
          <p:nvPr/>
        </p:nvSpPr>
        <p:spPr>
          <a:xfrm>
            <a:off x="566928" y="1115568"/>
            <a:ext cx="11027664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These are places where the workbooks offer alternatives or leave a value open. The app makes each one configurable rather than assuming an answer.</a:t>
            </a:r>
            <a:endParaRPr sz="1200"/>
          </a:p>
        </p:txBody>
      </p:sp>
      <p:sp>
        <p:nvSpPr>
          <p:cNvPr id="5" name="Shape 3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566928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1170432" y="15910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Which take-home policy is active</a:t>
            </a:r>
            <a:endParaRPr sz="12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4498848" y="1591056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Annex B lists five alternative minimum-net policies and several cap rules. Only one set should be switched on per company or group.</a:t>
            </a:r>
            <a:endParaRPr sz="1050"/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9710928" y="1591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Take Home Pay rows 4–43</a:t>
            </a:r>
            <a:endParaRPr sz="950"/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566928" y="25968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1170432" y="25603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Bonus threshold priority</a:t>
            </a:r>
            <a:endParaRPr sz="1200"/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4498848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When several bonus types share one non-taxable ceiling, the consuming order must be agreed.</a:t>
            </a:r>
            <a:endParaRPr sz="105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9710928" y="25603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BRD 13th month / bonus ceiling</a:t>
            </a:r>
            <a:endParaRPr sz="950"/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566928" y="35661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1170432" y="35295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when net is negative</a:t>
            </a:r>
            <a:endParaRPr sz="1200"/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498848" y="352958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treatment of a residual balance needs a stated rule.</a:t>
            </a:r>
            <a:endParaRPr sz="1050"/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9710928" y="352958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Final Pay row 29</a:t>
            </a:r>
            <a:endParaRPr sz="950"/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>
            <a:spLocks noGrp="1"/>
          </p:cNvSpPr>
          <p:nvPr/>
        </p:nvSpPr>
        <p:spPr>
          <a:xfrm>
            <a:off x="566928" y="4535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1170432" y="44988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Gross-up convergence</a:t>
            </a:r>
            <a:endParaRPr sz="1200"/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4498848" y="4498848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Tolerance, iteration limit and rounding stage are currently set to sensible defaults in the app.</a:t>
            </a:r>
            <a:endParaRPr sz="1050"/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9710928" y="44988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Gross Up rows 15–16</a:t>
            </a:r>
            <a:endParaRPr sz="950"/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566928" y="55046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endParaRPr sz="1400"/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1170432" y="546811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values</a:t>
            </a:r>
            <a:endParaRPr sz="1200"/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4498848" y="5468112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All rates, brackets and ceilings on screen are sample data and must be confirmed against the effective official tables before use.</a:t>
            </a:r>
            <a:endParaRPr sz="1050"/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710928" y="546811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Statutory tables</a:t>
            </a:r>
            <a:endParaRPr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/>
        </p:nvSpPr>
        <p:spPr>
          <a:xfrm>
            <a:off x="566928" y="2148840"/>
            <a:ext cx="82296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What this demonstrates</a:t>
            </a:r>
            <a:endParaRPr sz="3800"/>
          </a:p>
        </p:txBody>
      </p:sp>
      <p:sp>
        <p:nvSpPr>
          <p:cNvPr id="3" name="Shape 1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4" name="Text 2"/>
          <p:cNvSpPr>
            <a:spLocks noGrp="1"/>
          </p:cNvSpPr>
          <p:nvPr/>
        </p:nvSpPr>
        <p:spPr>
          <a:xfrm>
            <a:off x="566928" y="3108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1400"/>
          </a:p>
        </p:txBody>
      </p:sp>
      <p:sp>
        <p:nvSpPr>
          <p:cNvPr id="5" name="Text 3"/>
          <p:cNvSpPr>
            <a:spLocks noGrp="1"/>
          </p:cNvSpPr>
          <p:nvPr/>
        </p:nvSpPr>
        <p:spPr>
          <a:xfrm>
            <a:off x="1188720" y="307238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Your written policies are configurable settings, not code changes.</a:t>
            </a:r>
            <a:endParaRPr sz="1400"/>
          </a:p>
        </p:txBody>
      </p:sp>
      <p:sp>
        <p:nvSpPr>
          <p:cNvPr id="6" name="Shape 4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566928" y="3767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1400"/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result shows its working — base, threshold, ranks, brackets and iterations.</a:t>
            </a:r>
            <a:endParaRPr sz="1400"/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566928" y="4425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1400"/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1188720" y="43891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engines feed each other; nothing is re-keyed between them.</a:t>
            </a:r>
            <a:endParaRPr sz="1400"/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3" name="Text 11"/>
          <p:cNvSpPr>
            <a:spLocks noGrp="1"/>
          </p:cNvSpPr>
          <p:nvPr/>
        </p:nvSpPr>
        <p:spPr>
          <a:xfrm>
            <a:off x="566928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</a:t>
            </a:r>
            <a:endParaRPr sz="1400"/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1188720" y="5047488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 screen traces back to a row in your own workbooks.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28879</Words>
  <Application>WPS Presentation</Application>
  <PresentationFormat>Converted Presentation</PresentationFormat>
  <Paragraphs>1783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SimSun</vt:lpstr>
      <vt:lpstr>Wingdings</vt:lpstr>
      <vt:lpstr>Arial</vt:lpstr>
      <vt:lpstr>Calibri</vt:lpstr>
      <vt:lpstr>Cambria</vt:lpstr>
      <vt:lpstr>Microsoft YaHei</vt:lpstr>
      <vt:lpstr>Arial Unicode MS</vt:lpstr>
      <vt:lpstr>Georgia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josrp</cp:lastModifiedBy>
  <cp:revision>1</cp:revision>
  <dcterms:created xsi:type="dcterms:W3CDTF">2026-08-10T16:08:37Z</dcterms:created>
  <dcterms:modified xsi:type="dcterms:W3CDTF">2026-08-10T16:08:37Z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2F26FFD061C94F3DA2E5AF10DA29184A_13</vt:lpwstr>
  </property>
  <property fmtid="{D5CDD505-2E9C-101B-9397-08002B2CF9AE}" pid="3" name="KSOProductBuildVer">
    <vt:lpwstr>1033-12.1.0.28032</vt:lpwstr>
  </property>
</Properties>
</file>