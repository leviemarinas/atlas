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ab8b4329954498" /><Relationship Type="http://schemas.openxmlformats.org/officeDocument/2006/relationships/extended-properties" Target="/docProps/app.xml" Id="R66653e62b6e34c47" /><Relationship Type="http://schemas.openxmlformats.org/officeDocument/2006/relationships/officeDocument" Target="/ppt/presentation.xml" Id="Re5b5a12e9cbd4f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81ffad1c8644fd"/>
    <p:sldMasterId xmlns:r="http://schemas.openxmlformats.org/officeDocument/2006/relationships" id="2147483650" r:id="Rc2d15e96ea8b44a6"/>
  </p:sldMasterIdLst>
  <p:notesMasterIdLst>
    <p:notesMasterId xmlns:r="http://schemas.openxmlformats.org/officeDocument/2006/relationships" r:id="Rdf9c8596db1a4b32"/>
  </p:notesMasterIdLst>
  <p:sldIdLst>
    <p:sldId xmlns:r="http://schemas.openxmlformats.org/officeDocument/2006/relationships" id="256" r:id="R235fe6f93dce43d1"/>
    <p:sldId xmlns:r="http://schemas.openxmlformats.org/officeDocument/2006/relationships" id="257" r:id="Rbe986b2bb19c4000"/>
    <p:sldId xmlns:r="http://schemas.openxmlformats.org/officeDocument/2006/relationships" id="258" r:id="R152a9f317bd448a3"/>
    <p:sldId xmlns:r="http://schemas.openxmlformats.org/officeDocument/2006/relationships" id="259" r:id="R25dc3c9a26fe4be4"/>
    <p:sldId xmlns:r="http://schemas.openxmlformats.org/officeDocument/2006/relationships" id="260" r:id="R8b2816984e124b64"/>
    <p:sldId xmlns:r="http://schemas.openxmlformats.org/officeDocument/2006/relationships" id="261" r:id="R85f62d000d494086"/>
    <p:sldId xmlns:r="http://schemas.openxmlformats.org/officeDocument/2006/relationships" id="262" r:id="Rf85a91d9c9754731"/>
    <p:sldId xmlns:r="http://schemas.openxmlformats.org/officeDocument/2006/relationships" id="263" r:id="R8a68e4488632417c"/>
    <p:sldId xmlns:r="http://schemas.openxmlformats.org/officeDocument/2006/relationships" id="264" r:id="R0c04269c886c4f81"/>
    <p:sldId xmlns:r="http://schemas.openxmlformats.org/officeDocument/2006/relationships" id="265" r:id="R73cf2e7c4f254947"/>
    <p:sldId xmlns:r="http://schemas.openxmlformats.org/officeDocument/2006/relationships" id="266" r:id="Rb46b6b79582f4b04"/>
    <p:sldId xmlns:r="http://schemas.openxmlformats.org/officeDocument/2006/relationships" id="267" r:id="R5680a9f0651345cb"/>
    <p:sldId xmlns:r="http://schemas.openxmlformats.org/officeDocument/2006/relationships" id="268" r:id="Rb991c1b8539347c8"/>
    <p:sldId xmlns:r="http://schemas.openxmlformats.org/officeDocument/2006/relationships" id="269" r:id="R57bc1c120fef4c0a"/>
    <p:sldId xmlns:r="http://schemas.openxmlformats.org/officeDocument/2006/relationships" id="270" r:id="R142667e646964276"/>
    <p:sldId xmlns:r="http://schemas.openxmlformats.org/officeDocument/2006/relationships" id="271" r:id="R77e84f40783a41ed"/>
    <p:sldId xmlns:r="http://schemas.openxmlformats.org/officeDocument/2006/relationships" id="272" r:id="Rd2e5df83a884449a"/>
    <p:sldId xmlns:r="http://schemas.openxmlformats.org/officeDocument/2006/relationships" id="273" r:id="R5459d4aa4d87432f"/>
    <p:sldId xmlns:r="http://schemas.openxmlformats.org/officeDocument/2006/relationships" id="274" r:id="R14a9af9fc7b5476b"/>
    <p:sldId xmlns:r="http://schemas.openxmlformats.org/officeDocument/2006/relationships" id="275" r:id="Rd69014a80ae14d86"/>
    <p:sldId xmlns:r="http://schemas.openxmlformats.org/officeDocument/2006/relationships" id="276" r:id="R0f28b71fdfd9455d"/>
    <p:sldId xmlns:r="http://schemas.openxmlformats.org/officeDocument/2006/relationships" id="277" r:id="R01f190f7effe408a"/>
    <p:sldId xmlns:r="http://schemas.openxmlformats.org/officeDocument/2006/relationships" id="278" r:id="Ref782d3d5fc0457a"/>
    <p:sldId xmlns:r="http://schemas.openxmlformats.org/officeDocument/2006/relationships" id="279" r:id="Recf01d9c04e046df"/>
    <p:sldId xmlns:r="http://schemas.openxmlformats.org/officeDocument/2006/relationships" id="280" r:id="R4783c7216d904585"/>
    <p:sldId xmlns:r="http://schemas.openxmlformats.org/officeDocument/2006/relationships" id="281" r:id="Re25fb929e5614ebb"/>
    <p:sldId xmlns:r="http://schemas.openxmlformats.org/officeDocument/2006/relationships" id="282" r:id="Rfbd45bf9e17440d6"/>
    <p:sldId xmlns:r="http://schemas.openxmlformats.org/officeDocument/2006/relationships" id="283" r:id="Rf5aeaf591df24715"/>
    <p:sldId xmlns:r="http://schemas.openxmlformats.org/officeDocument/2006/relationships" id="284" r:id="R6428969b38404554"/>
    <p:sldId xmlns:r="http://schemas.openxmlformats.org/officeDocument/2006/relationships" id="285" r:id="Ra0c9b0b3594f48de"/>
    <p:sldId xmlns:r="http://schemas.openxmlformats.org/officeDocument/2006/relationships" id="286" r:id="R429b30ed3a1742d7"/>
    <p:sldId xmlns:r="http://schemas.openxmlformats.org/officeDocument/2006/relationships" id="287" r:id="R63d9752467af45ed"/>
    <p:sldId xmlns:r="http://schemas.openxmlformats.org/officeDocument/2006/relationships" id="288" r:id="Rbae3858f5ceb4c5e"/>
    <p:sldId xmlns:r="http://schemas.openxmlformats.org/officeDocument/2006/relationships" id="289" r:id="R161612b7c82d4968"/>
    <p:sldId xmlns:r="http://schemas.openxmlformats.org/officeDocument/2006/relationships" id="290" r:id="Rc8d4c96d7be741ae"/>
    <p:sldId xmlns:r="http://schemas.openxmlformats.org/officeDocument/2006/relationships" id="291" r:id="R5f426922633d41b9"/>
    <p:sldId xmlns:r="http://schemas.openxmlformats.org/officeDocument/2006/relationships" id="292" r:id="Re8a7f15f5ef242fc"/>
    <p:sldId xmlns:r="http://schemas.openxmlformats.org/officeDocument/2006/relationships" id="293" r:id="Rb4614e68514542f1"/>
    <p:sldId xmlns:r="http://schemas.openxmlformats.org/officeDocument/2006/relationships" id="294" r:id="R793d6d9619ab4b8b"/>
    <p:sldId xmlns:r="http://schemas.openxmlformats.org/officeDocument/2006/relationships" id="295" r:id="R9f0e744598e94745"/>
    <p:sldId xmlns:r="http://schemas.openxmlformats.org/officeDocument/2006/relationships" id="296" r:id="Rfb16192832ae444b"/>
    <p:sldId xmlns:r="http://schemas.openxmlformats.org/officeDocument/2006/relationships" id="297" r:id="Ra648d3ad0d384d27"/>
    <p:sldId xmlns:r="http://schemas.openxmlformats.org/officeDocument/2006/relationships" id="298" r:id="R35c89edddd2a4e27"/>
    <p:sldId xmlns:r="http://schemas.openxmlformats.org/officeDocument/2006/relationships" id="299" r:id="Rab6ae32bb3af4fa9"/>
    <p:sldId xmlns:r="http://schemas.openxmlformats.org/officeDocument/2006/relationships" id="300" r:id="R4621804f17424125"/>
    <p:sldId xmlns:r="http://schemas.openxmlformats.org/officeDocument/2006/relationships" id="301" r:id="R2ff6286877424506"/>
    <p:sldId xmlns:r="http://schemas.openxmlformats.org/officeDocument/2006/relationships" id="302" r:id="R8ea3cf675e6a465e"/>
    <p:sldId xmlns:r="http://schemas.openxmlformats.org/officeDocument/2006/relationships" id="303" r:id="R2ec10e068db044ea"/>
    <p:sldId xmlns:r="http://schemas.openxmlformats.org/officeDocument/2006/relationships" id="304" r:id="Rc0d5b6e0b12c4aa0"/>
    <p:sldId xmlns:r="http://schemas.openxmlformats.org/officeDocument/2006/relationships" id="305" r:id="R95886e8d8c734a60"/>
    <p:sldId xmlns:r="http://schemas.openxmlformats.org/officeDocument/2006/relationships" id="306" r:id="Re884b78241eb46e7"/>
    <p:sldId xmlns:r="http://schemas.openxmlformats.org/officeDocument/2006/relationships" id="307" r:id="R4c956ca2c9054cc0"/>
    <p:sldId xmlns:r="http://schemas.openxmlformats.org/officeDocument/2006/relationships" id="308" r:id="R4e6306d93e3a427a"/>
    <p:sldId xmlns:r="http://schemas.openxmlformats.org/officeDocument/2006/relationships" id="309" r:id="Rc5c7f436aca64056"/>
    <p:sldId xmlns:r="http://schemas.openxmlformats.org/officeDocument/2006/relationships" id="310" r:id="Rbf71b222e49f4709"/>
    <p:sldId xmlns:r="http://schemas.openxmlformats.org/officeDocument/2006/relationships" id="311" r:id="R32dc388d60774017"/>
    <p:sldId xmlns:r="http://schemas.openxmlformats.org/officeDocument/2006/relationships" id="312" r:id="R39076c2b617c4dde"/>
    <p:sldId xmlns:r="http://schemas.openxmlformats.org/officeDocument/2006/relationships" id="313" r:id="R58817270b4804e09"/>
    <p:sldId xmlns:r="http://schemas.openxmlformats.org/officeDocument/2006/relationships" id="314" r:id="Rbbf2e75d5d014a1d"/>
    <p:sldId xmlns:r="http://schemas.openxmlformats.org/officeDocument/2006/relationships" id="315" r:id="R99f9d1688ac84c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31a90aad414820" /><Relationship Type="http://schemas.openxmlformats.org/officeDocument/2006/relationships/slideMaster" Target="/ppt/slideMasters/slideMaster1.xml" Id="R7381ffad1c8644fd" /><Relationship Type="http://schemas.openxmlformats.org/officeDocument/2006/relationships/slideMaster" Target="/ppt/slideMasters/slideMaster2.xml" Id="Rc2d15e96ea8b44a6" /><Relationship Type="http://schemas.openxmlformats.org/officeDocument/2006/relationships/notesMaster" Target="/ppt/notesMasters/notesMaster1.xml" Id="Rdf9c8596db1a4b32" /><Relationship Type="http://schemas.openxmlformats.org/officeDocument/2006/relationships/presProps" Target="/ppt/presProps.xml" Id="R49b7c084fd634a63" /><Relationship Type="http://schemas.openxmlformats.org/officeDocument/2006/relationships/viewProps" Target="/ppt/viewProps.xml" Id="R46a3e204d17d4540" /><Relationship Type="http://schemas.openxmlformats.org/officeDocument/2006/relationships/tableStyles" Target="/ppt/tableStyles.xml" Id="R6957872aa04d4f6e" /><Relationship Type="http://schemas.openxmlformats.org/officeDocument/2006/relationships/slide" Target="/ppt/slides/slide1.xml" Id="R235fe6f93dce43d1" /><Relationship Type="http://schemas.openxmlformats.org/officeDocument/2006/relationships/slide" Target="/ppt/slides/slide2.xml" Id="Rbe986b2bb19c4000" /><Relationship Type="http://schemas.openxmlformats.org/officeDocument/2006/relationships/slide" Target="/ppt/slides/slide3.xml" Id="R152a9f317bd448a3" /><Relationship Type="http://schemas.openxmlformats.org/officeDocument/2006/relationships/slide" Target="/ppt/slides/slide4.xml" Id="R25dc3c9a26fe4be4" /><Relationship Type="http://schemas.openxmlformats.org/officeDocument/2006/relationships/slide" Target="/ppt/slides/slide5.xml" Id="R8b2816984e124b64" /><Relationship Type="http://schemas.openxmlformats.org/officeDocument/2006/relationships/slide" Target="/ppt/slides/slide6.xml" Id="R85f62d000d494086" /><Relationship Type="http://schemas.openxmlformats.org/officeDocument/2006/relationships/slide" Target="/ppt/slides/slide7.xml" Id="Rf85a91d9c9754731" /><Relationship Type="http://schemas.openxmlformats.org/officeDocument/2006/relationships/slide" Target="/ppt/slides/slide8.xml" Id="R8a68e4488632417c" /><Relationship Type="http://schemas.openxmlformats.org/officeDocument/2006/relationships/slide" Target="/ppt/slides/slide9.xml" Id="R0c04269c886c4f81" /><Relationship Type="http://schemas.openxmlformats.org/officeDocument/2006/relationships/slide" Target="/ppt/slides/slide10.xml" Id="R73cf2e7c4f254947" /><Relationship Type="http://schemas.openxmlformats.org/officeDocument/2006/relationships/slide" Target="/ppt/slides/slide11.xml" Id="Rb46b6b79582f4b04" /><Relationship Type="http://schemas.openxmlformats.org/officeDocument/2006/relationships/slide" Target="/ppt/slides/slide12.xml" Id="R5680a9f0651345cb" /><Relationship Type="http://schemas.openxmlformats.org/officeDocument/2006/relationships/slide" Target="/ppt/slides/slide13.xml" Id="Rb991c1b8539347c8" /><Relationship Type="http://schemas.openxmlformats.org/officeDocument/2006/relationships/slide" Target="/ppt/slides/slide14.xml" Id="R57bc1c120fef4c0a" /><Relationship Type="http://schemas.openxmlformats.org/officeDocument/2006/relationships/slide" Target="/ppt/slides/slide15.xml" Id="R142667e646964276" /><Relationship Type="http://schemas.openxmlformats.org/officeDocument/2006/relationships/slide" Target="/ppt/slides/slide16.xml" Id="R77e84f40783a41ed" /><Relationship Type="http://schemas.openxmlformats.org/officeDocument/2006/relationships/slide" Target="/ppt/slides/slide17.xml" Id="Rd2e5df83a884449a" /><Relationship Type="http://schemas.openxmlformats.org/officeDocument/2006/relationships/slide" Target="/ppt/slides/slide18.xml" Id="R5459d4aa4d87432f" /><Relationship Type="http://schemas.openxmlformats.org/officeDocument/2006/relationships/slide" Target="/ppt/slides/slide19.xml" Id="R14a9af9fc7b5476b" /><Relationship Type="http://schemas.openxmlformats.org/officeDocument/2006/relationships/slide" Target="/ppt/slides/slide20.xml" Id="Rd69014a80ae14d86" /><Relationship Type="http://schemas.openxmlformats.org/officeDocument/2006/relationships/slide" Target="/ppt/slides/slide21.xml" Id="R0f28b71fdfd9455d" /><Relationship Type="http://schemas.openxmlformats.org/officeDocument/2006/relationships/slide" Target="/ppt/slides/slide22.xml" Id="R01f190f7effe408a" /><Relationship Type="http://schemas.openxmlformats.org/officeDocument/2006/relationships/slide" Target="/ppt/slides/slide23.xml" Id="Ref782d3d5fc0457a" /><Relationship Type="http://schemas.openxmlformats.org/officeDocument/2006/relationships/slide" Target="/ppt/slides/slide24.xml" Id="Recf01d9c04e046df" /><Relationship Type="http://schemas.openxmlformats.org/officeDocument/2006/relationships/slide" Target="/ppt/slides/slide25.xml" Id="R4783c7216d904585" /><Relationship Type="http://schemas.openxmlformats.org/officeDocument/2006/relationships/slide" Target="/ppt/slides/slide26.xml" Id="Re25fb929e5614ebb" /><Relationship Type="http://schemas.openxmlformats.org/officeDocument/2006/relationships/slide" Target="/ppt/slides/slide27.xml" Id="Rfbd45bf9e17440d6" /><Relationship Type="http://schemas.openxmlformats.org/officeDocument/2006/relationships/slide" Target="/ppt/slides/slide28.xml" Id="Rf5aeaf591df24715" /><Relationship Type="http://schemas.openxmlformats.org/officeDocument/2006/relationships/slide" Target="/ppt/slides/slide29.xml" Id="R6428969b38404554" /><Relationship Type="http://schemas.openxmlformats.org/officeDocument/2006/relationships/slide" Target="/ppt/slides/slide30.xml" Id="Ra0c9b0b3594f48de" /><Relationship Type="http://schemas.openxmlformats.org/officeDocument/2006/relationships/slide" Target="/ppt/slides/slide31.xml" Id="R429b30ed3a1742d7" /><Relationship Type="http://schemas.openxmlformats.org/officeDocument/2006/relationships/slide" Target="/ppt/slides/slide32.xml" Id="R63d9752467af45ed" /><Relationship Type="http://schemas.openxmlformats.org/officeDocument/2006/relationships/slide" Target="/ppt/slides/slide33.xml" Id="Rbae3858f5ceb4c5e" /><Relationship Type="http://schemas.openxmlformats.org/officeDocument/2006/relationships/slide" Target="/ppt/slides/slide34.xml" Id="R161612b7c82d4968" /><Relationship Type="http://schemas.openxmlformats.org/officeDocument/2006/relationships/slide" Target="/ppt/slides/slide35.xml" Id="Rc8d4c96d7be741ae" /><Relationship Type="http://schemas.openxmlformats.org/officeDocument/2006/relationships/slide" Target="/ppt/slides/slide36.xml" Id="R5f426922633d41b9" /><Relationship Type="http://schemas.openxmlformats.org/officeDocument/2006/relationships/slide" Target="/ppt/slides/slide37.xml" Id="Re8a7f15f5ef242fc" /><Relationship Type="http://schemas.openxmlformats.org/officeDocument/2006/relationships/slide" Target="/ppt/slides/slide38.xml" Id="Rb4614e68514542f1" /><Relationship Type="http://schemas.openxmlformats.org/officeDocument/2006/relationships/slide" Target="/ppt/slides/slide39.xml" Id="R793d6d9619ab4b8b" /><Relationship Type="http://schemas.openxmlformats.org/officeDocument/2006/relationships/slide" Target="/ppt/slides/slide40.xml" Id="R9f0e744598e94745" /><Relationship Type="http://schemas.openxmlformats.org/officeDocument/2006/relationships/slide" Target="/ppt/slides/slide41.xml" Id="Rfb16192832ae444b" /><Relationship Type="http://schemas.openxmlformats.org/officeDocument/2006/relationships/slide" Target="/ppt/slides/slide42.xml" Id="Ra648d3ad0d384d27" /><Relationship Type="http://schemas.openxmlformats.org/officeDocument/2006/relationships/slide" Target="/ppt/slides/slide43.xml" Id="R35c89edddd2a4e27" /><Relationship Type="http://schemas.openxmlformats.org/officeDocument/2006/relationships/slide" Target="/ppt/slides/slide44.xml" Id="Rab6ae32bb3af4fa9" /><Relationship Type="http://schemas.openxmlformats.org/officeDocument/2006/relationships/slide" Target="/ppt/slides/slide45.xml" Id="R4621804f17424125" /><Relationship Type="http://schemas.openxmlformats.org/officeDocument/2006/relationships/slide" Target="/ppt/slides/slide46.xml" Id="R2ff6286877424506" /><Relationship Type="http://schemas.openxmlformats.org/officeDocument/2006/relationships/slide" Target="/ppt/slides/slide47.xml" Id="R8ea3cf675e6a465e" /><Relationship Type="http://schemas.openxmlformats.org/officeDocument/2006/relationships/slide" Target="/ppt/slides/slide48.xml" Id="R2ec10e068db044ea" /><Relationship Type="http://schemas.openxmlformats.org/officeDocument/2006/relationships/slide" Target="/ppt/slides/slide49.xml" Id="Rc0d5b6e0b12c4aa0" /><Relationship Type="http://schemas.openxmlformats.org/officeDocument/2006/relationships/slide" Target="/ppt/slides/slide50.xml" Id="R95886e8d8c734a60" /><Relationship Type="http://schemas.openxmlformats.org/officeDocument/2006/relationships/slide" Target="/ppt/slides/slide51.xml" Id="Re884b78241eb46e7" /><Relationship Type="http://schemas.openxmlformats.org/officeDocument/2006/relationships/slide" Target="/ppt/slides/slide52.xml" Id="R4c956ca2c9054cc0" /><Relationship Type="http://schemas.openxmlformats.org/officeDocument/2006/relationships/slide" Target="/ppt/slides/slide53.xml" Id="R4e6306d93e3a427a" /><Relationship Type="http://schemas.openxmlformats.org/officeDocument/2006/relationships/slide" Target="/ppt/slides/slide54.xml" Id="Rc5c7f436aca64056" /><Relationship Type="http://schemas.openxmlformats.org/officeDocument/2006/relationships/slide" Target="/ppt/slides/slide55.xml" Id="Rbf71b222e49f4709" /><Relationship Type="http://schemas.openxmlformats.org/officeDocument/2006/relationships/slide" Target="/ppt/slides/slide56.xml" Id="R32dc388d60774017" /><Relationship Type="http://schemas.openxmlformats.org/officeDocument/2006/relationships/slide" Target="/ppt/slides/slide57.xml" Id="R39076c2b617c4dde" /><Relationship Type="http://schemas.openxmlformats.org/officeDocument/2006/relationships/slide" Target="/ppt/slides/slide58.xml" Id="R58817270b4804e09" /><Relationship Type="http://schemas.openxmlformats.org/officeDocument/2006/relationships/slide" Target="/ppt/slides/slide59.xml" Id="Rbbf2e75d5d014a1d" /><Relationship Type="http://schemas.openxmlformats.org/officeDocument/2006/relationships/slide" Target="/ppt/slides/slide60.xml" Id="R99f9d1688ac84c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439c3e0c69043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155502f755436f" /><Relationship Type="http://schemas.openxmlformats.org/officeDocument/2006/relationships/notesMaster" Target="/ppt/notesMasters/notesMaster1.xml" Id="R88aef3e2a7ba48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77ead476d3422a" /><Relationship Type="http://schemas.openxmlformats.org/officeDocument/2006/relationships/notesMaster" Target="/ppt/notesMasters/notesMaster1.xml" Id="R65bf46329c074b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750d8bb236438b" /><Relationship Type="http://schemas.openxmlformats.org/officeDocument/2006/relationships/notesMaster" Target="/ppt/notesMasters/notesMaster1.xml" Id="Rdc304c39f2b041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e4b2541c1343fa" /><Relationship Type="http://schemas.openxmlformats.org/officeDocument/2006/relationships/notesMaster" Target="/ppt/notesMasters/notesMaster1.xml" Id="Rd45fc00a60b64c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7bb5a452c84e97" /><Relationship Type="http://schemas.openxmlformats.org/officeDocument/2006/relationships/notesMaster" Target="/ppt/notesMasters/notesMaster1.xml" Id="Rc70c25e89d4448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8e326330db46f9" /><Relationship Type="http://schemas.openxmlformats.org/officeDocument/2006/relationships/notesMaster" Target="/ppt/notesMasters/notesMaster1.xml" Id="R94f13e20e7c741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730bc728204bee" /><Relationship Type="http://schemas.openxmlformats.org/officeDocument/2006/relationships/notesMaster" Target="/ppt/notesMasters/notesMaster1.xml" Id="R9bacbee0072f43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d16f94b7804eb1" /><Relationship Type="http://schemas.openxmlformats.org/officeDocument/2006/relationships/notesMaster" Target="/ppt/notesMasters/notesMaster1.xml" Id="Rd1416cb923a74f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642177bb8c431d" /><Relationship Type="http://schemas.openxmlformats.org/officeDocument/2006/relationships/notesMaster" Target="/ppt/notesMasters/notesMaster1.xml" Id="Rdab26b54cb194b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fd9c33aaf24b51" /><Relationship Type="http://schemas.openxmlformats.org/officeDocument/2006/relationships/notesMaster" Target="/ppt/notesMasters/notesMaster1.xml" Id="R12f93db761fa41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8765d8820a4b83" /><Relationship Type="http://schemas.openxmlformats.org/officeDocument/2006/relationships/notesMaster" Target="/ppt/notesMasters/notesMaster1.xml" Id="R53ed0baeb7c54a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6affa53eaa4e41" /><Relationship Type="http://schemas.openxmlformats.org/officeDocument/2006/relationships/notesMaster" Target="/ppt/notesMasters/notesMaster1.xml" Id="Re61250d49d6c40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e5c079247d47ee" /><Relationship Type="http://schemas.openxmlformats.org/officeDocument/2006/relationships/notesMaster" Target="/ppt/notesMasters/notesMaster1.xml" Id="R1ad6e03ee1314d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4a8924acb54a08" /><Relationship Type="http://schemas.openxmlformats.org/officeDocument/2006/relationships/notesMaster" Target="/ppt/notesMasters/notesMaster1.xml" Id="Rb02f7cdc591149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b70d868fa7402f" /><Relationship Type="http://schemas.openxmlformats.org/officeDocument/2006/relationships/notesMaster" Target="/ppt/notesMasters/notesMaster1.xml" Id="R7ff1bbbe70aa4f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e43c4e4e3f4b44" /><Relationship Type="http://schemas.openxmlformats.org/officeDocument/2006/relationships/notesMaster" Target="/ppt/notesMasters/notesMaster1.xml" Id="Re48add6e32ba4b3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76a9e9283694fa8" /><Relationship Type="http://schemas.openxmlformats.org/officeDocument/2006/relationships/notesMaster" Target="/ppt/notesMasters/notesMaster1.xml" Id="Raa5e1baa3f9e48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843081bdaea4577" /><Relationship Type="http://schemas.openxmlformats.org/officeDocument/2006/relationships/notesMaster" Target="/ppt/notesMasters/notesMaster1.xml" Id="Rdfa46cd4499e4aa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8ded4d19d7149e3" /><Relationship Type="http://schemas.openxmlformats.org/officeDocument/2006/relationships/notesMaster" Target="/ppt/notesMasters/notesMaster1.xml" Id="R8efd87bb2a57455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8e24775d9024ca0" /><Relationship Type="http://schemas.openxmlformats.org/officeDocument/2006/relationships/notesMaster" Target="/ppt/notesMasters/notesMaster1.xml" Id="Rf1e4ab752eb24b9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13a70dd86ad4679" /><Relationship Type="http://schemas.openxmlformats.org/officeDocument/2006/relationships/notesMaster" Target="/ppt/notesMasters/notesMaster1.xml" Id="R5e5ea75fdc3c4a6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c33c18125a745d6" /><Relationship Type="http://schemas.openxmlformats.org/officeDocument/2006/relationships/notesMaster" Target="/ppt/notesMasters/notesMaster1.xml" Id="Rba5acaddebc046f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1f2609066b441bc" /><Relationship Type="http://schemas.openxmlformats.org/officeDocument/2006/relationships/notesMaster" Target="/ppt/notesMasters/notesMaster1.xml" Id="R525614354bf2499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40044cd87c64388" /><Relationship Type="http://schemas.openxmlformats.org/officeDocument/2006/relationships/notesMaster" Target="/ppt/notesMasters/notesMaster1.xml" Id="Rf6838c342e33475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d6907825eb84cc9" /><Relationship Type="http://schemas.openxmlformats.org/officeDocument/2006/relationships/notesMaster" Target="/ppt/notesMasters/notesMaster1.xml" Id="R3b99fb9b076349e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b187b721ccb4ac3" /><Relationship Type="http://schemas.openxmlformats.org/officeDocument/2006/relationships/notesMaster" Target="/ppt/notesMasters/notesMaster1.xml" Id="Ra3af203513804dd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79ea1e18a6b4ebb" /><Relationship Type="http://schemas.openxmlformats.org/officeDocument/2006/relationships/notesMaster" Target="/ppt/notesMasters/notesMaster1.xml" Id="R30773dfa929e4f2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ceefa3527094751" /><Relationship Type="http://schemas.openxmlformats.org/officeDocument/2006/relationships/notesMaster" Target="/ppt/notesMasters/notesMaster1.xml" Id="R9c0c3db8db64458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91132706ea3421f" /><Relationship Type="http://schemas.openxmlformats.org/officeDocument/2006/relationships/notesMaster" Target="/ppt/notesMasters/notesMaster1.xml" Id="R7b0c3133f5a94ed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71ea78f1a9a495f" /><Relationship Type="http://schemas.openxmlformats.org/officeDocument/2006/relationships/notesMaster" Target="/ppt/notesMasters/notesMaster1.xml" Id="R67b2c8817a9b425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3c886fb3ab34185" /><Relationship Type="http://schemas.openxmlformats.org/officeDocument/2006/relationships/notesMaster" Target="/ppt/notesMasters/notesMaster1.xml" Id="R081377c2e2314ad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c2ac178a9a043d4" /><Relationship Type="http://schemas.openxmlformats.org/officeDocument/2006/relationships/notesMaster" Target="/ppt/notesMasters/notesMaster1.xml" Id="R34018d7de915431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861b9cbcb844e71" /><Relationship Type="http://schemas.openxmlformats.org/officeDocument/2006/relationships/notesMaster" Target="/ppt/notesMasters/notesMaster1.xml" Id="Rd400679d96464da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8687787acdc4faf" /><Relationship Type="http://schemas.openxmlformats.org/officeDocument/2006/relationships/notesMaster" Target="/ppt/notesMasters/notesMaster1.xml" Id="R147997bfef3240a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8d66a6ee4484480" /><Relationship Type="http://schemas.openxmlformats.org/officeDocument/2006/relationships/notesMaster" Target="/ppt/notesMasters/notesMaster1.xml" Id="R791d50e1c5fe45d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982d7bbfd9e4f3a" /><Relationship Type="http://schemas.openxmlformats.org/officeDocument/2006/relationships/notesMaster" Target="/ppt/notesMasters/notesMaster1.xml" Id="Re7c20061c64b425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87204bd157843e3" /><Relationship Type="http://schemas.openxmlformats.org/officeDocument/2006/relationships/notesMaster" Target="/ppt/notesMasters/notesMaster1.xml" Id="Re3f34dbf4593416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f70530b546b42af" /><Relationship Type="http://schemas.openxmlformats.org/officeDocument/2006/relationships/notesMaster" Target="/ppt/notesMasters/notesMaster1.xml" Id="R7d9d98a182c7407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0c14cd18945493b" /><Relationship Type="http://schemas.openxmlformats.org/officeDocument/2006/relationships/notesMaster" Target="/ppt/notesMasters/notesMaster1.xml" Id="R623e4834d4af4ba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00827f7ca4b4347" /><Relationship Type="http://schemas.openxmlformats.org/officeDocument/2006/relationships/notesMaster" Target="/ppt/notesMasters/notesMaster1.xml" Id="R6b7b364e0aae4bb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bfb509bb4744e42" /><Relationship Type="http://schemas.openxmlformats.org/officeDocument/2006/relationships/notesMaster" Target="/ppt/notesMasters/notesMaster1.xml" Id="Rfa0350ee2f03458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a686cde753c4551" /><Relationship Type="http://schemas.openxmlformats.org/officeDocument/2006/relationships/notesMaster" Target="/ppt/notesMasters/notesMaster1.xml" Id="R4220c357c00546d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4f2b49a6c10428e" /><Relationship Type="http://schemas.openxmlformats.org/officeDocument/2006/relationships/notesMaster" Target="/ppt/notesMasters/notesMaster1.xml" Id="R3506afc492464cc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13dcb0968894308" /><Relationship Type="http://schemas.openxmlformats.org/officeDocument/2006/relationships/notesMaster" Target="/ppt/notesMasters/notesMaster1.xml" Id="R3a130ccbec75479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b2a14b93918450a" /><Relationship Type="http://schemas.openxmlformats.org/officeDocument/2006/relationships/notesMaster" Target="/ppt/notesMasters/notesMaster1.xml" Id="R21ea4532c4714fd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dcd9c1b7e67431b" /><Relationship Type="http://schemas.openxmlformats.org/officeDocument/2006/relationships/notesMaster" Target="/ppt/notesMasters/notesMaster1.xml" Id="R8829ce4d8b16411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3c1ad78abeb4cb3" /><Relationship Type="http://schemas.openxmlformats.org/officeDocument/2006/relationships/notesMaster" Target="/ppt/notesMasters/notesMaster1.xml" Id="Rfe77117a9f6646c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95710e3fc164fd8" /><Relationship Type="http://schemas.openxmlformats.org/officeDocument/2006/relationships/notesMaster" Target="/ppt/notesMasters/notesMaster1.xml" Id="Re193d19fd15a4d0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de7ee11478c4424" /><Relationship Type="http://schemas.openxmlformats.org/officeDocument/2006/relationships/notesMaster" Target="/ppt/notesMasters/notesMaster1.xml" Id="R7b8058fe91a144d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ad5c400d8c9497c" /><Relationship Type="http://schemas.openxmlformats.org/officeDocument/2006/relationships/notesMaster" Target="/ppt/notesMasters/notesMaster1.xml" Id="R2aec2d88947c4e1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5fe402a41452406e" /><Relationship Type="http://schemas.openxmlformats.org/officeDocument/2006/relationships/notesMaster" Target="/ppt/notesMasters/notesMaster1.xml" Id="R68c20b32efb5427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ca7bfb3474f4201" /><Relationship Type="http://schemas.openxmlformats.org/officeDocument/2006/relationships/notesMaster" Target="/ppt/notesMasters/notesMaster1.xml" Id="R485677abb5f7403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d101d1458cb40fb" /><Relationship Type="http://schemas.openxmlformats.org/officeDocument/2006/relationships/notesMaster" Target="/ppt/notesMasters/notesMaster1.xml" Id="R067503b271a04f6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3b8eb72baa174f9e" /><Relationship Type="http://schemas.openxmlformats.org/officeDocument/2006/relationships/notesMaster" Target="/ppt/notesMasters/notesMaster1.xml" Id="Rd11a366ff6bd441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50bb1a6645d4c0b" /><Relationship Type="http://schemas.openxmlformats.org/officeDocument/2006/relationships/notesMaster" Target="/ppt/notesMasters/notesMaster1.xml" Id="Re75867a3d53f425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af93085b5d1e49d1" /><Relationship Type="http://schemas.openxmlformats.org/officeDocument/2006/relationships/notesMaster" Target="/ppt/notesMasters/notesMaster1.xml" Id="R0e28f8bbadd349d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5c1c8da1aa204174" /><Relationship Type="http://schemas.openxmlformats.org/officeDocument/2006/relationships/notesMaster" Target="/ppt/notesMasters/notesMaster1.xml" Id="Redbf5ea0367d473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3ec3884ecb0e44de" /><Relationship Type="http://schemas.openxmlformats.org/officeDocument/2006/relationships/notesMaster" Target="/ppt/notesMasters/notesMaster1.xml" Id="R7c026144ebaa4b67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5517854d9a44668" /><Relationship Type="http://schemas.openxmlformats.org/officeDocument/2006/relationships/notesMaster" Target="/ppt/notesMasters/notesMaster1.xml" Id="R14fd4f033ca04ffe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491119f885664681" /><Relationship Type="http://schemas.openxmlformats.org/officeDocument/2006/relationships/notesMaster" Target="/ppt/notesMasters/notesMaster1.xml" Id="Rbcb3b42cb21640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show the payroll team that their written policies in Annex B are now configurable, computable and traceable in the application. Every screenshot is taken from the running prototype in wireframe 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session: this is about traceability from their Excel to a working screen, not about software internals.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nobody edits a formula. They pick an approved code and set its values for a group of employees.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engine has its own tab. The code beside the tab name is the governed policy code you assign in Company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wording from their own sample policy 3, typed straight into the rule.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codes on one engine: one governs the protected minimum, the other the caps. Both are assignable to their own rule.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reuse: the schema is governed centrally, the values are the client decision.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cue: Atlas wireframe — Company Rules / Apply New Rule.</a:t>
            </a:r>
            <a:endParaRPr/>
          </a:p>
          <a:p xmlns:a="http://schemas.openxmlformats.org/drawingml/2006/main">
            <a:r>
              <a:t>Select the PLAY VIDEO button on the slide to open the 1280×720 MP4 in the companion video folder.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http://localhost:5173/wireframe (Atlas wireframe, captured 2026-08-10)</a:t>
            </a:r>
            <a:endParaRPr/>
          </a:p>
          <a:p xmlns:a="http://schemas.openxmlformats.org/drawingml/2006/main">
            <a:r>
              <a:t>- C:\Users\josrp\OneDrive\Documents\Atlas\ATLAS_Demo_Videos\01-company-rules.mp4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cue: Atlas wireframe — THP-001 Minimum Take-Home Pay.</a:t>
            </a:r>
            <a:endParaRPr/>
          </a:p>
          <a:p xmlns:a="http://schemas.openxmlformats.org/drawingml/2006/main">
            <a:r>
              <a:t>Select the PLAY VIDEO button on the slide to open the 1280×720 MP4 in the companion video folder.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http://localhost:5173/wireframe (Atlas wireframe, captured 2026-08-10)</a:t>
            </a:r>
            <a:endParaRPr/>
          </a:p>
          <a:p xmlns:a="http://schemas.openxmlformats.org/drawingml/2006/main">
            <a:r>
              <a:t>- C:\Users\josrp\OneDrive\Documents\Atlas\ATLAS_Demo_Videos\02-take-home-pay.mp4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room through the ledger: due, deducted, deferred, accumulated. This is their row 143-152 payslip requirement made real.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cue: Atlas wireframe — RET-001 Retirement Pay.</a:t>
            </a:r>
            <a:endParaRPr/>
          </a:p>
          <a:p xmlns:a="http://schemas.openxmlformats.org/drawingml/2006/main">
            <a:r>
              <a:t>Select the PLAY VIDEO button on the slide to open the 1280×720 MP4 in the companion video folder.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http://localhost:5173/wireframe (Atlas wireframe, captured 2026-08-10)</a:t>
            </a:r>
            <a:endParaRPr/>
          </a:p>
          <a:p xmlns:a="http://schemas.openxmlformats.org/drawingml/2006/main">
            <a:r>
              <a:t>- C:\Users\josrp\OneDrive\Documents\Atlas\ATLAS_Demo_Videos\03-retirement-pay.mp4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comparison is the point: the system computes both and uses the better one, and records why it is tax exempt.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cue: Atlas wireframe — FIN-001 Final Pay.</a:t>
            </a:r>
            <a:endParaRPr/>
          </a:p>
          <a:p xmlns:a="http://schemas.openxmlformats.org/drawingml/2006/main">
            <a:r>
              <a:t>Select the PLAY VIDEO button on the slide to open the 1280×720 MP4 in the companion video folder.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http://localhost:5173/wireframe (Atlas wireframe, captured 2026-08-10)</a:t>
            </a:r>
            <a:endParaRPr/>
          </a:p>
          <a:p xmlns:a="http://schemas.openxmlformats.org/drawingml/2006/main">
            <a:r>
              <a:t>- C:\Users\josrp\OneDrive\Documents\Atlas\ATLAS_Demo_Videos\04-final-pay.mp4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link: retirement pay forms part of final pay, exactly as row 48 requires.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cue: Atlas wireframe — GUP-001 Gross Up.</a:t>
            </a:r>
            <a:endParaRPr/>
          </a:p>
          <a:p xmlns:a="http://schemas.openxmlformats.org/drawingml/2006/main">
            <a:r>
              <a:t>Select the PLAY VIDEO button on the slide to open the 1280×720 MP4 in the companion video folder.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http://localhost:5173/wireframe (Atlas wireframe, captured 2026-08-10)</a:t>
            </a:r>
            <a:endParaRPr/>
          </a:p>
          <a:p xmlns:a="http://schemas.openxmlformats.org/drawingml/2006/main">
            <a:r>
              <a:t>- C:\Users\josrp\OneDrive\Documents\Atlas\ATLAS_Demo_Videos\05-gross-up.mp4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Bracket used: from ₱33,333 with fixed tax ₱1,875 plus 20% on the excess. The trace shows the iteration and the gap closing to zero.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Nothing is re-keyed between engines. This is the answer to "does it connect".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open during Q&amp;A so anyone can challenge a screen and be shown the row it came from.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four are the source of truth. Anything on screen that is not in one of these is flagged on the last 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statutory numbers on screen are sample data pending confirmation.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them to challenge any screen — the appendix has the row reference for each one.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bfc9ef89f4b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94f3cecb9354fe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5a06d56d9848c8" /><Relationship Type="http://schemas.openxmlformats.org/officeDocument/2006/relationships/slideLayout" Target="/ppt/slideLayouts/slideLayout1.xml" Id="R70afdf828f5240f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b8f3fe86ab54fae" /><Relationship Type="http://schemas.openxmlformats.org/officeDocument/2006/relationships/slideLayout" Target="/ppt/slideLayouts/slideLayout2.xml" Id="R1e7f54826bd34d5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afdf828f5240f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1e7f54826bd34d5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05765697a4b0b" /><Relationship Type="http://schemas.openxmlformats.org/officeDocument/2006/relationships/notesSlide" Target="/ppt/notesSlides/notesSlide1.xml" Id="Rc34b0e43057a47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2f8c0fa164788" /><Relationship Type="http://schemas.openxmlformats.org/officeDocument/2006/relationships/notesSlide" Target="/ppt/notesSlides/notesSlide2.xml" Id="Rd066b23447944f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14117375d4c1f" /><Relationship Type="http://schemas.openxmlformats.org/officeDocument/2006/relationships/notesSlide" Target="/ppt/notesSlides/notesSlide3.xml" Id="Rff02a5e7041649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fa72472754b66" /><Relationship Type="http://schemas.openxmlformats.org/officeDocument/2006/relationships/image" Target="/ppt/media/image.png" Id="Rba1c8be2bd394990" /><Relationship Type="http://schemas.openxmlformats.org/officeDocument/2006/relationships/notesSlide" Target="/ppt/notesSlides/notesSlide4.xml" Id="Redaa48b0a19b4c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7f5d92c17467c" /><Relationship Type="http://schemas.openxmlformats.org/officeDocument/2006/relationships/image" Target="/ppt/media/image2.png" Id="Rd8ed9d7234074427" /><Relationship Type="http://schemas.openxmlformats.org/officeDocument/2006/relationships/notesSlide" Target="/ppt/notesSlides/notesSlide5.xml" Id="R8024059d243541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caaab1bc74ade" /><Relationship Type="http://schemas.openxmlformats.org/officeDocument/2006/relationships/image" Target="/ppt/media/image3.png" Id="R430310cc8b784e48" /><Relationship Type="http://schemas.openxmlformats.org/officeDocument/2006/relationships/notesSlide" Target="/ppt/notesSlides/notesSlide6.xml" Id="R3c20d915b1944e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4ddfb88bb4d71" /><Relationship Type="http://schemas.openxmlformats.org/officeDocument/2006/relationships/image" Target="/ppt/media/image4.png" Id="R2e0ad189113c41b7" /><Relationship Type="http://schemas.openxmlformats.org/officeDocument/2006/relationships/notesSlide" Target="/ppt/notesSlides/notesSlide7.xml" Id="Rab37b5299bb94e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5bb0e41254a89" /><Relationship Type="http://schemas.openxmlformats.org/officeDocument/2006/relationships/image" Target="/ppt/media/image5.png" Id="R6afbb3ab8867420a" /><Relationship Type="http://schemas.openxmlformats.org/officeDocument/2006/relationships/notesSlide" Target="/ppt/notesSlides/notesSlide8.xml" Id="R6f53dadf8ce440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62f804b414346" /><Relationship Type="http://schemas.openxmlformats.org/officeDocument/2006/relationships/image" Target="/ppt/media/image6.png" Id="R66ca09618f9e4665" /><Relationship Type="http://schemas.openxmlformats.org/officeDocument/2006/relationships/notesSlide" Target="/ppt/notesSlides/notesSlide9.xml" Id="R36a99ad578134e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dc75e70ab49a4" /><Relationship Type="http://schemas.openxmlformats.org/officeDocument/2006/relationships/image" Target="/ppt/media/image7.png" Id="R8bf56b118f734b4e" /><Relationship Type="http://schemas.openxmlformats.org/officeDocument/2006/relationships/notesSlide" Target="/ppt/notesSlides/notesSlide10.xml" Id="R087f83e0517f4f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a5c4d489e4d62" /><Relationship Type="http://schemas.openxmlformats.org/officeDocument/2006/relationships/image" Target="/ppt/media/image4.png" Id="R542b1071c039468b" /><Relationship Type="http://schemas.openxmlformats.org/officeDocument/2006/relationships/hyperlink" Target="ATLAS_Demo_Videos/01-company-rules.mp4" TargetMode="External" Id="Rd6e3f273acfb4558" /><Relationship Type="http://schemas.openxmlformats.org/officeDocument/2006/relationships/notesSlide" Target="/ppt/notesSlides/notesSlide11.xml" Id="Ra592be615b7448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f0a82eb0d4bb7" /><Relationship Type="http://schemas.openxmlformats.org/officeDocument/2006/relationships/notesSlide" Target="/ppt/notesSlides/notesSlide12.xml" Id="R1ce526e4133e4a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c4d878684450a" /><Relationship Type="http://schemas.openxmlformats.org/officeDocument/2006/relationships/image" Target="/ppt/media/image8.png" Id="Rf8fcdaf4b8df4b6c" /><Relationship Type="http://schemas.openxmlformats.org/officeDocument/2006/relationships/hyperlink" Target="ATLAS_Demo_Videos/02-take-home-pay.mp4" TargetMode="External" Id="R36ebb1e94958446f" /><Relationship Type="http://schemas.openxmlformats.org/officeDocument/2006/relationships/notesSlide" Target="/ppt/notesSlides/notesSlide13.xml" Id="R03cb04ce0c3549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325d6df1547db" /><Relationship Type="http://schemas.openxmlformats.org/officeDocument/2006/relationships/image" Target="/ppt/media/image8.png" Id="R47450ecfad2040d7" /><Relationship Type="http://schemas.openxmlformats.org/officeDocument/2006/relationships/notesSlide" Target="/ppt/notesSlides/notesSlide14.xml" Id="R124b55768fde45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90fd04d9d4b65" /><Relationship Type="http://schemas.openxmlformats.org/officeDocument/2006/relationships/image" Target="/ppt/media/image9.png" Id="R8f7ce535f6f6427c" /><Relationship Type="http://schemas.openxmlformats.org/officeDocument/2006/relationships/notesSlide" Target="/ppt/notesSlides/notesSlide15.xml" Id="Rdc4e31f01e514e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ed2a920f94e23" /><Relationship Type="http://schemas.openxmlformats.org/officeDocument/2006/relationships/image" Target="/ppt/media/image10.png" Id="Recce8bd227aa4641" /><Relationship Type="http://schemas.openxmlformats.org/officeDocument/2006/relationships/notesSlide" Target="/ppt/notesSlides/notesSlide16.xml" Id="R47a82f7802e144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3cdd466714098" /><Relationship Type="http://schemas.openxmlformats.org/officeDocument/2006/relationships/image" Target="/ppt/media/image11.png" Id="Rbe273de6cf6b4bca" /><Relationship Type="http://schemas.openxmlformats.org/officeDocument/2006/relationships/image" Target="/ppt/media/image12.png" Id="R4e12fa468ce34748" /><Relationship Type="http://schemas.openxmlformats.org/officeDocument/2006/relationships/notesSlide" Target="/ppt/notesSlides/notesSlide17.xml" Id="R789bb395d60b4f9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c8724654b4f92" /><Relationship Type="http://schemas.openxmlformats.org/officeDocument/2006/relationships/image" Target="/ppt/media/image13.png" Id="R4dc39ec7ee5046dd" /><Relationship Type="http://schemas.openxmlformats.org/officeDocument/2006/relationships/notesSlide" Target="/ppt/notesSlides/notesSlide18.xml" Id="R90a43e36a03d4d3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cb7eebf1d4d68" /><Relationship Type="http://schemas.openxmlformats.org/officeDocument/2006/relationships/image" Target="/ppt/media/image14.png" Id="R4a8078376af64727" /><Relationship Type="http://schemas.openxmlformats.org/officeDocument/2006/relationships/notesSlide" Target="/ppt/notesSlides/notesSlide19.xml" Id="R959d95b204fd44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dac739ad72493a" /><Relationship Type="http://schemas.openxmlformats.org/officeDocument/2006/relationships/image" Target="/ppt/media/image15.png" Id="R5139e85d12e54d7d" /><Relationship Type="http://schemas.openxmlformats.org/officeDocument/2006/relationships/notesSlide" Target="/ppt/notesSlides/notesSlide20.xml" Id="Ra18aa530be994d6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c00037bddc4811" /><Relationship Type="http://schemas.openxmlformats.org/officeDocument/2006/relationships/image" Target="/ppt/media/image16.png" Id="R98e89666ec204941" /><Relationship Type="http://schemas.openxmlformats.org/officeDocument/2006/relationships/notesSlide" Target="/ppt/notesSlides/notesSlide21.xml" Id="R86491676826349a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610572ba7d4b19" /><Relationship Type="http://schemas.openxmlformats.org/officeDocument/2006/relationships/image" Target="/ppt/media/image17.png" Id="R354bc0c456904cd0" /><Relationship Type="http://schemas.openxmlformats.org/officeDocument/2006/relationships/notesSlide" Target="/ppt/notesSlides/notesSlide22.xml" Id="Rceb05b6ec7144c6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4430e7c5a84270" /><Relationship Type="http://schemas.openxmlformats.org/officeDocument/2006/relationships/image" Target="/ppt/media/image18.png" Id="R28ca79ed37c041ed" /><Relationship Type="http://schemas.openxmlformats.org/officeDocument/2006/relationships/notesSlide" Target="/ppt/notesSlides/notesSlide23.xml" Id="R03abe72d154d408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94ff6be584582" /><Relationship Type="http://schemas.openxmlformats.org/officeDocument/2006/relationships/notesSlide" Target="/ppt/notesSlides/notesSlide24.xml" Id="Rc9e7d87b2553453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3b6e614e646b6" /><Relationship Type="http://schemas.openxmlformats.org/officeDocument/2006/relationships/image" Target="/ppt/media/image19.png" Id="R24a70bf5546e44d1" /><Relationship Type="http://schemas.openxmlformats.org/officeDocument/2006/relationships/hyperlink" Target="ATLAS_Demo_Videos/03-retirement-pay.mp4" TargetMode="External" Id="R4216364908744b75" /><Relationship Type="http://schemas.openxmlformats.org/officeDocument/2006/relationships/notesSlide" Target="/ppt/notesSlides/notesSlide25.xml" Id="Rf565e25c61964d9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77c87d74e4d81" /><Relationship Type="http://schemas.openxmlformats.org/officeDocument/2006/relationships/image" Target="/ppt/media/image19.png" Id="R124ad4b7a7184f22" /><Relationship Type="http://schemas.openxmlformats.org/officeDocument/2006/relationships/notesSlide" Target="/ppt/notesSlides/notesSlide26.xml" Id="R985609b4ce8b406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7eb85d46e4f7c" /><Relationship Type="http://schemas.openxmlformats.org/officeDocument/2006/relationships/image" Target="/ppt/media/image20.png" Id="Rc4e016254edc40e8" /><Relationship Type="http://schemas.openxmlformats.org/officeDocument/2006/relationships/notesSlide" Target="/ppt/notesSlides/notesSlide27.xml" Id="R8ccc7a87388e4c0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b6018a830f4480" /><Relationship Type="http://schemas.openxmlformats.org/officeDocument/2006/relationships/image" Target="/ppt/media/image21.png" Id="Re1b4d43d22a94867" /><Relationship Type="http://schemas.openxmlformats.org/officeDocument/2006/relationships/notesSlide" Target="/ppt/notesSlides/notesSlide28.xml" Id="Rc3e33dee59014c5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739d1bfd124042" /><Relationship Type="http://schemas.openxmlformats.org/officeDocument/2006/relationships/image" Target="/ppt/media/image22.png" Id="Re202e97088f14b36" /><Relationship Type="http://schemas.openxmlformats.org/officeDocument/2006/relationships/notesSlide" Target="/ppt/notesSlides/notesSlide29.xml" Id="R7c59cba8794c4af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d309d4fd904f70" /><Relationship Type="http://schemas.openxmlformats.org/officeDocument/2006/relationships/image" Target="/ppt/media/image23.png" Id="R34c05794825f44bd" /><Relationship Type="http://schemas.openxmlformats.org/officeDocument/2006/relationships/notesSlide" Target="/ppt/notesSlides/notesSlide30.xml" Id="Rc0b9b8965932413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3b5729b2994887" /><Relationship Type="http://schemas.openxmlformats.org/officeDocument/2006/relationships/image" Target="/ppt/media/image24.png" Id="Rea6bf8784f1e40b4" /><Relationship Type="http://schemas.openxmlformats.org/officeDocument/2006/relationships/notesSlide" Target="/ppt/notesSlides/notesSlide31.xml" Id="Racc54a2029894d9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1fc0707d04588" /><Relationship Type="http://schemas.openxmlformats.org/officeDocument/2006/relationships/notesSlide" Target="/ppt/notesSlides/notesSlide32.xml" Id="R3de0f9b2ef5e452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4b5bcc1a94a80" /><Relationship Type="http://schemas.openxmlformats.org/officeDocument/2006/relationships/image" Target="/ppt/media/image25.png" Id="R35282913c3474cbb" /><Relationship Type="http://schemas.openxmlformats.org/officeDocument/2006/relationships/hyperlink" Target="ATLAS_Demo_Videos/04-final-pay.mp4" TargetMode="External" Id="R1778a0bfda484b1e" /><Relationship Type="http://schemas.openxmlformats.org/officeDocument/2006/relationships/notesSlide" Target="/ppt/notesSlides/notesSlide33.xml" Id="R2a320318299b4ea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2f6133d0f4e0c" /><Relationship Type="http://schemas.openxmlformats.org/officeDocument/2006/relationships/image" Target="/ppt/media/image25.png" Id="Ree464bb4a2d949c8" /><Relationship Type="http://schemas.openxmlformats.org/officeDocument/2006/relationships/notesSlide" Target="/ppt/notesSlides/notesSlide34.xml" Id="Rc1ad27f763e84eb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8bd3aab634c0f" /><Relationship Type="http://schemas.openxmlformats.org/officeDocument/2006/relationships/image" Target="/ppt/media/image26.png" Id="R3a0fa1c2a93a4c05" /><Relationship Type="http://schemas.openxmlformats.org/officeDocument/2006/relationships/notesSlide" Target="/ppt/notesSlides/notesSlide35.xml" Id="Rea167a412e2544b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fba613725e4764" /><Relationship Type="http://schemas.openxmlformats.org/officeDocument/2006/relationships/image" Target="/ppt/media/image27.png" Id="R490f51e044f843a5" /><Relationship Type="http://schemas.openxmlformats.org/officeDocument/2006/relationships/notesSlide" Target="/ppt/notesSlides/notesSlide36.xml" Id="Rae55ffb8711e45a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566094b18a4fd4" /><Relationship Type="http://schemas.openxmlformats.org/officeDocument/2006/relationships/image" Target="/ppt/media/image28.png" Id="Rc40cd6c85d5843c5" /><Relationship Type="http://schemas.openxmlformats.org/officeDocument/2006/relationships/notesSlide" Target="/ppt/notesSlides/notesSlide37.xml" Id="R0d4813e1a5c6446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045bca50f3417b" /><Relationship Type="http://schemas.openxmlformats.org/officeDocument/2006/relationships/image" Target="/ppt/media/image29.png" Id="R459d3c662ba64711" /><Relationship Type="http://schemas.openxmlformats.org/officeDocument/2006/relationships/notesSlide" Target="/ppt/notesSlides/notesSlide38.xml" Id="Rf295e4a0f4a94d1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729f68dff542c5" /><Relationship Type="http://schemas.openxmlformats.org/officeDocument/2006/relationships/image" Target="/ppt/media/image30.png" Id="R1ae333fd0a0e4743" /><Relationship Type="http://schemas.openxmlformats.org/officeDocument/2006/relationships/notesSlide" Target="/ppt/notesSlides/notesSlide39.xml" Id="Rfc20c76d37df4e8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dac5136cb4896" /><Relationship Type="http://schemas.openxmlformats.org/officeDocument/2006/relationships/notesSlide" Target="/ppt/notesSlides/notesSlide40.xml" Id="Rf6a62df7c6184e2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9d353e067489b" /><Relationship Type="http://schemas.openxmlformats.org/officeDocument/2006/relationships/image" Target="/ppt/media/image31.png" Id="R6a7f750fe8aa40f1" /><Relationship Type="http://schemas.openxmlformats.org/officeDocument/2006/relationships/hyperlink" Target="ATLAS_Demo_Videos/05-gross-up.mp4" TargetMode="External" Id="R9d4396a4a8b64b29" /><Relationship Type="http://schemas.openxmlformats.org/officeDocument/2006/relationships/notesSlide" Target="/ppt/notesSlides/notesSlide41.xml" Id="R3a39b837d6ee4fe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92caa7bfd49b7" /><Relationship Type="http://schemas.openxmlformats.org/officeDocument/2006/relationships/image" Target="/ppt/media/image31.png" Id="R5be71243063c4dc4" /><Relationship Type="http://schemas.openxmlformats.org/officeDocument/2006/relationships/notesSlide" Target="/ppt/notesSlides/notesSlide42.xml" Id="R5671f0b35bfa475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02df43bd140bd" /><Relationship Type="http://schemas.openxmlformats.org/officeDocument/2006/relationships/image" Target="/ppt/media/image32.png" Id="R84a38a5126f54f70" /><Relationship Type="http://schemas.openxmlformats.org/officeDocument/2006/relationships/image" Target="/ppt/media/image33.png" Id="R9f1e46e6c0cd46eb" /><Relationship Type="http://schemas.openxmlformats.org/officeDocument/2006/relationships/notesSlide" Target="/ppt/notesSlides/notesSlide43.xml" Id="R5a07ee66aa074aa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e79ba328f047df" /><Relationship Type="http://schemas.openxmlformats.org/officeDocument/2006/relationships/image" Target="/ppt/media/image34.png" Id="Rcd69e2cab2884dd5" /><Relationship Type="http://schemas.openxmlformats.org/officeDocument/2006/relationships/notesSlide" Target="/ppt/notesSlides/notesSlide44.xml" Id="R13ff008f17d945f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583dbb328c4dc5" /><Relationship Type="http://schemas.openxmlformats.org/officeDocument/2006/relationships/image" Target="/ppt/media/image35.png" Id="R2ba1b6887a13446d" /><Relationship Type="http://schemas.openxmlformats.org/officeDocument/2006/relationships/notesSlide" Target="/ppt/notesSlides/notesSlide45.xml" Id="Rec8f1edd170a454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575cc310934b90" /><Relationship Type="http://schemas.openxmlformats.org/officeDocument/2006/relationships/image" Target="/ppt/media/image36.png" Id="Rf8243d1599ba4443" /><Relationship Type="http://schemas.openxmlformats.org/officeDocument/2006/relationships/notesSlide" Target="/ppt/notesSlides/notesSlide46.xml" Id="Ra1afbb9c967546e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9e67e9cf14fb6" /><Relationship Type="http://schemas.openxmlformats.org/officeDocument/2006/relationships/notesSlide" Target="/ppt/notesSlides/notesSlide47.xml" Id="R22274b62c3f1443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c382cc4c84e15" /><Relationship Type="http://schemas.openxmlformats.org/officeDocument/2006/relationships/image" Target="/ppt/media/image37.png" Id="R9bdcc61fbacf479c" /><Relationship Type="http://schemas.openxmlformats.org/officeDocument/2006/relationships/notesSlide" Target="/ppt/notesSlides/notesSlide48.xml" Id="R32880c69c1374f4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4225aa9444ca3" /><Relationship Type="http://schemas.openxmlformats.org/officeDocument/2006/relationships/image" Target="/ppt/media/image38.png" Id="Rd7cfad6d7f674338" /><Relationship Type="http://schemas.openxmlformats.org/officeDocument/2006/relationships/notesSlide" Target="/ppt/notesSlides/notesSlide49.xml" Id="R9f8da9ad1f3a412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07d2a6c5e4f60" /><Relationship Type="http://schemas.openxmlformats.org/officeDocument/2006/relationships/image" Target="/ppt/media/image39.png" Id="R1710d9b18db544d6" /><Relationship Type="http://schemas.openxmlformats.org/officeDocument/2006/relationships/notesSlide" Target="/ppt/notesSlides/notesSlide50.xml" Id="R8bb90498f2db4e7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8e3f672f34fd5" /><Relationship Type="http://schemas.openxmlformats.org/officeDocument/2006/relationships/notesSlide" Target="/ppt/notesSlides/notesSlide51.xml" Id="Rb183f8ec8beb445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b9e3292e648aa" /><Relationship Type="http://schemas.openxmlformats.org/officeDocument/2006/relationships/notesSlide" Target="/ppt/notesSlides/notesSlide52.xml" Id="R3081ad86ec844e6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5c7d11c574533" /><Relationship Type="http://schemas.openxmlformats.org/officeDocument/2006/relationships/notesSlide" Target="/ppt/notesSlides/notesSlide53.xml" Id="R350b01034abf4e2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1f59d092841b8" /><Relationship Type="http://schemas.openxmlformats.org/officeDocument/2006/relationships/notesSlide" Target="/ppt/notesSlides/notesSlide54.xml" Id="Rfffdc0c1095547b6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7d8750ddf4e74" /><Relationship Type="http://schemas.openxmlformats.org/officeDocument/2006/relationships/notesSlide" Target="/ppt/notesSlides/notesSlide55.xml" Id="R466973bccf6d43ff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28f2e4e914b39" /><Relationship Type="http://schemas.openxmlformats.org/officeDocument/2006/relationships/notesSlide" Target="/ppt/notesSlides/notesSlide56.xml" Id="Rfe63e882c84045b6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91ad28d694c17" /><Relationship Type="http://schemas.openxmlformats.org/officeDocument/2006/relationships/notesSlide" Target="/ppt/notesSlides/notesSlide57.xml" Id="Red5a946064584327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47fd771af45b1" /><Relationship Type="http://schemas.openxmlformats.org/officeDocument/2006/relationships/notesSlide" Target="/ppt/notesSlides/notesSlide58.xml" Id="R5008a0bfbacb4e9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8bbf565a8477c" /><Relationship Type="http://schemas.openxmlformats.org/officeDocument/2006/relationships/notesSlide" Target="/ppt/notesSlides/notesSlide59.xml" Id="R1d410ce3ff3a42b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4e9e2a5c5444a" /><Relationship Type="http://schemas.openxmlformats.org/officeDocument/2006/relationships/notesSlide" Target="/ppt/notesSlides/notesSlide60.xml" Id="Rec6985c49b2f43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752D3E-2B61-4079-8DB0-7DBB2C30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3736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ATLAS PHASE 2 · PAYROLL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5085C9-63BE-4FE7-90F3-2CB61617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0"/>
            <a:ext cx="8229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Computational Basis</a:t>
            </a:r>
            <a:endParaRPr sz="5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B4BA2A9-0EC0-41C7-B94B-914EC449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63240"/>
            <a:ext cx="76809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your take-home pay, retirement, final pay and gross-up rules</a:t>
            </a:r>
            <a:endParaRPr sz="1700"/>
          </a:p>
          <a:p xmlns:a="http://schemas.openxmlformats.org/drawingml/2006/main"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work inside the application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EF5A0A-4B72-4E70-BF4E-2CB5DC72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5F3DB58-36C2-4C87-9582-919CEB0D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Take-Home Pay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52CFE69-ACAE-4F10-AFFF-63000B75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E1459D4-8DE2-4850-9E5D-24DD4A1D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Retirement Pay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27B80C4-853C-457F-8FA3-686A18AA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067D139-3573-4E82-A959-2B87C124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Pay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BDFB76E-F9BC-4742-9942-FFE13EC5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01B3F5-A013-47A9-A991-FB904DD6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Gross Up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9808443-19BF-433C-8F61-DF14A0E9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5780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8DA0C9"/>
                </a:solidFill>
                <a:latin typeface="Calibri"/>
                <a:ea typeface="Calibri"/>
                <a:cs typeface="Calibri"/>
              </a:rPr>
              <a:t>Working prototype · wireframe view · every screen in this deck is a live screenshot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871073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8A35FE-17F8-4851-8293-18B48103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AGENDA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540E30-7012-40F9-AA3A-D0F721D0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we will walk through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6877FA0-F1A7-45A4-A9EF-2F4E6CFD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7E8E6D6-7EF9-4C56-9195-1895105F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E51351-63B6-4FC9-8DF8-A55F5133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1362456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chain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D612B2-D05F-46D4-905E-AFFDA244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1362456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Your written policy becomes a governed code, then a Company Rule, then a payroll result.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B384615-F828-406A-9276-E935F109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8658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48BC2B9-5E8D-4000-B899-F8B5E69A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86584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A96F1E5-FD7A-4140-91D3-8FEA26E6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2331720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Four engines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B2E314A-7E3B-4B45-A4E7-F9C87859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2331720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Take-Home Pay, Retirement Pay, Final Pay and Gross Up — each configured, each with a live scenario.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C4D0F1D-6CAC-4DED-97FE-1D7734F7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584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86C29CF-A959-4F04-85ED-8E3A950A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584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14B9714-66DA-4FE6-A929-D7B57F2C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300984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Worked examples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5BFBF5B-114E-4CB2-9AD2-A040979C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3300984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same numbers your Annex B samples use, computed on screen.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F4B5386-E2A6-4FCB-B780-DD988838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2511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8D2BE8-7BF7-4345-A084-67C249B0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2511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37FA370-F762-42F8-8C81-B6A7BB2D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4270248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it connects to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A8C87F3-230C-4B2A-AFDA-24FE4CCB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4270248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Company Rules, reference tables, statutory tables and the employee masterfile.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0D4DCF5-5821-4AC9-8F43-170B2B8B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9437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7FFC61C-F2EB-4444-9848-1CB919BE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9437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316CEC1-6853-4DC8-8F07-A86EE60D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239512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Traceability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21E2F16-74B0-449A-A0E2-E304A347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5239512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Appendix maps every screen back to the exact workbook rows it came from.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4236223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2EDAF72-81A6-4949-9124-687C572D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IDEA IN ONE PICTURE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EBDD2B-33D3-4A42-A45F-BB0A979A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From your written policy to a payroll result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25A9731-524B-4E58-9E96-D07BFA36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5EAE502-A10F-45B8-951D-0FA0E07F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D585E04-2F04-428C-9DD9-535EBF2A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DFC7BF4-5493-487E-8615-7F6424C1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Your policy</a:t>
            </a:r>
            <a:endParaRPr sz="13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874A11B-A3EE-48DE-B288-B71AC9BB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B, written in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plain business language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EC86D0E-8093-44F2-A89B-D8571E0A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476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DB05850-B9FD-4C9A-944B-C39A2E67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800E1EB-FF41-4AF0-B648-ED875C91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69D5B34-1CDD-45AF-9050-D1BE3860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39EC80-3FA3-4935-AF49-C0BAF457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Governed code</a:t>
            </a:r>
            <a:endParaRPr sz="13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D111C3B-0047-4687-8D64-64C56544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reusable policy-engine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code, e.g. THP-001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0BBC278-05EA-485A-AE01-A42F6AA8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340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2BD5838-1AB6-4D13-B82C-FFA027DE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859F5F7-458C-4AE8-8E01-E75A0300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F509CF0-2171-4B36-9A72-9F4DC1F1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60CB2E-D5F4-4B0C-83E4-E5B6057D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Rule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AEC4014-1047-41D6-AD39-A2B40384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Assigned to an employee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group with its own values</a:t>
            </a:r>
            <a:endParaRPr sz="10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0DCFA22-5801-464B-AB2A-755A851B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FBCA251-A92F-44B9-B42F-8088D8A8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D4D8EB5-64BE-47BD-A26F-FB6412C9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169E35B-549D-448F-A923-036A51AA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E156EFB-B035-495D-85E7-692E44D4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Policy engine</a:t>
            </a:r>
            <a:endParaRPr sz="13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072B61B-9356-4146-B5D9-DE9B97FD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Computes and shows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its full working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CE1E766-95E1-4F6D-A824-D8AB8341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8068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410BD81-5F82-425C-B29A-060F667B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F0F63B8-95D7-4DAC-9E19-7D021103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9DE5223-C494-44B5-AEC9-EFF1CFEC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D5CEC5D-291D-4BA5-A507-7DE2DDA0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Payroll result</a:t>
            </a:r>
            <a:endParaRPr sz="13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C86E85AC-0829-48C9-8A06-EFF862CD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Deductions, deferrals,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ledger and payslip tags</a:t>
            </a:r>
            <a:endParaRPr sz="10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2A926A0-D8F7-4627-8F5E-9D42C06F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110276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same code can be reused by many rules. The values change per rule; the approved formula never does.</a:t>
            </a:r>
            <a:endParaRPr sz="13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0A6E1DB7-36EA-40CF-81E0-81A7EB32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92040"/>
            <a:ext cx="859536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536CE15-CFBE-4356-AC89-1FC54E48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92040"/>
            <a:ext cx="8321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“Rules Set Up — Client-defined Rules”; Annex B Take Home Pay rows 113–156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191163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76680B-B2AC-448C-90DF-BA5DFEBA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ORIENTATION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7D633D-CF86-46FE-8767-9BFACE89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Where Computational Basis sits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c8be2bd3949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3794764-93B4-4323-9D83-E3912073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Computational Basis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167AA20-2713-4370-9135-9F68CC3A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controlled library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ED7E1B1-A3C0-4D9F-B982-34D1DE17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Standard formulas, the client assignments that use them, the four policy engines, and the reference sources they read.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7A186F1-930E-4788-AE39-464DC83C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Nothing is hand-typed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FF8D220-ED3A-4B90-9C37-9C12B0D1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Rates, brackets and ceilings live in versioned tables — not inside a formula.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E6C9D78-49D8-4AC6-AD81-FA0F299C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Reached from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0D09560-DABD-4F24-B640-060B4C30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Company Configuration → Services Information → Computational Basis.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CBA489-7D17-4002-8A03-E1373C8B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0F1884D-20F0-4D2B-8DD6-481D5D43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Computational Basis Module (feature points 73–82)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812348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06F8A7-F471-41FE-95D6-D8BBEE14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SCOPE OF TODAY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42D6F8B-51D5-442E-99EE-3217F7A4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four policy engines</a:t>
            </a:r>
            <a:endParaRPr sz="3000"/>
          </a:p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d9d72340744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5608" y="1280160"/>
            <a:ext cx="9290304" cy="566928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FA03073-DE7A-4AC3-A32B-2F5B4103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8BD5AD1-6093-4BDA-9633-CB4B24B0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BEB95D3-5626-4989-B4A2-6B883B5E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A349BC9-D0A6-468B-8C27-E9302D76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Take-Home Pay</a:t>
            </a:r>
            <a:endParaRPr sz="1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1CEE106-7749-4B3B-B17E-59CC11A2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THP-001 · THP-002</a:t>
            </a:r>
            <a:endParaRPr sz="1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8DB679A-59A7-4C82-807A-533662DB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Protects a minimum net pay and caps controllable deductions, deferring the rest in a set order.</a:t>
            </a:r>
            <a:endParaRPr sz="1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AAADA41-AE0A-4E41-A7B4-BCE497A6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A10D8D2-F8EC-4833-9182-74037A39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FA5A5A4-14CD-4442-AC28-35A17C0E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6477486-38B1-4536-BF1A-219AE466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Retirement Pay</a:t>
            </a:r>
            <a:endParaRPr sz="14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7D68FE0-F70D-4876-93D6-91D5DCC2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RET-001 · RET-002</a:t>
            </a:r>
            <a:endParaRPr sz="1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74AA969-DDBC-4F8E-974D-993789B6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Applies the statutory 22.5-day formula, compares it with the company plan, and takes the better one.</a:t>
            </a:r>
            <a:endParaRPr sz="1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F0D93FA-EEC2-464A-9F64-E10F850E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AE410E86-EB26-41AE-9839-A5711570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41CEA4E-935B-4E2D-BB0C-E37E792F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14DFE4F-3353-4A4A-B5A8-29386736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Final Pay</a:t>
            </a:r>
            <a:endParaRPr sz="14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66637B-F7A6-40DB-813A-5926F3C9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FIN-001</a:t>
            </a:r>
            <a:endParaRPr sz="10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EB0CC2-2907-4981-8B1D-CAC89620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Adds every enabled component, offsets authorised balances, and returns a net final pay breakdown.</a:t>
            </a:r>
            <a:endParaRPr sz="11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11F0E57F-6132-4178-A8EB-8CF0C660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2E2C36B0-1EED-444B-B2D0-7453253B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D45AB12-27DB-4F18-9E70-160DBCE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B572DFF-AE63-472D-A26B-1A509432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Gross Up</a:t>
            </a:r>
            <a:endParaRPr sz="14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93AB2DD3-4EEE-4B9A-B61B-59ED0D28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GUP-001</a:t>
            </a:r>
            <a:endParaRPr sz="1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8770C28-3CDB-4DC1-BF9C-0F47ACB2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Solves the gross needed to guarantee a net amount, using the effective BIR withholding table.</a:t>
            </a:r>
            <a:endParaRPr sz="11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7EEE4FBA-1263-4F87-A183-61BFBEC9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23560"/>
            <a:ext cx="877824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9BEE8EA-2A8D-4487-AB75-5A8D9CCB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623560"/>
            <a:ext cx="8503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sheets: Take Home Pay · Retirement Pay · Final Pay · Gross Up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591157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56648D-B0CA-4219-919A-1BC4064C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CONNECTION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CA67D9C-4F9F-4DD5-BBB2-47CC35A6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Company Rules is where a policy is applied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310cc8b784e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79E5F71-2B29-4ECC-8FEE-7F20E66F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Rules register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E5EA75A-8B90-4600-AA27-D1CE3CD0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register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F645A4E-1647-4458-9407-4C3DA02E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Every rule for the company, whichever engine computes it.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FE68D31-E860-4DB1-9B21-4E648C3D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Engine-owned rows are locked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63A8A16-E089-4144-8284-58B56349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rule backed by a policy engine can only be changed in that engine — so the register can never disagree with the calculation.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9592BD2-C0D0-4CDB-AE7D-38404371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 New Rule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46F2A92-F424-4748-8A50-2329BE0D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Three steps: who it applies to, which governed code, then the values.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3355BF9-F783-40B5-8D0E-A4C8CE6F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B24FE2D-80AE-456E-9C99-08994833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feature point 60, “Rules Set Up — Client-defined Rules”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998937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1EAD3C-FE0A-4AF4-ACE7-8E9CACCD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APPLYING A RULE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9C2791D-7EAB-4E26-8817-DDA44350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1 — who and what it applies to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ad189113c41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8546" y="1325880"/>
            <a:ext cx="5977563" cy="47548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CA43A5C-CA7A-4120-8AD8-472CAF65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463040"/>
            <a:ext cx="4306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rule in your own words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3D34B7E-0499-42A6-B587-544AB63D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810512"/>
            <a:ext cx="430682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“Employees must receive at least 30% of their total gross pay less reimbursements / receivables.”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ADCA76-D160-4759-B0CB-72E1BB05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880360"/>
            <a:ext cx="430682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Employee group basis is chosen first, so the same policy can differ by group — exactly as your samples are written “(employee group assignment)”.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51DA031-94BE-4BF9-87F7-FEC3AE01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114800"/>
            <a:ext cx="43068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89FCDDA-6C7F-47CA-9BC7-00AA2696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4114800"/>
            <a:ext cx="4032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21–27 (policy 3)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31704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B317489-1D71-4442-9441-B2A32E09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APPLYING A RULE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C0EDE6-F6E9-4828-A847-0DE5BCB6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2 — pick the governed computation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bb3ab886742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499408"/>
            <a:ext cx="6400800" cy="4407824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3EE0FC1-D54A-4D8C-B478-02043A3D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463040"/>
            <a:ext cx="4306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Only approved codes appear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8E4471-9D9E-42A1-9E3B-E6344EB1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810512"/>
            <a:ext cx="430682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list is filtered to codes mapped to the chosen sub-category. A user cannot invent a formula here — they can only start a variant from an approved template.</a:t>
            </a:r>
            <a:endParaRPr sz="12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D1D3E3F-BBFD-4CC5-BFBA-D11BBF49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3154680"/>
            <a:ext cx="430682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THP-001  Minimum Take-Home Pay</a:t>
            </a:r>
            <a:endParaRPr sz="120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THP-002  Maximum Controllable Deductions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8426444-261F-4D28-B5E4-2548456D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206240"/>
            <a:ext cx="43068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35A9156-E238-4406-915C-AE168ECC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4206240"/>
            <a:ext cx="4032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4–5 (policy 1) and 45–51 (loan cap)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429370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E1F97C-E532-4249-8E22-1554C002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APPLYING A RULE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D77718-D9F2-4087-8AB2-E5BE54D8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3 — set the values for this rule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a09618f9e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128" y="1325880"/>
            <a:ext cx="4754880" cy="47548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33CB18E-63C0-4D15-9D74-CF1395AA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463040"/>
            <a:ext cx="50383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Values vary, the schema does not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B334274-1D26-4B16-89C6-B502C2D3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810512"/>
            <a:ext cx="5038344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parameter list comes from the approved code. This rule sets its own base, threshold type and threshold — another rule on the same code can set different ones.</a:t>
            </a:r>
            <a:endParaRPr sz="12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8E6DE7A-74C9-4E59-9206-F76FBF37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291840"/>
            <a:ext cx="503834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This is what makes one policy library serve many companies and many employee groups without copying formulas.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61AC3D8-47A5-4542-94F0-3169F39A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00"/>
            <a:ext cx="50383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9C8970A-589D-480E-BE0D-0A84606E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572000"/>
            <a:ext cx="47640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113–124, “Possible Company Set Up” 1–5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934237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3D32179-C317-46BD-ACA6-D8E7A020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LIBRARY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3A0BF4B-6A9E-4E20-B1E3-07A28ACD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Every sub-category has a governed code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56b118f734b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430820"/>
            <a:ext cx="7680960" cy="436212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BC251EE-6AC2-485F-9CF7-9D261F6D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879592"/>
            <a:ext cx="7680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Policy engine code library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E74B8C7-3A63-4FBD-A32A-06F13EB2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716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Coverage is measured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60443EC-8493-4947-B8FB-E4EED5F1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093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header shows how many Company Rules sub-categories already have an approved template behind them.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6082D58-7FA9-47B6-A5FC-3A55A086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2860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Standard vs variant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3F2FA03-6F0B-4B2E-9BB2-AD794863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5237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Standard codes are locked. A client variant starts from a standard code and only its values differ.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48A6E73-0AF0-4923-BF3D-F1DBDA7C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2004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Open engine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999FC1E-A19A-498A-98AC-750803A8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381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Jumps straight to the engine that computes that code.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85A28C-F8A5-48E8-876C-236CAF4A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053328"/>
            <a:ext cx="29352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0172494-CCEB-4DB4-8800-BE7B5C95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6053328"/>
            <a:ext cx="26609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feature points 19–20, Computational Basis set-up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891211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1EAD3C-FE0A-4AF4-ACE7-8E9CACCD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RULES · DEMO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9C2791D-7EAB-4E26-8817-DDA44350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From business rule to governed computation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b1071c039468b"/>
          <a:stretch xmlns:a="http://schemas.openxmlformats.org/drawingml/2006/main"/>
        </p:blipFill>
        <p:spPr>
          <a:xfrm xmlns:a="http://schemas.openxmlformats.org/drawingml/2006/main">
            <a:off x="778546" y="1325880"/>
            <a:ext cx="5977563" cy="47548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CA43A5C-CA7A-4120-8AD8-472CAF65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463040"/>
            <a:ext cx="4306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Watch the three-step flow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3D34B7E-0499-42A6-B587-544AB63D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810512"/>
            <a:ext cx="430682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1 · Define the employee scope, category and plain-language rule.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ADCA76-D160-4759-B0CB-72E1BB05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880360"/>
            <a:ext cx="430682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2 · Select an approved policy-engine code.
3 · Review its parameters and linkage before applying.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51DA031-94BE-4BF9-87F7-FEC3AE01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114800"/>
            <a:ext cx="43068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89FCDDA-6C7F-47CA-9BC7-00AA2696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4114800"/>
            <a:ext cx="4032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6e3f273acfb4558"/>
              </a:rPr>
              <a:t>▶ PLAY 14-SECOND VIDEO · HD MP4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31704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194283F-2B51-44E4-BA01-82D32735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1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50F1025-7469-46A0-BC51-9B7A9437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Take-Home Pay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7C88F9E-A152-4667-973C-2A4A13EE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Protect a minimum net pay, cap what can be deducted, and defer the rest in a defined order.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8F98D51-9C96-4258-945D-50123631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B7C8F8-1D20-4E76-842B-9C89D601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D27A414-AA17-4DDA-AC6A-4BD9417F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Protected minimum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6CD7D7C-943D-4850-8BE5-083B5F33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CB8CC3A-4EC8-435F-BDBA-A949FA1E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FBC9265-074E-4BEC-8088-E397030E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Deduction and loan caps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09DD3B0-8BE5-4FDB-A25A-5560DD5C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E92A6BF-BDE8-4DF5-BAB3-C1FA7D44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FABD1A4-E35E-4B12-8B84-D0BA1364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Adjustment hierarchy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B43089E-CA49-42FA-8D5A-3FB3E9DB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29F24B0-B844-40A4-A085-E5DD89EA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4E6095F-22A5-447E-8AD9-D03BB788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Defer and carry forward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7243383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DC092D-5A8B-45F6-B7C2-21D964A3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DEMO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85A7ECD-F4FE-47C8-8974-D37B2F46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Configure protection, caps and deferral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cdaf4b8df4b6c"/>
          <a:stretch xmlns:a="http://schemas.openxmlformats.org/drawingml/2006/main"/>
        </p:blipFill>
        <p:spPr>
          <a:xfrm xmlns:a="http://schemas.openxmlformats.org/drawingml/2006/main">
            <a:off x="819199" y="1463040"/>
            <a:ext cx="6262019" cy="310896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EAAEB6D-B7EA-47BE-B894-BB86FB7C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What to watch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EA72A37-12D5-4370-B072-45C26FDC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1 · Choose code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DEC9B6E-550A-4701-BC04-BE42F34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Open THP-001 from the governed library.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63CD57E-13E8-4855-BE1B-DD53DC74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2 · Configure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314DE39-FC98-431F-A01A-CD518A02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Set the protected base, minimum threshold and deduction / loan caps.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60B7848-FAED-455F-9DCB-4E2EF807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3 · Validate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B1CE536-2340-4696-BC37-A159C702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Use the simulator and deduction ledger before saving.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551E8D9-1ECE-45DF-8D26-6BCD5077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CB7CEDD-DC5F-4EFD-B1C1-1B254BDA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6ebb1e94958446f"/>
              </a:rPr>
              <a:t>▶ PLAY 7-SECOND VIDEO · HD MP4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3319797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DC092D-5A8B-45F6-B7C2-21D964A3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85A7ECD-F4FE-47C8-8974-D37B2F46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protected minimum, configured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50ecfad2040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99" y="1463040"/>
            <a:ext cx="6262019" cy="310896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EAAEB6D-B7EA-47BE-B894-BB86FB7C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EA72A37-12D5-4370-B072-45C26FDC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DEC9B6E-550A-4701-BC04-BE42F34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 · Gross Pay · Gross Pay less reimbursements — the three bases your samples describe.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63CD57E-13E8-4855-BE1B-DD53DC74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314DE39-FC98-431F-A01A-CD518A02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60B7848-FAED-455F-9DCB-4E2EF807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B1CE536-2340-4696-BC37-A159C702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30% of ₱34,500 = a protected minimum of ₱10,350 for this scenario.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551E8D9-1ECE-45DF-8D26-6BCD5077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CB7CEDD-DC5F-4EFD-B1C1-1B254BDA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3319797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2DBCE54-5F62-4BF7-8DCB-86F6F2F5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FC0386F-75EE-474F-999E-8F587DDC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Caps on deductions, loans and attendance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ce535f6f642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709" y="1371600"/>
            <a:ext cx="4264197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6709A3C-D40C-4903-9A72-4147C333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Cap configuration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E9D7538-006E-4FE6-BDC6-CA70E24D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371600"/>
            <a:ext cx="5678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Loan cap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4495116-4E53-4A2E-8B6A-121C7720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609344"/>
            <a:ext cx="56784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“Total loan repayments may not exceed 25% of gross salary” — or a fixed amount such as ₱10,000.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4C49DDB-395E-45AA-973E-B2687F27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286000"/>
            <a:ext cx="5678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LAABS cap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CA3303C-F422-4AE8-9B9A-BE424DC8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523744"/>
            <a:ext cx="56784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Lates, absences and undertime capped by percentage, peso amount, or a number of days.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B40F525-15B7-45A5-82EC-D901254C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3200400"/>
            <a:ext cx="5678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Conflict priority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59F5819-349E-46D4-B038-5D974CE0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3438144"/>
            <a:ext cx="56784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When loans are already at their cap but net pay is still short, the company decides which rule wins.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2853F39-BEAE-41D6-A3B5-0EB7A0B3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6053328"/>
            <a:ext cx="56784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2DE2BB4-E7DB-4721-874D-46DE54FA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6053328"/>
            <a:ext cx="54041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45–84 (caps) and 106–109 (conflict priority)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1989660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8E1328-BB66-4879-B032-F82956A8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2F4B72-D109-4A87-8205-9C6708C0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adjustment hierarchy, exactly as you ranked it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e8bd227aa46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6162" y="1371600"/>
            <a:ext cx="2393453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912710A-205F-4B72-A21C-8126DF03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Deduction and loan hierarchy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6CA3EA-06B5-4FF5-8D76-D55B851B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371600"/>
            <a:ext cx="6684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Ranked, not guessed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BABF07D-0159-4270-B856-C970983A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609344"/>
            <a:ext cx="66842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Statutory deductions are rank 0 and always applied in full. Everything else is adjusted in your stated order.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6F4069C-936B-4E10-B890-0D08406F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286000"/>
            <a:ext cx="6684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Partial adjustment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D7C3509-B616-4048-AD13-70922EB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523744"/>
            <a:ext cx="66842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engine only trims as much as it needs. If adjusting rank 1 is enough to meet the minimum, it stops there.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5B5CE96-EDE4-4EBA-A0DD-83828B02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3200400"/>
            <a:ext cx="6684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Maintained as a reference table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24E909A-A185-4EEF-BC32-8AE1BC5B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3438144"/>
            <a:ext cx="66842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order is data, so it can change without touching the calculation.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410EAD9-452E-41F2-88D4-FC752FD1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6053328"/>
            <a:ext cx="668426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6EFC5A2-8D0D-4DDD-86B9-B2C88386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6053328"/>
            <a:ext cx="64099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85–103, hierarchy table and note at row 87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7222487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44CF69-808F-484F-88B2-1F642D69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ABF05D1-E8F1-4725-B98A-D576FA2F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One payroll period, computed on screen</a:t>
            </a:r>
            <a:endParaRPr sz="30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73de6cf6b4b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3308" y="1325880"/>
            <a:ext cx="3659160" cy="42062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2fa468ce347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00600" y="1360230"/>
            <a:ext cx="4206240" cy="294881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D4FF67E7-0DC3-471A-99CB-315ED075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371600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pay</a:t>
            </a:r>
            <a:endParaRPr sz="10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E5A9083-6ED5-490F-A0F3-78435953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591056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₱36,500</a:t>
            </a:r>
            <a:endParaRPr sz="17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DB767FC-9B7C-4289-B75F-83454CEC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130552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Less reimbursements</a:t>
            </a:r>
            <a:endParaRPr sz="10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D0CC97C-7575-430A-AA6C-F08555DA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350008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₱2,000</a:t>
            </a:r>
            <a:endParaRPr sz="17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8C930FA-8D20-4C2F-9640-060082EF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889504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Protected base</a:t>
            </a:r>
            <a:endParaRPr sz="10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5EFD675-6D38-448F-8214-481553B9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108960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₱34,500</a:t>
            </a:r>
            <a:endParaRPr sz="17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08DCE7B-1232-4F53-B6EC-F1CE86C9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648456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Protected minimum (30%)</a:t>
            </a:r>
            <a:endParaRPr sz="1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A729A9B9-E03C-4A87-A42B-E7C921F7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867912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₱10,350</a:t>
            </a:r>
            <a:endParaRPr sz="17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52002D-D6F6-449F-BF17-0A7BCCE2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407408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take-home</a:t>
            </a:r>
            <a:endParaRPr sz="10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F14611E-ADC6-4380-B360-1AC59244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626864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₱15,500</a:t>
            </a:r>
            <a:endParaRPr sz="17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53043ED-C188-4FD3-8D75-004BF9B6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5166360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Deferred this cutoff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62B01D9-890B-4C64-A776-CB91F302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5385816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₱750</a:t>
            </a:r>
            <a:endParaRPr sz="17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AE400921-99E3-4EC5-89DD-BDC2837B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2628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Statutory stayed whole at ₱6,500. Only the ranked items moved.</a:t>
            </a:r>
            <a:endParaRPr sz="115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5CBD8E58-93E9-4BF7-BB19-F6E1DE21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20640"/>
            <a:ext cx="420624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00E1EB3D-5737-4FC0-BA28-03152A3F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904" y="5120640"/>
            <a:ext cx="3931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8–11 (statutory in full, defer, carry over, notify)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4149855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E06C783-BDF9-4578-B8B8-28E9AE4F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9B688ED-B2B1-4902-A125-EC1D0AF5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Deferred amounts are tracked, not lost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39ec7ee5046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6471" y="1371600"/>
            <a:ext cx="6424595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39336DA-5A49-44E7-9400-CF3C2770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6583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Carry-forward and payslip tagging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A4276D-D2E6-4A6C-AC71-486E93AE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137160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Carried forward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DE42136-B93E-4100-93E7-44F8F74A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1609344"/>
            <a:ext cx="40325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Outstanding amount, rescheduled deduction date and the new balance — the three fields you asked for.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8D7D897-ECB3-4412-A948-8F045828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28600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Payslip tag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1126A59-0A4D-45E3-9F37-BE32CA85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523744"/>
            <a:ext cx="40325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Name, originally due, deducted, deferred, accumulated, remaining balance and the reason.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01126DC-44CC-456E-84E3-E289E118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320040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Why it matters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2DFA0FB-9737-4AD2-AC46-BBD6B5DB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3438144"/>
            <a:ext cx="40325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employee can trace a repayment across several cutoffs, and loan balances stay correct.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099C7CA-9911-4D7C-9BA9-148F08AC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6053328"/>
            <a:ext cx="403250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72B217F-0E36-4589-966B-4778AED3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6053328"/>
            <a:ext cx="37581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138–155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7961346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31E9ABD-81F5-4DA4-B907-FE49B8FB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GOVERNANCE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246A7FD-E7AB-4212-B720-C4BD5BFD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Two codes, one company policy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078376af647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090" y="1371600"/>
            <a:ext cx="4844955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08597C-6B5D-4E74-8368-BCF1EDE3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5669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Opened from THP-002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F9942D6-18BB-45B4-A006-051122B9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371600"/>
            <a:ext cx="49469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THP-001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4025F2A-BBAD-499D-9509-99DF088A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609344"/>
            <a:ext cx="4946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Governs the protected minimum: base, threshold and deferral behaviour.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01AE2EB-A386-4F42-93BA-9EC6BA10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286000"/>
            <a:ext cx="49469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THP-002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0CDB9B5-B582-4021-A736-D1AB4EC5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523744"/>
            <a:ext cx="4946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Governs the caps: deductions, loans, attendance and conflict priority.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721F423-A72B-48D2-A8D3-18425DA8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200400"/>
            <a:ext cx="49469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policy underneath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4CC870B-FE2F-4A1C-838C-3DACC736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438144"/>
            <a:ext cx="4946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company keeps one take-home policy. The two codes let you assign its parts to different rules without duplicating it.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239FE09-00B4-4A91-A417-774E675B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6053328"/>
            <a:ext cx="494690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DA8B8BE-F37A-44FB-8785-C0972AEB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6053328"/>
            <a:ext cx="46725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113–130, set-up items 1–6b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3745556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AF8350-3824-4645-8FC9-FF78DEA6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FIELD GUIDE 1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6F7F1F8-D3E7-4114-A245-A57192E9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Protected minimum fields</a:t>
            </a:r>
            <a:endParaRPr sz="3000"/>
          </a:p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9e85d12e54d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753237"/>
            <a:ext cx="5806440" cy="2128765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9C6B6C4-5FDF-4D5E-B88B-9C0765D4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5533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A85F5D8-D271-4AF6-AB48-156AD921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5533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C14C7AC-004B-4AAF-A3EE-9DBC3817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802282"/>
            <a:ext cx="0" cy="10332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125E9B2-03E6-451B-97DC-EE4E70F8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802282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0CBA447-07B4-4DF9-9A31-33F037E2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196306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E712F4E-7375-4FB2-8277-59677657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809951"/>
            <a:ext cx="0" cy="386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C5B3AAF-FEBF-4209-877A-40E55B43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809951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522CC7F-E6A7-4253-828D-A849EAA2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5533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EA5162B-5AC8-4DA6-A624-5337C416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5533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F5AFEA6-9A0F-4783-B25A-8F309E20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2835533"/>
            <a:ext cx="0" cy="9820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F27D88D-B95D-49B5-B49A-35CA428C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817620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9D699BF-3D26-46AE-9BE4-71914ABB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858362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F5FDFA6-EC17-41AE-B20D-24139EF7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3858362"/>
            <a:ext cx="0" cy="9669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0ADDA86-8FBF-4434-BCE4-50A8EFE4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82528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952D90BA-5FB4-4B8E-935E-3C8DCCFB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520418"/>
            <a:ext cx="4409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C2A4984-A579-4A1C-BCED-C2FDB04F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346" y="4520418"/>
            <a:ext cx="0" cy="13125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B4411E5-4117-4E83-8BF5-DC4655DD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346" y="5832958"/>
            <a:ext cx="28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D08F344-59BB-43DA-81F6-FBEAA43A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06829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A1C7AAB-0E1C-48B8-A594-17C10E0C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06829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AF943568-E7D4-4F33-9359-8CFECFB2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F5169FE-4915-4794-AA3C-7837060E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37B62F6-D935-4199-A281-FBB91953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F013F1E-651F-4319-A6B0-654490F4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Employee group</a:t>
            </a:r>
            <a:endParaRPr sz="10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120234DD-3616-41DF-BDFF-190BFEA0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this rule to a defined employee population, e.g. Rank and File.</a:t>
            </a:r>
            <a:endParaRPr sz="9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F994D12-8BA4-4A2E-B082-5D6F1F49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06829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415B5F3-303B-48D0-94F6-C016C249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06829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E595FDC-D17B-489C-9F3E-04767F16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379269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6EFA9659-590C-4DCE-B00A-90999584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4889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9F841816-F727-4DA7-9881-687EB4DB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488997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2DC8BD71-6FB6-43E4-A793-4EC7EBC1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452421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Protected base</a:t>
            </a:r>
            <a:endParaRPr sz="105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28AE143F-15E7-4DC4-B9CD-A7745278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763317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The earnings amount used to calculate the minimum take-home threshold.</a:t>
            </a:r>
            <a:endParaRPr sz="9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C06EA61A-EF7C-45E8-9A57-C0CE5C60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73034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ACC4F8C5-DA29-4079-AF06-CE6977BF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73034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24896B7-70F0-4F43-B4D5-471B9FF7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386938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0342FE23-EFA3-4736-A16D-0580513B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49666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3D05A687-7A51-4894-BF10-0D10DBA4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49666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CBFB83D9-5194-4D68-A71D-FBD0389E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46009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Threshold type</a:t>
            </a:r>
            <a:endParaRPr sz="105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6FF94322-D94D-484C-B673-DD8374D4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770986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protected minimum is a percentage or a fixed peso amount.</a:t>
            </a:r>
            <a:endParaRPr sz="900"/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2239A242-DE46-4A20-AED5-222163E9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73034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61F83341-6D5B-4A6E-B95B-D598AA26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73034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4F0E6F21-E471-4C31-9455-24A069E2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394606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7523F101-ABC0-4ED8-ACF6-44BEBDF6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50433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7DD0E173-34F4-4F41-9859-5F49A771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50433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C878F934-FB57-40AD-AE40-D608AECA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46775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Threshold</a:t>
            </a:r>
            <a:endParaRPr sz="1050"/>
          </a:p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D1C4D4E1-7800-4F16-8AA9-E40DB67A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778654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The protected minimum value applied to the selected base.</a:t>
            </a:r>
            <a:endParaRPr sz="900"/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12D35CDA-71A5-464D-87EB-DDFD1971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39240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44F181F-FC94-4549-ADB2-0FD54F90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39240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850"/>
          </a:p>
        </p:txBody>
      </p:sp>
      <p:sp>
        <p:nvSpPr>
          <p:cNvPr id="52" name="Shape 49">
            <a:extLst xmlns:a="http://schemas.openxmlformats.org/drawingml/2006/main">
              <a:ext uri="{FF2B5EF4-FFF2-40B4-BE49-F238E27FC236}">
                <a16:creationId xmlns:a16="http://schemas.microsoft.com/office/drawing/2014/main" id="{2B5479A6-303D-447A-905A-42B42468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402275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547D29D3-A162-466F-8349-70B35696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512003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DAA910AA-FDFF-4C3A-9117-6FF94160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512003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800"/>
          </a:p>
        </p:txBody>
      </p:sp>
      <p:sp>
        <p:nvSpPr>
          <p:cNvPr id="55" name="Text 52">
            <a:extLst xmlns:a="http://schemas.openxmlformats.org/drawingml/2006/main">
              <a:ext uri="{FF2B5EF4-FFF2-40B4-BE49-F238E27FC236}">
                <a16:creationId xmlns:a16="http://schemas.microsoft.com/office/drawing/2014/main" id="{6FC022CB-0608-491A-8CF5-97699825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475427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Conflict priority</a:t>
            </a:r>
            <a:endParaRPr sz="1050"/>
          </a:p>
        </p:txBody>
      </p:sp>
      <p:sp>
        <p:nvSpPr>
          <p:cNvPr id="56" name="Text 53">
            <a:extLst xmlns:a="http://schemas.openxmlformats.org/drawingml/2006/main">
              <a:ext uri="{FF2B5EF4-FFF2-40B4-BE49-F238E27FC236}">
                <a16:creationId xmlns:a16="http://schemas.microsoft.com/office/drawing/2014/main" id="{B5BC1572-B343-4B20-9BA9-E660C46D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786323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What happens when loans are already at their cap but net pay is still short — protect take-home pay, or protect loan collection instead.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9041661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65A7E21-7F43-4A3D-8AB4-0F1E1D4E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FIELD GUIDE 2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F8DD20-FE31-420C-BB26-9629EB85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Deductions cap fields</a:t>
            </a:r>
            <a:endParaRPr sz="3000"/>
          </a:p>
        </p:txBody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89666ec2049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546981"/>
            <a:ext cx="5806440" cy="2541277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F52A715-47E0-46CF-89EF-9E626EAB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3203945"/>
            <a:ext cx="3194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B918128-46C2-4C17-BCEC-1234C403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757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74A304F-9024-48CF-954D-C70125F5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678A20C-8110-43F0-AE3E-77212D3C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629277"/>
            <a:ext cx="0" cy="14353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938BEDA-B5F4-4A8B-BF75-41810C09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629277"/>
            <a:ext cx="31435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626E088-0C71-4530-A52C-AF2BC7C6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629277"/>
            <a:ext cx="0" cy="55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CB9E140-F000-4A14-ACA4-FB4F199D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82574F5-3B75-4549-A88E-822020A6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064618"/>
            <a:ext cx="375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857965E-0227-4D0B-87DC-0E07510C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064618"/>
            <a:ext cx="0" cy="3827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9FF8F1C-1599-4880-ACFF-D704FB8C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A541A87-AE5F-448D-811C-B2C4D2C1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4726674"/>
            <a:ext cx="32094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496F2928-F868-46DD-82A9-55049163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726674"/>
            <a:ext cx="0" cy="980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7118D3A-D595-4141-9079-0A216097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C92FC003-11AD-4A64-A7D6-F3E1B2EA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3075929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8281DD4-8FB5-4DF2-86FC-8977621C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3075929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0A45AAF-7A0F-4C7C-BFFE-1870C9E0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D3D18D-FDC0-42AC-A630-0CBEA7CD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C8D5A84-6715-4F19-8664-2072D914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C3560BF-86F5-4B52-8216-951F9CB1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Apply a total deductions cap</a:t>
            </a:r>
            <a:endParaRPr sz="11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FBD6BB3-6145-4ED5-B9F2-90897049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the total non-loan deductions that may be collected in one payroll period.</a:t>
            </a:r>
            <a:endParaRPr sz="10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AB92DD99-9717-4582-9446-D3393041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93660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F1260C2-0D32-417A-8DCB-607F18B7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93660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265C4688-700B-4D2E-80A1-B18A1ABE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917DF8E-A59D-4477-90DC-71B18BCF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F6A270E-A63A-40BE-BFF3-3A904CAD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0C73434-7514-4FDB-8C1D-0C1F6EB6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Deductions cap base</a:t>
            </a:r>
            <a:endParaRPr sz="11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B84D435-2834-4293-A34B-1BA9B3FC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Earnings amount the deductions cap percentage is measured against.</a:t>
            </a:r>
            <a:endParaRPr sz="10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6A6F6C00-5586-419B-BBE9-33DD5CE2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93660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90019018-056B-4827-933B-8344E2DA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93660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995D0CF0-88D1-464F-8234-145A1B3F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7F72D26-181E-4EBB-A878-456EB7F6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B5B72231-F074-4275-9CAB-A29EC2B0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BC7D0E93-CA2A-4937-BFCE-CC84BD81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Deductions cap type</a:t>
            </a:r>
            <a:endParaRPr sz="11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83FCC37C-F42A-4778-8788-74423747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deductions cap is a percentage of the base or a fixed amount.</a:t>
            </a:r>
            <a:endParaRPr sz="100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C0F66B86-B662-4AD1-8902-84A1F313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9865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434AFDA9-A340-462B-8445-1CDE225F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9865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452E255E-E2D6-4A37-AB11-EA386347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5CB163DC-52C9-4B73-9EE9-F04D7EF2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468D2BCD-78D9-4552-8139-37418CB7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1E8AC9A9-C8D0-4DFF-9D7E-D088C691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Deductions cap</a:t>
            </a:r>
            <a:endParaRPr sz="115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16413037-30F5-4B5A-B58F-9CB929AD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Maximum total non-loan deduction allowed for the payroll period.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4889774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D5FA4F-ED96-4C0F-8AF2-E9FDEF99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FIELD GUIDE 3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5D8B34-D1F6-4B8F-AA8E-94C322E7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Loan cap and attendance cap fields</a:t>
            </a:r>
            <a:endParaRPr sz="3000"/>
          </a:p>
        </p:txBody>
      </p:sp>
      <p:pic>
        <p:nvPicPr>
          <p:cNvPr id="7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bc0c456904c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963863"/>
            <a:ext cx="5806440" cy="3707515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E189370-92E4-486F-9951-38E65F9B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046159"/>
            <a:ext cx="0" cy="7223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C7D1AD1-E830-4929-BBCE-3342729A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046159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862CCC7-FA61-4CDC-B775-106E6D5D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718310"/>
            <a:ext cx="0" cy="3278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5529D80-B67B-4DAF-B5CC-BD436A7D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718310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83D0604-2210-4028-B268-F3CFA3E1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2768516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93B0A1F-A56A-4663-92FF-FE880587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558034"/>
            <a:ext cx="0" cy="2104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B38B77-C91F-4863-8ABB-C6A888A5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558034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D447B8F-57E4-4DDE-AC36-7D498867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430572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A2547D9-3FDD-4777-8ADF-8CBA306D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397758"/>
            <a:ext cx="0" cy="328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82828AF-FDA3-4304-AE21-4D8479C9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397758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B20B80A-EAA8-4998-B124-1F0D3109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046159"/>
            <a:ext cx="0" cy="2601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3AC0AC9-7F95-4560-A323-94927603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046159"/>
            <a:ext cx="32094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4B69023-6DBB-42CF-9905-8E1277FB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2046159"/>
            <a:ext cx="0" cy="21913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B92C47C-0F56-43C7-8EE8-778FFEE5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237482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9B97C1A-9DE3-4667-A577-B23B5E59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647737"/>
            <a:ext cx="4409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81B82B0-DBBE-40D6-889A-A61E46A4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346" y="4647737"/>
            <a:ext cx="0" cy="4294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20C8B70C-7012-4C0F-98C6-F9B5CE6C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346" y="5077206"/>
            <a:ext cx="28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A64395AF-547E-463D-8C9B-004FFBEA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5309793"/>
            <a:ext cx="32752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84AA184-FEA0-428A-8EEF-090689FB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5309793"/>
            <a:ext cx="0" cy="6071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D00606A-24F3-470A-AB91-23DFC446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591693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958B4D88-3F98-4234-8FC2-02BEA6CB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26405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4EF000D-BC82-431C-B1B7-4DEAEF0E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26405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1ED43FBD-3224-443A-B891-90E69EAB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8084D178-AB2A-41D4-8049-40AF3C4E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A889A470-69ED-4F9E-B9B5-AEC13E2F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A5531F1-35E3-4D4F-824A-C499B7A2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Loan cap base</a:t>
            </a:r>
            <a:endParaRPr sz="10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EB2EA210-3AE8-4E49-A82F-7221CAE3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Earnings amount the loan cap percentage is measured against.</a:t>
            </a:r>
            <a:endParaRPr sz="9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40DDCA54-D372-4B6C-9986-B324D857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26405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17E05F0B-67AE-4130-8184-656B5084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26405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256973F7-FC93-414A-934C-FE0A4A00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211324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05CBDEB5-0B06-4FA6-8628-92CFAD05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32105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8F20467A-CB98-4F39-B22E-87E73244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32105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070F6935-C8C3-4EE0-BF91-1BF176F6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284476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Loan cap type</a:t>
            </a:r>
            <a:endParaRPr sz="10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3460E995-C960-4BAD-A6C5-CE46D263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595372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loan cap is a percentage of the base or a fixed amount.</a:t>
            </a:r>
            <a:endParaRPr sz="90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9A7117D5-596A-4322-97D7-42F49A83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0255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7369FD7E-08FE-435A-A6B9-E40865DF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0255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D19E1D43-6298-41B2-8C28-BEC7BFD6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051048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1B0DE5D4-B697-4FAF-AF89-9460E72A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16077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4B429A69-9D58-4524-A042-954082FE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16077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7AFF6065-106D-4F72-A162-AA60ED61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12420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Loan cap</a:t>
            </a:r>
            <a:endParaRPr sz="105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A555D97C-602D-4D55-B97A-7BDE5D97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435096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Maximum total loan repayment that can be deducted in the current payroll.</a:t>
            </a:r>
            <a:endParaRPr sz="900"/>
          </a:p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AA680F80-DBCE-4666-AF77-CAB196E2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19721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5C3A7193-A069-42CF-A6BA-109FAECF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19721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6DDE1E40-A509-4139-BF71-5D567DA5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C012B08A-9A08-4350-87A0-E6428253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A647A1D0-8737-46C5-A221-FF7AE29F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CFF00F8-81BE-4A4F-837F-7D2DFD99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Attendance cap base</a:t>
            </a:r>
            <a:endParaRPr sz="1050"/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6F197B95-008C-422D-9A81-3553EBE0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Earnings amount the attendance cap percentage is measured against.</a:t>
            </a:r>
            <a:endParaRPr sz="900"/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59EA6776-8E18-4CD6-8FE5-6F726216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519721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4B0B8CAC-847E-43FA-93FA-46BC7C62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519721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850"/>
          </a:p>
        </p:txBody>
      </p:sp>
      <p:sp>
        <p:nvSpPr>
          <p:cNvPr id="55" name="Shape 52">
            <a:extLst xmlns:a="http://schemas.openxmlformats.org/drawingml/2006/main">
              <a:ext uri="{FF2B5EF4-FFF2-40B4-BE49-F238E27FC236}">
                <a16:creationId xmlns:a16="http://schemas.microsoft.com/office/drawing/2014/main" id="{729309A7-F8BE-4A89-A8B9-7FCE73FF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730496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6" name="Shape 53">
            <a:extLst xmlns:a="http://schemas.openxmlformats.org/drawingml/2006/main">
              <a:ext uri="{FF2B5EF4-FFF2-40B4-BE49-F238E27FC236}">
                <a16:creationId xmlns:a16="http://schemas.microsoft.com/office/drawing/2014/main" id="{6EF60B24-AA1F-40F0-BA22-C4787CE9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84022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7" name="Text 54">
            <a:extLst xmlns:a="http://schemas.openxmlformats.org/drawingml/2006/main">
              <a:ext uri="{FF2B5EF4-FFF2-40B4-BE49-F238E27FC236}">
                <a16:creationId xmlns:a16="http://schemas.microsoft.com/office/drawing/2014/main" id="{5FFD9284-D9AF-4E39-BCD2-9F3E3FA4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84022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800"/>
          </a:p>
        </p:txBody>
      </p:sp>
      <p:sp>
        <p:nvSpPr>
          <p:cNvPr id="58" name="Text 55">
            <a:extLst xmlns:a="http://schemas.openxmlformats.org/drawingml/2006/main">
              <a:ext uri="{FF2B5EF4-FFF2-40B4-BE49-F238E27FC236}">
                <a16:creationId xmlns:a16="http://schemas.microsoft.com/office/drawing/2014/main" id="{1BEB2727-A592-4A9F-AD53-FC37F9A2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80364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Attendance cap type</a:t>
            </a:r>
            <a:endParaRPr sz="1050"/>
          </a:p>
        </p:txBody>
      </p:sp>
      <p:sp>
        <p:nvSpPr>
          <p:cNvPr id="59" name="Text 56">
            <a:extLst xmlns:a="http://schemas.openxmlformats.org/drawingml/2006/main">
              <a:ext uri="{FF2B5EF4-FFF2-40B4-BE49-F238E27FC236}">
                <a16:creationId xmlns:a16="http://schemas.microsoft.com/office/drawing/2014/main" id="{5586CD24-90C4-488E-82FB-E65FB0F1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114544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attendance limit is days, a percentage, or a fixed amount.</a:t>
            </a:r>
            <a:endParaRPr sz="900"/>
          </a:p>
        </p:txBody>
      </p:sp>
      <p:sp>
        <p:nvSpPr>
          <p:cNvPr id="60" name="Shape 57">
            <a:extLst xmlns:a="http://schemas.openxmlformats.org/drawingml/2006/main">
              <a:ext uri="{FF2B5EF4-FFF2-40B4-BE49-F238E27FC236}">
                <a16:creationId xmlns:a16="http://schemas.microsoft.com/office/drawing/2014/main" id="{F14DFA2A-223B-4391-B6CD-24FC6E35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5181777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9B8DF520-D239-4DC2-91EF-DDD4746F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5181777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850"/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D041F697-7A85-4F96-9E45-E4252E66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570220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63" name="Shape 60">
            <a:extLst xmlns:a="http://schemas.openxmlformats.org/drawingml/2006/main">
              <a:ext uri="{FF2B5EF4-FFF2-40B4-BE49-F238E27FC236}">
                <a16:creationId xmlns:a16="http://schemas.microsoft.com/office/drawing/2014/main" id="{EF5CB6BB-A373-403B-B843-45CA3A9C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67994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4" name="Text 61">
            <a:extLst xmlns:a="http://schemas.openxmlformats.org/drawingml/2006/main">
              <a:ext uri="{FF2B5EF4-FFF2-40B4-BE49-F238E27FC236}">
                <a16:creationId xmlns:a16="http://schemas.microsoft.com/office/drawing/2014/main" id="{05B269EC-AB71-4A38-823C-1909791E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67994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800"/>
          </a:p>
        </p:txBody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C92F7C41-9EAB-4AE7-94AE-3A630C17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64337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Attendance cap</a:t>
            </a:r>
            <a:endParaRPr sz="1050"/>
          </a:p>
        </p:txBody>
      </p:sp>
      <p:sp>
        <p:nvSpPr>
          <p:cNvPr id="66" name="Text 63">
            <a:extLst xmlns:a="http://schemas.openxmlformats.org/drawingml/2006/main">
              <a:ext uri="{FF2B5EF4-FFF2-40B4-BE49-F238E27FC236}">
                <a16:creationId xmlns:a16="http://schemas.microsoft.com/office/drawing/2014/main" id="{10B8FF53-23A4-4FAC-BB6E-8F6DA2F6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954268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Maximum lates / absence / undertime adjustment allowed per payroll.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6893210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51C3F1B-BB43-471A-8725-8E3326E5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FIELD GUIDE 4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CDF740-4816-4A55-A0BF-54A510B2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Automation and payslip behaviour</a:t>
            </a:r>
            <a:endParaRPr sz="3000"/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a79ed37c041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591059"/>
            <a:ext cx="5806440" cy="2453122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4D84083-0F05-4A1C-B191-94879494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827" y="3030577"/>
            <a:ext cx="3098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06354B0-7739-414B-96B6-69CE6EE9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1023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51BF854-F77B-424D-B4FF-B8132C1E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71AA34F-2440-43D1-B6DE-0DEF5F01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827" y="3582529"/>
            <a:ext cx="3427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C63EA85-D4D5-4017-86F5-85B465E0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947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4DB2A89-2333-40F2-B27A-C2DA0D33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BD90C76-162E-4643-A04E-01D32378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827" y="4134482"/>
            <a:ext cx="3756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8D3BE4D-F615-4834-ADB9-D7BB3630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134482"/>
            <a:ext cx="0" cy="3129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C5A568F-3399-48B1-82BB-2284C8D6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F5699C6-B73F-4294-B72A-87625475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827" y="4686434"/>
            <a:ext cx="4086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F0A4EF1-46E6-42C0-8E44-8093F0F2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686434"/>
            <a:ext cx="0" cy="10205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78785D0-A739-495C-93D9-E3D316BA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A45906E-3162-4B07-85EF-EC762D5B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2902561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E3F8B6B-CAB2-4013-BC1B-0778FDBD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2902561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F3FBB039-6F11-4417-BC32-FC8307A8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CA40AD0-B4CD-4B48-937F-4CCC8875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6DD6F4E-5B9D-4AF9-973D-A51F4361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63B541A-B82D-49E3-AF5F-2B14C690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Auto-defer or stagger deductions</a:t>
            </a:r>
            <a:endParaRPr sz="11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D5DED8C-956D-4A22-B081-0981161D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Moves eligible lower-priority deductions to a later payroll when the protected minimum would be breached.</a:t>
            </a:r>
            <a:endParaRPr sz="10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7741EDD-3772-4DBD-9EBD-079B2437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345451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00C341B-B1BF-43E9-B4E8-76598484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345451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6156C4C-5493-4E25-873D-90D9EEC3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51A993A-8026-4D9A-A2AD-01139029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F45419FF-5B6B-4F64-9E2E-B0D97895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38F4143-5B77-4761-85B6-8937BD91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Carry forward to next payroll</a:t>
            </a:r>
            <a:endParaRPr sz="115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BE055D3-BD8D-4625-9805-36DA6964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Stores the outstanding amount, next schedule, and remaining balance for the next payroll.</a:t>
            </a:r>
            <a:endParaRPr sz="100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B4B333BE-42C1-4938-8B45-FABCDE9B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400646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D3D0787-7DAF-4038-9069-80AF4ECC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400646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06292B13-936B-44C0-9960-F63A09E4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759916F4-3A72-4C21-9D5F-4CA68AF3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8C14E5F-D560-44FF-80F5-2F5AAF15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32550DE-A4E1-4845-937B-CAEF469B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Payslip tagging</a:t>
            </a:r>
            <a:endParaRPr sz="11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5388D7C-B0C7-4780-A7F5-E3D58E36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Shows the original due, deducted, deferred and accumulated balance on the payslip.</a:t>
            </a:r>
            <a:endParaRPr sz="100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A2B1AEE7-552F-4EFC-92DA-3DD31C8D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45584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232E2558-C066-4BAA-A0A7-8DDB9DC4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45584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EFC7EA60-09E9-4622-BB4B-8A8AD2CD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767A95AC-BE56-407A-B8DA-E89077FF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F8EBD277-C447-461A-91EE-85FE5B88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5031CA72-E4A1-4F4D-BC14-CDD37046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Admin and employee notification</a:t>
            </a:r>
            <a:endParaRPr sz="115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C4EEBBA-C091-4855-836A-F09D2759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Creates an alert when a deduction is deferred or an exception remains.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027140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D03A795-4C68-4C67-A64A-DCA18C9D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2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1F8AEC-FE56-46EF-BDCF-B7E03E61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Retirement Pay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D323E16-20FB-4F3A-A1AF-BA8B0CD4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Apply the statutory formula, compare it with the company plan, and use whichever is more beneficial.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6AF06C6-D946-4F9E-9E40-892B27B2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2FF2A1-3957-48F8-A3AF-E78CF56F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167EED4-E04A-4B0E-B612-ED6F6C5F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 type and formula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FCDF488-77D9-47DF-9C8A-5AB9CA1D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74110E2-BB1F-41BB-878A-F5B5F9D8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8B8D6F8-2861-4A8E-A752-6298DD79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Eligibility rules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F9CC436-AC4C-4C3C-9114-7E60030F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5E78C60-C239-4B8A-A592-DAF79378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A2AC956-BDBE-4FB4-8680-B24A6161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Service-year rounding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28619FE-9ED7-41BD-93F2-83CDFC79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2C7CBB5-992E-448A-BB4C-5C984ED4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0D77E02-3339-492D-8C16-D7C5D013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Tax treatment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19519081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2865062-35EB-4132-90C5-874B58EA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DEMO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1D0D5A5-67B1-402A-8D61-49CA3930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Configure eligibility and benefit basis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70bf5546e44d1"/>
          <a:stretch xmlns:a="http://schemas.openxmlformats.org/drawingml/2006/main"/>
        </p:blipFill>
        <p:spPr>
          <a:xfrm xmlns:a="http://schemas.openxmlformats.org/drawingml/2006/main">
            <a:off x="953534" y="1371600"/>
            <a:ext cx="2975828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110B218-7B64-44CA-848C-7325B4CA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749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What to watch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B0DF751-616B-4CA3-8868-68E8B173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3716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1 · Choose code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5001DF-C163-4E6D-A79A-CABBA300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6093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Open RET-001 from the governed library.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CC56C40-60AE-4A95-83F1-3A0C79F7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2860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2 · Configure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3AA7385-FD99-4BD3-84D6-F2BA7CF8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5237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Set plan type, service-year basis, age and salary inputs.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6B9211F-BCBC-4E0E-853B-5F0B0083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2004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3 · Validate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C7B145F-655F-47C1-B04C-7DC6A7E5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4381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Compare statutory and company-plan outcomes before saving.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CF9E2CD-5607-4796-BA9D-75112702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6053328"/>
            <a:ext cx="68671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79ADB7E-4CCE-42FA-B1C5-C61942AC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6053328"/>
            <a:ext cx="65928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216364908744b75"/>
              </a:rPr>
              <a:t>▶ PLAY 7-SECOND VIDEO · HD MP4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8045293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2865062-35EB-4132-90C5-874B58EA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1D0D5A5-67B1-402A-8D61-49CA3930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Statutory and company plan, side by side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ad4b7a7184f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3534" y="1371600"/>
            <a:ext cx="2975828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110B218-7B64-44CA-848C-7325B4CA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749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B0DF751-616B-4CA3-8868-68E8B173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3716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Plan type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5001DF-C163-4E6D-A79A-CABBA300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6093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Statutory RA 7641, a company plan, or “best of both”.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CC56C40-60AE-4A95-83F1-3A0C79F7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2860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Every input is configurable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3AA7385-FD99-4BD3-84D6-F2BA7CF8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5237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Daily-rate divisor, days per service year, salary basis, additional benefits, minimum guarantee and maximum cap.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6B9211F-BCBC-4E0E-853B-5F0B0083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2004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Eligibility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C7B145F-655F-47C1-B04C-7DC6A7E5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4381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Minimum age 60, compulsory 65, five years of service, plus an optional company early-retirement age.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CF9E2CD-5607-4796-BA9D-75112702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6053328"/>
            <a:ext cx="68671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79ADB7E-4CCE-42FA-B1C5-C61942AC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6053328"/>
            <a:ext cx="65928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“Retirement Pay” rows 11–37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8045293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521398A-EF38-4B65-A0B7-A59FFBF4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F7BB5E8-09D0-4D73-B1C9-DF517B10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6-month rule, visible in the result</a:t>
            </a:r>
            <a:endParaRPr sz="30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016254edc40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5160" y="1371600"/>
            <a:ext cx="3255455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65B3C83-6AA4-43D3-B202-A836B5DA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463040"/>
            <a:ext cx="6400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Service 12 years 6 months</a:t>
            </a:r>
            <a:endParaRPr sz="15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338F560-26EF-4687-971F-7E8CD387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810512"/>
            <a:ext cx="6309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rounds to 13 qualifying years, because a fraction of six months or more counts as a full year.</a:t>
            </a:r>
            <a:endParaRPr sz="125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AB02C95-4731-4940-88EE-B2CE57AD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697480"/>
            <a:ext cx="665683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0E5CDCA-5170-4AF0-B0DC-5A421254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280720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Statutory value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2CB06E5-E05A-4187-8E02-031A81D7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3118104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₱60,000 ÷ 30 × 22.5 × 13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56769CE-E152-4C8F-BF5E-B4988F01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803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₱585,000</a:t>
            </a:r>
            <a:endParaRPr sz="1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0F0999D-CDAD-4ECB-8C02-649B951D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657600"/>
            <a:ext cx="665683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53E43E1-FAB7-4559-B1A3-EB0390DB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376732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Company-plan value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A55EDC9-EC2F-4DFD-B8CE-9C5FB154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078224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divisor, days and benefits</a:t>
            </a:r>
            <a:endParaRPr sz="10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F003CFB-812F-40F8-874F-D5F03E84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404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₱795,000</a:t>
            </a:r>
            <a:endParaRPr sz="19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164C36C-345D-449A-B313-B34B359C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617720"/>
            <a:ext cx="665683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622BE75-D612-4B04-A347-D7086A7C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72744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Retirement pay used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91C1850-142D-4E7C-A028-033E3A9E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5038344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the more beneficial of the two</a:t>
            </a:r>
            <a:endParaRPr sz="10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9A9DFB8-8D10-4A65-963D-2172D45E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0060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₱795,000</a:t>
            </a:r>
            <a:endParaRPr sz="19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50CFD5A-F20A-4403-A984-6DB68C71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5623560"/>
            <a:ext cx="66568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Stored as tax exempt under RA 4917 — the BIR-approved company plan condition.</a:t>
            </a:r>
            <a:endParaRPr sz="11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1CB7192-1354-43CA-B38C-C87FB96E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6035040"/>
            <a:ext cx="6656832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C684733-C11E-4FE2-8DEF-1BE7ECB1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6035040"/>
            <a:ext cx="63825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“Retirement Pay” rows 3–6, 30, 38–41, 67–72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9574923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05B9B7-7F9C-40A7-9E02-4F3124F1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FIELD GUIDE 1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65A3D5-CB05-42B2-9178-D437F6EA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Plan type and salary basis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4d43d22a948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4ED6F16-6052-43CD-BF20-0FFBBC2E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80E214C-222E-49EE-B682-B5367C61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050A9AA-9B2D-4799-8A85-2615197E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FAC5870-8C67-48AD-9B1F-AAC6DAC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DB6E52A-E6D4-4815-9D66-2FF9F942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087051B-415B-4707-8C23-4C61B607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A61512F-5A3F-4378-A299-651B9CE1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2B61724-F279-44F4-A049-B54CF4E7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7FEA0AB-C85A-49E5-800E-0DAF4222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1C6E5E1-BAA2-47E4-BB68-7A86910A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E4D5420-D4AF-4DCC-8700-E969C813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F77F81D9-AC8D-484C-B91F-B9B8013E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2B59CD9-5C7F-4F55-BE7A-64385AEF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25EAA2B-7557-4B61-8E2C-E9010C79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40F4B0C2-C7AF-43C3-835E-2F98524A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EDCAE67-879A-4C01-9CBB-4533F30C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485B095-F2F1-45DA-B20A-AE52C518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54F37548-B0A0-4B3F-A8C2-CEF37759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33F8935-96EB-497B-A31C-6670BEC1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94AB4AD-0F90-434C-95EE-C9BA89D0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Employee group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E6A3F122-26A1-4FF4-AB47-DE8B46F1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this rule to a defined employee population, e.g. Rank and File.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1032FCFF-04DD-41E6-B632-7F9E0875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5051FE7-DD8E-4858-B66D-AB0BAA88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EC6195BC-8EA1-4A14-B186-973E33C3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DA822252-9C03-4BF4-A77D-D108A84D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3F9CD2A-F91F-4925-BFCD-E68EC952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678C118-2535-4019-987A-525D3CF0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Retirement plan type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05234C64-4350-4389-8BA1-F63C4B19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Chooses the statutory plan, the company plan, or the more beneficial of the two.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36B30F20-4FC8-489E-A6D5-0F6259CF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DE81ED85-EFA9-4C5A-972B-10F305E3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9A46DC96-5427-44E7-B7B4-854E480A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322E0298-9F37-4EA5-9A2E-CE5317BF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D44A3BEA-9E12-4CCF-9D1B-B756A49C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A5BA9312-EA73-4725-BCF6-E823E905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salary basis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13AB9F5C-E47B-4811-B885-FA6C43DD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Salary measure used to calculate the company retirement-plan value.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ABF0ABE-5189-4E4E-BE24-CCBE2272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4BD598C1-C105-4BC7-9E6F-A826AE26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4DCC2745-EAC0-4E3D-9955-2121FD21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798B6178-1227-4C1B-9714-F53BD310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BF32F6C6-8EF6-472F-ADC1-4A091928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0F0D7B27-3BC4-4E78-B31C-6D8A9979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Daily rate divisor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DDD444E1-8BC1-4427-9475-E4C1A759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Divides monthly basic pay to derive the daily rate used in the formula.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4334447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7951861-BE7D-4772-AB05-7AA2996C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FIELD GUIDE 2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AA053B-6A3A-42E6-AD26-B9054BC9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Formula and benefit inputs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2e97088f14b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1233A0D-B426-4599-8F81-53DA49C7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D776472-2604-46E8-B2C9-8D184812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5218AE5-F3C6-4292-BB07-1ED443CF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7B09B65-918E-4BB6-BA4B-2625CD8A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700D2C7-F8E5-4228-A7B5-285985E1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0D83D73-F897-4A51-9641-91FB4CD7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C0F706E-6597-47FD-A408-9AB6A25C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F44B284-778C-43BC-BBA1-A9B1DA9A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7B3D67E-DD5F-432E-A277-E3443B66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3491282-382F-4478-845E-5F6C1806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6B57021-A625-40D0-806C-578E29A6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0B3CE44-93D2-4B97-9CD5-DA6926AF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8060335-DAE2-42CC-AE40-CC0A97F9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5E2F00F-086D-457E-8517-9193F7D2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70515E91-03A9-4E58-9DDF-95A3C92F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77DC7AE-2ECD-4BD7-991F-8FB42398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8CC0DF6-549E-45B6-8799-2BAF253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44C035F-04F5-421A-B1C2-8ADD15E9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427EC24-D124-4CBB-87E8-1A5B5FBC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740A57CA-E715-4CE2-8308-DA98A6CB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Statutory days per service year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F51EFA0-2BD7-44B7-9052-BD95B714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The statutory retirement-day equivalent per rounded service year (22.5 days).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0C8B918-A64E-4F39-B28B-82CB9337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C1E850D-A9CC-4959-9178-155155D8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C7E250D-7D25-44DB-845C-6A896405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0E9AC9FB-8AAA-4181-8FCA-3EDFB578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547B197-1506-4944-BD47-1273D8DC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CC502D83-6937-4532-A3B2-1491D4B4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Company-plan days per service year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5EF557C2-192E-4031-82C8-C90FADDE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Company-plan days applied for each qualifying service year.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9B0C5ADD-2769-4496-ADD4-CDF70C87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0064B15A-4571-43CF-B812-AF7702BB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D401C367-C348-4E25-AE5C-65A86AE1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7F414E57-56CB-4B24-8010-3FB48C01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E701B26-5F88-4D50-A205-49152D35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4D42C6B5-17D0-4D13-8705-757B8E86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Additional benefits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C1A9BD7D-E7E3-4BB4-B0D9-806C3A4A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Qualifying lump sum, gratuity, or similar benefit added to the company-plan value.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67837077-59EB-4073-A679-04ADD8DD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E8891CE1-FA1C-4F89-B343-709F4586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9E5172A-391E-490E-A996-98A67F72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33AD6B7B-B58C-4448-A17E-589B334C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169CD739-9C89-4B48-A811-802BCEB0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7EA65BEB-2A29-43F7-AB5A-5384C1CA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Minimum retirement age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9F521E1B-631F-4299-8DAC-FA481F8F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Earliest statutory age used for normal retirement eligibility.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0451113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E2BE06-5200-41F3-8214-1E123482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FIELD GUIDE 3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B8BF88-EBB3-4FB0-90E0-7D2FC4B0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Eligibility conditions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05794825f44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68A897C-6C1A-4DA7-8267-DE65CEE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4D8557C-31C4-4F97-9D3F-700BDDF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875AB4A-1492-49B0-9679-B637A6F1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281EB36-1B27-41F8-9CDF-40347A60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733F8AF-898D-4303-82F3-ED1EDB9E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C082EC3-4663-4BFB-B662-8712F8D3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9C97BE0-1E47-4E3B-87A8-1A349FE8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3156E09-6FBB-415A-897E-E251DB11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67197B0-E921-4AAC-8DDE-5D5E7AAC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7D4A908-96BA-4E48-BC37-B752BCA5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2DBBEFD-7E41-40A9-A4AC-61307703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49C73C1-7D0A-447C-8F77-223873EB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26B47AB-6DED-49EC-A639-A20D4611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96C8D10-EAFF-4718-AAA4-02D3E978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B6DCA0D3-2DE7-4181-8752-162B29E0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6B0AAA0-BF48-407A-993D-CAC745A0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0B4E358-B4BC-4D4D-8A2C-32BBFFA2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A380BF4-F8E9-4647-8ABC-97C7740C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2B07016-611A-4658-83BD-03948C6A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FB71EC4-26BB-4377-A0BC-CE1CC8DD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Compulsory retirement age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4FAA586-0B06-43C0-B8A4-7FB5C414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Age at which compulsory retirement eligibility is reached.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15ACF44-5F4F-4D2C-8997-020AD6E5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F718463-9089-4C10-AEC0-E24EB1EE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AB30CF5B-21C4-4495-ADF5-DEE1C5F6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02CAD0CB-75ED-47AF-A7F5-F698BD9B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0E96937-CF40-42F8-A40C-EE49F1A8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8454BDFB-98D7-414B-8520-CA90C656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Minimum service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3E50AB4-4E89-4D79-B46A-C84DCB40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Minimum completed service required before the retirement benefit qualifies.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3CDA5382-D598-4677-94A6-A909FF7C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4AF97D1B-3C0A-4FE8-85E8-FA71B0FF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0025FE43-700A-4360-8953-237A0EF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205DEC01-F763-4F74-91B9-22708168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9824B91-A72F-4040-BEFF-3D19D8F1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62F3407D-E297-4643-AD70-3B17EA57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early-retirement age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8D5D6838-9F44-49E6-BB9E-61EE7DF8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Optional earlier age allowed for a qualifying company-plan member.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820DA151-0C52-4620-97AF-ACE7D583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444C7D11-6E5C-4084-B226-928EAECB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129EF7AC-554D-428C-9CB5-B8345E47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B3D90652-E088-4B60-ACED-F375D28C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9606190C-3EAB-4FC7-A4F7-3E19ECC0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781175D1-69BB-4C41-A084-F7F304DF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Minimum guarantee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BF66BE0F-D6DB-448D-B13C-A8552DBA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Floor applied to the company-plan value when configured.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3235496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E21051-7D9C-4B9B-97BD-A76899EF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FIELD GUIDE 4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E0B1582-D6B2-4DC3-A891-42A76F5A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Caps, rounding and tax treatment</a:t>
            </a:r>
            <a:endParaRPr sz="3000"/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bf8784f1e40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396745"/>
            <a:ext cx="5806440" cy="284174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9F1E082-7438-43C4-B27E-398C26DC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9814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8FD73C5-D9F0-4828-8D2A-B13598EA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9115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0ED9812-8CBE-441C-9071-9145B5E2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070981E-3DDD-4C50-A9FD-D6DA0969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01870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FD40352-12B4-40E6-9BDC-B5E616F2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140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CBD507-E408-499C-8465-279DBF97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4891CB6-F683-4E24-960D-71ADA6B6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63926"/>
            <a:ext cx="375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529ECA3-ACAB-4D49-B8DE-5272AE8F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163926"/>
            <a:ext cx="0" cy="2834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7658206-8DD1-4748-B357-F891FB20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82F1AB4-E963-49D0-AE1A-8AD8C83E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4882003"/>
            <a:ext cx="4182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A7207C5-1033-4D4B-828F-010DE0C8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882003"/>
            <a:ext cx="0" cy="8249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7C81C0-A636-4402-8F02-DA3A2778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3CA1973-3972-46B4-8F5C-83FB8EAA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271179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AC7E22A-1400-44DC-B247-3325B5B4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271179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779E0A4A-D011-45AC-901B-59C4F63F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0EE02A1-6E19-4455-8036-DB028094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B6AFD8-E801-4262-B7D1-3B0CA9DD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ACD3C55-4A25-4818-837B-52100DF3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Maximum cap (0 = none)</a:t>
            </a:r>
            <a:endParaRPr sz="11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18B55CA-E859-40BA-8F1F-16801160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Optional ceiling on the company-plan value; zero means no ceiling.</a:t>
            </a:r>
            <a:endParaRPr sz="10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DE4F1A95-08CE-43F5-9865-A33F6129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7385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BB361EE-11AD-49FC-9CC6-6A0DEF0F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7385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1F00893-E006-4E57-A397-ADE8A445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C78DA5B-FA5D-492B-A676-B05278DF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2C270A9C-D4BC-4AF0-9931-3CA15A5A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3B0C1794-2ECF-4AFC-BBB6-82D96841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Service rounding</a:t>
            </a:r>
            <a:endParaRPr sz="115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6C60C48-5214-43D4-AD13-1576EE55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a fractional final year of service is converted into whole years.</a:t>
            </a:r>
            <a:endParaRPr sz="100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D88A0E81-9926-4ED9-B562-FCF3EBA2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3591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A591FF77-E2AF-48A4-BEE2-6EDA360D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3591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8B981A09-B3C8-4F53-9E35-BE8370CE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4E1E1A7B-2425-41FC-A2EB-58A87950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E50AB9BB-C20C-4337-89AA-C90E9489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D7ADF50B-2BCF-4E84-8A35-CB741F79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Taxation rule</a:t>
            </a:r>
            <a:endParaRPr sz="11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4BF38207-202C-4517-8F78-6B0A80F5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Which exemption conditions are evaluated for the retirement result.</a:t>
            </a:r>
            <a:endParaRPr sz="100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670E870-101E-4704-84E3-323C32EE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753987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CA37E0BA-C5D5-4E5E-886B-C85D2977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753987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BCCF8F4B-8EA5-459B-945E-769E482D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B3F904E6-3972-4FD8-8142-F56F29E7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FEF4B52E-6BFB-46D8-B1E4-08F7315F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B4368AAD-8702-4DFB-A79A-BF22F362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BIR-approved company retirement plan</a:t>
            </a:r>
            <a:endParaRPr sz="115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B7027EFA-A930-49FB-A082-180BC528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Marks whether the company plan meets the RA 4917 approval condition.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8644016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D5627B8-C8C3-46C1-BA42-492A08D0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3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206634-2B46-4ABE-A2F8-1411164A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Final Pay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17E1C53-EF92-49BB-A3ED-08A6D553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Assemble every enabled component, offset authorised balances, and show the full breakdown.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F2F7407-6ECA-4719-A053-6D30980B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C7B3E16-A439-4FE2-A0D8-047EB955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D18BF4E-56A8-4B2F-BF3A-4906B9DF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Mandatory components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4BDADE7-5A3F-4B9B-81DB-EA21F7BE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05260BE-2352-4691-B66E-A1057FB9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AB5A508-7B22-4911-AF9E-31166864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Optional components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BC28E1D-D7F2-4747-A2E3-CDE8C9DC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A6EC64D-3461-43E7-855F-C7ADC4F2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9BE706D-7784-4EA8-8699-522C6976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Authorised offsets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9B00467-3535-44C1-B590-A918907B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D0C804-5BA1-4441-89BD-4694EE9E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E9E158E-9DFE-477C-88B1-D15316A7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Negative net rule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808133008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CAEE76-1947-4230-9004-9C2AFC2E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DEMO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7014D5C-D0BA-4996-8460-7C264816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Select components, offsets and settlement rules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82913c3474cbb"/>
          <a:stretch xmlns:a="http://schemas.openxmlformats.org/drawingml/2006/main"/>
        </p:blipFill>
        <p:spPr>
          <a:xfrm xmlns:a="http://schemas.openxmlformats.org/drawingml/2006/main">
            <a:off x="1217850" y="1371600"/>
            <a:ext cx="2355756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EE58A1C-0C30-4A99-8944-9260DC04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What to watch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75C153C-9D5E-4C2B-859C-2EF34A1E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3716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1 · Choose code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C4577B2-2938-4D80-B098-4FD86B2A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6093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Open FIN-001 from the governed library.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CF8E721-E08E-476E-85AC-1852D861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2860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2 · Configure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EFAA6E0-1EF8-4DA7-90D1-625E02A9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5237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Enable pay components and define authorized offsets.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2D1A48E-0060-4D69-9172-4FC54E5A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2004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3 · Validate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872ADAF-A566-4801-872C-7C4B551C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4381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Review the employee-level breakdown and negative-net handling.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103E7F2-00BC-490E-A0E5-AB7D4893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6053328"/>
            <a:ext cx="695858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35A01B0-C124-4F4C-BC2C-37D1E5FA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6053328"/>
            <a:ext cx="66842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778a0bfda484b1e"/>
              </a:rPr>
              <a:t>▶ PLAY 7-SECOND VIDEO · HD MP4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66747515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CAEE76-1947-4230-9004-9C2AFC2E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7014D5C-D0BA-4996-8460-7C264816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Components are switches, not code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64bb4a2d949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7850" y="1371600"/>
            <a:ext cx="2355756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EE58A1C-0C30-4A99-8944-9260DC04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75C153C-9D5E-4C2B-859C-2EF34A1E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3716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Mandatory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C4577B2-2938-4D80-B098-4FD86B2A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6093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Unpaid salary, prorated 13th month, SIL conversion, separation pay, retirement pay, final tax.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CF8E721-E08E-476E-85AC-1852D861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2860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Optional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EFAA6E0-1EF8-4DA7-90D1-625E02A9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5237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Convertible VL/SL beyond SIL, allowances, commissions, cash bond return, gratuity.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2D1A48E-0060-4D69-9172-4FC54E5A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2004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rules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872ADAF-A566-4801-872C-7C4B551C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4381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Leave conversion, divisor, rounding, advance 13th month recovery, loan balance treatment and the negative-net rule.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103E7F2-00BC-490E-A0E5-AB7D4893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6053328"/>
            <a:ext cx="695858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35A01B0-C124-4F4C-BC2C-37D1E5FA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6053328"/>
            <a:ext cx="66842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“Final Pay” rows 5–18 (components) and 19–29 (rules)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6674751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E57626-46D1-4BDE-8360-E2D0FE41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1C37CD-67C1-4ABD-96A8-6F63E356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Retirement pay flows straight in</a:t>
            </a:r>
            <a:endParaRPr sz="3000"/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fa1c2a93a4c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0777" y="1371600"/>
            <a:ext cx="3912942" cy="27432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0A6B16D-5765-44B3-87DD-625C15E2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63040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final pay</a:t>
            </a:r>
            <a:endParaRPr sz="11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DE0617-0457-4F5E-8490-0C0247C3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700784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₱856,500</a:t>
            </a:r>
            <a:endParaRPr sz="2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6DD531E-9E63-466C-806B-851656FF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87168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included</a:t>
            </a:r>
            <a:endParaRPr sz="1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FDEF4DF-C38D-4FF3-AB96-B0B3E952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724912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₱795,000</a:t>
            </a:r>
            <a:endParaRPr sz="26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133DE1E-9A69-491D-B20C-F59A6806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511296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Total offsets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CC99E2F-C72C-424F-9E47-944399A8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49040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−₱47,800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87D02BE-2932-42CA-906C-9141D255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535424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Net final pay</a:t>
            </a:r>
            <a:endParaRPr sz="11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40B7A06-70AA-4948-9B4A-978AE555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773168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₱808,700</a:t>
            </a:r>
            <a:endParaRPr sz="26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587DA02-9138-4ECF-B1F7-EDF7B94A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3484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₱795,000 comes from the Retirement engine on the previous slide. It is not re-entered — the two engines are linked.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20B663F-0266-498A-A64F-F1D775FF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0"/>
            <a:ext cx="512064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850A560-E034-4609-A37D-8B03BA46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486400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“Retirement Pay” rows 46–49; “Final Pay” rows 30–34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17090861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3A4295C-E502-4E50-AF9D-A463BBD9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FIELD GUIDE 1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EF83F7-5E00-4420-9A0A-FEA9944A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Scope and components</a:t>
            </a:r>
            <a:endParaRPr sz="300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f51e044f843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569175"/>
            <a:ext cx="5806440" cy="449689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EE0243D-3342-432B-9A03-A2E088FB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2012244"/>
            <a:ext cx="309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B758576-FD6A-45AF-B985-F6C5E233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012244"/>
            <a:ext cx="0" cy="470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9BFAE68-667E-4D09-9C9A-5451399A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8DD39A9-27EC-4F88-B57E-A1E80F53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181" y="1651471"/>
            <a:ext cx="0" cy="25633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52CDA1B-E111-44CC-8181-549A6F35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181" y="1651471"/>
            <a:ext cx="31334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7DB5C7B-374B-45A4-9EC2-970BCDC5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1651471"/>
            <a:ext cx="0" cy="21661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62D6F35-4C40-4D3D-BC89-375A3CA0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710011D-D730-4692-BE6E-C16C9FA5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214854"/>
            <a:ext cx="375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00D27DA-097D-4789-9BAA-0B080725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214854"/>
            <a:ext cx="0" cy="9377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7266F69-4729-4764-9F2C-C9B4AF8A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5152644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00332C2-6BC7-4792-A6A0-B862281A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188422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1BACD47-48BC-46AD-BDC4-85DBC490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188422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8FE7409-46FC-47AE-940A-2160ADF8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888236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48721B1-E18B-443A-8073-B02BC37E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6662442-8E4C-462D-B7F0-1EFD3A94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87B12E8-A21E-4881-8664-8C2BFAAC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96138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Employee group</a:t>
            </a:r>
            <a:endParaRPr sz="12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C45C6EB-470F-4C49-BE19-8767A43B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272284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this rule to a defined employee population, e.g. Rank and File.</a:t>
            </a:r>
            <a:endParaRPr sz="10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97CBD9F-D7F1-40EF-97F6-C1A44E31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165" y="408683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DBF1EA5-D9A7-4365-93C3-C212CAEF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165" y="408683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F64BFBF9-C29F-4A46-9E91-265FA367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223260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9F0C3A5D-EE11-4A0C-8D02-F5EF020D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313ABA3-A2B1-4F04-9364-3BBB49FB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5E88884-8FAE-4F49-8F28-28DDEF25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29641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Mandatory components</a:t>
            </a:r>
            <a:endParaRPr sz="12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2A8BF6D7-F3F7-4160-99C6-248EC684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607308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Pay items that always form part of final pay when applicable.</a:t>
            </a:r>
            <a:endParaRPr sz="10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D1F1698-03F6-4E06-B211-FB5F5220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8683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2184122-934D-4D2D-8B09-75E6E190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8683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50B1BCAD-B0EF-4EA4-9328-40786256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558284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06B14DE4-5DD6-4236-B616-01B1BDEA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989C8359-261A-429A-A4E3-95B6CD00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A5E601-0913-4DE1-98F6-3DA4C8C1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631436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Optional company components</a:t>
            </a:r>
            <a:endParaRPr sz="12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C040D212-9E84-4F32-BF2C-2F544371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942332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Company-specific items added to final pay.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44545077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8CF9D9F-C4D4-43BF-9CC0-D089958B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FIELD GUIDE 2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7607E7-4C4F-4EC5-995F-112C3880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Separation and timing rules</a:t>
            </a:r>
            <a:endParaRPr sz="3000"/>
          </a:p>
        </p:txBody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cd6c85d5843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592816"/>
            <a:ext cx="5806440" cy="2449608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623B188-002A-41AD-B472-BD3CFDFD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387283"/>
            <a:ext cx="309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25AA368-C12A-4001-8871-7424DB53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4590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1C5630B-772C-4D0F-9ABA-BD5EC52A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7B91395-8E04-4922-A912-B1AE308F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028969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7087482-22F5-4D0F-9F7E-96E8EE47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8411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A5186F4-BF40-4691-BF78-A6B7EEE9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435B314-76E9-418E-BADA-5BF4F163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675112"/>
            <a:ext cx="0" cy="20057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E33561-34F4-4AF8-90F4-FC0920F6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675112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3E78FCE-F9DA-4A36-AF6A-2D5DAB4D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2675112"/>
            <a:ext cx="0" cy="17723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807F985-8202-4200-AEBC-069289C0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3BE9C6D-2EBD-4145-A38D-19253A0E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680839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1FB6646-E8BE-4C18-B809-E90B2A9E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680839"/>
            <a:ext cx="0" cy="1026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512484D-5D9F-4F8B-909A-C843B114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830D406-315B-487B-80FB-47975E56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259267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029900C-A7CD-4C9B-8A13-753711AC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259267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428AAE5-0721-4833-999B-DD8384B5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D59A7C96-8193-4306-845A-61FCE2B6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F04437F-BFD4-4B7D-B9DC-C1C5D237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C44F1FC-D0BE-4C5F-9D11-6C784834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Leave conversion rule</a:t>
            </a:r>
            <a:endParaRPr sz="11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F61316B-EC58-483D-BF45-960FF1BB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Which unused leave (VL / SIL) converts to cash in final pay, and at what rate.</a:t>
            </a:r>
            <a:endParaRPr sz="10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899E9D0-2415-4B17-8873-4D998B29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90095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D50B0A3-30F0-4264-B8B9-7B053AB9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90095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B22D52B7-F18E-4A16-8A69-4EC6A3F8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5BAB43E0-B6AF-42F5-AAB2-E722410E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91E4AE09-CB71-4820-BF7E-BD5E5D3E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A85E219-BDD5-4000-A3DE-132679B5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Separation pay rule by cause</a:t>
            </a:r>
            <a:endParaRPr sz="11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8A61FC5-F2EA-4D68-8292-87ED7788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Selects the separation-pay formula for the stated reason — redundancy, retrenchment, or none.</a:t>
            </a:r>
            <a:endParaRPr sz="10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3DC773DC-82C5-4EC4-BD17-0FBF823B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5282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5BBC11A9-1999-4F1F-AAB1-BC91BD34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5282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E8091BC0-085C-43AF-A6CC-04FD0D0B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A4CF60BB-6E2C-4A4A-A72F-9E784BF1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A48B328-E481-4D35-8DD6-523C8BB5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A8A74DC3-F379-4E7A-AE5C-39441DEA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Daily rate divisor</a:t>
            </a:r>
            <a:endParaRPr sz="11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73D1D9B1-A0AE-48AC-83D6-394E40C3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Divides monthly basic pay to derive the daily rate used in the formula.</a:t>
            </a:r>
            <a:endParaRPr sz="100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9600A84F-8776-4F02-985E-00ED70D6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55282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832A3540-3271-41EA-8F81-42530E2A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55282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22BA533-2F7A-4E08-B0E5-D2CD30E2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67C658A8-7A9E-44E3-A763-E6687E3C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59BDDD43-FF3E-4F5F-AD0F-3D9C0834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3ABD4737-23B2-4505-AB31-16085EA2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Rounding of service years</a:t>
            </a:r>
            <a:endParaRPr sz="115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191D3E1D-4698-4443-972E-2ECD3349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a fractional final year of service is converted into whole years for final pay.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21843130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249767D-EF5E-453B-A5F2-FA211B7B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FIELD GUIDE 3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FD86C14-9AC2-4FD2-B302-5CA79316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Recovery and outstanding balances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d3c662ba647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104636"/>
            <a:ext cx="5806440" cy="1425967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9153038-5BCF-438C-B8E2-5660AB6B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86932"/>
            <a:ext cx="0" cy="3505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7DCC2CD-C416-4576-BF4C-34CC0BCC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86932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C9802A8-C8E6-4AF2-B592-A7B71AF9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586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CF3361E-67A7-44EF-8922-4FB9E8BC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8AE1039-2A65-4860-BC96-E9740A5B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37519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DAE97F4-9B19-479B-956D-443B6417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49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A4D90BA-10A6-4A05-8566-2943BD30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A9A9608-8127-4B12-8686-9ED01B78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86932"/>
            <a:ext cx="0" cy="9922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AC381B7-DA8C-49B9-8657-B97E2C04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86932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EB3A3C2-7D5D-4ABE-AEEB-DA367C7A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86932"/>
            <a:ext cx="0" cy="12604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FA492BD-606E-4506-99E6-87CA7F81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FAE57CF-D598-41B7-B30B-CA4B5BEB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79205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03B910E-99BE-41E7-B9F1-9B33DBE8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79205"/>
            <a:ext cx="0" cy="15277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39495CF-A9A5-430C-BBFE-0175844F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470D544-4D04-4D54-8E6D-61388A4C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40950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2520C9A-1240-4DD1-97FC-A66DEC6D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40950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884BFD2A-0556-4A57-8C0C-FE49BC69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FF972F4-572F-48BA-8626-9EB24EA6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1395930-F6B0-490D-84AD-E05A5E41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8FB6AD9-9F26-4F49-8DFB-0BE02672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Advance 13th month rule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2D45240-51DB-4C13-B368-AE56D4F1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an already-released 13th month advance is deducted back from final pay.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ACAA64B-365A-464E-8677-6EEE6A4B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40950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F5A6124-3102-4063-AA67-BA749145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40950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F72BCE5-8CA9-47BF-A3AF-A04464F5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BA5C38C-0074-47FB-9BC7-84DD11DE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4403320A-31A3-4457-A34D-271B4BF8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5DE24F73-EF07-4A04-9F25-D1AF1CAB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Last cutoff rule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B44C6489-FF72-4850-AF20-89E0F120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still-unposted last payroll cutoff is folded into final pay or processed separately.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44DB649-708E-4A05-95DC-E9AD0B87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51189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5C465E8-F4AA-4C76-8BCF-26506FD2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51189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A4136F2B-1350-4D96-BD32-4FF3E790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BE60540-A842-4BA6-B35F-85274EC9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1F3F697-E181-4810-807A-29123D72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63E974BF-3C95-436B-8B5D-A7116F69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Government loan balance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87DB579A-234D-4C5F-895F-9677D1BC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an outstanding government loan balance (SSS, HDMF) is settled at separation.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FE84F5F7-095F-4B80-8C3A-F0CD32EA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51189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5953F439-536A-4AE0-9B5C-33F7CDE5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51189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105FD125-18C8-479C-B9F2-50762F72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18EDFB8-6B4B-40F1-A83E-CE2695F8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BE5AAE46-6AFB-4806-8F28-9B8601B9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A8BE1346-40C9-41CE-B41F-E311480C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loan balance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D14DE263-0902-4117-AF29-9133B12C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an outstanding company loan balance is settled at separation.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97167079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90ADB59-C7B5-4F86-B82D-DC3A2D66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FIELD GUIDE 4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EC642A-A425-4A49-8F49-E746DDD9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Net pay outcome rules</a:t>
            </a:r>
            <a:endParaRPr sz="3000"/>
          </a:p>
        </p:txBody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333fd0a0e47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783794"/>
            <a:ext cx="5806440" cy="2067653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3D0A614-58E6-4D2D-8969-738AB451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226862"/>
            <a:ext cx="309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CCB001A-B902-49FC-923E-B9C0407B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0" cy="744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392390D-ED35-4D6D-B377-02AC9AAD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D637040-F791-4F0F-8213-3410C0DA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3944939"/>
            <a:ext cx="3523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FC7B246-9BC9-4227-B9F5-4F3CA133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0" cy="127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29AAF64-EE3D-4A30-8242-460472E8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460071A-DB60-46F9-9438-68EB5B14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4494954"/>
            <a:ext cx="3852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D4BD4A7-3914-4308-8553-B75572EA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94954"/>
            <a:ext cx="0" cy="6576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EEEC4A0-6387-4689-BD95-9F013BFE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5152644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70D0377-CCC1-45AC-9AE4-A2D71BDC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09884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9F1E22E-462D-4781-A5DB-4CD1BE0D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09884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350FBE3-ED4F-4A71-B028-BCE64341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888236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C27DC5D-D25E-436D-9A0E-C0580966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BC9514-A29D-4ECD-8B57-74FD80A1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CCEFEF0-2E44-431D-80F8-45E9462A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96138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Net pay rule when negative</a:t>
            </a: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6340512-560B-419B-B1F9-27162175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272284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What happens when deductions exceed the final pay earnings.</a:t>
            </a:r>
            <a:endParaRPr sz="10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D876FDA-E9F3-4AD3-AB56-173CD464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381692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ADD0CB3-45A8-4ED6-B05D-0EF2C174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381692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FB8E977-E6BD-4D30-B0E5-7CFB0BE7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223260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0FB49FCC-1DDB-429E-B7D1-60908661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66B5213-B401-456B-A251-33658DBE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4446932-503E-4406-AC54-2A886B9C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29641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Auto-offset authorized deductions</a:t>
            </a:r>
            <a:endParaRPr sz="12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CF2727B-2195-4871-AF65-CC1DEDEB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607308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Offsets loan balances and property accountabilities before net final pay.</a:t>
            </a:r>
            <a:endParaRPr sz="10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476BAFE-46A1-40F9-A6F0-18D123F2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36693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87E505A0-4C31-4CDB-A2FF-1BB3ED61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36693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B487CBF-1B1B-4D14-BEE8-7EFF3515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558284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CABDEF2C-CA60-4701-876B-FFF55165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BAC60D45-4B3D-4863-BC17-A466A260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9AA502D-5B9C-44A2-99B0-4525B6FF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631436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Notify admin on release</a:t>
            </a:r>
            <a:endParaRPr sz="12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2B364136-5456-4645-B3B2-47BFDA4F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942332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Alerts payroll administrators once the final pay breakdown is ready for review.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93395847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48F7B9-56B5-46D5-949E-5C1C07DA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4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25B93C5-E61A-499E-B9A9-862B000B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Gross Up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8A556D-137B-4598-8468-A164AAB5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Solve the gross amount that leaves the employee a guaranteed net, with the employer absorbing the tax.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017C449-E288-49E4-9FCC-C1D6B760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315641A-FF0E-4662-8EA8-827B23A5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E3C3BB3-1A31-421F-BA9F-82ED51A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Guaranteed net target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908F67C-1009-4D2C-8D7E-01969EEA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917B001-4815-431C-B6AE-AA61E3F3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A533989-7B0F-4328-B2AD-4ED4588F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Graduated BIR table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FF98FD1-1E88-4DA3-8463-FF2CA7FC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4833831-914B-4024-B84F-98EC1397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37E9581-C582-472D-8BF2-53243955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Iterate to convergence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510BD68-BDD6-42B6-A957-EFEFC00C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3A5456A-61D3-49E5-9971-A6B63A2E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D603DA8-783D-4292-B811-E5B21748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Employer cost shown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708500337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796BB8-000E-4056-9B7E-85A032F7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DEMO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BFB372-B113-4765-9638-AB7BCA33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Define the net target and tax absorption method</a:t>
            </a:r>
            <a:endParaRPr sz="3000"/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f750fe8aa40f1"/>
          <a:stretch xmlns:a="http://schemas.openxmlformats.org/drawingml/2006/main"/>
        </p:blipFill>
        <p:spPr>
          <a:xfrm xmlns:a="http://schemas.openxmlformats.org/drawingml/2006/main">
            <a:off x="801409" y="1371600"/>
            <a:ext cx="3737278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55E725A-5B60-4E63-A7FE-93047F83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What to watch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FC74D82-A796-421A-B816-CAA9F80A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716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1 · Choose code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267F3CF-60D5-4665-BDD0-7BAB646E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093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Open GUP-001 from the governed library.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94A8A92-473C-46F8-B50D-34634F27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2860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2 · Define target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0598FCE-F09E-4E66-8065-07565E97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5237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Choose guaranteed net, tax method and rate source.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1178DA7-C7C8-4417-A81D-DBCA072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2004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3 · Control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1B7ECF2-B118-42EC-BBC8-C10762C9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381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Set employer share, rounding and convergence limits.</a:t>
            </a:r>
            <a:endParaRPr sz="12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202B195-19C1-476D-9B89-3A281667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1148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4 · Validate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96772EB-9930-405E-B662-9CA6AB9F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3525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Confirm the calculated gross and employer tax cost.</a:t>
            </a:r>
            <a:endParaRPr sz="12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2C10506-E32B-4E59-8197-4F55A533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053328"/>
            <a:ext cx="64099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8562570-2226-4D88-A123-01AEF44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6053328"/>
            <a:ext cx="61356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d4396a4a8b64b29"/>
              </a:rPr>
              <a:t>▶ PLAY 7-SECOND VIDEO · HD MP4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22586588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796BB8-000E-4056-9B7E-85A032F7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BFB372-B113-4765-9638-AB7BCA33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Which income, which method, who absorbs the tax</a:t>
            </a:r>
            <a:endParaRPr sz="3000"/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71243063c4d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409" y="1371600"/>
            <a:ext cx="3737278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55E725A-5B60-4E63-A7FE-93047F83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FC74D82-A796-421A-B816-CAA9F80A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716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Target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267F3CF-60D5-4665-BDD0-7BAB646E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093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guaranteed net pay or net benefit, entered or uploaded.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94A8A92-473C-46F8-B50D-34634F27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2860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Method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0598FCE-F09E-4E66-8065-07565E97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5237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graduated BIR withholding table, or a flat rate for final and expanded tax cases.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1178DA7-C7C8-4417-A81D-DBCA072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2004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Employer share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1B7ECF2-B118-42EC-BBC8-C10762C9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381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100% for a classic gross-up, or a split such as 50/50.</a:t>
            </a:r>
            <a:endParaRPr sz="12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202B195-19C1-476D-9B89-3A281667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1148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Controls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96772EB-9930-405E-B662-9CA6AB9F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3525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Convergence tolerance, iteration limit and rounding stage are all set by the company.</a:t>
            </a:r>
            <a:endParaRPr sz="12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2C10506-E32B-4E59-8197-4F55A533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053328"/>
            <a:ext cx="64099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8562570-2226-4D88-A123-01AEF44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6053328"/>
            <a:ext cx="61356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“Gross Up” rows 6–18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22586588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476FDDA-4FA9-4BFB-B695-F5D8EE7C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FCE510F-E9C3-4FCE-A3B7-6EDCECF4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Guarantee ₱50,000 net</a:t>
            </a:r>
            <a:endParaRPr sz="30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38a5126f54f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6392" y="1371600"/>
            <a:ext cx="3324432" cy="32918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e46e6c0cd46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214" y="4800600"/>
            <a:ext cx="3110789" cy="12344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28F77664-9098-492A-A10B-64442C57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17320"/>
            <a:ext cx="65653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Why it is not simply net ÷ (1 − rate)</a:t>
            </a:r>
            <a:endParaRPr sz="15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D484CCF-895C-4148-8A99-6339AC9A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83080"/>
            <a:ext cx="656539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That shortcut assumes one flat rate. Compensation tax is graduated, so the engine tests a gross, reads the bracket, recomputes the net and repeats until it lands on the target.</a:t>
            </a:r>
            <a:endParaRPr sz="12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FB5F5F1-E14F-4228-909C-DED67F1F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71800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taxable pay</a:t>
            </a:r>
            <a:endParaRPr sz="11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EE6BBED3-3D47-4F80-B556-F91D564A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971800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₱51,875.00</a:t>
            </a:r>
            <a:endParaRPr sz="15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9E91977-B226-4D62-BEF0-03237540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55848"/>
            <a:ext cx="6565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01FCD5A-D6AF-4BD1-912A-7E5F215B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21608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Withholding tax absorbed by employer</a:t>
            </a:r>
            <a:endParaRPr sz="115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25E9E50-D054-4B7E-B5F0-1FA06B61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721608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₱5,208.40</a:t>
            </a:r>
            <a:endParaRPr sz="15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3280405-3316-44AA-BF94-EB4905AD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05656"/>
            <a:ext cx="6565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CFCFF9E-357E-4D96-B825-9315DBFD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71416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Net released to employee</a:t>
            </a:r>
            <a:endParaRPr sz="115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9A6D3A3-7010-4436-B656-2ADF41A2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471416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₱50,000.00</a:t>
            </a:r>
            <a:endParaRPr sz="15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482998E-CBD0-4592-B442-D6BF6784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55464"/>
            <a:ext cx="6565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A0FAAD-8F75-4BE3-BCB9-9490ECF2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21224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Total employer cost</a:t>
            </a:r>
            <a:endParaRPr sz="115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2AEE902D-7AB7-4C24-BAE3-A25ED6E8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5221224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₱57,083.40</a:t>
            </a:r>
            <a:endParaRPr sz="15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8CD3AE4-E418-46CE-9524-289D88D7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35040"/>
            <a:ext cx="6565392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208C822-160F-4654-BC47-7444C69A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6035040"/>
            <a:ext cx="62910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“Gross Up” rows 2–4 and steps 4–12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09888584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CEB6600-9E97-4425-AA14-C90A4A5F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FIELD GUIDE 1 OF 3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1380BDA-B8D0-41FB-A09D-30F19CA6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Target and method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9e2cab2884d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7EEB149-8F44-46D7-8043-7F3E4A4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A64ED2E-0097-48D1-9B73-7B113EED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DFBD06A-887F-4737-BF6F-419A4FB0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4FA8A7B-A155-4147-A300-ED2D8F1F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8C39699-A11D-42AD-9309-54A33A35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6B7D0A3-C52A-45BE-8EA6-D1B19D4C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0E0671D-1896-4E0D-9085-A9F9A530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A959B3F-4E63-40F2-B8A9-02863DA5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20F1715-7E8B-4B52-AB4C-3D0EF592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5D3ACE5-C3C3-42F5-8875-DA43947B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F22A52E-6A0F-4DB6-90EE-A9B1F3D4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7CC0C3C-0757-401E-912E-465045E5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DFAA2C3-47BD-4174-A716-FBC96D28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456B1CD-31AC-413B-A97C-510605C9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45C835-1766-4B90-83CD-1A1389D9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A116B5D-C9B0-4905-AF35-1904FB6A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1A157702-E46E-4A6C-ADE5-3D7DF3D2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372B9AAB-48AF-4CB7-A879-DC8C91D2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299076C-6948-4877-A474-8D9D0E9B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16A327C-E561-4BE8-ADB9-D76FAFB3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Employee group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96555FA-E884-4500-84D7-68FE0322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this rule to a defined employee population, e.g. Rank and File.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F73D6E02-20D1-4643-B9E6-00871542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B9ACBE3-6828-41A5-93EB-AC8611F1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CDF001E1-9169-40D1-A21C-38F1ED96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DD3855-3F46-43E8-A5A5-3396BB3B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010B4D6E-C642-4D71-8B60-C551255C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5002D2D-EF3E-4E83-9FFA-5663EB33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Guaranteed target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CB49E4D-C03B-4107-86E3-0A4EF554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company guarantees a net pay figure or a net benefit amount.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439CD047-C340-4E54-8174-22E1ED73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DC94C8E5-8023-49B7-80ED-276E0EB3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BBCC3D3F-F93C-4DCD-886E-CE8252A7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7FF4AC0F-931B-4439-9394-4C0BCC9D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705CD8F-CD3E-4308-AFA2-515FD933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14292CF6-E177-4196-B843-2F5EB948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Tax method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2EA9F122-6098-4A03-8803-E6BDB6FE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Graduated iterates against the effective BIR table; flat applies a single final/expanded rate.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659E11C7-0F43-4A1B-A15B-E91C6DA7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EACF55-2A4D-45FC-9DF7-5C1FAF3E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6DCA328E-4960-4057-A3C7-E83D4A5D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48707D0F-E4E4-4808-BA3E-752654C7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6DAEC48A-766C-4008-8AC5-3C4F69BE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CF3A4E80-8D0B-4ABE-A051-A3D33610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Payroll frequency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61DAD61D-609B-4A07-B525-29F7D3CE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Which frequency of the effective withholding table the iteration reads.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61908074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AA1F4A6-837A-40D9-AA8F-FDE4B492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FIELD GUIDE 2 OF 3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535C2B-896D-4A42-934C-C5A09BA9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Effective table and tax rate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1b6887a1344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3F4A14F-73D0-4C7B-A936-0F7CD453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AEB1CC0-5C30-486A-8BE8-8E150345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90B0D23-2806-4CB0-85F2-F71F1E68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215C1A3-6EC6-48FA-BDAE-2FAC471D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A173FC0-B955-4BB6-86C8-8941EB86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07BC064-A152-420A-B211-599DD3BA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BE9B37D-BE64-41EA-8415-BF19968F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8977CE0-788D-4AE6-AC3B-A63D36F2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2249F79-FA08-4922-AAE3-8F1DCE0B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95C1E6C-E883-4119-8BD8-2300BBE0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DD5D3C9-1F2B-4504-8396-98151F02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DF5C4C5-B659-47EB-BFE3-1D939179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D32BB4F-E390-40AA-9E62-FC165AAF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92BCB63-A7CB-4D70-A615-CBC47C98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DDE79A30-9409-43AF-93AF-00C0FAE0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0E32FCD6-FC52-427D-A20F-AA07EA8C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3FD2A199-8857-4A6D-86A6-CB4B7EB5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EB0A3ED-65D5-4A4B-B7BC-3581A11C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C62058A-E7CE-4404-88EF-098A1923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0CB9C78-CCB1-4C04-9271-797AD25D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Table effective date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2E7A582-8047-4AD6-BD68-6EC4943B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Date used to pick the statutory table version in force for the run.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1B41BD9C-24D9-4E72-8977-C7A0FA7B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0163A76-658E-46BA-A769-505DD578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554BF322-C08F-4B85-B2BD-B359E0EF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CFED7EF-26C4-40B7-9685-29AAD8FB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967B42D-051B-4D79-A378-165B505F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59EC7BA1-79C8-4529-A8E2-E9C5A3E3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Flat / final tax rate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F3CDC2B-CD78-44EF-8454-F676835F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Single rate used for a final or expanded tax scenario instead of graduated withholding.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A5292CFA-2005-4FEB-AC08-9CFAD8E2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E0F1DFDC-71A9-421D-94D7-6F222EF3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C7A184B-FAFC-4D80-9324-F7CDC1B7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29653CA5-8F51-48DF-B8AC-5DBB4669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3CB0A5D6-AD82-4DA1-B746-A666D27B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C49DFDD8-1D59-4479-B716-6A584E03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Employer-absorbed share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33A154C5-3FEA-4ADA-A849-891B1FA7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Portion of the withholding the employer shoulders — 50% models a shared gross-up.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1BDB06BA-0D69-4B2C-B0A7-6A747D6D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A79BD6A1-8298-44F8-BD06-0F0623C5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FBA3242-A2D3-4F0A-8479-C1DFA48D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9089CB7-72E5-4E54-A438-DCDA49AD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05E18B81-BB18-4437-8BFF-C9533DBA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A5BC5D63-17B8-4033-B190-CC2EB68E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Convergence tolerance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4AD0EDF1-5911-40CF-BB6F-F5BD229E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close the computed net must land to the target before the iteration stops.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70338260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BF0EE7D-5277-40B8-A6C7-35C20DCD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FIELD GUIDE 3 OF 3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EC26314-0C3A-49F4-8167-5A9F17E4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Iteration limits and rounding</a:t>
            </a:r>
            <a:endParaRPr sz="3000"/>
          </a:p>
        </p:txBody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43d1599ba44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727774"/>
            <a:ext cx="5806440" cy="2179693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AD442D3-BAEF-4655-913A-FFA197B4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70842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CFA77F1-80DE-497E-8256-44621DAB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0" cy="6882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90B29BD-2CAF-40A2-9082-5263236C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E407AFF-8DE2-4505-A0BA-8E2D58DE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832898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0596EF28-0F23-4360-ACDF-9590C9C2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0" cy="152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A6F3A5D-E515-4281-8944-17D39D02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41A4CD9-6061-4B40-A57B-996478F2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4550975"/>
            <a:ext cx="3852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A3CE5B5-9A67-4D31-9C43-37D1EA3F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550975"/>
            <a:ext cx="0" cy="601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8742D099-2AE2-4249-89F4-640C9358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5152644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E3AEF54-477F-40CC-978E-7F324D64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04282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F7E3605-6990-4BF6-98A9-CA3545AF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04282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04F075B-3B73-45E2-8E93-0E29F6E0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888236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0A71566-5D54-48F4-AEB8-FC1CD57B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286B131-48DB-42EB-80D6-EF17777C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8FC883A-D0D6-4AF4-8614-BC74735C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96138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Maximum iterations</a:t>
            </a: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537031D-448A-4444-BDE5-A75B2F2F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272284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Safety limit so a non-converging setup fails visibly instead of looping.</a:t>
            </a:r>
            <a:endParaRPr sz="10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AFE53A5-D242-46DA-BAE0-A9C9BC46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70488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7E3E959-8B6A-4C1B-94D6-B0BF3E0D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70488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4E8AE6F-8824-431B-BC3A-88231B8E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223260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80AA4BA9-D5D0-4758-8917-58584730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7E87203-24BA-4072-AABA-F48FEE39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43EA687-464B-41A2-9996-6A1941BC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29641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Rounding</a:t>
            </a:r>
            <a:endParaRPr sz="12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3BF3F10-66DD-4DD1-BB68-93E0B3C2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607308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Rounding stage applied to the solved gross before the final tax is computed.</a:t>
            </a:r>
            <a:endParaRPr sz="10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8569B30B-4A90-47F9-8906-09CF5D01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422959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327BE658-9112-4441-9149-89A9FF08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422959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6739CEC5-6BE1-40AE-B24B-2B54E29A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558284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117F8F14-435D-4494-A97C-A9399A78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658B6C5A-C213-4D77-9C64-61BC5C32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7D2A258B-1DD6-4CD6-9536-829BEFBC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631436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Deduct mandatory contributions before tax</a:t>
            </a:r>
            <a:endParaRPr sz="12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4B2EC652-F6DD-4EAC-BE51-8A3F6E54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942332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Deducts the employee statutory share from taxable pay before the bracket is applied.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089108654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D6B9E1B-AFF4-4D3F-A743-83D0D925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WIRING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B0D9895-478C-459F-8331-35E191BE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each engine reads and feeds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89F6637-F62F-472F-9D80-F9D0ED4F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298448"/>
            <a:ext cx="4023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Reads from</a:t>
            </a:r>
            <a:endParaRPr sz="10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B8C239F-FC50-495E-9241-C8DCD8DE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98448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Produces</a:t>
            </a:r>
            <a:endParaRPr sz="10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AC4C313-7CB1-4375-9BCE-30634D03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5755A4D-88F0-4313-BB3F-9FF43AD5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27632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Take-Home Pay</a:t>
            </a:r>
            <a:endParaRPr sz="13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0311104-3837-4B16-BB8F-AFF7343C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29968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5A3D45-5B7D-4AD5-B672-49DD3CC6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627632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Deduction hierarchy reference table · employee loan and deduction balances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0AAA330-F15A-429B-A1E9-67107B2F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029968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C5F04D3-E60D-4D6D-AE46-B1038B68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627632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Deferred amounts, carry-forward schedule, payslip tags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05774F5-50F8-4968-B4AE-88475E00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0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17C7552-0012-4041-B02A-7F7EA0FF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43200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Retirement Pay</a:t>
            </a:r>
            <a:endParaRPr sz="13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70CAD3B-AB93-4915-8578-0FBAE45B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145536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9EAB2AC-E6A5-4292-A6D4-7CFC42A4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743200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Employee dates of birth, hire and retirement · plan membership · salary basis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3DE6281-CCB0-4492-B118-B3F3BAA3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3145536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BB2597D-4337-4B55-9DFA-DF3BC475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743200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Retirement pay value and its tax status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987D4E3-0964-4897-BE5A-58E53195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7ED646B-9C69-443A-98EC-683E2E12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58768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Pay</a:t>
            </a:r>
            <a:endParaRPr sz="13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5B7CA57-DBBA-4B2E-8A36-78B56EF4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261104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A1B9952-965A-45BA-A147-D823BE3B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858768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Retirement engine result · leave balances · outstanding loan and deduction balances</a:t>
            </a:r>
            <a:endParaRPr sz="11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C096381-83B7-4161-BC6D-10825871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4261104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9FC682C-B321-457B-86CB-71FF8CFD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858768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Net final pay breakdown for release</a:t>
            </a:r>
            <a:endParaRPr sz="11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3062452-8DCE-40D3-8BC8-1B87B758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74336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EB6B2CC-438F-4DEE-A1BA-CFA37238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74336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Gross Up</a:t>
            </a:r>
            <a:endParaRPr sz="13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A5446C8-7FCD-46DC-8FDE-7BEDD081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376672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C13C9A4-8C42-4ACF-A50D-C66469C6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974336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Effective BIR withholding table · employee statutory share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3CA117F-45B8-4CDF-995F-1AC450F3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5376672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9A11DDA-BE0E-4E4B-B942-F64F9FE7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974336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Gross to pay and the tax the employer absorbs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31417717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CC9E0C-ECD5-472E-9A41-9B5B7FDB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CONNECTED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6489382-B1A6-4019-8D54-955B77B1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Rates and ceilings live in versioned tables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cc61fbacf47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7441D26-1B92-431C-B31A-FEA5B6CA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BIR withholding table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5FC54B-7D15-436A-91A9-9E56124F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Effective-dated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805D31D-0BC4-4DB4-B383-233291E1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Payroll picks the version in force for the run, so a historical payroll can always be reproduced.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671059E-CF55-49ED-921D-D7CB14B8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Locked once used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39FD234-ACF2-4B5B-B88A-6E4E21F0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table a payroll has consumed cannot be edited — you publish a new version instead.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C60D4EF-86E3-4DD9-95E6-829BD970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Feeds Gross Up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A8D8A99-57FC-430A-9CB7-FC1495AE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bracket in the gross-up trace is read from this table, never hard-coded.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26000FA-809A-4B87-BC39-A2CCAC09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2F806DC-4818-4B05-A90F-BD512E5C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Tax Tables Flow v2 (14 May 2026); BRD Statutory Requirements 180–184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59421671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9440136-D23C-4911-8A0D-91DB4010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CONNECTED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08D63B-44CA-4DBC-8E3A-17E27887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Reference sources behind the formulas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fad6d7f6743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47B7366-238F-4AA7-8300-E393DE3D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Formula reference sources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929BA0E-9FCE-4382-BB99-F0FDE5CD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Named sources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E01D95C-A668-4331-A290-424AE268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Each formula input points at a maintained reference source rather than a number typed into a rule.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AFCFFBA-22D6-4BF6-92B8-A7064E13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Deduction hierarchy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586A19F-623F-4866-9265-CE298CF6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take-home adjustment order is one of these sources, so it is maintained by the business.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4888263-0C0C-4B0C-905E-247935DB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Change once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3180202-3D64-4AE5-BA3B-2CE11B0F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Update the source and every rule that reads it follows.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7284C4-D2E3-4060-8C1E-FCD51345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2E358C9-79C6-43A9-93D4-16B4AEB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Reference Table Module (feature points 62–63, 97–98)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2289808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26D051-D7C1-46FC-89CE-208FEDDA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CONNECTED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1C3F86E-7BAD-45C1-AB6B-071B0A2F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Employee payroll records feed the engines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0d9b18db544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E141670-4D3C-40A5-A984-92F072C4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Employee Masterfile — payroll data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4E0A2A6-A269-4161-A0DA-66D843AC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Loans and deductions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7EA1903-0673-4853-A9CC-5C63C311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Balances, amortisation, holds and remarks — the values the take-home engine adjusts.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228C77E-5266-4C3D-B50C-661DB737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Dates and plan type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1159E9-E105-4F26-9D6E-1F12DF4A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Hire date, birth date and plan membership drive retirement eligibility.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2C073EF-C680-48EA-AC3C-A1DD6591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Ceilings applied here too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3C7295D-D5FB-4432-AE26-4E47778E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Bonus and De Minimis ceilings split taxable and non-taxable amounts on the record itself.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C43C555-0E1D-4542-BA03-69B38810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D7054E9-C0F5-4FF4-BF76-50302D41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Dorado sheets: Loans, Deduction, Cost Allocation, Previous Employer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2413116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488E634-8339-4BE2-8BA3-F2A2C6C9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1752"/>
            <a:ext cx="3749039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E N D - T O - E N D   F L O W</a:t>
            </a:r>
            <a:endParaRPr sz="85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D6543A1-04C7-46DC-A600-FB5C5C15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55" y="567055"/>
            <a:ext cx="11311890" cy="4387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 i="0">
                <a:solidFill>
                  <a:srgbClr val="1C235B"/>
                </a:solidFill>
                <a:latin typeface="Georgia"/>
                <a:ea typeface="Georgia"/>
                <a:cs typeface="Georgia"/>
              </a:rPr>
              <a:t>How company policy becomes a payroll result</a:t>
            </a:r>
            <a:endParaRPr sz="2700" b="1" i="0">
              <a:solidFill>
                <a:srgbClr val="1C235B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8A7910E-26BA-45BB-9CAA-172F69A2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996696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8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Use this as the “map” before showing the individual Computational Basis screens and the four policy engines.</a:t>
            </a:r>
            <a:endParaRPr sz="108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A676DE9-499F-40B2-A99A-D5FF041E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53312"/>
            <a:ext cx="110185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C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D99E460-07DE-4E35-9E06-158F928B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SETUP PATH</a:t>
            </a:r>
            <a:endParaRPr sz="80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56AF7C3-1296-439E-A3BD-56140633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435608"/>
            <a:ext cx="1874519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Company
Configuration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93A89367-D8B0-494C-B59E-7E50368B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183" y="162763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3C2B6FB-2CCE-46FF-A5CC-9580FE78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435608"/>
            <a:ext cx="182880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Services
Information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8565AEA9-4F69-446A-9707-FC1E9C36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3" y="162763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24A049B-32C9-45B1-9CA0-1467D007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35608"/>
            <a:ext cx="182880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1FC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Computational
Basis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DCE0A03D-6C86-4C34-8095-99019FD9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162763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DF96564-0C6D-49E7-9D5B-7659BC5B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435608"/>
            <a:ext cx="224028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Company Rules +
Policy Engines</a:t>
            </a:r>
            <a:endParaRPr sz="82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04182841-06C4-4052-AFF5-AC4D0BE2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104F7AAF-79EA-40F7-AD42-867D1B9A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DA066A91-BFB0-4131-9C9D-99DB290B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BA79455E-C868-4F46-A124-7C90E4C5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0EE02EA-7927-419A-92FB-1CE90930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0962E57-AA56-4AEB-8F2C-A65867B4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458D5191-25DB-43D0-BF16-3D78208A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0271079-431D-4CAE-8A13-4705CC89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Written policy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4A6B800-123A-49A8-B01E-3969997D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Annex B / client policy is captured in business terms.
Example: protected net pay, retirement formula, final pay components.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1F79A2D0-91F6-4E4E-92D2-DACFC25E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1FC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517FF1F-AA0D-4159-91EF-8E31C0F1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EA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BEEFB1EF-8E42-4609-8F4D-6E649A47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71A86A4-BECC-467D-A096-A44505F7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Governed code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D67EA69-F928-4B67-9687-D67D198A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Computational Basis stores the approved formula/template.
Codes are reusable, versioned, and not hand-typed per rule.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D76D5F79-62FF-4F81-888C-151294ED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FFF38F3-3EA5-47FB-A4FA-5A936E67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E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D98951CD-7D50-4D1C-9E48-400881EB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096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089A6D37-CCB7-4142-BA90-F8B78132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Company Rule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E245BC7-7040-4AEB-9A5E-4FE8FCEC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Apply New Rule from the Company Rules register.
Choose who it applies to, then the code, then company/group values.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91E64330-2B82-45AA-98BA-4AA174D8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5DD9FF81-46E6-424F-B6D6-F7856067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E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BE176B89-7D2E-4E56-93C7-85E21D30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72A7A69F-55EB-4EA2-AC01-6D2406A6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Policy engines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0F9382C-90A6-42FA-A3D4-813227BC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The selected engine runs the active rule during payroll.
Formula stays controlled; values differ by company or group.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C2AD231C-85D9-4339-B380-4A6B2918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371246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THP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8108D49F-C6DF-443F-9CC3-3F1C5F7E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371246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RET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7A40B2F1-092A-40B4-80EF-8286C3FA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398678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FIN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14597B90-01FC-4A61-9E45-890590D6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398678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GUP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FE6A2A40-59D5-4956-B1BB-FBDE2834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5B84EBD8-F8C5-414D-A069-5905CE7C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4DB1B3E8-CA1D-4047-B303-7C125D6D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93BC936B-BD47-4F5C-BDBE-D6B0FF83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Payroll output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616B451C-6297-410C-A1D6-A21A38E9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Result feeds payroll calculation, deduction ledger, deferrals, carry-forward, and payslip tags.
Traceability shows what rule/code produced the result.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6CF58BAD-F3B2-44C8-BA48-7928DC67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185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2BE070C8-FB51-42A5-A8E4-976C76F3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626864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CREATE RULE</a:t>
            </a:r>
            <a:endParaRPr sz="80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Rounded Rectangle 48">
            <a:extLst xmlns:a="http://schemas.openxmlformats.org/drawingml/2006/main">
              <a:ext uri="{FF2B5EF4-FFF2-40B4-BE49-F238E27FC236}">
                <a16:creationId xmlns:a16="http://schemas.microsoft.com/office/drawing/2014/main" id="{CD451194-AF01-48E3-90F3-72C5682C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4572000"/>
            <a:ext cx="17830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1  Employee group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Connector 49">
            <a:extLst xmlns:a="http://schemas.openxmlformats.org/drawingml/2006/main">
              <a:ext uri="{FF2B5EF4-FFF2-40B4-BE49-F238E27FC236}">
                <a16:creationId xmlns:a16="http://schemas.microsoft.com/office/drawing/2014/main" id="{54E8B9ED-8DEF-4E54-9B77-CB70EFCD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4727448"/>
            <a:ext cx="256031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0E5ED89D-20EA-4A55-8202-6B9E93D9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572000"/>
            <a:ext cx="18288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2  Approved code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Connector 51">
            <a:extLst xmlns:a="http://schemas.openxmlformats.org/drawingml/2006/main">
              <a:ext uri="{FF2B5EF4-FFF2-40B4-BE49-F238E27FC236}">
                <a16:creationId xmlns:a16="http://schemas.microsoft.com/office/drawing/2014/main" id="{53817AEB-83EC-4F4A-A46A-3064BE8A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4727448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Rounded Rectangle 52">
            <a:extLst xmlns:a="http://schemas.openxmlformats.org/drawingml/2006/main">
              <a:ext uri="{FF2B5EF4-FFF2-40B4-BE49-F238E27FC236}">
                <a16:creationId xmlns:a16="http://schemas.microsoft.com/office/drawing/2014/main" id="{883B771F-1E40-4417-AF54-DA9046A4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72000"/>
            <a:ext cx="20116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3  Company values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Connector 53">
            <a:extLst xmlns:a="http://schemas.openxmlformats.org/drawingml/2006/main">
              <a:ext uri="{FF2B5EF4-FFF2-40B4-BE49-F238E27FC236}">
                <a16:creationId xmlns:a16="http://schemas.microsoft.com/office/drawing/2014/main" id="{8D33ADB3-6C7B-42E4-BE9D-EEB73895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4727448"/>
            <a:ext cx="256033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Rounded Rectangle 54">
            <a:extLst xmlns:a="http://schemas.openxmlformats.org/drawingml/2006/main">
              <a:ext uri="{FF2B5EF4-FFF2-40B4-BE49-F238E27FC236}">
                <a16:creationId xmlns:a16="http://schemas.microsoft.com/office/drawing/2014/main" id="{E6B7574F-A8D7-4C70-9234-14D2E613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4572000"/>
            <a:ext cx="2212848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4  Enable + compute</a:t>
            </a:r>
            <a:endParaRPr sz="82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137DCE67-3A6E-42C8-A186-3ACD2C73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5232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RULE GUARDRAILS</a:t>
            </a:r>
            <a:endParaRPr sz="85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6A59E3C6-0879-4B79-BC12-69753EC2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610E164F-DA93-4015-8DDF-C2698C19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Only approved codes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414D71F6-5C32-4EBE-B4C8-3CD5D386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List is filtered by the selected sub-category.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Rounded Rectangle 59">
            <a:extLst xmlns:a="http://schemas.openxmlformats.org/drawingml/2006/main">
              <a:ext uri="{FF2B5EF4-FFF2-40B4-BE49-F238E27FC236}">
                <a16:creationId xmlns:a16="http://schemas.microsoft.com/office/drawing/2014/main" id="{EE9797BF-3397-49AD-BCAB-4F9A0A5E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D30ECDFB-BC80-4F5A-99D7-110C2454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Formula locked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1F8B4622-8669-4D84-A6D2-46361060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Standard codes stay controlled; rule values vary.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Rounded Rectangle 62">
            <a:extLst xmlns:a="http://schemas.openxmlformats.org/drawingml/2006/main">
              <a:ext uri="{FF2B5EF4-FFF2-40B4-BE49-F238E27FC236}">
                <a16:creationId xmlns:a16="http://schemas.microsoft.com/office/drawing/2014/main" id="{1F6CCFF0-98CE-4F83-B5B8-48719997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586B3BDB-1D9B-4CD1-8ECA-ED57FA1F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Register cannot disagree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696ADC0F-472E-48ED-A9E3-178F8CB0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Engine-owned rule rows are edited in the engine.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Rounded Rectangle 65">
            <a:extLst xmlns:a="http://schemas.openxmlformats.org/drawingml/2006/main">
              <a:ext uri="{FF2B5EF4-FFF2-40B4-BE49-F238E27FC236}">
                <a16:creationId xmlns:a16="http://schemas.microsoft.com/office/drawing/2014/main" id="{324FFABC-67D4-4548-9E7A-2413486E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19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61838FB3-6E89-4295-885D-6CC0EEC1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References are versioned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149B5CE7-D647-42AF-B70A-0CAA6A6F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Rates, ceilings and brackets live in tables.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Rounded Rectangle 68">
            <a:extLst xmlns:a="http://schemas.openxmlformats.org/drawingml/2006/main">
              <a:ext uri="{FF2B5EF4-FFF2-40B4-BE49-F238E27FC236}">
                <a16:creationId xmlns:a16="http://schemas.microsoft.com/office/drawing/2014/main" id="{A0FBF076-EB79-4689-8F49-0E174E1A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419088"/>
            <a:ext cx="417880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C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">
                <a:solidFill>
                  <a:srgbClr val="444B60"/>
                </a:solidFill>
                <a:latin typeface="Arial"/>
                <a:ea typeface="Arial"/>
                <a:cs typeface="Arial"/>
              </a:rPr>
              <a:t>Source · Existing deck pages 3–10: orientation, Company Rules, and policy-engine library</a:t>
            </a:r>
            <a:endParaRPr sz="72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509484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F8E2614-CBAB-4615-8D7C-520528F3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APPENDIX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92B2B41-D4FE-4529-9913-872908DA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99232"/>
            <a:ext cx="8229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Where every screen came from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1B1779-9ED4-4A65-837D-A36C755D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Sources, row-level traceability and a glossary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48954969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3C5CBC7-3BA7-4D23-A01D-F5037EC7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FFE0D4-BD5F-4627-AE46-E466DDD3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Source documents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B58F13-63A6-4631-BE3F-4AF1CBA3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5024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95FD710-66D2-496C-B175-1DED021E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44752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Annex B</a:t>
            </a:r>
            <a:endParaRPr sz="12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A830601-3E1F-41D2-A611-F918F0D8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83664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Employee Masterfile Payroll Data Tables from Dorado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0AF9776-F942-4FD5-972B-E884DF44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1371600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Sheets used: Take Home Pay · Retirement Pay · Final Pay · Gross Up · Dorado Loans · Dorado Deduction · Dorado Cost Allocation · Dorado Previous Employer · De Minimis Ceiling Set Up · 13th Mo Pay &amp; Other Bonuses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66127FA-4FD8-4660-9895-1C733306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78608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354B6E8-8363-448E-A3DC-5295B811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8833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Annex C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FF881A-81BB-4C28-9A8F-FD9E25BD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27248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Sub Module 3 — Payroll</a:t>
            </a:r>
            <a:endParaRPr sz="8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048FAC5-12E2-4DA4-8D3E-0DDCA500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615184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Payroll transaction preparation, inputs, calculation and approval lifecycle. Referenced for how a computed policy is consumed by a payroll run.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D96C64A-EAE4-4F79-91E9-EAEB790A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2192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BC08EF3-EC62-4436-A67F-6FB8A215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Phase 2 BRD Audit Summary</a:t>
            </a:r>
            <a:endParaRPr sz="12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A9938F1-EC25-4B74-AF8F-D3FBD94A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70832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Overall status — 331 requirement rows</a:t>
            </a:r>
            <a:endParaRPr sz="8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6067EA3-90E6-4AE6-B32C-2EBB4FE0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858768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Computational Basis module (feature points 73–82), Settings module set-up rows 18–20 and 50–55, Statutory Requirements 180–184.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7FC56EB-0129-4A62-AB1D-6D1778D3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65776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C533F0A-43A5-496D-B14E-74C6C9E5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75504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Tax Tables Flow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B274102-219B-4E37-B081-0EECB04C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14416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v2 dated 14 May 2026 (supersedes v1)</a:t>
            </a:r>
            <a:endParaRPr sz="8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39AF889-E16D-42E1-9D29-30170AE9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5102352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Table structure, effectivity selection, and the rule that a table used by a payroll transaction may not be edited.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69202991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5B1813F-8B9F-4ABA-A30B-AFEF5CF8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B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1963795-BF51-46E4-A9D7-D509489A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Take-Home Pay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34B79E-BD45-4445-B589-9CE0B50B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“Take Home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42245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4–5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Minimum take-home based on basic salary, 40% example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Protected base = Basic Pay; threshold type Percentage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13–14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 on gross pay, 30% example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Protected base = Gross Pay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21–22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 on gross less reimbursements, 30%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Protected base = Gross Pay less reimbursements — used in the demo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29–30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Guaranteed minimum peso net pay, ₱8,000 example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Threshold type = Fixed Amount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8–11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in full; loans may be deferred; carry over; notify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rank 0; auto-defer, carry-forward and notification switches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45–59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Loan repayment cap, 25% of gross or a fixed ₱10,000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Loan cap base, type and value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61–83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LAABS and undertime cap by %, days, or protected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Attendance cap base, type and value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85–103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Hierarchy table, statutory rank 0, optional last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Deduction and loan hierarchy, maintained as a reference source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106–109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Loans at cap but net still short — choose what wins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Conflict priority selector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138–155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Deferred tracking, payslip tag fields, deduction ledger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Carry-forward table, payslip tag block and deduction ledger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358835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EE18E96-0396-4737-B18E-4577B966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C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AF849D-BCE4-4CF6-98E6-6A4A52F4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Retirement Pay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BF7E4D9-3F78-4E68-985A-9C492077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“Retirement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345643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3–6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Daily rate × 22.5 × years of service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value shown in the scenario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Fractions of six months or more count as one year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Service rounding rule; 12y 6m → 13 years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13–15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RA 7641, company plan, or override if more beneficial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Retirement plan type selector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24–29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Divisor, days per year, salary basis, benefits, rounding, cap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Formula inputs, all configurable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30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RetirementPay = MAX(statutory, company plan)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“Best of” option; both values displayed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31–37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Age 60, compulsory 65, five years service, early retirement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Eligibility rules and the eligibility strip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38–41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RA 7641 and RA 4917 tax exemption conditions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Taxation rule; the result records why it is exempt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46–49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Retirement pay forms part of final pay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Result feeds the Final Pay engine automatically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238918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49225D1-6F8B-4414-B9C3-54C06635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D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288D42-8929-4A5E-A1D0-35B18B17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Final Pay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3CC179-41C8-4C64-84F3-B172E984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“Final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268833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5–11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Mandatory: unpaid salary, 13th month, SIL, separation, retirement, final tax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Mandatory component switches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12–18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Optional: convertible leave, allowances, commissions, cash bond, gratuity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Optional component switches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19–29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Company rules: conversion, divisor, rounding, advance 13th, loan balances, negative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Company rule selectors on the settings card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30–31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Pull last days worked, leave balances, unpaid OT and LAABS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Scenario inputs drawn from the employee record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32–34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Only authorised deductions; auto-offset before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Offsets shown as negative lines in the breakdown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36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Output — final pay breakdown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Component-by-component breakdown table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555526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4A9B00-4538-44AA-8E60-FD83E9E1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0C4613-F59A-4EFF-B38B-FD5D9AE3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Gross Up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506AC11-25D1-4EE7-943E-6B724B6D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“Gross Up”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345643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2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Employer shoulders the tax so the employee receives a guaranteed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Employer-absorbed share, default 100%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3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Divide the intended net by (1 − rate)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Available as the flat / final tax method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Use BIR tables: taxable income, correct bracket, base tax + excess 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Graduated method, reading the effective BIR table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7–8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Choose the income and enable gross-up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Guaranteed target selector and engine switch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10–11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Add grossed-up income; subtract mandatory contributions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Taxable compensation line in the calculation trace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12–14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Identify bracket; apply base tax + excess × rate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Bracket named in the trace, e.g. from ₱33,333, ₱1,875 + 20%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15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Recompute gross until net equals the required amount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Iteration table with the gap closing to zero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16–18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Show gross, employer-absorbed tax, and net released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The four result tiles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190935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D9D9B23-F06E-429E-91B1-C1C024B0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F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5D97936-45B5-4E23-8E01-A417577D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Glossary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422DE67-9AB1-4BEE-A52C-F5AA46A5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7160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Computational Basis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53F9882-A508-4A22-A2D9-228834CF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45920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controlled library of standard formulas, policy engines and the reference sources they read.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2A5D5F1-7B21-43F5-8951-E21BCFCB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40864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Policy engine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30482B0-083A-4361-A2B9-90B91E85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15184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screen that computes one family of payroll policy and shows its full working. There are four.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C7F283-8D8F-4AED-8BD2-D9D82455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Policy code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DB05028-75A2-4E60-9D08-DF1E89C2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reusable, approved handle on an engine — for example THP-001. Assigned to Company Rules.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5382312-6AE9-4D9B-96FF-17F79502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Rule</a:t>
            </a:r>
            <a:endParaRPr sz="12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3B51804-1167-476B-9116-87D1CAB0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53712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policy applied to an employee group, with its own parameter values.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B77BF44-1169-495E-95F7-79209CB5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48656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Protected minimum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6F3A787-8922-40CA-90A7-AD93C9E7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22976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net pay a rule guarantees, expressed as a percentage of a base or a fixed amount.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B0BBBB6-5EF0-4DCE-AAEA-6198A747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37160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Hierarchy / rank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5D8FB15-720B-4A2D-88FD-BF4B54B2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645920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order in which controllable deductions are trimmed. Statutory items are rank 0 and never adjusted.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B83C972-AB96-4EE0-91FD-4DCF8E3D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340864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Deferral / carry-forward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D6AF31D-305D-4C8D-AABF-8A3D3C84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615184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 amount not collected this cutoff, rescheduled with its outstanding balance preserved.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D1FED57-D6F6-46D6-A35B-DB617766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310128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Effective-dated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E1CADA1-BFBD-4F25-B4BB-8D558A5B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84448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version with a start date. Payroll uses the version in force for that run.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A3C9037-E27F-4132-A0EE-CF39D903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279392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Convergence</a:t>
            </a:r>
            <a:endParaRPr sz="12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DD36B5C-1ADC-4979-9F0C-D8A86C8C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553712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For gross-up: repeating the calculation until the computed net matches the target within tolerance.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110269498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1538868-F3E4-4C35-A64A-6E5B1C1F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G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4057E47-177A-4935-AAA6-CCA3DEF7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still needs a business decision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12C40A0-3EA5-47B9-9E4E-BA872124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15568"/>
            <a:ext cx="110276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These are places where the workbooks offer alternatives or leave a value open. The app makes each one configurable rather than assuming an answer.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73B5071-8D8C-4A18-AF1A-A93B8538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DB1EC2F-CBDA-4395-A875-AB71223C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3D6A5D-33DE-483A-9880-335EF23B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591056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Which take-home policy is active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9B377E-2DE8-405E-B355-733CCC34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591056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Annex B lists five alternative minimum-net policies and several cap rules. Only one set should be switched on per company or group.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F4A5F0B-E019-458C-80AD-1AD908CD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1591056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 Home Pay rows 4–43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F3FC1FA-7C38-4C2D-B4B8-1697B83D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A26CA3C-14B4-4D20-A6A6-339DCE29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EEEBB3A-5604-4AE9-AE22-51639CD7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6032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Bonus threshold priority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556AA1E-9ADC-4A9D-BB0C-F766589C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560320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When several bonus types share one non-taxable ceiling, the consuming order must be agreed.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FFA6EF0-6B8D-4661-8989-7797B54F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256032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BRD 13th month / bonus ceiling</a:t>
            </a:r>
            <a:endParaRPr sz="9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4EC41D5-EA86-4FB3-9607-24793AD1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661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B758BD0-5668-42CD-87C4-B18D0B6C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661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DDE5E6-996A-4478-9757-6C7AD93A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529584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Final pay when net is negative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A718A23-789D-44ED-9ED6-C42C923F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529584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treatment of a residual balance needs a stated rule.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6A790BE-F988-4761-9C55-EDB872D8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3529584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row 29</a:t>
            </a:r>
            <a:endParaRPr sz="9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F2FC8F0-F709-4D76-8C2D-C6774CA3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3BFED99-6EA5-452F-A5D8-325D605A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70A9339-EDF2-45BF-AF1A-E9E907CC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498848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Gross-up convergence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CB207CA-3A5D-4095-A71F-D6E7691F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498848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Tolerance, iteration limit and rounding stage are currently set to sensible defaults in the app.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EC7D32D-25CF-4D98-ABF7-60D10984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4498848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rows 15–16</a:t>
            </a:r>
            <a:endParaRPr sz="9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B33EC68-0A88-41D3-A6FE-A53300D8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D3E302E-C31F-4021-BBD3-1711C8A7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80F3597-1A2D-4F9E-8229-FDF6978B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468112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Statutory values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BE50320-3E8D-4083-AB8E-1C5E88BF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5468112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All rates, brackets and ceilings on screen are sample data and must be confirmed against the effective official tables before use.</a:t>
            </a:r>
            <a:endParaRPr sz="10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DB43873-0069-47B9-8B11-F61223B0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5468112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Statutory tables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208388533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66978C6-2449-4E2B-9FF8-19913850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884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What this demonstrates</a:t>
            </a:r>
            <a:endParaRPr sz="38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64CA953-0A66-44F2-9298-5B5C2899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266DB0B-85C8-440E-B296-AAB498A3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EB53804-B3B8-4D79-AD54-8FF13A3D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72384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written policies are configurable settings, not code changes.</a:t>
            </a:r>
            <a:endParaRPr sz="14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4C85930-28A7-4D52-A2FD-381DB522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F3B916C-7436-4FCE-84CE-926FEBFA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FEBD35-B1F0-40D1-B3F6-70F32F46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30752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Every result shows its working — base, threshold, ranks, brackets and iterations.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18F18EC-6D5C-44EE-84EF-2B197523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3B65DB5-59CA-49F1-B5AC-AA6F5F7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8169F1-3D1A-45DA-B435-6806315D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38912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engines feed each other; nothing is re-keyed between them.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DB2B17A-3388-43ED-A8EF-4DBC440F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B62851F-4668-4197-BCFA-0B738AF4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7A1D5CD-51DA-4952-8A6A-F6C04706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047488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Every screen traces back to a row in your own workbooks.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01084211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2026-08-10T16:02:17.0160000Z</dcterms:created>
  <dcterms:modified xsi:type="dcterms:W3CDTF">2026-08-10T16:02:17.0160000Z</dcterms:modified>
</coreProperties>
</file>