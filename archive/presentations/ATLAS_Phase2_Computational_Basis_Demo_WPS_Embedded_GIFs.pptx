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session: this is about traceability from their Excel to a working screen, not about software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nobody edits a formula. They pick an approved code and set its values for a group of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engine has its own tab. The code beside the tab name is the governed policy code you assign in Company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wording from their own sample policy 3, typed straight into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codes on one engine: one governs the protected minimum, the other the caps. Both are assignable to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reuse: the schema is governed centrally, the values are the client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Company Rules / Apply New Rule.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C:\Users\josrp\OneDrive\Documents\Atlas\ATLAS_Demo_Videos\01-company-rules.mp4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THP-001 Minimum Take-Home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C:\Users\josrp\OneDrive\Documents\Atlas\ATLAS_Demo_Videos\02-take-home-pay.mp4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ledger: due, deducted, deferred, accumulated. This is their row 143-152 payslip requirement made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RET-001 Retirement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C:\Users\josrp\OneDrive\Documents\Atlas\ATLAS_Demo_Videos\03-retirement-pay.mp4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is the point: the system computes both and uses the better one, and records why it is 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FIN-001 Final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C:\Users\josrp\OneDrive\Documents\Atlas\ATLAS_Demo_Videos\04-final-pay.mp4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the link: retirement pay forms part of final pay, exactly as row 48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GUP-001 Gross Up.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C:\Users\josrp\OneDrive\Documents\Atlas\ATLAS_Demo_Videos\05-gross-up.mp4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Bracket used: from ₱33,333 with fixed tax ₱1,875 plus 20% on the excess. The trace shows the iteration and the gap closing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re-keyed between engines. This is the answer to "does it connect".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open during Q&amp;A so anyone can challenge a screen and be shown the row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are the source of truth. Anything on screen that is not in one of these is flagged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statutory numbers on screen are sample data pending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inviting them to challenge any screen — the appendix has the row reference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ATLAS PHASE 2 · PAYROLL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Computational Basis</a:t>
            </a:r>
            <a:endParaRPr sz="5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your take-home pay, retirement, final pay and gross-up rules</a:t>
            </a:r>
            <a:endParaRPr sz="1700"/>
          </a:p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inside the application</a:t>
            </a:r>
            <a:endParaRPr sz="17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2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Working prototype · wireframe view · every screen in this deck is a live screenshot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 will walk through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chain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engines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Worked examples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connects to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Traceability</a:t>
            </a:r>
            <a:endParaRPr sz="14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maps every screen back to the exact workbook rows it came from.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IDEA IN ONE PICTURE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your written policy to a payroll result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policy</a:t>
            </a:r>
            <a:endParaRPr sz="13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B, written in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plain business language</a:t>
            </a:r>
            <a:endParaRPr sz="10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Governed code</a:t>
            </a:r>
            <a:endParaRPr sz="13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 policy-engine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code, e.g. THP-001</a:t>
            </a:r>
            <a:endParaRPr sz="10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Assigned to an employee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with its own values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Computes and shows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its full working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result</a:t>
            </a:r>
            <a:endParaRPr sz="13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Deductions, deferrals,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ledger and payslip tags</a:t>
            </a:r>
            <a:endParaRPr sz="10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“Rules Set Up — Client-defined Rules”; Annex B Take Home Pay rows 113–156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ORIENTATION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controlled library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is hand-typed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Reached from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Computational Basis Module (feature points 73–82)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SCOPE OF TODAY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4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· THP-002</a:t>
            </a:r>
            <a:endParaRPr sz="1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400"/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RET-001 · RET-002</a:t>
            </a:r>
            <a:endParaRPr sz="1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4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FIN-001</a:t>
            </a:r>
            <a:endParaRPr sz="10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4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GUP-001</a:t>
            </a:r>
            <a:endParaRPr sz="10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sheets: Take Home Pay · Retirement Pay · Final Pay · Gross Up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CONNECTION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register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register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Engine-owned rows are locked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New Rule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 60, “Rules Set Up — Client-defined Rules”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in your own words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21–27 (policy 3)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approved codes appear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 Minimum Take-Home Pay</a:t>
            </a:r>
            <a:endParaRPr sz="1200"/>
          </a:p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  Maximum Controllable Deductions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4–5 (policy 1) and 45–51 (loan cap)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Values vary, the schema does not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113–124, “Possible Company Set Up” 1–5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LIBRARY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 code library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Coverage is measured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vs variant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engine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points 19–20, Computational Basis set-up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business rule to governed computation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Watch the three-step flow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ANIMATED DEMO Â·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Company Rules animated walkthrough" descr="Company Rules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1325880"/>
            <a:ext cx="59772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1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caps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Adjustment hierarchy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 and carry forward</a:t>
            </a:r>
            <a:endParaRPr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protection, caps and deferral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ANIMATED DEMO Â·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Take-Home Pay animated walkthrough" descr="Take-Home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462405"/>
            <a:ext cx="6261735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Take-Home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4, 13, 21, 29, 37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Cap configuration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LAABS cap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45–84 (caps) and 106–109 (conflict priority)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hierarchy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Ranked, not guessed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Partial adjustment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Maintained as a reference table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85–103, hierarchy table and note at row 87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pay</a:t>
            </a:r>
            <a:endParaRPr sz="10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₱36,500</a:t>
            </a:r>
            <a:endParaRPr sz="17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Less reimbursements</a:t>
            </a:r>
            <a:endParaRPr sz="1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₱2,000</a:t>
            </a:r>
            <a:endParaRPr sz="170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₱34,500</a:t>
            </a:r>
            <a:endParaRPr sz="17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 (30%)</a:t>
            </a:r>
            <a:endParaRPr sz="10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₱10,350</a:t>
            </a:r>
            <a:endParaRPr sz="1700"/>
          </a:p>
        </p:txBody>
      </p:sp>
      <p:sp>
        <p:nvSpPr>
          <p:cNvPr id="14" name="Text 10"/>
          <p:cNvSpPr>
            <a:spLocks noGrp="1"/>
          </p:cNvSpPr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take-home</a:t>
            </a:r>
            <a:endParaRPr sz="1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₱15,500</a:t>
            </a:r>
            <a:endParaRPr sz="17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this cutoff</a:t>
            </a:r>
            <a:endParaRPr sz="10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₱750</a:t>
            </a:r>
            <a:endParaRPr sz="17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8–11 (statutory in full, defer, carry over, notify)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Carry-forward and payslip tagging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Carried forward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matters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138–155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GOVERNANCE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Opened from THP-002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underneath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113–130, set-up items 1–6b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05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5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 type</a:t>
            </a:r>
            <a:endParaRPr sz="105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50"/>
          </a:p>
        </p:txBody>
      </p:sp>
      <p:sp>
        <p:nvSpPr>
          <p:cNvPr id="49" name="Text 46"/>
          <p:cNvSpPr>
            <a:spLocks noGrp="1"/>
          </p:cNvSpPr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5" name="Text 52"/>
          <p:cNvSpPr>
            <a:spLocks noGrp="1"/>
          </p:cNvSpPr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50"/>
          </a:p>
        </p:txBody>
      </p:sp>
      <p:sp>
        <p:nvSpPr>
          <p:cNvPr id="56" name="Text 53"/>
          <p:cNvSpPr>
            <a:spLocks noGrp="1"/>
          </p:cNvSpPr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a total deductions cap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base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type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non-loan deduction allowed for the payroll period.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base</a:t>
            </a:r>
            <a:endParaRPr sz="10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type</a:t>
            </a:r>
            <a:endParaRPr sz="10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base</a:t>
            </a:r>
            <a:endParaRPr sz="1050"/>
          </a:p>
        </p:txBody>
      </p:sp>
      <p:sp>
        <p:nvSpPr>
          <p:cNvPr id="52" name="Text 49"/>
          <p:cNvSpPr>
            <a:spLocks noGrp="1"/>
          </p:cNvSpPr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5" name="Shape 52"/>
          <p:cNvSpPr>
            <a:spLocks noGrp="1"/>
          </p:cNvSpPr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8" name="Text 55"/>
          <p:cNvSpPr>
            <a:spLocks noGrp="1"/>
          </p:cNvSpPr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type</a:t>
            </a:r>
            <a:endParaRPr sz="1050"/>
          </a:p>
        </p:txBody>
      </p:sp>
      <p:sp>
        <p:nvSpPr>
          <p:cNvPr id="59" name="Text 56"/>
          <p:cNvSpPr>
            <a:spLocks noGrp="1"/>
          </p:cNvSpPr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50"/>
          </a:p>
        </p:txBody>
      </p:sp>
      <p:sp>
        <p:nvSpPr>
          <p:cNvPr id="62" name="Shape 59"/>
          <p:cNvSpPr>
            <a:spLocks noGrp="1"/>
          </p:cNvSpPr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00"/>
          </a:p>
        </p:txBody>
      </p:sp>
      <p:sp>
        <p:nvSpPr>
          <p:cNvPr id="65" name="Text 62"/>
          <p:cNvSpPr>
            <a:spLocks noGrp="1"/>
          </p:cNvSpPr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</a:t>
            </a:r>
            <a:endParaRPr sz="1050"/>
          </a:p>
        </p:txBody>
      </p:sp>
      <p:sp>
        <p:nvSpPr>
          <p:cNvPr id="66" name="Text 63"/>
          <p:cNvSpPr>
            <a:spLocks noGrp="1"/>
          </p:cNvSpPr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lates / absence / undertime adjustment allowed per payroll.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Auto-defer or stagger deductions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 forward to next payroll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tagging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Admin and employee notification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Creates an alert when a deduction is deferred or an exception remains.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2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 and formula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 rules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Service-year rounding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treatment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eligibility and benefit basis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RET-001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ANIMATED DEMO Â·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Retirement Pay animated walkthrough" descr="Retirement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35" y="1371600"/>
            <a:ext cx="29756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input is configurable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11–37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12 years 6 months</a:t>
            </a:r>
            <a:endParaRPr sz="15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</a:t>
            </a:r>
            <a:endParaRPr sz="1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₱60,000 ÷ 30 × 22.5 × 13</a:t>
            </a:r>
            <a:endParaRPr sz="10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₱585,000</a:t>
            </a:r>
            <a:endParaRPr sz="19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value</a:t>
            </a:r>
            <a:endParaRPr sz="12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divisor, days and benefits</a:t>
            </a:r>
            <a:endParaRPr sz="105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used</a:t>
            </a:r>
            <a:endParaRPr sz="12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more beneficial of the two</a:t>
            </a:r>
            <a:endParaRPr sz="105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3–6, 30, 38–41, 67–72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plan type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salary basis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days per service year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per service year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Additional benefits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retirement age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Earliest statutory age used for normal retirement eligibility.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Compulsory retirement age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service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early-retirement age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guarantee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Floor applied to the company-plan value when configured.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cap (0 = none)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rounding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Taxation rule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BIR-approved company retirement plan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Marks whether the company plan meets the RA 4917 approval condition.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3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components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Authorised offsets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Negative net rule</a:t>
            </a:r>
            <a:endParaRPr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Select components, offsets and settlement rules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FIN-001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ANIMATED DEMO Â·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Final Pay animated walkthrough" descr="Final Pay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95" y="1371600"/>
            <a:ext cx="23552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“Final Pay” rows 5–18 (components) and 19–29 (rules)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final pay</a:t>
            </a:r>
            <a:endParaRPr sz="11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₱856,500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included</a:t>
            </a:r>
            <a:endParaRPr sz="11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26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offsets</a:t>
            </a:r>
            <a:endParaRPr sz="11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−₱47,800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</a:t>
            </a:r>
            <a:endParaRPr sz="11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₱808,700</a:t>
            </a:r>
            <a:endParaRPr sz="26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46–49; “Final Pay” rows 30–34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2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company components</a:t>
            </a:r>
            <a:endParaRPr sz="120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Company-specific items added to final pay.</a:t>
            </a:r>
            <a:endParaRPr sz="10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 rule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Separation pay rule by cause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of service years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 for final pay.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Advance 13th month rule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Last cutoff rule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Government loan balance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loan balance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company loan balance is settled at separation.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pay rule when negative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Auto-offset authorized deductions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Notify admin on release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Alerts payroll administrators once the final pay breakdown is ready for review.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4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net target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BIR table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Iterate to convergence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cost shown</a:t>
            </a:r>
            <a:endParaRPr sz="12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Define the net target and tax absorption method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GUP-001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Define target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Control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Validate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PH"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â–¶ ANIMATED DEMO Â· START WPS SLIDE SHOW</a:t>
            </a:r>
            <a:endParaRPr lang="en-PH" sz="1000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WPS Embedded GIF - Gross Up animated walkthrough" descr="Gross Up animated walkthroug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1371600"/>
            <a:ext cx="37369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Target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Method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share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Controls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6–18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is not simply net ÷ (1 − rate)</a:t>
            </a:r>
            <a:endParaRPr sz="15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taxable pay</a:t>
            </a:r>
            <a:endParaRPr sz="115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₱51,875.00</a:t>
            </a:r>
            <a:endParaRPr sz="15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Withholding tax absorbed by employer</a:t>
            </a:r>
            <a:endParaRPr sz="115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₱5,208.40</a:t>
            </a:r>
            <a:endParaRPr sz="1500"/>
          </a:p>
        </p:txBody>
      </p:sp>
      <p:sp>
        <p:nvSpPr>
          <p:cNvPr id="13" name="Shape 9"/>
          <p:cNvSpPr>
            <a:spLocks noGrp="1"/>
          </p:cNvSpPr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released to employee</a:t>
            </a:r>
            <a:endParaRPr sz="115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₱50,000.00</a:t>
            </a:r>
            <a:endParaRPr sz="1500"/>
          </a:p>
        </p:txBody>
      </p:sp>
      <p:sp>
        <p:nvSpPr>
          <p:cNvPr id="16" name="Shape 12"/>
          <p:cNvSpPr>
            <a:spLocks noGrp="1"/>
          </p:cNvSpPr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>
            <a:spLocks noGrp="1"/>
          </p:cNvSpPr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employer cost</a:t>
            </a:r>
            <a:endParaRPr sz="115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₱57,083.40</a:t>
            </a:r>
            <a:endParaRPr sz="150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2–4 and steps 4–12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1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target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method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frequency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frequency of the effective withholding table the iteration reads.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2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effective date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Flat / final tax rate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Employer-absorbed share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close the computed net must land to the target before the iteration stops.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3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iterations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 mandatory contributions before tax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Deducts the employee statutory share from taxable pay before the bracket is applied.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WIRING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each engine reads and feeds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from</a:t>
            </a:r>
            <a:endParaRPr sz="10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Produces</a:t>
            </a:r>
            <a:endParaRPr sz="105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value and its tax status</a:t>
            </a:r>
            <a:endParaRPr sz="110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 breakdown for release</a:t>
            </a:r>
            <a:endParaRPr sz="110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35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to pay and the tax the employer absorbs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 withholding table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Locked once used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Feeds Gross Up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Tax Tables Flow v2 (14 May 2026); BRD Statutory Requirements 180–184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Formula reference sources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Named sources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Change once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Reference Table Module (feature points 62–63, 97–98)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— payroll data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Loans and deductions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Dates and plan type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Ceilings applied here too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Dorado sheets: Loans, Deduction, Cost Allocation, Previous Employer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6928" y="301752"/>
            <a:ext cx="3749039" cy="210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7055" y="567055"/>
            <a:ext cx="11311890" cy="438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0000"/>
          </a:bodyPr>
          <a:lstStyle/>
          <a:p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85216" y="99669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66928" y="1353312"/>
            <a:ext cx="11018520" cy="56692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8096" y="1481328"/>
            <a:ext cx="10058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PATH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828800" y="1435608"/>
            <a:ext cx="1874519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
Configuration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758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160520" y="1435608"/>
            <a:ext cx="18288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Services
Information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6044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46520" y="1435608"/>
            <a:ext cx="1828800" cy="384048"/>
          </a:xfrm>
          <a:prstGeom prst="roundRect">
            <a:avLst/>
          </a:prstGeom>
          <a:solidFill>
            <a:srgbClr val="F6F1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
Basis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nector 11"/>
          <p:cNvSpPr>
            <a:spLocks noGrp="1"/>
          </p:cNvSpPr>
          <p:nvPr/>
        </p:nvSpPr>
        <p:spPr>
          <a:xfrm>
            <a:off x="8330184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32520" y="1435608"/>
            <a:ext cx="2240280" cy="384048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2660904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4974336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287768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9601200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66928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656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13232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78992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Written policy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2880360" y="2249424"/>
            <a:ext cx="2057400" cy="1993392"/>
          </a:xfrm>
          <a:prstGeom prst="roundRect">
            <a:avLst/>
          </a:prstGeom>
          <a:solidFill>
            <a:srgbClr val="F6F1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990088" y="2359152"/>
            <a:ext cx="1837943" cy="32004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3026664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392424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Governed code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044952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193792" y="2249424"/>
            <a:ext cx="2057400" cy="1993392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03520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5340096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05856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358384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07224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616952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653528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8019288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engines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671816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708392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513064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708392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513064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9820656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9930384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9966960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332720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Payroll output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985248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6928" y="4498848"/>
            <a:ext cx="11018520" cy="566928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768096" y="4626864"/>
            <a:ext cx="11430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RULE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1874519" y="4572000"/>
            <a:ext cx="17830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Employee group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3721608" y="4727448"/>
            <a:ext cx="256031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4041648" y="4572000"/>
            <a:ext cx="18288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 Approved code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onnector 51"/>
          <p:cNvSpPr>
            <a:spLocks noGrp="1"/>
          </p:cNvSpPr>
          <p:nvPr/>
        </p:nvSpPr>
        <p:spPr>
          <a:xfrm>
            <a:off x="5934456" y="4727448"/>
            <a:ext cx="256032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6263640" y="4572000"/>
            <a:ext cx="2011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 Company values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Connector 53"/>
          <p:cNvSpPr>
            <a:spLocks noGrp="1"/>
          </p:cNvSpPr>
          <p:nvPr/>
        </p:nvSpPr>
        <p:spPr>
          <a:xfrm>
            <a:off x="8339327" y="4727448"/>
            <a:ext cx="256033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668512" y="4572000"/>
            <a:ext cx="2212848" cy="310896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 Enable + compute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66928" y="5285232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GUARDRAILS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66928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94944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approved codes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94944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364992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493008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Formula locked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93008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6163056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291072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291072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8961119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089136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9089136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7406640" y="6419088"/>
            <a:ext cx="4178808" cy="2926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2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every screen came from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Sources, row-level traceability and a glossary</a:t>
            </a:r>
            <a:endParaRPr sz="15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Source documents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C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Sub Module 3 — Payroll</a:t>
            </a:r>
            <a:endParaRPr sz="8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Phase 2 BRD Audit Summary</a:t>
            </a:r>
            <a:endParaRPr sz="12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Overall status — 331 requirement rows</a:t>
            </a:r>
            <a:endParaRPr sz="8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Tables Flow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v2 dated 14 May 2026 (supersedes v1)</a:t>
            </a:r>
            <a:endParaRPr sz="8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B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4–5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Minimum take-home based on basic salary, 40%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Basic Pay; threshold type Percentage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pay, 30%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21–22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less reimbursements, 30%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 less reimbursements — used in the demo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29–30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minimum peso net pay, ₱8,000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Threshold type = Fixed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in full; loans may be deferred; carry over; notify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rank 0; auto-defer, carry-forward and notification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45–59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repayment cap, 25% of gross or a fixed ₱10,000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61–83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LAABS and undertime cap by %, days, or protected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Attendance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85–103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Hierarchy table, statutory rank 0, optional last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Deduction and loan hierarchy, maintained as a reference source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106–109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Loans at cap but net still short — choose what wins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Conflict priority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138–155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Deferred tracking, payslip tag fields,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Carry-forward table, payslip tag block and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C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3–6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Daily rate × 22.5 × years of service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value shown in the scenario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Fractions of six months or more count as one year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Service rounding rule; 12y 6m → 13 years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 7641, company plan, or override if more beneficial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plan type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24–29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Divisor, days per year, salary basis, benefits, rounding, cap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Formula inputs, all configurable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RetirementPay = MAX(statutory, company plan)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“Best of” option; both values displayed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31–37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Age 60, compulsory 65, five years service, early retirement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Eligibility rules and the eligibility strip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38–41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 7641 and RA 4917 tax exemption conditions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Taxation rule; the result records why it is exempt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46–49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pay forms part of final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Result feeds the Final Pay engine automatically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D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5–11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Mandatory: unpaid salary, 13th month, SIL, separation, retirement, final tax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Optional: convertible leave, allowances, commissions, cash bond, gratuity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19–29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 selectors on the settings card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30–31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Pull last days worked, leave balances, unpaid OT and LAABS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Scenario inputs drawn from the employee record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32–34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Only authorised deductions; auto-offset before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Offsets shown as negative lines in the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Output — final pay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Component-by-component breakdown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 shoulders the tax so the employee receives a guaranteed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Employer-absorbed share, default 100%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Divide the intended net by (1 − rate)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Available as the flat / final tax method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Use BIR tables: taxable income, correct bracket, base tax + excess 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Graduated method, reading the effective BIR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7–8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Choose the income and enable gross-up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target selector and engine switch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Add grossed-up income; subtract mandatory contributions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Taxable compensation line in the calculation trace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Identify bracket; apply base tax + excess × rate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Bracket named in the trace, e.g. from ₱33,333, ₱1,875 + 20%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Recompute gross until net equals the required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Iteration table with the gap closing to zero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16–18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Show gross, employer-absorbed tax, and net released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The four result tiles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F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Glossary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</a:t>
            </a:r>
            <a:endParaRPr sz="12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code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Hierarchy / rank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Deferral / carry-forward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2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gross-up: repeating the calculation until the computed net matches the target within tolerance.</a:t>
            </a:r>
            <a:endParaRPr sz="10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still needs a business decision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take-home policy is active</a:t>
            </a:r>
            <a:endParaRPr sz="12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 Home Pay rows 4–43</a:t>
            </a:r>
            <a:endParaRPr sz="9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threshold priority</a:t>
            </a:r>
            <a:endParaRPr sz="12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BRD 13th month / bonus ceiling</a:t>
            </a:r>
            <a:endParaRPr sz="9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when net is negative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row 29</a:t>
            </a:r>
            <a:endParaRPr sz="9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Gross-up convergence</a:t>
            </a:r>
            <a:endParaRPr sz="12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rows 15–16</a:t>
            </a:r>
            <a:endParaRPr sz="9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values</a:t>
            </a:r>
            <a:endParaRPr sz="12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tables</a:t>
            </a:r>
            <a:endParaRPr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this demonstrates</a:t>
            </a:r>
            <a:endParaRPr sz="38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screen traces back to a row in your own workbooks.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28878</Words>
  <Application>WPS Presentation</Application>
  <PresentationFormat>Converted Presentation</PresentationFormat>
  <Paragraphs>1783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Joseph Ignacio Rodriguez</cp:lastModifiedBy>
  <cp:revision>1</cp:revision>
  <dcterms:created xsi:type="dcterms:W3CDTF">2026-08-10T16:20:33Z</dcterms:created>
  <dcterms:modified xsi:type="dcterms:W3CDTF">2026-08-10T16:20:33Z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D2AB301053784846948950D83EEA0E63_13</vt:lpwstr>
  </property>
  <property fmtid="{D5CDD505-2E9C-101B-9397-08002B2CF9AE}" pid="3" name="KSOProductBuildVer">
    <vt:lpwstr>1033-12.1.0.28032</vt:lpwstr>
  </property>
</Properties>
</file>