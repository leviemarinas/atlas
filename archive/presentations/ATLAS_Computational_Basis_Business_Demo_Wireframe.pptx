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14b2a48c7146c9" /><Relationship Type="http://schemas.openxmlformats.org/officeDocument/2006/relationships/extended-properties" Target="/docProps/app.xml" Id="R11c2c45a81424f96" /><Relationship Type="http://schemas.openxmlformats.org/officeDocument/2006/relationships/officeDocument" Target="/ppt/presentation.xml" Id="Rff4d996cb2e94ad4" /></Relationships>
</file>

<file path=ppt/presentation.xml><?xml version="1.0" encoding="utf-8"?>
<p:presentation xmlns:p="http://schemas.openxmlformats.org/presentationml/2006/main">
  <p:sldMasterIdLst>
    <p:sldMasterId xmlns:r="http://schemas.openxmlformats.org/officeDocument/2006/relationships" id="2147483648" r:id="Rc7ef00ac70ae42bb"/>
  </p:sldMasterIdLst>
  <p:notesMasterIdLst>
    <p:notesMasterId xmlns:r="http://schemas.openxmlformats.org/officeDocument/2006/relationships" r:id="Rd5319d8559794e79"/>
  </p:notesMasterIdLst>
  <p:sldIdLst>
    <p:sldId xmlns:r="http://schemas.openxmlformats.org/officeDocument/2006/relationships" id="256" r:id="R19d1a40ce8ae44fe"/>
    <p:sldId xmlns:r="http://schemas.openxmlformats.org/officeDocument/2006/relationships" id="257" r:id="R30aef3a1390745c1"/>
    <p:sldId xmlns:r="http://schemas.openxmlformats.org/officeDocument/2006/relationships" id="258" r:id="R450a1eb92b934ba0"/>
    <p:sldId xmlns:r="http://schemas.openxmlformats.org/officeDocument/2006/relationships" id="259" r:id="R7eee12104f054654"/>
    <p:sldId xmlns:r="http://schemas.openxmlformats.org/officeDocument/2006/relationships" id="260" r:id="Reeb72164f464437d"/>
    <p:sldId xmlns:r="http://schemas.openxmlformats.org/officeDocument/2006/relationships" id="261" r:id="R6f6ef1f881c44040"/>
    <p:sldId xmlns:r="http://schemas.openxmlformats.org/officeDocument/2006/relationships" id="262" r:id="Rc81ff36b9d984066"/>
    <p:sldId xmlns:r="http://schemas.openxmlformats.org/officeDocument/2006/relationships" id="263" r:id="R204478f9b2564cc5"/>
    <p:sldId xmlns:r="http://schemas.openxmlformats.org/officeDocument/2006/relationships" id="264" r:id="Ra5ed271d1ddf44e2"/>
    <p:sldId xmlns:r="http://schemas.openxmlformats.org/officeDocument/2006/relationships" id="265" r:id="Rbdcf1d81b93745ce"/>
    <p:sldId xmlns:r="http://schemas.openxmlformats.org/officeDocument/2006/relationships" id="266" r:id="R5cc389c0f52b4a7b"/>
    <p:sldId xmlns:r="http://schemas.openxmlformats.org/officeDocument/2006/relationships" id="267" r:id="Ra3842623878142e0"/>
    <p:sldId xmlns:r="http://schemas.openxmlformats.org/officeDocument/2006/relationships" id="268" r:id="Rffc1de29e2b14d66"/>
    <p:sldId xmlns:r="http://schemas.openxmlformats.org/officeDocument/2006/relationships" id="269" r:id="R67e3a80ec6734540"/>
    <p:sldId xmlns:r="http://schemas.openxmlformats.org/officeDocument/2006/relationships" id="270" r:id="Rf7d2f4bc93f74eb5"/>
    <p:sldId xmlns:r="http://schemas.openxmlformats.org/officeDocument/2006/relationships" id="271" r:id="R2a4f8e28d11d48a2"/>
    <p:sldId xmlns:r="http://schemas.openxmlformats.org/officeDocument/2006/relationships" id="272" r:id="R53b3a2c0d9904638"/>
    <p:sldId xmlns:r="http://schemas.openxmlformats.org/officeDocument/2006/relationships" id="273" r:id="R141151fbf12d4b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1da8399df242a4" /><Relationship Type="http://schemas.openxmlformats.org/officeDocument/2006/relationships/slideMaster" Target="/ppt/slideMasters/slideMaster1.xml" Id="Rc7ef00ac70ae42bb" /><Relationship Type="http://schemas.openxmlformats.org/officeDocument/2006/relationships/notesMaster" Target="/ppt/notesMasters/notesMaster1.xml" Id="Rd5319d8559794e79" /><Relationship Type="http://schemas.openxmlformats.org/officeDocument/2006/relationships/presProps" Target="/ppt/presProps.xml" Id="R50030f8fc7984f99" /><Relationship Type="http://schemas.openxmlformats.org/officeDocument/2006/relationships/tableStyles" Target="/ppt/tableStyles.xml" Id="Re6bbfdd7827c4436" /><Relationship Type="http://schemas.openxmlformats.org/officeDocument/2006/relationships/slide" Target="/ppt/slides/slide1.xml" Id="R19d1a40ce8ae44fe" /><Relationship Type="http://schemas.openxmlformats.org/officeDocument/2006/relationships/slide" Target="/ppt/slides/slide2.xml" Id="R30aef3a1390745c1" /><Relationship Type="http://schemas.openxmlformats.org/officeDocument/2006/relationships/slide" Target="/ppt/slides/slide3.xml" Id="R450a1eb92b934ba0" /><Relationship Type="http://schemas.openxmlformats.org/officeDocument/2006/relationships/slide" Target="/ppt/slides/slide4.xml" Id="R7eee12104f054654" /><Relationship Type="http://schemas.openxmlformats.org/officeDocument/2006/relationships/slide" Target="/ppt/slides/slide5.xml" Id="Reeb72164f464437d" /><Relationship Type="http://schemas.openxmlformats.org/officeDocument/2006/relationships/slide" Target="/ppt/slides/slide6.xml" Id="R6f6ef1f881c44040" /><Relationship Type="http://schemas.openxmlformats.org/officeDocument/2006/relationships/slide" Target="/ppt/slides/slide7.xml" Id="Rc81ff36b9d984066" /><Relationship Type="http://schemas.openxmlformats.org/officeDocument/2006/relationships/slide" Target="/ppt/slides/slide8.xml" Id="R204478f9b2564cc5" /><Relationship Type="http://schemas.openxmlformats.org/officeDocument/2006/relationships/slide" Target="/ppt/slides/slide9.xml" Id="Ra5ed271d1ddf44e2" /><Relationship Type="http://schemas.openxmlformats.org/officeDocument/2006/relationships/slide" Target="/ppt/slides/slide10.xml" Id="Rbdcf1d81b93745ce" /><Relationship Type="http://schemas.openxmlformats.org/officeDocument/2006/relationships/slide" Target="/ppt/slides/slide11.xml" Id="R5cc389c0f52b4a7b" /><Relationship Type="http://schemas.openxmlformats.org/officeDocument/2006/relationships/slide" Target="/ppt/slides/slide12.xml" Id="Ra3842623878142e0" /><Relationship Type="http://schemas.openxmlformats.org/officeDocument/2006/relationships/slide" Target="/ppt/slides/slide13.xml" Id="Rffc1de29e2b14d66" /><Relationship Type="http://schemas.openxmlformats.org/officeDocument/2006/relationships/slide" Target="/ppt/slides/slide14.xml" Id="R67e3a80ec6734540" /><Relationship Type="http://schemas.openxmlformats.org/officeDocument/2006/relationships/slide" Target="/ppt/slides/slide15.xml" Id="Rf7d2f4bc93f74eb5" /><Relationship Type="http://schemas.openxmlformats.org/officeDocument/2006/relationships/slide" Target="/ppt/slides/slide16.xml" Id="R2a4f8e28d11d48a2" /><Relationship Type="http://schemas.openxmlformats.org/officeDocument/2006/relationships/slide" Target="/ppt/slides/slide17.xml" Id="R53b3a2c0d9904638" /><Relationship Type="http://schemas.openxmlformats.org/officeDocument/2006/relationships/slide" Target="/ppt/slides/slide18.xml" Id="R141151fbf12d4b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b2089b74124c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95421c6c9f4add" /><Relationship Type="http://schemas.openxmlformats.org/officeDocument/2006/relationships/notesMaster" Target="/ppt/notesMasters/notesMaster1.xml" Id="R5dfb0fb4d6764f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5a7921273f43a2" /><Relationship Type="http://schemas.openxmlformats.org/officeDocument/2006/relationships/notesMaster" Target="/ppt/notesMasters/notesMaster1.xml" Id="Red2c058a6b8446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3a79cff4244710" /><Relationship Type="http://schemas.openxmlformats.org/officeDocument/2006/relationships/notesMaster" Target="/ppt/notesMasters/notesMaster1.xml" Id="Rc5b9fd70307240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3285235acc4a72" /><Relationship Type="http://schemas.openxmlformats.org/officeDocument/2006/relationships/notesMaster" Target="/ppt/notesMasters/notesMaster1.xml" Id="Rc8dc062e4ed948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bdedb8b64b42ac" /><Relationship Type="http://schemas.openxmlformats.org/officeDocument/2006/relationships/notesMaster" Target="/ppt/notesMasters/notesMaster1.xml" Id="R6074405031dc4e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e8d18c75ad488f" /><Relationship Type="http://schemas.openxmlformats.org/officeDocument/2006/relationships/notesMaster" Target="/ppt/notesMasters/notesMaster1.xml" Id="R27b059f79a5e4b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49ded9bfc743df" /><Relationship Type="http://schemas.openxmlformats.org/officeDocument/2006/relationships/notesMaster" Target="/ppt/notesMasters/notesMaster1.xml" Id="Re06259ad5e8943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de6b4864da401a" /><Relationship Type="http://schemas.openxmlformats.org/officeDocument/2006/relationships/notesMaster" Target="/ppt/notesMasters/notesMaster1.xml" Id="R84d70284719d44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fa882f7a2248ee" /><Relationship Type="http://schemas.openxmlformats.org/officeDocument/2006/relationships/notesMaster" Target="/ppt/notesMasters/notesMaster1.xml" Id="Red8e6270112b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bec5f7e5f34b76" /><Relationship Type="http://schemas.openxmlformats.org/officeDocument/2006/relationships/notesMaster" Target="/ppt/notesMasters/notesMaster1.xml" Id="R0183e6dd3c154b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27155b7990428c" /><Relationship Type="http://schemas.openxmlformats.org/officeDocument/2006/relationships/notesMaster" Target="/ppt/notesMasters/notesMaster1.xml" Id="Rf013042f80144f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6ff332bc5b45ec" /><Relationship Type="http://schemas.openxmlformats.org/officeDocument/2006/relationships/notesMaster" Target="/ppt/notesMasters/notesMaster1.xml" Id="Ra958bd9d853e48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60c43c8bd3494d" /><Relationship Type="http://schemas.openxmlformats.org/officeDocument/2006/relationships/notesMaster" Target="/ppt/notesMasters/notesMaster1.xml" Id="Rf193faf57dd248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496746d40c43db" /><Relationship Type="http://schemas.openxmlformats.org/officeDocument/2006/relationships/notesMaster" Target="/ppt/notesMasters/notesMaster1.xml" Id="Rf0ae6680c72745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37c94a8eb24349" /><Relationship Type="http://schemas.openxmlformats.org/officeDocument/2006/relationships/notesMaster" Target="/ppt/notesMasters/notesMaster1.xml" Id="R5bf87f3e5ad140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6c15e536e5460e" /><Relationship Type="http://schemas.openxmlformats.org/officeDocument/2006/relationships/notesMaster" Target="/ppt/notesMasters/notesMaster1.xml" Id="R2bd7f1dac76d48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7ebb1f831a4a2c" /><Relationship Type="http://schemas.openxmlformats.org/officeDocument/2006/relationships/notesMaster" Target="/ppt/notesMasters/notesMaster1.xml" Id="R447cd9d1398a46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15c84fed674bc6" /><Relationship Type="http://schemas.openxmlformats.org/officeDocument/2006/relationships/notesMaster" Target="/ppt/notesMasters/notesMaster1.xml" Id="Reed4e7a463c54f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Open by framing this as a payroll-policy conversation, not a technical system tour. The four engines are the visible proof points.</a:t>
            </a:r>
          </a:p>
          <a:p xmlns:a="http://schemas.openxmlformats.org/drawingml/2006/main">
            <a:r>
              <a:t/>
            </a:r>
          </a:p>
          <a:p xmlns:a="http://schemas.openxmlformats.org/drawingml/2006/main">
            <a:r>
              <a:t>[Sources]</a:t>
            </a:r>
          </a:p>
          <a:p xmlns:a="http://schemas.openxmlformats.org/drawingml/2006/main">
            <a:r>
              <a:t>- ATLAS wireframe, http://localhost:5173/wireframe, client view captured 2026-08-10.</a:t>
            </a:r>
          </a:p>
          <a:p xmlns:a="http://schemas.openxmlformats.org/drawingml/2006/main">
            <a:r>
              <a:t>- Phase 2 - Payroll - Project Plan.xlsx, Non-existing in Phase 1 and Modules and Features tabs.</a:t>
            </a:r>
          </a:p>
          <a:p xmlns:a="http://schemas.openxmlformats.org/drawingml/2006/main">
            <a:r>
              <a:t>- 02Annex B_ Employee Masterfile Payroll Data Tables from Dorado.xlsx, Gross Up, Take Home Pay, Retirement Pay, and Final Pay tabs.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Explain the five objects in plain language. The important design choice is that company-specific values live in a reusable policy code, while the Company Rule determines the audience and activation.</a:t>
            </a:r>
          </a:p>
          <a:p xmlns:a="http://schemas.openxmlformats.org/drawingml/2006/main">
            <a:r>
              <a:t/>
            </a:r>
          </a:p>
          <a:p xmlns:a="http://schemas.openxmlformats.org/drawingml/2006/main">
            <a:r>
              <a:t>[Sources]</a:t>
            </a:r>
          </a:p>
          <a:p xmlns:a="http://schemas.openxmlformats.org/drawingml/2006/main">
            <a:r>
              <a:t>- ATLAS_Phase2_Master_Requirements_for_Codex_Claude.md, sections 8, 11, and 12.</a:t>
            </a:r>
          </a:p>
          <a:p xmlns:a="http://schemas.openxmlformats.org/drawingml/2006/main">
            <a:r>
              <a:t>- Phase 2 - Payroll - Project Plan.xlsx, requirement rows HTP018, HTP019, HTP023, HTP073-HTP075.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Use the tabs as the mental model: formulas, assignments, engines, sources, and history. Avoid treating the inventory counts as final contractual totals until the source discrepancy is reconciled.</a:t>
            </a:r>
          </a:p>
          <a:p xmlns:a="http://schemas.openxmlformats.org/drawingml/2006/main">
            <a:r>
              <a:t/>
            </a:r>
          </a:p>
          <a:p xmlns:a="http://schemas.openxmlformats.org/drawingml/2006/main">
            <a:r>
              <a:t>[Sources]</a:t>
            </a:r>
          </a:p>
          <a:p xmlns:a="http://schemas.openxmlformats.org/drawingml/2006/main">
            <a:r>
              <a:t>- ATLAS wireframe, Computational Basis client view, captured 2026-08-10.</a:t>
            </a:r>
          </a:p>
          <a:p xmlns:a="http://schemas.openxmlformats.org/drawingml/2006/main">
            <a:r>
              <a:t>- Phase 2 - Payroll - Project Plan.xlsx, Computational Basis requirements; source materials contain an inventory/target discrepancy between 219 and roughly 300 computations, and between 18 and 30 reference tables.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Show that Take-Home Pay, Retirement Pay, and Final Pay appear in the same register as ordinary company rules, but their values remain owned by the policy engine. This is the control that prevents two copies of the same setting.</a:t>
            </a:r>
          </a:p>
          <a:p xmlns:a="http://schemas.openxmlformats.org/drawingml/2006/main">
            <a:r>
              <a:t/>
            </a:r>
          </a:p>
          <a:p xmlns:a="http://schemas.openxmlformats.org/drawingml/2006/main">
            <a:r>
              <a:t>[Sources]</a:t>
            </a:r>
          </a:p>
          <a:p xmlns:a="http://schemas.openxmlformats.org/drawingml/2006/main">
            <a:r>
              <a:t>- ATLAS wireframe, Company Rules client view, captured 2026-08-10.</a:t>
            </a:r>
          </a:p>
          <a:p xmlns:a="http://schemas.openxmlformats.org/drawingml/2006/main">
            <a:r>
              <a:t>- Phase 2 BRD Audit Summary.xlsx, Rules Setup requirement H61:I61 and computational-basis notes J63:J64.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Walk left to right. The sub-category is selected from governed options, the policy code is filtered to that sub-category, and the review screen exposes the effective values rather than hiding them behind a code.</a:t>
            </a:r>
          </a:p>
          <a:p xmlns:a="http://schemas.openxmlformats.org/drawingml/2006/main">
            <a:r>
              <a:t/>
            </a:r>
          </a:p>
          <a:p xmlns:a="http://schemas.openxmlformats.org/drawingml/2006/main">
            <a:r>
              <a:t>[Sources]</a:t>
            </a:r>
          </a:p>
          <a:p xmlns:a="http://schemas.openxmlformats.org/drawingml/2006/main">
            <a:r>
              <a:t>- ATLAS wireframe, Apply New Rule steps 1-3, captured 2026-08-10.</a:t>
            </a:r>
          </a:p>
          <a:p xmlns:a="http://schemas.openxmlformats.org/drawingml/2006/main">
            <a:r>
              <a:t>- Phase 2 BRD Audit Summary.xlsx, company rule setup and employee/group assignment requirements.</a:t>
            </a:r>
          </a:p>
          <a:p xmlns:a="http://schemas.openxmlformats.org/drawingml/2006/main">
            <a:r>
              <a:t>- 02Annex B_ Employee Masterfile Payroll Data Tables from Dorado.xlsx, employee-group assignment examples in Take Home Pay and Retirement Pay tabs.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Use the example as a business translation: the selected basis is gross less reimbursements, the protected minimum is 30%, mandatory statutory deductions remain whole, and controllable items are the only ones reduced or deferred.</a:t>
            </a:r>
          </a:p>
          <a:p xmlns:a="http://schemas.openxmlformats.org/drawingml/2006/main">
            <a:r>
              <a:t/>
            </a:r>
          </a:p>
          <a:p xmlns:a="http://schemas.openxmlformats.org/drawingml/2006/main">
            <a:r>
              <a:t>[Sources]</a:t>
            </a:r>
          </a:p>
          <a:p xmlns:a="http://schemas.openxmlformats.org/drawingml/2006/main">
            <a:r>
              <a:t>- 02Annex B_ Employee Masterfile Payroll Data Tables from Dorado.xlsx, Take Home Pay tab, A4:C183; includes alternative percentage, fixed-amount, loan-cap, LAUT-cap, hierarchy, deferral, notification, ledger, and employee-group examples.</a:t>
            </a:r>
          </a:p>
          <a:p xmlns:a="http://schemas.openxmlformats.org/drawingml/2006/main">
            <a:r>
              <a:t>- ATLAS wireframe, Take-Home Pay policy and scenario simulator, captured 2026-08-10.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Stress module ownership. Take-Home Pay does not recreate loan or deduction setup. It reads the active collections, applies REF-011 ordering and the company threshold, and returns posted versus deferred amounts with carry-forward balances.</a:t>
            </a:r>
          </a:p>
          <a:p xmlns:a="http://schemas.openxmlformats.org/drawingml/2006/main">
            <a:r>
              <a:t/>
            </a:r>
          </a:p>
          <a:p xmlns:a="http://schemas.openxmlformats.org/drawingml/2006/main">
            <a:r>
              <a:t>[Sources]</a:t>
            </a:r>
          </a:p>
          <a:p xmlns:a="http://schemas.openxmlformats.org/drawingml/2006/main">
            <a:r>
              <a:t>- 02Annex B_ Employee Masterfile Payroll Data Tables from Dorado.xlsx, Take Home Pay tab, hierarchy and carry-forward sections A90:C158; Deductions and Loans source tabs.</a:t>
            </a:r>
          </a:p>
          <a:p xmlns:a="http://schemas.openxmlformats.org/drawingml/2006/main">
            <a:r>
              <a:t>- ATLAS wireframe, Take-Home Pay hierarchy showing navigation to Deductions, Company Loans, Government Loans and REF-011, captured 2026-08-10.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Start with the simple source example, then point to the richer app scenario. The business can configure plan type, salary basis, divisor, days per service year, eligibility, rounding, tax treatment, caps, and additional benefits; the simulator compares qualifying values.</a:t>
            </a:r>
          </a:p>
          <a:p xmlns:a="http://schemas.openxmlformats.org/drawingml/2006/main">
            <a:r>
              <a:t/>
            </a:r>
          </a:p>
          <a:p xmlns:a="http://schemas.openxmlformats.org/drawingml/2006/main">
            <a:r>
              <a:t>[Sources]</a:t>
            </a:r>
          </a:p>
          <a:p xmlns:a="http://schemas.openxmlformats.org/drawingml/2006/main">
            <a:r>
              <a:t>- 02Annex B_ Employee Masterfile Payroll Data Tables from Dorado.xlsx, Retirement Pay tab, A1:C72.</a:t>
            </a:r>
          </a:p>
          <a:p xmlns:a="http://schemas.openxmlformats.org/drawingml/2006/main">
            <a:r>
              <a:t>- 05Sample Computation - Retirement.xlsx, Definition and Retirement tabs; example monthly pay ₱20,000, 22.5 days, 10 years, result ₱150,000.</a:t>
            </a:r>
          </a:p>
          <a:p xmlns:a="http://schemas.openxmlformats.org/drawingml/2006/main">
            <a:r>
              <a:t>- ATLAS wireframe, Retirement Pay policy and scenario, captured 2026-08-10.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Show the dependency chain. Final Pay is the assembly point: it turns on applicable components, pulls leave/timekeeping and retirement results, offsets authorized balances, applies tax treatment, and produces an itemized final-pay result.</a:t>
            </a:r>
          </a:p>
          <a:p xmlns:a="http://schemas.openxmlformats.org/drawingml/2006/main">
            <a:r>
              <a:t/>
            </a:r>
          </a:p>
          <a:p xmlns:a="http://schemas.openxmlformats.org/drawingml/2006/main">
            <a:r>
              <a:t>[Sources]</a:t>
            </a:r>
          </a:p>
          <a:p xmlns:a="http://schemas.openxmlformats.org/drawingml/2006/main">
            <a:r>
              <a:t>- 02Annex B_ Employee Masterfile Payroll Data Tables from Dorado.xlsx, Final Pay tab, A2:B36.</a:t>
            </a:r>
          </a:p>
          <a:p xmlns:a="http://schemas.openxmlformats.org/drawingml/2006/main">
            <a:r>
              <a:t>- Phase 2 BRD Audit Summary.xlsx, Final Pay setup and assignment requirements H55:J55.</a:t>
            </a:r>
          </a:p>
          <a:p xmlns:a="http://schemas.openxmlformats.org/drawingml/2006/main">
            <a:r>
              <a:t>- ATLAS wireframe, Final Pay configuration and breakdown, captured 2026-08-10.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The simple example explains the principle. The wireframe generalizes it: select the target, tax method, effective table date, employer share, tolerance, iterations and rounding, then show the candidate gross and calculation trace.</a:t>
            </a:r>
          </a:p>
          <a:p xmlns:a="http://schemas.openxmlformats.org/drawingml/2006/main">
            <a:r>
              <a:t/>
            </a:r>
          </a:p>
          <a:p xmlns:a="http://schemas.openxmlformats.org/drawingml/2006/main">
            <a:r>
              <a:t>[Sources]</a:t>
            </a:r>
          </a:p>
          <a:p xmlns:a="http://schemas.openxmlformats.org/drawingml/2006/main">
            <a:r>
              <a:t>- 02Annex B_ Employee Masterfile Payroll Data Tables from Dorado.xlsx, Gross Up tab, A2:B18.</a:t>
            </a:r>
          </a:p>
          <a:p xmlns:a="http://schemas.openxmlformats.org/drawingml/2006/main">
            <a:r>
              <a:t>- 04Sample Gross Up of Earnings.xlsx, Gross up Earnings and Tax computation tabs; simple net ₱10,000 / (1-20%) example.</a:t>
            </a:r>
          </a:p>
          <a:p xmlns:a="http://schemas.openxmlformats.org/drawingml/2006/main">
            <a:r>
              <a:t>- 06Sample Computation and Gross Up_Final Tax.xlsx, Final Tax and Gross Up tabs.</a:t>
            </a:r>
          </a:p>
          <a:p xmlns:a="http://schemas.openxmlformats.org/drawingml/2006/main">
            <a:r>
              <a:t>- ATLAS wireframe, Gross Up configuration and scenario, captured 2026-08-10.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This resolves the source conflict safely. Atlas standard computations stay controlled; a client may create a company-owned computation only through the approved field and operator palette, with validation before save.</a:t>
            </a:r>
          </a:p>
          <a:p xmlns:a="http://schemas.openxmlformats.org/drawingml/2006/main">
            <a:r>
              <a:t/>
            </a:r>
          </a:p>
          <a:p xmlns:a="http://schemas.openxmlformats.org/drawingml/2006/main">
            <a:r>
              <a:t>[Sources]</a:t>
            </a:r>
          </a:p>
          <a:p xmlns:a="http://schemas.openxmlformats.org/drawingml/2006/main">
            <a:r>
              <a:t>- Phase 2 - Payroll - Project Plan.xlsx, HTP019 and HTP073-HTP075; source wording conflicts between customizable/add-edit behavior and no creation of new standard computations.</a:t>
            </a:r>
          </a:p>
          <a:p xmlns:a="http://schemas.openxmlformats.org/drawingml/2006/main">
            <a:r>
              <a:t>- ATLAS_Phase2_Master_Requirements_for_Codex_Claude.md, section 8.1 conflict note.</a:t>
            </a:r>
          </a:p>
          <a:p xmlns:a="http://schemas.openxmlformats.org/drawingml/2006/main">
            <a:r>
              <a:t>- ATLAS wireframe, Create company computation modal, captured 2026-08-10.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Show that a calculation does not become active merely because it exists. A client assignment links the approved computation to a reference version, employee group and frequency. Reference tables remain effective-dated and can be enabled per client.</a:t>
            </a:r>
          </a:p>
          <a:p xmlns:a="http://schemas.openxmlformats.org/drawingml/2006/main">
            <a:r>
              <a:t/>
            </a:r>
          </a:p>
          <a:p xmlns:a="http://schemas.openxmlformats.org/drawingml/2006/main">
            <a:r>
              <a:t>[Sources]</a:t>
            </a:r>
          </a:p>
          <a:p xmlns:a="http://schemas.openxmlformats.org/drawingml/2006/main">
            <a:r>
              <a:t>- Phase 2 - Payroll - Project Plan.xlsx, HTP023 and HTP073-HTP075.</a:t>
            </a:r>
          </a:p>
          <a:p xmlns:a="http://schemas.openxmlformats.org/drawingml/2006/main">
            <a:r>
              <a:t>- PHASE 2 - REFERENCE TABLE [CORE].xlsx and ATLAS-3001 Reference Tables.docx, reference-table inventory and administration requirements.</a:t>
            </a:r>
          </a:p>
          <a:p xmlns:a="http://schemas.openxmlformats.org/drawingml/2006/main">
            <a:r>
              <a:t>- ATLAS wireframe, Client assignments and Reference sources views, captured 2026-08-10.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Use this slide as the live-demo script. For each engine, business owners should validate the basis, ordering, assignment scope, result and trace—not just whether the screen can save.</a:t>
            </a:r>
          </a:p>
          <a:p xmlns:a="http://schemas.openxmlformats.org/drawingml/2006/main">
            <a:r>
              <a:t/>
            </a:r>
          </a:p>
          <a:p xmlns:a="http://schemas.openxmlformats.org/drawingml/2006/main">
            <a:r>
              <a:t>[Sources]</a:t>
            </a:r>
          </a:p>
          <a:p xmlns:a="http://schemas.openxmlformats.org/drawingml/2006/main">
            <a:r>
              <a:t>- ATLAS wireframe workflow captured 2026-08-10.</a:t>
            </a:r>
          </a:p>
          <a:p xmlns:a="http://schemas.openxmlformats.org/drawingml/2006/main">
            <a:r>
              <a:t>- ATLAS_Phase2_Master_Requirements_for_Codex_Claude.md, confirmed intent for validation, exception alerts, employee/admin notification, audit logging and deterministic policy traces.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Close the main presentation here. Ask the business to validate one representative scenario for each engine and to confirm employee-group assignments, data owners and effective dates. The remaining slides are the sourced annex.</a:t>
            </a:r>
          </a:p>
          <a:p xmlns:a="http://schemas.openxmlformats.org/drawingml/2006/main">
            <a:r>
              <a:t/>
            </a:r>
          </a:p>
          <a:p xmlns:a="http://schemas.openxmlformats.org/drawingml/2006/main">
            <a:r>
              <a:t>[Sources]</a:t>
            </a:r>
          </a:p>
          <a:p xmlns:a="http://schemas.openxmlformats.org/drawingml/2006/main">
            <a:r>
              <a:t>- Synthesis of supplied payroll workbooks, requirements summary, and ATLAS wireframe evidence cited throughout slides 2-13.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Use this table when a stakeholder asks where a screen came from. It points to the source tab and the exact wireframe object used in the main story.</a:t>
            </a:r>
          </a:p>
          <a:p xmlns:a="http://schemas.openxmlformats.org/drawingml/2006/main">
            <a:r>
              <a:t/>
            </a:r>
          </a:p>
          <a:p xmlns:a="http://schemas.openxmlformats.org/drawingml/2006/main">
            <a:r>
              <a:t>[Sources]</a:t>
            </a:r>
          </a:p>
          <a:p xmlns:a="http://schemas.openxmlformats.org/drawingml/2006/main">
            <a:r>
              <a:t>- 02Annex B_ Employee Masterfile Payroll Data Tables from Dorado.xlsx, Take Home Pay, Retirement Pay, Final Pay and Gross Up tabs.</a:t>
            </a:r>
          </a:p>
          <a:p xmlns:a="http://schemas.openxmlformats.org/drawingml/2006/main">
            <a:r>
              <a:t>- Phase 2 BRD Audit Summary.xlsx, computational-basis, rules and reference-table rows cited in the table.</a:t>
            </a:r>
          </a:p>
          <a:p xmlns:a="http://schemas.openxmlformats.org/drawingml/2006/main">
            <a:r>
              <a:t>- Phase 2 - Payroll - Project Plan.xlsx, HTP018, HTP019, HTP023, HTP073-HTP075.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These are workshop-friendly starting cases derived from the supplied files. Use them to agree the expected result before expanding into exceptions and edge cases.</a:t>
            </a:r>
          </a:p>
          <a:p xmlns:a="http://schemas.openxmlformats.org/drawingml/2006/main">
            <a:r>
              <a:t/>
            </a:r>
          </a:p>
          <a:p xmlns:a="http://schemas.openxmlformats.org/drawingml/2006/main">
            <a:r>
              <a:t>[Sources]</a:t>
            </a:r>
          </a:p>
          <a:p xmlns:a="http://schemas.openxmlformats.org/drawingml/2006/main">
            <a:r>
              <a:t>- 02Annex B_ Employee Masterfile Payroll Data Tables from Dorado.xlsx, Gross Up, Take Home Pay, Retirement Pay and Final Pay tabs.</a:t>
            </a:r>
          </a:p>
          <a:p xmlns:a="http://schemas.openxmlformats.org/drawingml/2006/main">
            <a:r>
              <a:t>- 04Sample Gross Up of Earnings.xlsx and 05Sample Computation - Retirement.xlsx.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Use this only if terminology becomes a distraction during discussion. The separation between computation, policy code, rule and assignment is the key distinction.</a:t>
            </a:r>
          </a:p>
          <a:p xmlns:a="http://schemas.openxmlformats.org/drawingml/2006/main">
            <a:r>
              <a:t/>
            </a:r>
          </a:p>
          <a:p xmlns:a="http://schemas.openxmlformats.org/drawingml/2006/main">
            <a:r>
              <a:t>[Sources]</a:t>
            </a:r>
          </a:p>
          <a:p xmlns:a="http://schemas.openxmlformats.org/drawingml/2006/main">
            <a:r>
              <a:t>- Terminology aligned to the ATLAS wireframe information architecture and supplied requirement documents.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cue: This is the derivation record. Call out the two inventory discrepancies and the implementation interpretation around company-created calculations. Statutory rates and effective values must be validated by the designated business/legal owner before production.</a:t>
            </a:r>
          </a:p>
          <a:p xmlns:a="http://schemas.openxmlformats.org/drawingml/2006/main">
            <a:r>
              <a:t/>
            </a:r>
          </a:p>
          <a:p xmlns:a="http://schemas.openxmlformats.org/drawingml/2006/main">
            <a:r>
              <a:t>[Sources]</a:t>
            </a:r>
          </a:p>
          <a:p xmlns:a="http://schemas.openxmlformats.org/drawingml/2006/main">
            <a:r>
              <a:t>- All source files listed on this slide were supplied by the user and inspected locally for this deck.</a:t>
            </a:r>
          </a:p>
          <a:p xmlns:a="http://schemas.openxmlformats.org/drawingml/2006/main">
            <a:r>
              <a:t>- ATLAS wireframe, http://localhost:5173/wireframe, captured 2026-08-10.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cc8d5282c142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2f4d49585d4fa0" /><Relationship Type="http://schemas.openxmlformats.org/officeDocument/2006/relationships/slideLayout" Target="/ppt/slideLayouts/slideLayout1.xml" Id="Rf1c388322d6a4a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c388322d6a4a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374ebd4bee4c51" /><Relationship Type="http://schemas.openxmlformats.org/officeDocument/2006/relationships/image" Target="/ppt/media/image.jpeg" Id="R6347e34941c442e7" /><Relationship Type="http://schemas.openxmlformats.org/officeDocument/2006/relationships/notesSlide" Target="/ppt/notesSlides/notesSlide1.xml" Id="R97b08628c62547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d32d4dff814fc5" /><Relationship Type="http://schemas.openxmlformats.org/officeDocument/2006/relationships/notesSlide" Target="/ppt/notesSlides/notesSlide2.xml" Id="Raa08ba8c5dba4f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2a7b7d32e74039" /><Relationship Type="http://schemas.openxmlformats.org/officeDocument/2006/relationships/image" Target="/ppt/media/image2.jpeg" Id="R27f9c7ea44074c73" /><Relationship Type="http://schemas.openxmlformats.org/officeDocument/2006/relationships/notesSlide" Target="/ppt/notesSlides/notesSlide3.xml" Id="R14680102f2d84f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2573eb37fa4d7a" /><Relationship Type="http://schemas.openxmlformats.org/officeDocument/2006/relationships/image" Target="/ppt/media/image3.jpeg" Id="R49c96d11eb81442e" /><Relationship Type="http://schemas.openxmlformats.org/officeDocument/2006/relationships/notesSlide" Target="/ppt/notesSlides/notesSlide4.xml" Id="R50ea0af924f64f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8e6b9d3d0a4209" /><Relationship Type="http://schemas.openxmlformats.org/officeDocument/2006/relationships/image" Target="/ppt/media/image4.jpeg" Id="R9c8cae851bcd4585" /><Relationship Type="http://schemas.openxmlformats.org/officeDocument/2006/relationships/image" Target="/ppt/media/image5.jpeg" Id="R21b898da96e349e8" /><Relationship Type="http://schemas.openxmlformats.org/officeDocument/2006/relationships/image" Target="/ppt/media/image6.jpeg" Id="R9ac891eb77ee4593" /><Relationship Type="http://schemas.openxmlformats.org/officeDocument/2006/relationships/notesSlide" Target="/ppt/notesSlides/notesSlide5.xml" Id="Rf848b4f8d47e4f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5054e8fb474581" /><Relationship Type="http://schemas.openxmlformats.org/officeDocument/2006/relationships/image" Target="/ppt/media/image7.jpeg" Id="R0cd472f885fa44ed" /><Relationship Type="http://schemas.openxmlformats.org/officeDocument/2006/relationships/notesSlide" Target="/ppt/notesSlides/notesSlide6.xml" Id="R27d43f5b92d14d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053b91630e4b7d" /><Relationship Type="http://schemas.openxmlformats.org/officeDocument/2006/relationships/image" Target="/ppt/media/image8.jpeg" Id="Rf05930c6440e4639" /><Relationship Type="http://schemas.openxmlformats.org/officeDocument/2006/relationships/notesSlide" Target="/ppt/notesSlides/notesSlide7.xml" Id="Ra8bcfde8e36a48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10ef565f86431b" /><Relationship Type="http://schemas.openxmlformats.org/officeDocument/2006/relationships/image" Target="/ppt/media/image9.jpeg" Id="R192f0086daa44e3e" /><Relationship Type="http://schemas.openxmlformats.org/officeDocument/2006/relationships/notesSlide" Target="/ppt/notesSlides/notesSlide8.xml" Id="Re06a16e9910949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3a932dce854a14" /><Relationship Type="http://schemas.openxmlformats.org/officeDocument/2006/relationships/image" Target="/ppt/media/image10.jpeg" Id="R4973000c99d74e5c" /><Relationship Type="http://schemas.openxmlformats.org/officeDocument/2006/relationships/notesSlide" Target="/ppt/notesSlides/notesSlide9.xml" Id="R3f15829c14f14c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4e78ff2b4a1436d" /><Relationship Type="http://schemas.openxmlformats.org/officeDocument/2006/relationships/image" Target="/ppt/media/image11.jpeg" Id="Ra8601a5e1b7f43b6" /><Relationship Type="http://schemas.openxmlformats.org/officeDocument/2006/relationships/notesSlide" Target="/ppt/notesSlides/notesSlide10.xml" Id="Re737869d043d42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ef9fd36aee41ae" /><Relationship Type="http://schemas.openxmlformats.org/officeDocument/2006/relationships/image" Target="/ppt/media/image12.jpeg" Id="R55c3048311574e02" /><Relationship Type="http://schemas.openxmlformats.org/officeDocument/2006/relationships/notesSlide" Target="/ppt/notesSlides/notesSlide11.xml" Id="R20d3143d328746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971145a6e347c5" /><Relationship Type="http://schemas.openxmlformats.org/officeDocument/2006/relationships/image" Target="/ppt/media/image13.jpeg" Id="Ra13aa4c86a5342bf" /><Relationship Type="http://schemas.openxmlformats.org/officeDocument/2006/relationships/image" Target="/ppt/media/image14.jpeg" Id="R1149a7d296ff4338" /><Relationship Type="http://schemas.openxmlformats.org/officeDocument/2006/relationships/notesSlide" Target="/ppt/notesSlides/notesSlide12.xml" Id="Ra6f623d908fc44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134fcb620f49d3" /><Relationship Type="http://schemas.openxmlformats.org/officeDocument/2006/relationships/notesSlide" Target="/ppt/notesSlides/notesSlide13.xml" Id="R9c5191768d414f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bfd90fd04cb4283" /><Relationship Type="http://schemas.openxmlformats.org/officeDocument/2006/relationships/notesSlide" Target="/ppt/notesSlides/notesSlide14.xml" Id="Rc8ecad3c0d9b42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3e7dfb87c84ffa" /><Relationship Type="http://schemas.openxmlformats.org/officeDocument/2006/relationships/notesSlide" Target="/ppt/notesSlides/notesSlide15.xml" Id="Rbe9ad9ca49c14e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b06d78af97b45e0" /><Relationship Type="http://schemas.openxmlformats.org/officeDocument/2006/relationships/notesSlide" Target="/ppt/notesSlides/notesSlide16.xml" Id="Rcc50d8cf1b0f4f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b9ac3f1a8d24083" /><Relationship Type="http://schemas.openxmlformats.org/officeDocument/2006/relationships/notesSlide" Target="/ppt/notesSlides/notesSlide17.xml" Id="Rc26f8f4ac592493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80111966a56459d" /><Relationship Type="http://schemas.openxmlformats.org/officeDocument/2006/relationships/notesSlide" Target="/ppt/notesSlides/notesSlide18.xml" Id="Rc3342edccacf44f0" /></Relationships>
</file>

<file path=ppt/slides/slide1.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E03A64-A789-4222-BB03-12E26129AB99}"/>
              </a:ext>
            </a:extLst>
          </p:cNvPr>
          <p:cNvSpPr>
            <a:spLocks xmlns:a="http://schemas.openxmlformats.org/drawingml/2006/main" noGrp="1"/>
          </p:cNvSpPr>
          <p:nvPr/>
        </p:nvSpPr>
        <p:spPr>
          <a:xfrm xmlns:a="http://schemas.openxmlformats.org/drawingml/2006/main">
            <a:off x="533400" y="457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1" i="0">
                <a:solidFill>
                  <a:srgbClr val="5C2A91"/>
                </a:solidFill>
              </a:defRPr>
            </a:pPr>
            <a:r>
              <a:rPr sz="1200" b="1" i="0">
                <a:solidFill>
                  <a:srgbClr val="5C2A91"/>
                </a:solidFill>
              </a:rPr>
              <a:t>ATLAS</a:t>
            </a:r>
          </a:p>
        </p:txBody>
      </p:sp>
      <p:sp>
        <p:nvSpPr>
          <p:cNvPr id="2" name="">
            <a:extLst xmlns:a="http://schemas.openxmlformats.org/drawingml/2006/main">
              <a:ext uri="{FF2B5EF4-FFF2-40B4-BE49-F238E27FC236}">
                <a16:creationId xmlns:a16="http://schemas.microsoft.com/office/drawing/2014/main" id="{C1949D73-3FCA-4CCD-B27E-4F2DD81CEC8B}"/>
              </a:ext>
            </a:extLst>
          </p:cNvPr>
          <p:cNvSpPr>
            <a:spLocks xmlns:a="http://schemas.openxmlformats.org/drawingml/2006/main" noGrp="1"/>
          </p:cNvSpPr>
          <p:nvPr/>
        </p:nvSpPr>
        <p:spPr>
          <a:xfrm xmlns:a="http://schemas.openxmlformats.org/drawingml/2006/main">
            <a:off x="533400" y="1390650"/>
            <a:ext cx="45720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86000"/>
              </a:lnSpc>
              <a:buNone/>
              <a:defRPr sz="4350" b="1" i="0">
                <a:solidFill>
                  <a:srgbClr val="111111"/>
                </a:solidFill>
              </a:defRPr>
            </a:pPr>
            <a:r>
              <a:rPr sz="4350" b="1" i="0">
                <a:solidFill>
                  <a:srgbClr val="111111"/>
                </a:solidFill>
              </a:rPr>
              <a:t>Computational</a:t>
            </a:r>
          </a:p>
          <a:p xmlns:a="http://schemas.openxmlformats.org/drawingml/2006/main">
            <a:pPr algn="l">
              <a:lnSpc>
                <a:spcPct val="86000"/>
              </a:lnSpc>
              <a:buNone/>
              <a:defRPr sz="4350" b="1" i="0">
                <a:solidFill>
                  <a:srgbClr val="111111"/>
                </a:solidFill>
              </a:defRPr>
            </a:pPr>
            <a:r>
              <a:rPr sz="4350" b="1" i="0">
                <a:solidFill>
                  <a:srgbClr val="111111"/>
                </a:solidFill>
              </a:rPr>
              <a:t>Basis</a:t>
            </a:r>
          </a:p>
        </p:txBody>
      </p:sp>
      <p:sp>
        <p:nvSpPr>
          <p:cNvPr id="3" name="">
            <a:extLst xmlns:a="http://schemas.openxmlformats.org/drawingml/2006/main">
              <a:ext uri="{FF2B5EF4-FFF2-40B4-BE49-F238E27FC236}">
                <a16:creationId xmlns:a16="http://schemas.microsoft.com/office/drawing/2014/main" id="{5138395B-8307-4E9C-ADC6-8FFB394B4DC7}"/>
              </a:ext>
            </a:extLst>
          </p:cNvPr>
          <p:cNvSpPr>
            <a:spLocks xmlns:a="http://schemas.openxmlformats.org/drawingml/2006/main" noGrp="1"/>
          </p:cNvSpPr>
          <p:nvPr/>
        </p:nvSpPr>
        <p:spPr>
          <a:xfrm xmlns:a="http://schemas.openxmlformats.org/drawingml/2006/main">
            <a:off x="533400" y="3162300"/>
            <a:ext cx="4381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800" b="0" i="0">
                <a:solidFill>
                  <a:srgbClr val="66645F"/>
                </a:solidFill>
              </a:defRPr>
            </a:pPr>
            <a:r>
              <a:rPr sz="1800" b="0" i="0">
                <a:solidFill>
                  <a:srgbClr val="66645F"/>
                </a:solidFill>
              </a:rPr>
              <a:t>How payroll requirements become governed, testable company policy</a:t>
            </a:r>
          </a:p>
        </p:txBody>
      </p:sp>
      <p:sp>
        <p:nvSpPr>
          <p:cNvPr id="4" name="">
            <a:extLst xmlns:a="http://schemas.openxmlformats.org/drawingml/2006/main">
              <a:ext uri="{FF2B5EF4-FFF2-40B4-BE49-F238E27FC236}">
                <a16:creationId xmlns:a16="http://schemas.microsoft.com/office/drawing/2014/main" id="{A9A619A3-1F27-4BE8-A098-B6CF08814712}"/>
              </a:ext>
            </a:extLst>
          </p:cNvPr>
          <p:cNvSpPr>
            <a:spLocks xmlns:a="http://schemas.openxmlformats.org/drawingml/2006/main" noGrp="1"/>
          </p:cNvSpPr>
          <p:nvPr/>
        </p:nvSpPr>
        <p:spPr>
          <a:xfrm xmlns:a="http://schemas.openxmlformats.org/drawingml/2006/main">
            <a:off x="533400" y="4591050"/>
            <a:ext cx="2419350" cy="361950"/>
          </a:xfrm>
          <a:prstGeom xmlns:a="http://schemas.openxmlformats.org/drawingml/2006/main" prst="roundRect">
            <a:avLst>
              <a:gd name="adj" fmla="val 21053"/>
            </a:avLst>
          </a:prstGeom>
          <a:solidFill xmlns:a="http://schemas.openxmlformats.org/drawingml/2006/main">
            <a:srgbClr val="F2ECF8"/>
          </a:solidFill>
          <a:ln xmlns:a="http://schemas.openxmlformats.org/drawingml/2006/main" w="9525">
            <a:solidFill>
              <a:srgbClr val="5C2A91"/>
            </a:solidFill>
            <a:prstDash val="solid"/>
          </a:ln>
        </p:spPr>
      </p:sp>
      <p:sp>
        <p:nvSpPr>
          <p:cNvPr id="5" name="">
            <a:extLst xmlns:a="http://schemas.openxmlformats.org/drawingml/2006/main">
              <a:ext uri="{FF2B5EF4-FFF2-40B4-BE49-F238E27FC236}">
                <a16:creationId xmlns:a16="http://schemas.microsoft.com/office/drawing/2014/main" id="{47C7C96C-9C57-433B-83EF-24CC92E58C6A}"/>
              </a:ext>
            </a:extLst>
          </p:cNvPr>
          <p:cNvSpPr>
            <a:spLocks xmlns:a="http://schemas.openxmlformats.org/drawingml/2006/main" noGrp="1"/>
          </p:cNvSpPr>
          <p:nvPr/>
        </p:nvSpPr>
        <p:spPr>
          <a:xfrm xmlns:a="http://schemas.openxmlformats.org/drawingml/2006/main">
            <a:off x="533400" y="45910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050" b="1" i="0">
                <a:solidFill>
                  <a:srgbClr val="5C2A91"/>
                </a:solidFill>
              </a:defRPr>
            </a:pPr>
            <a:r>
              <a:rPr sz="1050" b="1" i="0">
                <a:solidFill>
                  <a:srgbClr val="5C2A91"/>
                </a:solidFill>
              </a:rPr>
              <a:t>BUSINESS WIREFRAME DEMO</a:t>
            </a:r>
          </a:p>
        </p:txBody>
      </p:sp>
      <p:sp>
        <p:nvSpPr>
          <p:cNvPr id="6" name="">
            <a:extLst xmlns:a="http://schemas.openxmlformats.org/drawingml/2006/main">
              <a:ext uri="{FF2B5EF4-FFF2-40B4-BE49-F238E27FC236}">
                <a16:creationId xmlns:a16="http://schemas.microsoft.com/office/drawing/2014/main" id="{E6216B34-01B4-49F1-A5B9-FA22C4D50B2D}"/>
              </a:ext>
            </a:extLst>
          </p:cNvPr>
          <p:cNvSpPr>
            <a:spLocks xmlns:a="http://schemas.openxmlformats.org/drawingml/2006/main" noGrp="1"/>
          </p:cNvSpPr>
          <p:nvPr/>
        </p:nvSpPr>
        <p:spPr>
          <a:xfrm xmlns:a="http://schemas.openxmlformats.org/drawingml/2006/main">
            <a:off x="533400" y="518160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Take-Home Pay  /  Retirement Pay  /  Final Pay  /  Gross Up</a:t>
            </a:r>
          </a:p>
        </p:txBody>
      </p:sp>
      <p:sp>
        <p:nvSpPr>
          <p:cNvPr id="7" name="">
            <a:extLst xmlns:a="http://schemas.openxmlformats.org/drawingml/2006/main">
              <a:ext uri="{FF2B5EF4-FFF2-40B4-BE49-F238E27FC236}">
                <a16:creationId xmlns:a16="http://schemas.microsoft.com/office/drawing/2014/main" id="{DBFF472A-37E9-485D-AECC-D820BC2F5901}"/>
              </a:ext>
            </a:extLst>
          </p:cNvPr>
          <p:cNvSpPr>
            <a:spLocks xmlns:a="http://schemas.openxmlformats.org/drawingml/2006/main" noGrp="1"/>
          </p:cNvSpPr>
          <p:nvPr/>
        </p:nvSpPr>
        <p:spPr>
          <a:xfrm xmlns:a="http://schemas.openxmlformats.org/drawingml/2006/main">
            <a:off x="5505450" y="457200"/>
            <a:ext cx="6153150" cy="5581650"/>
          </a:xfrm>
          <a:prstGeom xmlns:a="http://schemas.openxmlformats.org/drawingml/2006/main" prst="roundRect">
            <a:avLst>
              <a:gd name="adj" fmla="val 1365"/>
            </a:avLst>
          </a:prstGeom>
          <a:solidFill xmlns:a="http://schemas.openxmlformats.org/drawingml/2006/main">
            <a:srgbClr val="FFFFFF"/>
          </a:solidFill>
          <a:ln xmlns:a="http://schemas.openxmlformats.org/drawingml/2006/main" w="9525">
            <a:solidFill>
              <a:srgbClr val="D1CFCA"/>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347e34941c442e7"/>
          <a:srcRect xmlns:a="http://schemas.openxmlformats.org/drawingml/2006/main" l="8921" t="0" r="8921" b="0"/>
          <a:stretch xmlns:a="http://schemas.openxmlformats.org/drawingml/2006/main">
            <a:fillRect l="0" t="0" r="0" b="0"/>
          </a:stretch>
        </p:blipFill>
        <p:spPr>
          <a:xfrm xmlns:a="http://schemas.openxmlformats.org/drawingml/2006/main">
            <a:off x="5562600" y="514350"/>
            <a:ext cx="6038850" cy="54673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87AF854-1E05-4FA0-8DB7-BDA21E172F5E}"/>
              </a:ext>
            </a:extLst>
          </p:cNvPr>
          <p:cNvSpPr>
            <a:spLocks xmlns:a="http://schemas.openxmlformats.org/drawingml/2006/main" noGrp="1"/>
          </p:cNvSpPr>
          <p:nvPr/>
        </p:nvSpPr>
        <p:spPr>
          <a:xfrm xmlns:a="http://schemas.openxmlformats.org/drawingml/2006/main">
            <a:off x="533400" y="61722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10 AUG 2026</a:t>
            </a:r>
          </a:p>
        </p:txBody>
      </p:sp>
    </p:spTree>
    <p:extLst>
      <p:ext uri="{BB962C8B-B14F-4D97-AF65-F5344CB8AC3E}">
        <p14:creationId xmlns:p14="http://schemas.microsoft.com/office/powerpoint/2010/main" val="1743269935"/>
      </p:ext>
    </p:extLst>
  </p:cSld>
</p:sld>
</file>

<file path=ppt/slides/slide2.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95ADBF0-58CC-412D-8282-B7AD7015BE45}"/>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FROM SOURCE OF TRUTH TO PAYROLL OUTCOME</a:t>
            </a:r>
          </a:p>
        </p:txBody>
      </p:sp>
      <p:sp>
        <p:nvSpPr>
          <p:cNvPr id="2" name="">
            <a:extLst xmlns:a="http://schemas.openxmlformats.org/drawingml/2006/main">
              <a:ext uri="{FF2B5EF4-FFF2-40B4-BE49-F238E27FC236}">
                <a16:creationId xmlns:a16="http://schemas.microsoft.com/office/drawing/2014/main" id="{88650073-32A6-4B8C-9B9F-8AB925BE9AE4}"/>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BUSINESS MODEL</a:t>
            </a:r>
          </a:p>
        </p:txBody>
      </p:sp>
      <p:sp>
        <p:nvSpPr>
          <p:cNvPr id="3" name="">
            <a:extLst xmlns:a="http://schemas.openxmlformats.org/drawingml/2006/main">
              <a:ext uri="{FF2B5EF4-FFF2-40B4-BE49-F238E27FC236}">
                <a16:creationId xmlns:a16="http://schemas.microsoft.com/office/drawing/2014/main" id="{DCE45C84-EACF-4323-A56B-731E81893FFF}"/>
              </a:ext>
            </a:extLst>
          </p:cNvPr>
          <p:cNvSpPr>
            <a:spLocks xmlns:a="http://schemas.openxmlformats.org/drawingml/2006/main" noGrp="1"/>
          </p:cNvSpPr>
          <p:nvPr/>
        </p:nvSpPr>
        <p:spPr>
          <a:xfrm xmlns:a="http://schemas.openxmlformats.org/drawingml/2006/main">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A rule chooses who and when. A policy engine chooses how.</a:t>
            </a:r>
          </a:p>
        </p:txBody>
      </p:sp>
      <p:sp>
        <p:nvSpPr>
          <p:cNvPr id="4" name="">
            <a:extLst xmlns:a="http://schemas.openxmlformats.org/drawingml/2006/main">
              <a:ext uri="{FF2B5EF4-FFF2-40B4-BE49-F238E27FC236}">
                <a16:creationId xmlns:a16="http://schemas.microsoft.com/office/drawing/2014/main" id="{BAA265BA-94C9-4470-981F-05BD57A85416}"/>
              </a:ext>
            </a:extLst>
          </p:cNvPr>
          <p:cNvSpPr>
            <a:spLocks xmlns:a="http://schemas.openxmlformats.org/drawingml/2006/main" noGrp="1"/>
          </p:cNvSpPr>
          <p:nvPr/>
        </p:nvSpPr>
        <p:spPr>
          <a:xfrm xmlns:a="http://schemas.openxmlformats.org/drawingml/2006/main">
            <a:off x="533400" y="1123950"/>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350" b="0" i="0">
                <a:solidFill>
                  <a:srgbClr val="66645F"/>
                </a:solidFill>
              </a:defRPr>
            </a:pPr>
            <a:r>
              <a:rPr sz="1350" b="0" i="0">
                <a:solidFill>
                  <a:srgbClr val="66645F"/>
                </a:solidFill>
              </a:rPr>
              <a:t>The wireframe separates business scope from calculation logic while keeping the link visible.</a:t>
            </a:r>
          </a:p>
        </p:txBody>
      </p:sp>
      <p:sp>
        <p:nvSpPr>
          <p:cNvPr id="5" name="flow-0">
            <a:extLst xmlns:a="http://schemas.openxmlformats.org/drawingml/2006/main">
              <a:ext uri="{FF2B5EF4-FFF2-40B4-BE49-F238E27FC236}">
                <a16:creationId xmlns:a16="http://schemas.microsoft.com/office/drawing/2014/main" id="{938A10E5-7CA2-4F77-8FB4-975709118F34}"/>
              </a:ext>
            </a:extLst>
          </p:cNvPr>
          <p:cNvSpPr>
            <a:spLocks xmlns:a="http://schemas.openxmlformats.org/drawingml/2006/main" noGrp="1"/>
          </p:cNvSpPr>
          <p:nvPr/>
        </p:nvSpPr>
        <p:spPr>
          <a:xfrm xmlns:a="http://schemas.openxmlformats.org/drawingml/2006/main">
            <a:off x="609600" y="2457450"/>
            <a:ext cx="1790700" cy="19431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111111"/>
            </a:solidFill>
            <a:prstDash val="solid"/>
          </a:ln>
        </p:spPr>
      </p:sp>
      <p:sp>
        <p:nvSpPr>
          <p:cNvPr id="6" name="flow-1">
            <a:extLst xmlns:a="http://schemas.openxmlformats.org/drawingml/2006/main">
              <a:ext uri="{FF2B5EF4-FFF2-40B4-BE49-F238E27FC236}">
                <a16:creationId xmlns:a16="http://schemas.microsoft.com/office/drawing/2014/main" id="{477A113F-F2EE-4251-9D02-1330C291E8CC}"/>
              </a:ext>
            </a:extLst>
          </p:cNvPr>
          <p:cNvSpPr>
            <a:spLocks xmlns:a="http://schemas.openxmlformats.org/drawingml/2006/main" noGrp="1"/>
          </p:cNvSpPr>
          <p:nvPr/>
        </p:nvSpPr>
        <p:spPr>
          <a:xfrm xmlns:a="http://schemas.openxmlformats.org/drawingml/2006/main">
            <a:off x="2876550" y="2457450"/>
            <a:ext cx="1790700" cy="19431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111111"/>
            </a:solidFill>
            <a:prstDash val="solid"/>
          </a:ln>
        </p:spPr>
      </p:sp>
      <p:sp>
        <p:nvSpPr>
          <p:cNvPr id="7" name="flow-2">
            <a:extLst xmlns:a="http://schemas.openxmlformats.org/drawingml/2006/main">
              <a:ext uri="{FF2B5EF4-FFF2-40B4-BE49-F238E27FC236}">
                <a16:creationId xmlns:a16="http://schemas.microsoft.com/office/drawing/2014/main" id="{93AC7CB6-9D68-4B4F-86E5-2D9A2FEE854F}"/>
              </a:ext>
            </a:extLst>
          </p:cNvPr>
          <p:cNvSpPr>
            <a:spLocks xmlns:a="http://schemas.openxmlformats.org/drawingml/2006/main" noGrp="1"/>
          </p:cNvSpPr>
          <p:nvPr/>
        </p:nvSpPr>
        <p:spPr>
          <a:xfrm xmlns:a="http://schemas.openxmlformats.org/drawingml/2006/main">
            <a:off x="5143500" y="2457450"/>
            <a:ext cx="1790700" cy="1943100"/>
          </a:xfrm>
          <a:prstGeom xmlns:a="http://schemas.openxmlformats.org/drawingml/2006/main" prst="roundRect">
            <a:avLst>
              <a:gd name="adj" fmla="val 4255"/>
            </a:avLst>
          </a:prstGeom>
          <a:solidFill xmlns:a="http://schemas.openxmlformats.org/drawingml/2006/main">
            <a:srgbClr val="F2ECF8"/>
          </a:solidFill>
          <a:ln xmlns:a="http://schemas.openxmlformats.org/drawingml/2006/main" w="19050">
            <a:solidFill>
              <a:srgbClr val="5C2A91"/>
            </a:solidFill>
            <a:prstDash val="solid"/>
          </a:ln>
        </p:spPr>
      </p:sp>
      <p:sp>
        <p:nvSpPr>
          <p:cNvPr id="8" name="flow-3">
            <a:extLst xmlns:a="http://schemas.openxmlformats.org/drawingml/2006/main">
              <a:ext uri="{FF2B5EF4-FFF2-40B4-BE49-F238E27FC236}">
                <a16:creationId xmlns:a16="http://schemas.microsoft.com/office/drawing/2014/main" id="{2553B606-A89A-4282-8F50-6E326EC81316}"/>
              </a:ext>
            </a:extLst>
          </p:cNvPr>
          <p:cNvSpPr>
            <a:spLocks xmlns:a="http://schemas.openxmlformats.org/drawingml/2006/main" noGrp="1"/>
          </p:cNvSpPr>
          <p:nvPr/>
        </p:nvSpPr>
        <p:spPr>
          <a:xfrm xmlns:a="http://schemas.openxmlformats.org/drawingml/2006/main">
            <a:off x="7410450" y="2457450"/>
            <a:ext cx="1790700" cy="19431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111111"/>
            </a:solidFill>
            <a:prstDash val="solid"/>
          </a:ln>
        </p:spPr>
      </p:sp>
      <p:sp>
        <p:nvSpPr>
          <p:cNvPr id="9" name="flow-4">
            <a:extLst xmlns:a="http://schemas.openxmlformats.org/drawingml/2006/main">
              <a:ext uri="{FF2B5EF4-FFF2-40B4-BE49-F238E27FC236}">
                <a16:creationId xmlns:a16="http://schemas.microsoft.com/office/drawing/2014/main" id="{9F4C4263-D38D-4AC8-9D89-D48D6DD1FCA5}"/>
              </a:ext>
            </a:extLst>
          </p:cNvPr>
          <p:cNvSpPr>
            <a:spLocks xmlns:a="http://schemas.openxmlformats.org/drawingml/2006/main" noGrp="1"/>
          </p:cNvSpPr>
          <p:nvPr/>
        </p:nvSpPr>
        <p:spPr>
          <a:xfrm xmlns:a="http://schemas.openxmlformats.org/drawingml/2006/main">
            <a:off x="9677400" y="2457450"/>
            <a:ext cx="1790700" cy="19431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111111"/>
            </a:solidFill>
            <a:prstDash val="solid"/>
          </a:ln>
        </p:spPr>
      </p:sp>
      <p:cxnSp>
        <p:nvCxnSpPr>
          <p:cNvPr id="49" name=""/>
          <p:cNvCxnSpPr>
            <a:stCxn xmlns:a="http://schemas.openxmlformats.org/drawingml/2006/main" id="5" idx="3"/>
            <a:endCxn xmlns:a="http://schemas.openxmlformats.org/drawingml/2006/main" id="6" idx="1"/>
          </p:cNvCxnSpPr>
          <p:nvPr/>
        </p:nvCxnSpPr>
        <p:spPr>
          <a:xfrm xmlns:a="http://schemas.openxmlformats.org/drawingml/2006/main">
            <a:off x="2400300" y="3429000"/>
            <a:ext cx="476250" cy="0"/>
          </a:xfrm>
          <a:prstGeom xmlns:a="http://schemas.openxmlformats.org/drawingml/2006/main" prst="straightConnector1">
            <a:avLst/>
          </a:prstGeom>
          <a:ln xmlns:a="http://schemas.openxmlformats.org/drawingml/2006/main" w="19050">
            <a:solidFill>
              <a:srgbClr val="5C2A91"/>
            </a:solidFill>
            <a:prstDash val="solid"/>
            <a:tailEnd type="arrow" w="med" len="med"/>
          </a:ln>
        </p:spPr>
      </p:cxnSp>
      <p:cxnSp>
        <p:nvCxnSpPr>
          <p:cNvPr id="50" name=""/>
          <p:cNvCxnSpPr>
            <a:stCxn xmlns:a="http://schemas.openxmlformats.org/drawingml/2006/main" id="6" idx="3"/>
            <a:endCxn xmlns:a="http://schemas.openxmlformats.org/drawingml/2006/main" id="7" idx="1"/>
          </p:cNvCxnSpPr>
          <p:nvPr/>
        </p:nvCxnSpPr>
        <p:spPr>
          <a:xfrm xmlns:a="http://schemas.openxmlformats.org/drawingml/2006/main">
            <a:off x="4667250" y="3429000"/>
            <a:ext cx="476250" cy="0"/>
          </a:xfrm>
          <a:prstGeom xmlns:a="http://schemas.openxmlformats.org/drawingml/2006/main" prst="straightConnector1">
            <a:avLst/>
          </a:prstGeom>
          <a:ln xmlns:a="http://schemas.openxmlformats.org/drawingml/2006/main" w="19050">
            <a:solidFill>
              <a:srgbClr val="5C2A91"/>
            </a:solidFill>
            <a:prstDash val="solid"/>
            <a:tailEnd type="arrow" w="med" len="med"/>
          </a:ln>
        </p:spPr>
      </p:cxnSp>
      <p:cxnSp>
        <p:nvCxnSpPr>
          <p:cNvPr id="51" name=""/>
          <p:cNvCxnSpPr>
            <a:stCxn xmlns:a="http://schemas.openxmlformats.org/drawingml/2006/main" id="7" idx="3"/>
            <a:endCxn xmlns:a="http://schemas.openxmlformats.org/drawingml/2006/main" id="8" idx="1"/>
          </p:cNvCxnSpPr>
          <p:nvPr/>
        </p:nvCxnSpPr>
        <p:spPr>
          <a:xfrm xmlns:a="http://schemas.openxmlformats.org/drawingml/2006/main">
            <a:off x="6934200" y="3429000"/>
            <a:ext cx="476250" cy="0"/>
          </a:xfrm>
          <a:prstGeom xmlns:a="http://schemas.openxmlformats.org/drawingml/2006/main" prst="straightConnector1">
            <a:avLst/>
          </a:prstGeom>
          <a:ln xmlns:a="http://schemas.openxmlformats.org/drawingml/2006/main" w="19050">
            <a:solidFill>
              <a:srgbClr val="5C2A91"/>
            </a:solidFill>
            <a:prstDash val="solid"/>
            <a:tailEnd type="arrow" w="med" len="med"/>
          </a:ln>
        </p:spPr>
      </p:cxnSp>
      <p:cxnSp>
        <p:nvCxnSpPr>
          <p:cNvPr id="52" name=""/>
          <p:cNvCxnSpPr>
            <a:stCxn xmlns:a="http://schemas.openxmlformats.org/drawingml/2006/main" id="8" idx="3"/>
            <a:endCxn xmlns:a="http://schemas.openxmlformats.org/drawingml/2006/main" id="9" idx="1"/>
          </p:cNvCxnSpPr>
          <p:nvPr/>
        </p:nvCxnSpPr>
        <p:spPr>
          <a:xfrm xmlns:a="http://schemas.openxmlformats.org/drawingml/2006/main">
            <a:off x="9201150" y="3429000"/>
            <a:ext cx="476250" cy="0"/>
          </a:xfrm>
          <a:prstGeom xmlns:a="http://schemas.openxmlformats.org/drawingml/2006/main" prst="straightConnector1">
            <a:avLst/>
          </a:prstGeom>
          <a:ln xmlns:a="http://schemas.openxmlformats.org/drawingml/2006/main" w="19050">
            <a:solidFill>
              <a:srgbClr val="5C2A91"/>
            </a:solidFill>
            <a:prstDash val="solid"/>
            <a:tailEnd type="arrow" w="med" len="med"/>
          </a:ln>
        </p:spPr>
      </p:cxnSp>
      <p:sp>
        <p:nvSpPr>
          <p:cNvPr id="14" name="">
            <a:extLst xmlns:a="http://schemas.openxmlformats.org/drawingml/2006/main">
              <a:ext uri="{FF2B5EF4-FFF2-40B4-BE49-F238E27FC236}">
                <a16:creationId xmlns:a16="http://schemas.microsoft.com/office/drawing/2014/main" id="{A1D66C03-4B89-4CCD-BA5A-0924E33C8A74}"/>
              </a:ext>
            </a:extLst>
          </p:cNvPr>
          <p:cNvSpPr>
            <a:spLocks xmlns:a="http://schemas.openxmlformats.org/drawingml/2006/main" noGrp="1"/>
          </p:cNvSpPr>
          <p:nvPr/>
        </p:nvSpPr>
        <p:spPr>
          <a:xfrm xmlns:a="http://schemas.openxmlformats.org/drawingml/2006/main">
            <a:off x="762000" y="2628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714"/>
          </a:bodyPr>
          <a:lstStyle xmlns:a="http://schemas.openxmlformats.org/drawingml/2006/main"/>
          <a:p xmlns:a="http://schemas.openxmlformats.org/drawingml/2006/main">
            <a:pPr algn="l">
              <a:defRPr sz="1050" b="1" i="0">
                <a:solidFill>
                  <a:srgbClr val="5C2A91"/>
                </a:solidFill>
              </a:defRPr>
            </a:pPr>
            <a:r>
              <a:rPr sz="1050" b="1" i="0">
                <a:solidFill>
                  <a:srgbClr val="5C2A91"/>
                </a:solidFill>
              </a:rPr>
              <a:t>01</a:t>
            </a:r>
          </a:p>
        </p:txBody>
      </p:sp>
      <p:sp>
        <p:nvSpPr>
          <p:cNvPr id="15" name="">
            <a:extLst xmlns:a="http://schemas.openxmlformats.org/drawingml/2006/main">
              <a:ext uri="{FF2B5EF4-FFF2-40B4-BE49-F238E27FC236}">
                <a16:creationId xmlns:a16="http://schemas.microsoft.com/office/drawing/2014/main" id="{73B483D7-5975-4BC2-8328-D18069E63650}"/>
              </a:ext>
            </a:extLst>
          </p:cNvPr>
          <p:cNvSpPr>
            <a:spLocks xmlns:a="http://schemas.openxmlformats.org/drawingml/2006/main" noGrp="1"/>
          </p:cNvSpPr>
          <p:nvPr/>
        </p:nvSpPr>
        <p:spPr>
          <a:xfrm xmlns:a="http://schemas.openxmlformats.org/drawingml/2006/main">
            <a:off x="762000" y="30480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482"/>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Source workbooks</a:t>
            </a:r>
          </a:p>
        </p:txBody>
      </p:sp>
      <p:sp>
        <p:nvSpPr>
          <p:cNvPr id="16" name="">
            <a:extLst xmlns:a="http://schemas.openxmlformats.org/drawingml/2006/main">
              <a:ext uri="{FF2B5EF4-FFF2-40B4-BE49-F238E27FC236}">
                <a16:creationId xmlns:a16="http://schemas.microsoft.com/office/drawing/2014/main" id="{7F196CAF-C29E-49F7-B511-1D25F909B02D}"/>
              </a:ext>
            </a:extLst>
          </p:cNvPr>
          <p:cNvSpPr>
            <a:spLocks xmlns:a="http://schemas.openxmlformats.org/drawingml/2006/main" noGrp="1"/>
          </p:cNvSpPr>
          <p:nvPr/>
        </p:nvSpPr>
        <p:spPr>
          <a:xfrm xmlns:a="http://schemas.openxmlformats.org/drawingml/2006/main">
            <a:off x="762000" y="37338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125" b="0" i="0">
                <a:solidFill>
                  <a:srgbClr val="66645F"/>
                </a:solidFill>
              </a:defRPr>
            </a:pPr>
            <a:r>
              <a:rPr sz="1125" b="0" i="0">
                <a:solidFill>
                  <a:srgbClr val="66645F"/>
                </a:solidFill>
              </a:rPr>
              <a:t>Policy examples, tables, formulas</a:t>
            </a:r>
          </a:p>
        </p:txBody>
      </p:sp>
      <p:sp>
        <p:nvSpPr>
          <p:cNvPr id="17" name="">
            <a:extLst xmlns:a="http://schemas.openxmlformats.org/drawingml/2006/main">
              <a:ext uri="{FF2B5EF4-FFF2-40B4-BE49-F238E27FC236}">
                <a16:creationId xmlns:a16="http://schemas.microsoft.com/office/drawing/2014/main" id="{5DB297B3-2176-47DF-B415-0FECF0F83D8F}"/>
              </a:ext>
            </a:extLst>
          </p:cNvPr>
          <p:cNvSpPr>
            <a:spLocks xmlns:a="http://schemas.openxmlformats.org/drawingml/2006/main" noGrp="1"/>
          </p:cNvSpPr>
          <p:nvPr/>
        </p:nvSpPr>
        <p:spPr>
          <a:xfrm xmlns:a="http://schemas.openxmlformats.org/drawingml/2006/main">
            <a:off x="3028950" y="2628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714"/>
          </a:bodyPr>
          <a:lstStyle xmlns:a="http://schemas.openxmlformats.org/drawingml/2006/main"/>
          <a:p xmlns:a="http://schemas.openxmlformats.org/drawingml/2006/main">
            <a:pPr algn="l">
              <a:defRPr sz="1050" b="1" i="0">
                <a:solidFill>
                  <a:srgbClr val="5C2A91"/>
                </a:solidFill>
              </a:defRPr>
            </a:pPr>
            <a:r>
              <a:rPr sz="1050" b="1" i="0">
                <a:solidFill>
                  <a:srgbClr val="5C2A91"/>
                </a:solidFill>
              </a:rPr>
              <a:t>02</a:t>
            </a:r>
          </a:p>
        </p:txBody>
      </p:sp>
      <p:sp>
        <p:nvSpPr>
          <p:cNvPr id="18" name="">
            <a:extLst xmlns:a="http://schemas.openxmlformats.org/drawingml/2006/main">
              <a:ext uri="{FF2B5EF4-FFF2-40B4-BE49-F238E27FC236}">
                <a16:creationId xmlns:a16="http://schemas.microsoft.com/office/drawing/2014/main" id="{305BEFFA-2C1A-476D-AD45-BD13DE12AB07}"/>
              </a:ext>
            </a:extLst>
          </p:cNvPr>
          <p:cNvSpPr>
            <a:spLocks xmlns:a="http://schemas.openxmlformats.org/drawingml/2006/main" noGrp="1"/>
          </p:cNvSpPr>
          <p:nvPr/>
        </p:nvSpPr>
        <p:spPr>
          <a:xfrm xmlns:a="http://schemas.openxmlformats.org/drawingml/2006/main">
            <a:off x="3028950" y="30480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Computation</a:t>
            </a:r>
          </a:p>
        </p:txBody>
      </p:sp>
      <p:sp>
        <p:nvSpPr>
          <p:cNvPr id="19" name="">
            <a:extLst xmlns:a="http://schemas.openxmlformats.org/drawingml/2006/main">
              <a:ext uri="{FF2B5EF4-FFF2-40B4-BE49-F238E27FC236}">
                <a16:creationId xmlns:a16="http://schemas.microsoft.com/office/drawing/2014/main" id="{3CAB8090-15E1-4527-BE66-80A077072A5B}"/>
              </a:ext>
            </a:extLst>
          </p:cNvPr>
          <p:cNvSpPr>
            <a:spLocks xmlns:a="http://schemas.openxmlformats.org/drawingml/2006/main" noGrp="1"/>
          </p:cNvSpPr>
          <p:nvPr/>
        </p:nvSpPr>
        <p:spPr>
          <a:xfrm xmlns:a="http://schemas.openxmlformats.org/drawingml/2006/main">
            <a:off x="3028950" y="37338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125" b="0" i="0">
                <a:solidFill>
                  <a:srgbClr val="66645F"/>
                </a:solidFill>
              </a:defRPr>
            </a:pPr>
            <a:r>
              <a:rPr sz="1125" b="0" i="0">
                <a:solidFill>
                  <a:srgbClr val="66645F"/>
                </a:solidFill>
              </a:rPr>
              <a:t>Controlled formula or approved variant</a:t>
            </a:r>
          </a:p>
        </p:txBody>
      </p:sp>
      <p:sp>
        <p:nvSpPr>
          <p:cNvPr id="20" name="">
            <a:extLst xmlns:a="http://schemas.openxmlformats.org/drawingml/2006/main">
              <a:ext uri="{FF2B5EF4-FFF2-40B4-BE49-F238E27FC236}">
                <a16:creationId xmlns:a16="http://schemas.microsoft.com/office/drawing/2014/main" id="{3A6EA48C-C759-48A6-86C9-31FA1A6B7BBF}"/>
              </a:ext>
            </a:extLst>
          </p:cNvPr>
          <p:cNvSpPr>
            <a:spLocks xmlns:a="http://schemas.openxmlformats.org/drawingml/2006/main" noGrp="1"/>
          </p:cNvSpPr>
          <p:nvPr/>
        </p:nvSpPr>
        <p:spPr>
          <a:xfrm xmlns:a="http://schemas.openxmlformats.org/drawingml/2006/main">
            <a:off x="5295900" y="2628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714"/>
          </a:bodyPr>
          <a:lstStyle xmlns:a="http://schemas.openxmlformats.org/drawingml/2006/main"/>
          <a:p xmlns:a="http://schemas.openxmlformats.org/drawingml/2006/main">
            <a:pPr algn="l">
              <a:defRPr sz="1050" b="1" i="0">
                <a:solidFill>
                  <a:srgbClr val="5C2A91"/>
                </a:solidFill>
              </a:defRPr>
            </a:pPr>
            <a:r>
              <a:rPr sz="1050" b="1" i="0">
                <a:solidFill>
                  <a:srgbClr val="5C2A91"/>
                </a:solidFill>
              </a:rPr>
              <a:t>03</a:t>
            </a:r>
          </a:p>
        </p:txBody>
      </p:sp>
      <p:sp>
        <p:nvSpPr>
          <p:cNvPr id="21" name="">
            <a:extLst xmlns:a="http://schemas.openxmlformats.org/drawingml/2006/main">
              <a:ext uri="{FF2B5EF4-FFF2-40B4-BE49-F238E27FC236}">
                <a16:creationId xmlns:a16="http://schemas.microsoft.com/office/drawing/2014/main" id="{1F10A81F-994D-491E-8F3F-D886C33FEBAF}"/>
              </a:ext>
            </a:extLst>
          </p:cNvPr>
          <p:cNvSpPr>
            <a:spLocks xmlns:a="http://schemas.openxmlformats.org/drawingml/2006/main" noGrp="1"/>
          </p:cNvSpPr>
          <p:nvPr/>
        </p:nvSpPr>
        <p:spPr>
          <a:xfrm xmlns:a="http://schemas.openxmlformats.org/drawingml/2006/main">
            <a:off x="5295900" y="30480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Policy code</a:t>
            </a:r>
          </a:p>
        </p:txBody>
      </p:sp>
      <p:sp>
        <p:nvSpPr>
          <p:cNvPr id="22" name="">
            <a:extLst xmlns:a="http://schemas.openxmlformats.org/drawingml/2006/main">
              <a:ext uri="{FF2B5EF4-FFF2-40B4-BE49-F238E27FC236}">
                <a16:creationId xmlns:a16="http://schemas.microsoft.com/office/drawing/2014/main" id="{2ED0992B-2694-4D7E-8A04-AF30EFC16413}"/>
              </a:ext>
            </a:extLst>
          </p:cNvPr>
          <p:cNvSpPr>
            <a:spLocks xmlns:a="http://schemas.openxmlformats.org/drawingml/2006/main" noGrp="1"/>
          </p:cNvSpPr>
          <p:nvPr/>
        </p:nvSpPr>
        <p:spPr>
          <a:xfrm xmlns:a="http://schemas.openxmlformats.org/drawingml/2006/main">
            <a:off x="5295900" y="37338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125" b="0" i="0">
                <a:solidFill>
                  <a:srgbClr val="66645F"/>
                </a:solidFill>
              </a:defRPr>
            </a:pPr>
            <a:r>
              <a:rPr sz="1125" b="0" i="0">
                <a:solidFill>
                  <a:srgbClr val="66645F"/>
                </a:solidFill>
              </a:rPr>
              <a:t>Company values and thresholds</a:t>
            </a:r>
          </a:p>
        </p:txBody>
      </p:sp>
      <p:sp>
        <p:nvSpPr>
          <p:cNvPr id="23" name="">
            <a:extLst xmlns:a="http://schemas.openxmlformats.org/drawingml/2006/main">
              <a:ext uri="{FF2B5EF4-FFF2-40B4-BE49-F238E27FC236}">
                <a16:creationId xmlns:a16="http://schemas.microsoft.com/office/drawing/2014/main" id="{4FA70FFD-4766-4417-A943-51AFEC33B5D0}"/>
              </a:ext>
            </a:extLst>
          </p:cNvPr>
          <p:cNvSpPr>
            <a:spLocks xmlns:a="http://schemas.openxmlformats.org/drawingml/2006/main" noGrp="1"/>
          </p:cNvSpPr>
          <p:nvPr/>
        </p:nvSpPr>
        <p:spPr>
          <a:xfrm xmlns:a="http://schemas.openxmlformats.org/drawingml/2006/main">
            <a:off x="7562850" y="2628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714"/>
          </a:bodyPr>
          <a:lstStyle xmlns:a="http://schemas.openxmlformats.org/drawingml/2006/main"/>
          <a:p xmlns:a="http://schemas.openxmlformats.org/drawingml/2006/main">
            <a:pPr algn="l">
              <a:defRPr sz="1050" b="1" i="0">
                <a:solidFill>
                  <a:srgbClr val="5C2A91"/>
                </a:solidFill>
              </a:defRPr>
            </a:pPr>
            <a:r>
              <a:rPr sz="1050" b="1" i="0">
                <a:solidFill>
                  <a:srgbClr val="5C2A91"/>
                </a:solidFill>
              </a:rPr>
              <a:t>04</a:t>
            </a:r>
          </a:p>
        </p:txBody>
      </p:sp>
      <p:sp>
        <p:nvSpPr>
          <p:cNvPr id="24" name="">
            <a:extLst xmlns:a="http://schemas.openxmlformats.org/drawingml/2006/main">
              <a:ext uri="{FF2B5EF4-FFF2-40B4-BE49-F238E27FC236}">
                <a16:creationId xmlns:a16="http://schemas.microsoft.com/office/drawing/2014/main" id="{617140C0-E870-44C0-A03A-CC354DB18251}"/>
              </a:ext>
            </a:extLst>
          </p:cNvPr>
          <p:cNvSpPr>
            <a:spLocks xmlns:a="http://schemas.openxmlformats.org/drawingml/2006/main" noGrp="1"/>
          </p:cNvSpPr>
          <p:nvPr/>
        </p:nvSpPr>
        <p:spPr>
          <a:xfrm xmlns:a="http://schemas.openxmlformats.org/drawingml/2006/main">
            <a:off x="7562850" y="30480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250"/>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Company Rule</a:t>
            </a:r>
          </a:p>
        </p:txBody>
      </p:sp>
      <p:sp>
        <p:nvSpPr>
          <p:cNvPr id="25" name="">
            <a:extLst xmlns:a="http://schemas.openxmlformats.org/drawingml/2006/main">
              <a:ext uri="{FF2B5EF4-FFF2-40B4-BE49-F238E27FC236}">
                <a16:creationId xmlns:a16="http://schemas.microsoft.com/office/drawing/2014/main" id="{06E5518B-B3BB-4DC7-B9B6-4557F382C523}"/>
              </a:ext>
            </a:extLst>
          </p:cNvPr>
          <p:cNvSpPr>
            <a:spLocks xmlns:a="http://schemas.openxmlformats.org/drawingml/2006/main" noGrp="1"/>
          </p:cNvSpPr>
          <p:nvPr/>
        </p:nvSpPr>
        <p:spPr>
          <a:xfrm xmlns:a="http://schemas.openxmlformats.org/drawingml/2006/main">
            <a:off x="7562850" y="37338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125" b="0" i="0">
                <a:solidFill>
                  <a:srgbClr val="66645F"/>
                </a:solidFill>
              </a:defRPr>
            </a:pPr>
            <a:r>
              <a:rPr sz="1125" b="0" i="0">
                <a:solidFill>
                  <a:srgbClr val="66645F"/>
                </a:solidFill>
              </a:rPr>
              <a:t>Employee group, category, timing</a:t>
            </a:r>
          </a:p>
        </p:txBody>
      </p:sp>
      <p:sp>
        <p:nvSpPr>
          <p:cNvPr id="26" name="">
            <a:extLst xmlns:a="http://schemas.openxmlformats.org/drawingml/2006/main">
              <a:ext uri="{FF2B5EF4-FFF2-40B4-BE49-F238E27FC236}">
                <a16:creationId xmlns:a16="http://schemas.microsoft.com/office/drawing/2014/main" id="{F60B071F-8C58-4863-A6F2-ECC80205C895}"/>
              </a:ext>
            </a:extLst>
          </p:cNvPr>
          <p:cNvSpPr>
            <a:spLocks xmlns:a="http://schemas.openxmlformats.org/drawingml/2006/main" noGrp="1"/>
          </p:cNvSpPr>
          <p:nvPr/>
        </p:nvSpPr>
        <p:spPr>
          <a:xfrm xmlns:a="http://schemas.openxmlformats.org/drawingml/2006/main">
            <a:off x="9829800" y="2628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714"/>
          </a:bodyPr>
          <a:lstStyle xmlns:a="http://schemas.openxmlformats.org/drawingml/2006/main"/>
          <a:p xmlns:a="http://schemas.openxmlformats.org/drawingml/2006/main">
            <a:pPr algn="l">
              <a:defRPr sz="1050" b="1" i="0">
                <a:solidFill>
                  <a:srgbClr val="5C2A91"/>
                </a:solidFill>
              </a:defRPr>
            </a:pPr>
            <a:r>
              <a:rPr sz="1050" b="1" i="0">
                <a:solidFill>
                  <a:srgbClr val="5C2A91"/>
                </a:solidFill>
              </a:rPr>
              <a:t>05</a:t>
            </a:r>
          </a:p>
        </p:txBody>
      </p:sp>
      <p:sp>
        <p:nvSpPr>
          <p:cNvPr id="27" name="">
            <a:extLst xmlns:a="http://schemas.openxmlformats.org/drawingml/2006/main">
              <a:ext uri="{FF2B5EF4-FFF2-40B4-BE49-F238E27FC236}">
                <a16:creationId xmlns:a16="http://schemas.microsoft.com/office/drawing/2014/main" id="{34502F74-CC12-4612-A641-3A125664DBF7}"/>
              </a:ext>
            </a:extLst>
          </p:cNvPr>
          <p:cNvSpPr>
            <a:spLocks xmlns:a="http://schemas.openxmlformats.org/drawingml/2006/main" noGrp="1"/>
          </p:cNvSpPr>
          <p:nvPr/>
        </p:nvSpPr>
        <p:spPr>
          <a:xfrm xmlns:a="http://schemas.openxmlformats.org/drawingml/2006/main">
            <a:off x="9829800" y="3048000"/>
            <a:ext cx="1485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Payroll result</a:t>
            </a:r>
          </a:p>
        </p:txBody>
      </p:sp>
      <p:sp>
        <p:nvSpPr>
          <p:cNvPr id="28" name="">
            <a:extLst xmlns:a="http://schemas.openxmlformats.org/drawingml/2006/main">
              <a:ext uri="{FF2B5EF4-FFF2-40B4-BE49-F238E27FC236}">
                <a16:creationId xmlns:a16="http://schemas.microsoft.com/office/drawing/2014/main" id="{9B2C158E-65B5-40B8-8290-CF8F1E690D25}"/>
              </a:ext>
            </a:extLst>
          </p:cNvPr>
          <p:cNvSpPr>
            <a:spLocks xmlns:a="http://schemas.openxmlformats.org/drawingml/2006/main" noGrp="1"/>
          </p:cNvSpPr>
          <p:nvPr/>
        </p:nvSpPr>
        <p:spPr>
          <a:xfrm xmlns:a="http://schemas.openxmlformats.org/drawingml/2006/main">
            <a:off x="9829800" y="37338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125" b="0" i="0">
                <a:solidFill>
                  <a:srgbClr val="66645F"/>
                </a:solidFill>
              </a:defRPr>
            </a:pPr>
            <a:r>
              <a:rPr sz="1125" b="0" i="0">
                <a:solidFill>
                  <a:srgbClr val="66645F"/>
                </a:solidFill>
              </a:rPr>
              <a:t>Trace, ledger, report, audit</a:t>
            </a:r>
          </a:p>
        </p:txBody>
      </p:sp>
      <p:sp>
        <p:nvSpPr>
          <p:cNvPr id="29" name="">
            <a:extLst xmlns:a="http://schemas.openxmlformats.org/drawingml/2006/main">
              <a:ext uri="{FF2B5EF4-FFF2-40B4-BE49-F238E27FC236}">
                <a16:creationId xmlns:a16="http://schemas.microsoft.com/office/drawing/2014/main" id="{7674608C-DBD9-48ED-A051-1DFDEE15A650}"/>
              </a:ext>
            </a:extLst>
          </p:cNvPr>
          <p:cNvSpPr>
            <a:spLocks xmlns:a="http://schemas.openxmlformats.org/drawingml/2006/main" noGrp="1"/>
          </p:cNvSpPr>
          <p:nvPr/>
        </p:nvSpPr>
        <p:spPr>
          <a:xfrm xmlns:a="http://schemas.openxmlformats.org/drawingml/2006/main">
            <a:off x="2114550" y="4895850"/>
            <a:ext cx="125730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111111"/>
            </a:solidFill>
            <a:prstDash val="solid"/>
          </a:ln>
        </p:spPr>
      </p:sp>
      <p:sp>
        <p:nvSpPr>
          <p:cNvPr id="30" name="">
            <a:extLst xmlns:a="http://schemas.openxmlformats.org/drawingml/2006/main">
              <a:ext uri="{FF2B5EF4-FFF2-40B4-BE49-F238E27FC236}">
                <a16:creationId xmlns:a16="http://schemas.microsoft.com/office/drawing/2014/main" id="{F29D89D9-7ED3-4FC5-88AF-82FE7A2F4396}"/>
              </a:ext>
            </a:extLst>
          </p:cNvPr>
          <p:cNvSpPr>
            <a:spLocks xmlns:a="http://schemas.openxmlformats.org/drawingml/2006/main" noGrp="1"/>
          </p:cNvSpPr>
          <p:nvPr/>
        </p:nvSpPr>
        <p:spPr>
          <a:xfrm xmlns:a="http://schemas.openxmlformats.org/drawingml/2006/main">
            <a:off x="2114550" y="489585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VISIBLE</a:t>
            </a:r>
          </a:p>
        </p:txBody>
      </p:sp>
      <p:sp>
        <p:nvSpPr>
          <p:cNvPr id="31" name="">
            <a:extLst xmlns:a="http://schemas.openxmlformats.org/drawingml/2006/main">
              <a:ext uri="{FF2B5EF4-FFF2-40B4-BE49-F238E27FC236}">
                <a16:creationId xmlns:a16="http://schemas.microsoft.com/office/drawing/2014/main" id="{37CE8106-0C1A-4ADD-9D7B-342084EEBDD4}"/>
              </a:ext>
            </a:extLst>
          </p:cNvPr>
          <p:cNvSpPr>
            <a:spLocks xmlns:a="http://schemas.openxmlformats.org/drawingml/2006/main" noGrp="1"/>
          </p:cNvSpPr>
          <p:nvPr/>
        </p:nvSpPr>
        <p:spPr>
          <a:xfrm xmlns:a="http://schemas.openxmlformats.org/drawingml/2006/main">
            <a:off x="5467350" y="4895850"/>
            <a:ext cx="125730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111111"/>
            </a:solidFill>
            <a:prstDash val="solid"/>
          </a:ln>
        </p:spPr>
      </p:sp>
      <p:sp>
        <p:nvSpPr>
          <p:cNvPr id="32" name="">
            <a:extLst xmlns:a="http://schemas.openxmlformats.org/drawingml/2006/main">
              <a:ext uri="{FF2B5EF4-FFF2-40B4-BE49-F238E27FC236}">
                <a16:creationId xmlns:a16="http://schemas.microsoft.com/office/drawing/2014/main" id="{06563E39-3CE7-48DC-9093-89BDA4CC837A}"/>
              </a:ext>
            </a:extLst>
          </p:cNvPr>
          <p:cNvSpPr>
            <a:spLocks xmlns:a="http://schemas.openxmlformats.org/drawingml/2006/main" noGrp="1"/>
          </p:cNvSpPr>
          <p:nvPr/>
        </p:nvSpPr>
        <p:spPr>
          <a:xfrm xmlns:a="http://schemas.openxmlformats.org/drawingml/2006/main">
            <a:off x="5467350" y="489585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TESTABLE</a:t>
            </a:r>
          </a:p>
        </p:txBody>
      </p:sp>
      <p:sp>
        <p:nvSpPr>
          <p:cNvPr id="33" name="">
            <a:extLst xmlns:a="http://schemas.openxmlformats.org/drawingml/2006/main">
              <a:ext uri="{FF2B5EF4-FFF2-40B4-BE49-F238E27FC236}">
                <a16:creationId xmlns:a16="http://schemas.microsoft.com/office/drawing/2014/main" id="{E8242DAF-4801-4EF8-B170-095411F202FB}"/>
              </a:ext>
            </a:extLst>
          </p:cNvPr>
          <p:cNvSpPr>
            <a:spLocks xmlns:a="http://schemas.openxmlformats.org/drawingml/2006/main" noGrp="1"/>
          </p:cNvSpPr>
          <p:nvPr/>
        </p:nvSpPr>
        <p:spPr>
          <a:xfrm xmlns:a="http://schemas.openxmlformats.org/drawingml/2006/main">
            <a:off x="8820150" y="4895850"/>
            <a:ext cx="125730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111111"/>
            </a:solidFill>
            <a:prstDash val="solid"/>
          </a:ln>
        </p:spPr>
      </p:sp>
      <p:sp>
        <p:nvSpPr>
          <p:cNvPr id="34" name="">
            <a:extLst xmlns:a="http://schemas.openxmlformats.org/drawingml/2006/main">
              <a:ext uri="{FF2B5EF4-FFF2-40B4-BE49-F238E27FC236}">
                <a16:creationId xmlns:a16="http://schemas.microsoft.com/office/drawing/2014/main" id="{F8A4DCE5-8589-4A4A-8E27-12FB9B91982B}"/>
              </a:ext>
            </a:extLst>
          </p:cNvPr>
          <p:cNvSpPr>
            <a:spLocks xmlns:a="http://schemas.openxmlformats.org/drawingml/2006/main" noGrp="1"/>
          </p:cNvSpPr>
          <p:nvPr/>
        </p:nvSpPr>
        <p:spPr>
          <a:xfrm xmlns:a="http://schemas.openxmlformats.org/drawingml/2006/main">
            <a:off x="8820150" y="489585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TRACEABLE</a:t>
            </a:r>
          </a:p>
        </p:txBody>
      </p:sp>
      <p:sp>
        <p:nvSpPr>
          <p:cNvPr id="35" name="">
            <a:extLst xmlns:a="http://schemas.openxmlformats.org/drawingml/2006/main">
              <a:ext uri="{FF2B5EF4-FFF2-40B4-BE49-F238E27FC236}">
                <a16:creationId xmlns:a16="http://schemas.microsoft.com/office/drawing/2014/main" id="{5C6E8AA3-4038-4582-9603-FFB2FE2DF7C7}"/>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79E4603-E10E-4806-A017-79E67A518D03}"/>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76" name=""/>
          <p:cNvCxnSpPr>
            <a:stCxn xmlns:a="http://schemas.openxmlformats.org/drawingml/2006/main" id="35" idx="6"/>
            <a:endCxn xmlns:a="http://schemas.openxmlformats.org/drawingml/2006/main" id="36"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38" name="">
            <a:extLst xmlns:a="http://schemas.openxmlformats.org/drawingml/2006/main">
              <a:ext uri="{FF2B5EF4-FFF2-40B4-BE49-F238E27FC236}">
                <a16:creationId xmlns:a16="http://schemas.microsoft.com/office/drawing/2014/main" id="{1DBED80E-140E-4909-99D2-3BD9BCC5A0FB}"/>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MODEL</a:t>
            </a:r>
          </a:p>
        </p:txBody>
      </p:sp>
      <p:sp>
        <p:nvSpPr>
          <p:cNvPr id="39" name="">
            <a:extLst xmlns:a="http://schemas.openxmlformats.org/drawingml/2006/main">
              <a:ext uri="{FF2B5EF4-FFF2-40B4-BE49-F238E27FC236}">
                <a16:creationId xmlns:a16="http://schemas.microsoft.com/office/drawing/2014/main" id="{8B61A9D1-B867-417B-8714-1B6C749A7F70}"/>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02</a:t>
            </a:r>
          </a:p>
        </p:txBody>
      </p:sp>
    </p:spTree>
    <p:extLst>
      <p:ext uri="{BB962C8B-B14F-4D97-AF65-F5344CB8AC3E}">
        <p14:creationId xmlns:p14="http://schemas.microsoft.com/office/powerpoint/2010/main" val="547321186"/>
      </p:ext>
    </p:extLst>
  </p:cSld>
</p:sld>
</file>

<file path=ppt/slides/slide3.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42B6DC5-C967-4EFC-A2D3-FDE1E0B30B79}"/>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THE CONTROLLED WORKSPACE</a:t>
            </a:r>
          </a:p>
        </p:txBody>
      </p:sp>
      <p:sp>
        <p:nvSpPr>
          <p:cNvPr id="2" name="">
            <a:extLst xmlns:a="http://schemas.openxmlformats.org/drawingml/2006/main">
              <a:ext uri="{FF2B5EF4-FFF2-40B4-BE49-F238E27FC236}">
                <a16:creationId xmlns:a16="http://schemas.microsoft.com/office/drawing/2014/main" id="{A21E62E1-03CC-46D4-92B2-2AD7F3F5583A}"/>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WIREFRAME</a:t>
            </a:r>
          </a:p>
        </p:txBody>
      </p:sp>
      <p:sp>
        <p:nvSpPr>
          <p:cNvPr id="3" name="">
            <a:extLst xmlns:a="http://schemas.openxmlformats.org/drawingml/2006/main">
              <a:ext uri="{FF2B5EF4-FFF2-40B4-BE49-F238E27FC236}">
                <a16:creationId xmlns:a16="http://schemas.microsoft.com/office/drawing/2014/main" id="{4569E1F0-766A-4F85-BC80-3118FA901FD5}"/>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One workspace governs the calculation lifecycle</a:t>
            </a:r>
          </a:p>
        </p:txBody>
      </p:sp>
      <p:sp>
        <p:nvSpPr>
          <p:cNvPr id="4" name="">
            <a:extLst xmlns:a="http://schemas.openxmlformats.org/drawingml/2006/main">
              <a:ext uri="{FF2B5EF4-FFF2-40B4-BE49-F238E27FC236}">
                <a16:creationId xmlns:a16="http://schemas.microsoft.com/office/drawing/2014/main" id="{C3ACDA94-CE65-4D69-9D95-1E5C40C46C1D}"/>
              </a:ext>
            </a:extLst>
          </p:cNvPr>
          <p:cNvSpPr>
            <a:spLocks xmlns:a="http://schemas.openxmlformats.org/drawingml/2006/main" noGrp="1"/>
          </p:cNvSpPr>
          <p:nvPr/>
        </p:nvSpPr>
        <p:spPr>
          <a:xfrm xmlns:a="http://schemas.openxmlformats.org/drawingml/2006/main">
            <a:off x="533400" y="1390650"/>
            <a:ext cx="11125200" cy="3638550"/>
          </a:xfrm>
          <a:prstGeom xmlns:a="http://schemas.openxmlformats.org/drawingml/2006/main" prst="roundRect">
            <a:avLst>
              <a:gd name="adj" fmla="val 2094"/>
            </a:avLst>
          </a:prstGeom>
          <a:solidFill xmlns:a="http://schemas.openxmlformats.org/drawingml/2006/main">
            <a:srgbClr val="FFFFFF"/>
          </a:solidFill>
          <a:ln xmlns:a="http://schemas.openxmlformats.org/drawingml/2006/main" w="9525">
            <a:solidFill>
              <a:srgbClr val="D1CFCA"/>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7f9c7ea44074c73"/>
          <a:srcRect xmlns:a="http://schemas.openxmlformats.org/drawingml/2006/main" l="0" t="21567" r="0" b="21567"/>
          <a:stretch xmlns:a="http://schemas.openxmlformats.org/drawingml/2006/main">
            <a:fillRect l="0" t="0" r="0" b="0"/>
          </a:stretch>
        </p:blipFill>
        <p:spPr>
          <a:xfrm xmlns:a="http://schemas.openxmlformats.org/drawingml/2006/main">
            <a:off x="590550" y="1447800"/>
            <a:ext cx="11010900"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98D1D07-ADF8-47AD-BDD5-E54A310AF3F3}"/>
              </a:ext>
            </a:extLst>
          </p:cNvPr>
          <p:cNvSpPr>
            <a:spLocks xmlns:a="http://schemas.openxmlformats.org/drawingml/2006/main" noGrp="1"/>
          </p:cNvSpPr>
          <p:nvPr/>
        </p:nvSpPr>
        <p:spPr>
          <a:xfrm xmlns:a="http://schemas.openxmlformats.org/drawingml/2006/main">
            <a:off x="533400" y="5267325"/>
            <a:ext cx="1714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1CFCA"/>
            </a:solidFill>
            <a:prstDash val="solid"/>
          </a:ln>
        </p:spPr>
      </p:sp>
      <p:sp>
        <p:nvSpPr>
          <p:cNvPr id="7" name="">
            <a:extLst xmlns:a="http://schemas.openxmlformats.org/drawingml/2006/main">
              <a:ext uri="{FF2B5EF4-FFF2-40B4-BE49-F238E27FC236}">
                <a16:creationId xmlns:a16="http://schemas.microsoft.com/office/drawing/2014/main" id="{38880EB1-603B-49F5-A329-FAE3EE169945}"/>
              </a:ext>
            </a:extLst>
          </p:cNvPr>
          <p:cNvSpPr>
            <a:spLocks xmlns:a="http://schemas.openxmlformats.org/drawingml/2006/main" noGrp="1"/>
          </p:cNvSpPr>
          <p:nvPr/>
        </p:nvSpPr>
        <p:spPr>
          <a:xfrm xmlns:a="http://schemas.openxmlformats.org/drawingml/2006/main">
            <a:off x="685800" y="537210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71"/>
          </a:bodyPr>
          <a:lstStyle xmlns:a="http://schemas.openxmlformats.org/drawingml/2006/main"/>
          <a:p xmlns:a="http://schemas.openxmlformats.org/drawingml/2006/main">
            <a:pPr algn="l">
              <a:defRPr sz="2100" b="1" i="0">
                <a:solidFill>
                  <a:srgbClr val="111111"/>
                </a:solidFill>
              </a:defRPr>
            </a:pPr>
            <a:r>
              <a:rPr sz="2100" b="1" i="0">
                <a:solidFill>
                  <a:srgbClr val="111111"/>
                </a:solidFill>
              </a:rPr>
              <a:t>219</a:t>
            </a:r>
          </a:p>
        </p:txBody>
      </p:sp>
      <p:sp>
        <p:nvSpPr>
          <p:cNvPr id="8" name="">
            <a:extLst xmlns:a="http://schemas.openxmlformats.org/drawingml/2006/main">
              <a:ext uri="{FF2B5EF4-FFF2-40B4-BE49-F238E27FC236}">
                <a16:creationId xmlns:a16="http://schemas.microsoft.com/office/drawing/2014/main" id="{E805B956-00C4-4016-B145-A64F0C0367A6}"/>
              </a:ext>
            </a:extLst>
          </p:cNvPr>
          <p:cNvSpPr>
            <a:spLocks xmlns:a="http://schemas.openxmlformats.org/drawingml/2006/main" noGrp="1"/>
          </p:cNvSpPr>
          <p:nvPr/>
        </p:nvSpPr>
        <p:spPr>
          <a:xfrm xmlns:a="http://schemas.openxmlformats.org/drawingml/2006/main">
            <a:off x="685800" y="577215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0" i="0">
                <a:solidFill>
                  <a:srgbClr val="66645F"/>
                </a:solidFill>
              </a:defRPr>
            </a:pPr>
            <a:r>
              <a:rPr sz="975" b="0" i="0">
                <a:solidFill>
                  <a:srgbClr val="66645F"/>
                </a:solidFill>
              </a:rPr>
              <a:t>governed computations</a:t>
            </a:r>
          </a:p>
        </p:txBody>
      </p:sp>
      <p:sp>
        <p:nvSpPr>
          <p:cNvPr id="9" name="">
            <a:extLst xmlns:a="http://schemas.openxmlformats.org/drawingml/2006/main">
              <a:ext uri="{FF2B5EF4-FFF2-40B4-BE49-F238E27FC236}">
                <a16:creationId xmlns:a16="http://schemas.microsoft.com/office/drawing/2014/main" id="{3F0413FC-67BC-4247-A128-5FC080285E09}"/>
              </a:ext>
            </a:extLst>
          </p:cNvPr>
          <p:cNvSpPr>
            <a:spLocks xmlns:a="http://schemas.openxmlformats.org/drawingml/2006/main" noGrp="1"/>
          </p:cNvSpPr>
          <p:nvPr/>
        </p:nvSpPr>
        <p:spPr>
          <a:xfrm xmlns:a="http://schemas.openxmlformats.org/drawingml/2006/main">
            <a:off x="2400300" y="5267325"/>
            <a:ext cx="1714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1CFCA"/>
            </a:solidFill>
            <a:prstDash val="solid"/>
          </a:ln>
        </p:spPr>
      </p:sp>
      <p:sp>
        <p:nvSpPr>
          <p:cNvPr id="10" name="">
            <a:extLst xmlns:a="http://schemas.openxmlformats.org/drawingml/2006/main">
              <a:ext uri="{FF2B5EF4-FFF2-40B4-BE49-F238E27FC236}">
                <a16:creationId xmlns:a16="http://schemas.microsoft.com/office/drawing/2014/main" id="{462B0F92-C2D5-494C-807A-10178A60A986}"/>
              </a:ext>
            </a:extLst>
          </p:cNvPr>
          <p:cNvSpPr>
            <a:spLocks xmlns:a="http://schemas.openxmlformats.org/drawingml/2006/main" noGrp="1"/>
          </p:cNvSpPr>
          <p:nvPr/>
        </p:nvSpPr>
        <p:spPr>
          <a:xfrm xmlns:a="http://schemas.openxmlformats.org/drawingml/2006/main">
            <a:off x="2552700" y="537210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71"/>
          </a:bodyPr>
          <a:lstStyle xmlns:a="http://schemas.openxmlformats.org/drawingml/2006/main"/>
          <a:p xmlns:a="http://schemas.openxmlformats.org/drawingml/2006/main">
            <a:pPr algn="l">
              <a:defRPr sz="2100" b="1" i="0">
                <a:solidFill>
                  <a:srgbClr val="111111"/>
                </a:solidFill>
              </a:defRPr>
            </a:pPr>
            <a:r>
              <a:rPr sz="2100" b="1" i="0">
                <a:solidFill>
                  <a:srgbClr val="111111"/>
                </a:solidFill>
              </a:rPr>
              <a:t>30</a:t>
            </a:r>
          </a:p>
        </p:txBody>
      </p:sp>
      <p:sp>
        <p:nvSpPr>
          <p:cNvPr id="11" name="">
            <a:extLst xmlns:a="http://schemas.openxmlformats.org/drawingml/2006/main">
              <a:ext uri="{FF2B5EF4-FFF2-40B4-BE49-F238E27FC236}">
                <a16:creationId xmlns:a16="http://schemas.microsoft.com/office/drawing/2014/main" id="{AE84F835-6FEA-4C9B-9E47-265B869CF10C}"/>
              </a:ext>
            </a:extLst>
          </p:cNvPr>
          <p:cNvSpPr>
            <a:spLocks xmlns:a="http://schemas.openxmlformats.org/drawingml/2006/main" noGrp="1"/>
          </p:cNvSpPr>
          <p:nvPr/>
        </p:nvSpPr>
        <p:spPr>
          <a:xfrm xmlns:a="http://schemas.openxmlformats.org/drawingml/2006/main">
            <a:off x="2552700" y="577215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0" i="0">
                <a:solidFill>
                  <a:srgbClr val="66645F"/>
                </a:solidFill>
              </a:defRPr>
            </a:pPr>
            <a:r>
              <a:rPr sz="975" b="0" i="0">
                <a:solidFill>
                  <a:srgbClr val="66645F"/>
                </a:solidFill>
              </a:rPr>
              <a:t>reference sources</a:t>
            </a:r>
          </a:p>
        </p:txBody>
      </p:sp>
      <p:sp>
        <p:nvSpPr>
          <p:cNvPr id="12" name="">
            <a:extLst xmlns:a="http://schemas.openxmlformats.org/drawingml/2006/main">
              <a:ext uri="{FF2B5EF4-FFF2-40B4-BE49-F238E27FC236}">
                <a16:creationId xmlns:a16="http://schemas.microsoft.com/office/drawing/2014/main" id="{BF97EC8C-58CE-40A6-AED7-DA70805DF888}"/>
              </a:ext>
            </a:extLst>
          </p:cNvPr>
          <p:cNvSpPr>
            <a:spLocks xmlns:a="http://schemas.openxmlformats.org/drawingml/2006/main" noGrp="1"/>
          </p:cNvSpPr>
          <p:nvPr/>
        </p:nvSpPr>
        <p:spPr>
          <a:xfrm xmlns:a="http://schemas.openxmlformats.org/drawingml/2006/main">
            <a:off x="4267200" y="5267325"/>
            <a:ext cx="1714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1CFCA"/>
            </a:solidFill>
            <a:prstDash val="solid"/>
          </a:ln>
        </p:spPr>
      </p:sp>
      <p:sp>
        <p:nvSpPr>
          <p:cNvPr id="13" name="">
            <a:extLst xmlns:a="http://schemas.openxmlformats.org/drawingml/2006/main">
              <a:ext uri="{FF2B5EF4-FFF2-40B4-BE49-F238E27FC236}">
                <a16:creationId xmlns:a16="http://schemas.microsoft.com/office/drawing/2014/main" id="{4B7DDDA2-6CE5-46CB-8C09-2AD109D59A2D}"/>
              </a:ext>
            </a:extLst>
          </p:cNvPr>
          <p:cNvSpPr>
            <a:spLocks xmlns:a="http://schemas.openxmlformats.org/drawingml/2006/main" noGrp="1"/>
          </p:cNvSpPr>
          <p:nvPr/>
        </p:nvSpPr>
        <p:spPr>
          <a:xfrm xmlns:a="http://schemas.openxmlformats.org/drawingml/2006/main">
            <a:off x="4419600" y="537210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71"/>
          </a:bodyPr>
          <a:lstStyle xmlns:a="http://schemas.openxmlformats.org/drawingml/2006/main"/>
          <a:p xmlns:a="http://schemas.openxmlformats.org/drawingml/2006/main">
            <a:pPr algn="l">
              <a:defRPr sz="2100" b="1" i="0">
                <a:solidFill>
                  <a:srgbClr val="5C2A91"/>
                </a:solidFill>
              </a:defRPr>
            </a:pPr>
            <a:r>
              <a:rPr sz="2100" b="1" i="0">
                <a:solidFill>
                  <a:srgbClr val="5C2A91"/>
                </a:solidFill>
              </a:rPr>
              <a:t>4</a:t>
            </a:r>
          </a:p>
        </p:txBody>
      </p:sp>
      <p:sp>
        <p:nvSpPr>
          <p:cNvPr id="14" name="">
            <a:extLst xmlns:a="http://schemas.openxmlformats.org/drawingml/2006/main">
              <a:ext uri="{FF2B5EF4-FFF2-40B4-BE49-F238E27FC236}">
                <a16:creationId xmlns:a16="http://schemas.microsoft.com/office/drawing/2014/main" id="{E750983A-2F8F-412C-932B-0081931FA18E}"/>
              </a:ext>
            </a:extLst>
          </p:cNvPr>
          <p:cNvSpPr>
            <a:spLocks xmlns:a="http://schemas.openxmlformats.org/drawingml/2006/main" noGrp="1"/>
          </p:cNvSpPr>
          <p:nvPr/>
        </p:nvSpPr>
        <p:spPr>
          <a:xfrm xmlns:a="http://schemas.openxmlformats.org/drawingml/2006/main">
            <a:off x="4419600" y="577215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0" i="0">
                <a:solidFill>
                  <a:srgbClr val="66645F"/>
                </a:solidFill>
              </a:defRPr>
            </a:pPr>
            <a:r>
              <a:rPr sz="975" b="0" i="0">
                <a:solidFill>
                  <a:srgbClr val="66645F"/>
                </a:solidFill>
              </a:rPr>
              <a:t>pay policy engines</a:t>
            </a:r>
          </a:p>
        </p:txBody>
      </p:sp>
      <p:sp>
        <p:nvSpPr>
          <p:cNvPr id="15" name="">
            <a:extLst xmlns:a="http://schemas.openxmlformats.org/drawingml/2006/main">
              <a:ext uri="{FF2B5EF4-FFF2-40B4-BE49-F238E27FC236}">
                <a16:creationId xmlns:a16="http://schemas.microsoft.com/office/drawing/2014/main" id="{D8B91226-6F2D-43AC-8662-4036CBE6D029}"/>
              </a:ext>
            </a:extLst>
          </p:cNvPr>
          <p:cNvSpPr>
            <a:spLocks xmlns:a="http://schemas.openxmlformats.org/drawingml/2006/main" noGrp="1"/>
          </p:cNvSpPr>
          <p:nvPr/>
        </p:nvSpPr>
        <p:spPr>
          <a:xfrm xmlns:a="http://schemas.openxmlformats.org/drawingml/2006/main">
            <a:off x="6134100" y="5267325"/>
            <a:ext cx="1714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1CFCA"/>
            </a:solidFill>
            <a:prstDash val="solid"/>
          </a:ln>
        </p:spPr>
      </p:sp>
      <p:sp>
        <p:nvSpPr>
          <p:cNvPr id="16" name="">
            <a:extLst xmlns:a="http://schemas.openxmlformats.org/drawingml/2006/main">
              <a:ext uri="{FF2B5EF4-FFF2-40B4-BE49-F238E27FC236}">
                <a16:creationId xmlns:a16="http://schemas.microsoft.com/office/drawing/2014/main" id="{D45A3221-9FAA-4E51-AD84-0A7C85901FF8}"/>
              </a:ext>
            </a:extLst>
          </p:cNvPr>
          <p:cNvSpPr>
            <a:spLocks xmlns:a="http://schemas.openxmlformats.org/drawingml/2006/main" noGrp="1"/>
          </p:cNvSpPr>
          <p:nvPr/>
        </p:nvSpPr>
        <p:spPr>
          <a:xfrm xmlns:a="http://schemas.openxmlformats.org/drawingml/2006/main">
            <a:off x="6286500" y="537210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71"/>
          </a:bodyPr>
          <a:lstStyle xmlns:a="http://schemas.openxmlformats.org/drawingml/2006/main"/>
          <a:p xmlns:a="http://schemas.openxmlformats.org/drawingml/2006/main">
            <a:pPr algn="l">
              <a:defRPr sz="2100" b="1" i="0">
                <a:solidFill>
                  <a:srgbClr val="111111"/>
                </a:solidFill>
              </a:defRPr>
            </a:pPr>
            <a:r>
              <a:rPr sz="2100" b="1" i="0">
                <a:solidFill>
                  <a:srgbClr val="111111"/>
                </a:solidFill>
              </a:rPr>
              <a:t>6</a:t>
            </a:r>
          </a:p>
        </p:txBody>
      </p:sp>
      <p:sp>
        <p:nvSpPr>
          <p:cNvPr id="17" name="">
            <a:extLst xmlns:a="http://schemas.openxmlformats.org/drawingml/2006/main">
              <a:ext uri="{FF2B5EF4-FFF2-40B4-BE49-F238E27FC236}">
                <a16:creationId xmlns:a16="http://schemas.microsoft.com/office/drawing/2014/main" id="{CEC507E0-BB4F-49CA-B4EF-E3E6D4EC2C71}"/>
              </a:ext>
            </a:extLst>
          </p:cNvPr>
          <p:cNvSpPr>
            <a:spLocks xmlns:a="http://schemas.openxmlformats.org/drawingml/2006/main" noGrp="1"/>
          </p:cNvSpPr>
          <p:nvPr/>
        </p:nvSpPr>
        <p:spPr>
          <a:xfrm xmlns:a="http://schemas.openxmlformats.org/drawingml/2006/main">
            <a:off x="6286500" y="577215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0" i="0">
                <a:solidFill>
                  <a:srgbClr val="66645F"/>
                </a:solidFill>
              </a:defRPr>
            </a:pPr>
            <a:r>
              <a:rPr sz="975" b="0" i="0">
                <a:solidFill>
                  <a:srgbClr val="66645F"/>
                </a:solidFill>
              </a:rPr>
              <a:t>client assignments</a:t>
            </a:r>
          </a:p>
        </p:txBody>
      </p:sp>
      <p:sp>
        <p:nvSpPr>
          <p:cNvPr id="18" name="">
            <a:extLst xmlns:a="http://schemas.openxmlformats.org/drawingml/2006/main">
              <a:ext uri="{FF2B5EF4-FFF2-40B4-BE49-F238E27FC236}">
                <a16:creationId xmlns:a16="http://schemas.microsoft.com/office/drawing/2014/main" id="{02A5CF5E-014C-4A40-829E-8776B4672653}"/>
              </a:ext>
            </a:extLst>
          </p:cNvPr>
          <p:cNvSpPr>
            <a:spLocks xmlns:a="http://schemas.openxmlformats.org/drawingml/2006/main" noGrp="1"/>
          </p:cNvSpPr>
          <p:nvPr/>
        </p:nvSpPr>
        <p:spPr>
          <a:xfrm xmlns:a="http://schemas.openxmlformats.org/drawingml/2006/main">
            <a:off x="8001000" y="5267325"/>
            <a:ext cx="3657600" cy="876300"/>
          </a:xfrm>
          <a:prstGeom xmlns:a="http://schemas.openxmlformats.org/drawingml/2006/main" prst="roundRect">
            <a:avLst>
              <a:gd name="adj" fmla="val 8696"/>
            </a:avLst>
          </a:prstGeom>
          <a:solidFill xmlns:a="http://schemas.openxmlformats.org/drawingml/2006/main">
            <a:srgbClr val="E7F4EE"/>
          </a:solidFill>
          <a:ln xmlns:a="http://schemas.openxmlformats.org/drawingml/2006/main" w="9525">
            <a:solidFill>
              <a:srgbClr val="167B55"/>
            </a:solidFill>
            <a:prstDash val="solid"/>
          </a:ln>
        </p:spPr>
      </p:sp>
      <p:sp>
        <p:nvSpPr>
          <p:cNvPr id="19" name="">
            <a:extLst xmlns:a="http://schemas.openxmlformats.org/drawingml/2006/main">
              <a:ext uri="{FF2B5EF4-FFF2-40B4-BE49-F238E27FC236}">
                <a16:creationId xmlns:a16="http://schemas.microsoft.com/office/drawing/2014/main" id="{06144A31-5585-4677-B9E6-102AF363470D}"/>
              </a:ext>
            </a:extLst>
          </p:cNvPr>
          <p:cNvSpPr>
            <a:spLocks xmlns:a="http://schemas.openxmlformats.org/drawingml/2006/main" noGrp="1"/>
          </p:cNvSpPr>
          <p:nvPr/>
        </p:nvSpPr>
        <p:spPr>
          <a:xfrm xmlns:a="http://schemas.openxmlformats.org/drawingml/2006/main">
            <a:off x="8191500" y="53911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111"/>
          </a:bodyPr>
          <a:lstStyle xmlns:a="http://schemas.openxmlformats.org/drawingml/2006/main"/>
          <a:p xmlns:a="http://schemas.openxmlformats.org/drawingml/2006/main">
            <a:pPr algn="l">
              <a:defRPr sz="1125" b="1" i="0">
                <a:solidFill>
                  <a:srgbClr val="167B55"/>
                </a:solidFill>
              </a:defRPr>
            </a:pPr>
            <a:r>
              <a:rPr sz="1125" b="1" i="0">
                <a:solidFill>
                  <a:srgbClr val="167B55"/>
                </a:solidFill>
              </a:rPr>
              <a:t>Client view</a:t>
            </a:r>
          </a:p>
        </p:txBody>
      </p:sp>
      <p:sp>
        <p:nvSpPr>
          <p:cNvPr id="20" name="">
            <a:extLst xmlns:a="http://schemas.openxmlformats.org/drawingml/2006/main">
              <a:ext uri="{FF2B5EF4-FFF2-40B4-BE49-F238E27FC236}">
                <a16:creationId xmlns:a16="http://schemas.microsoft.com/office/drawing/2014/main" id="{C4916C6F-F330-4037-98CB-254A767EDF74}"/>
              </a:ext>
            </a:extLst>
          </p:cNvPr>
          <p:cNvSpPr>
            <a:spLocks xmlns:a="http://schemas.openxmlformats.org/drawingml/2006/main" noGrp="1"/>
          </p:cNvSpPr>
          <p:nvPr/>
        </p:nvSpPr>
        <p:spPr>
          <a:xfrm xmlns:a="http://schemas.openxmlformats.org/drawingml/2006/main">
            <a:off x="8191500" y="567690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Built-ins stay controlled. Company-owned calculations and assignments remain configurable.</a:t>
            </a:r>
          </a:p>
        </p:txBody>
      </p:sp>
      <p:sp>
        <p:nvSpPr>
          <p:cNvPr id="21" name="">
            <a:extLst xmlns:a="http://schemas.openxmlformats.org/drawingml/2006/main">
              <a:ext uri="{FF2B5EF4-FFF2-40B4-BE49-F238E27FC236}">
                <a16:creationId xmlns:a16="http://schemas.microsoft.com/office/drawing/2014/main" id="{4A000E08-52AA-4DB3-8EF4-204F7E7B9978}"/>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C8D7E1-C510-44E7-8E61-42D316E570F5}"/>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48" name=""/>
          <p:cNvCxnSpPr>
            <a:stCxn xmlns:a="http://schemas.openxmlformats.org/drawingml/2006/main" id="21" idx="6"/>
            <a:endCxn xmlns:a="http://schemas.openxmlformats.org/drawingml/2006/main" id="22"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4" name="">
            <a:extLst xmlns:a="http://schemas.openxmlformats.org/drawingml/2006/main">
              <a:ext uri="{FF2B5EF4-FFF2-40B4-BE49-F238E27FC236}">
                <a16:creationId xmlns:a16="http://schemas.microsoft.com/office/drawing/2014/main" id="{E4889D44-D767-4EB7-BDAE-41F100C1E256}"/>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WORKSPACE</a:t>
            </a:r>
          </a:p>
        </p:txBody>
      </p:sp>
      <p:sp>
        <p:nvSpPr>
          <p:cNvPr id="25" name="">
            <a:extLst xmlns:a="http://schemas.openxmlformats.org/drawingml/2006/main">
              <a:ext uri="{FF2B5EF4-FFF2-40B4-BE49-F238E27FC236}">
                <a16:creationId xmlns:a16="http://schemas.microsoft.com/office/drawing/2014/main" id="{C8268CF2-B68E-49F3-8BE7-CE604C778E84}"/>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03</a:t>
            </a:r>
          </a:p>
        </p:txBody>
      </p:sp>
    </p:spTree>
    <p:extLst>
      <p:ext uri="{BB962C8B-B14F-4D97-AF65-F5344CB8AC3E}">
        <p14:creationId xmlns:p14="http://schemas.microsoft.com/office/powerpoint/2010/main" val="2016293245"/>
      </p:ext>
    </p:extLst>
  </p:cSld>
</p:sld>
</file>

<file path=ppt/slides/slide4.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AEBEA89-61D4-4192-B19C-45ECE2D3A227}"/>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COMPANY RULES</a:t>
            </a:r>
          </a:p>
        </p:txBody>
      </p:sp>
      <p:sp>
        <p:nvSpPr>
          <p:cNvPr id="2" name="">
            <a:extLst xmlns:a="http://schemas.openxmlformats.org/drawingml/2006/main">
              <a:ext uri="{FF2B5EF4-FFF2-40B4-BE49-F238E27FC236}">
                <a16:creationId xmlns:a16="http://schemas.microsoft.com/office/drawing/2014/main" id="{26CD8D10-ED6E-4391-B0C0-792C74DFAE64}"/>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GOVERNANCE</a:t>
            </a:r>
          </a:p>
        </p:txBody>
      </p:sp>
      <p:sp>
        <p:nvSpPr>
          <p:cNvPr id="3" name="">
            <a:extLst xmlns:a="http://schemas.openxmlformats.org/drawingml/2006/main">
              <a:ext uri="{FF2B5EF4-FFF2-40B4-BE49-F238E27FC236}">
                <a16:creationId xmlns:a16="http://schemas.microsoft.com/office/drawing/2014/main" id="{22D3FB45-E121-4BA7-9C59-1EA78D2997B6}"/>
              </a:ext>
            </a:extLst>
          </p:cNvPr>
          <p:cNvSpPr>
            <a:spLocks xmlns:a="http://schemas.openxmlformats.org/drawingml/2006/main" noGrp="1"/>
          </p:cNvSpPr>
          <p:nvPr/>
        </p:nvSpPr>
        <p:spPr>
          <a:xfrm xmlns:a="http://schemas.openxmlformats.org/drawingml/2006/main">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One rule register—without duplicating engine settings</a:t>
            </a:r>
          </a:p>
        </p:txBody>
      </p:sp>
      <p:sp>
        <p:nvSpPr>
          <p:cNvPr id="4" name="">
            <a:extLst xmlns:a="http://schemas.openxmlformats.org/drawingml/2006/main">
              <a:ext uri="{FF2B5EF4-FFF2-40B4-BE49-F238E27FC236}">
                <a16:creationId xmlns:a16="http://schemas.microsoft.com/office/drawing/2014/main" id="{628710CC-AB32-450E-8A26-3A147FA42C1E}"/>
              </a:ext>
            </a:extLst>
          </p:cNvPr>
          <p:cNvSpPr>
            <a:spLocks xmlns:a="http://schemas.openxmlformats.org/drawingml/2006/main" noGrp="1"/>
          </p:cNvSpPr>
          <p:nvPr/>
        </p:nvSpPr>
        <p:spPr>
          <a:xfrm xmlns:a="http://schemas.openxmlformats.org/drawingml/2006/main">
            <a:off x="533400" y="1123950"/>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350" b="0" i="0">
                <a:solidFill>
                  <a:srgbClr val="66645F"/>
                </a:solidFill>
              </a:defRPr>
            </a:pPr>
            <a:r>
              <a:rPr sz="1350" b="0" i="0">
                <a:solidFill>
                  <a:srgbClr val="66645F"/>
                </a:solidFill>
              </a:rPr>
              <a:t>Payroll users can see every active rule in one place and open the owning policy engine when values need to change.</a:t>
            </a:r>
          </a:p>
        </p:txBody>
      </p:sp>
      <p:sp>
        <p:nvSpPr>
          <p:cNvPr id="5" name="">
            <a:extLst xmlns:a="http://schemas.openxmlformats.org/drawingml/2006/main">
              <a:ext uri="{FF2B5EF4-FFF2-40B4-BE49-F238E27FC236}">
                <a16:creationId xmlns:a16="http://schemas.microsoft.com/office/drawing/2014/main" id="{EBED601F-3610-4FF2-9988-F95203FD402C}"/>
              </a:ext>
            </a:extLst>
          </p:cNvPr>
          <p:cNvSpPr>
            <a:spLocks xmlns:a="http://schemas.openxmlformats.org/drawingml/2006/main" noGrp="1"/>
          </p:cNvSpPr>
          <p:nvPr/>
        </p:nvSpPr>
        <p:spPr>
          <a:xfrm xmlns:a="http://schemas.openxmlformats.org/drawingml/2006/main">
            <a:off x="533400" y="1714500"/>
            <a:ext cx="781050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D1CFCA"/>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9c96d11eb81442e"/>
          <a:stretch xmlns:a="http://schemas.openxmlformats.org/drawingml/2006/main"/>
        </p:blipFill>
        <p:spPr>
          <a:xfrm xmlns:a="http://schemas.openxmlformats.org/drawingml/2006/main">
            <a:off x="1633906" y="1771650"/>
            <a:ext cx="5609489" cy="4171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3F6F198-7AE5-4D0C-83F1-8A826D33589A}"/>
              </a:ext>
            </a:extLst>
          </p:cNvPr>
          <p:cNvSpPr>
            <a:spLocks xmlns:a="http://schemas.openxmlformats.org/drawingml/2006/main" noGrp="1"/>
          </p:cNvSpPr>
          <p:nvPr/>
        </p:nvSpPr>
        <p:spPr>
          <a:xfrm xmlns:a="http://schemas.openxmlformats.org/drawingml/2006/main">
            <a:off x="8591550" y="1885950"/>
            <a:ext cx="3067050" cy="1104900"/>
          </a:xfrm>
          <a:prstGeom xmlns:a="http://schemas.openxmlformats.org/drawingml/2006/main" prst="roundRect">
            <a:avLst>
              <a:gd name="adj" fmla="val 6897"/>
            </a:avLst>
          </a:prstGeom>
          <a:solidFill xmlns:a="http://schemas.openxmlformats.org/drawingml/2006/main">
            <a:srgbClr val="F2ECF8"/>
          </a:solidFill>
          <a:ln xmlns:a="http://schemas.openxmlformats.org/drawingml/2006/main" w="9525">
            <a:solidFill>
              <a:srgbClr val="5C2A91"/>
            </a:solidFill>
            <a:prstDash val="solid"/>
          </a:ln>
        </p:spPr>
      </p:sp>
      <p:sp>
        <p:nvSpPr>
          <p:cNvPr id="8" name="">
            <a:extLst xmlns:a="http://schemas.openxmlformats.org/drawingml/2006/main">
              <a:ext uri="{FF2B5EF4-FFF2-40B4-BE49-F238E27FC236}">
                <a16:creationId xmlns:a16="http://schemas.microsoft.com/office/drawing/2014/main" id="{E8875D03-17E0-4768-999C-ABB4CB8640C1}"/>
              </a:ext>
            </a:extLst>
          </p:cNvPr>
          <p:cNvSpPr>
            <a:spLocks xmlns:a="http://schemas.openxmlformats.org/drawingml/2006/main" noGrp="1"/>
          </p:cNvSpPr>
          <p:nvPr/>
        </p:nvSpPr>
        <p:spPr>
          <a:xfrm xmlns:a="http://schemas.openxmlformats.org/drawingml/2006/main">
            <a:off x="8801100" y="207645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5C2A91"/>
                </a:solidFill>
              </a:defRPr>
            </a:pPr>
            <a:r>
              <a:rPr sz="1575" b="1" i="0">
                <a:solidFill>
                  <a:srgbClr val="5C2A91"/>
                </a:solidFill>
              </a:rPr>
              <a:t>Engine-owned rows</a:t>
            </a:r>
          </a:p>
        </p:txBody>
      </p:sp>
      <p:sp>
        <p:nvSpPr>
          <p:cNvPr id="9" name="">
            <a:extLst xmlns:a="http://schemas.openxmlformats.org/drawingml/2006/main">
              <a:ext uri="{FF2B5EF4-FFF2-40B4-BE49-F238E27FC236}">
                <a16:creationId xmlns:a16="http://schemas.microsoft.com/office/drawing/2014/main" id="{5C967100-2EC9-42E8-9C32-9AFBCAD93FD4}"/>
              </a:ext>
            </a:extLst>
          </p:cNvPr>
          <p:cNvSpPr>
            <a:spLocks xmlns:a="http://schemas.openxmlformats.org/drawingml/2006/main" noGrp="1"/>
          </p:cNvSpPr>
          <p:nvPr/>
        </p:nvSpPr>
        <p:spPr>
          <a:xfrm xmlns:a="http://schemas.openxmlformats.org/drawingml/2006/main">
            <a:off x="8801100" y="247650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111111"/>
                </a:solidFill>
              </a:defRPr>
            </a:pPr>
            <a:r>
              <a:rPr sz="1200" b="0" i="0">
                <a:solidFill>
                  <a:srgbClr val="111111"/>
                </a:solidFill>
              </a:rPr>
              <a:t>Locked in the register to prevent drift.</a:t>
            </a:r>
          </a:p>
        </p:txBody>
      </p:sp>
      <p:sp>
        <p:nvSpPr>
          <p:cNvPr id="10" name="">
            <a:extLst xmlns:a="http://schemas.openxmlformats.org/drawingml/2006/main">
              <a:ext uri="{FF2B5EF4-FFF2-40B4-BE49-F238E27FC236}">
                <a16:creationId xmlns:a16="http://schemas.microsoft.com/office/drawing/2014/main" id="{2BBF45CA-6494-4E44-897A-99DC47A9F51F}"/>
              </a:ext>
            </a:extLst>
          </p:cNvPr>
          <p:cNvSpPr>
            <a:spLocks xmlns:a="http://schemas.openxmlformats.org/drawingml/2006/main" noGrp="1"/>
          </p:cNvSpPr>
          <p:nvPr/>
        </p:nvSpPr>
        <p:spPr>
          <a:xfrm xmlns:a="http://schemas.openxmlformats.org/drawingml/2006/main">
            <a:off x="8591550" y="3181350"/>
            <a:ext cx="30670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111111"/>
            </a:solidFill>
            <a:prstDash val="solid"/>
          </a:ln>
        </p:spPr>
      </p:sp>
      <p:sp>
        <p:nvSpPr>
          <p:cNvPr id="11" name="">
            <a:extLst xmlns:a="http://schemas.openxmlformats.org/drawingml/2006/main">
              <a:ext uri="{FF2B5EF4-FFF2-40B4-BE49-F238E27FC236}">
                <a16:creationId xmlns:a16="http://schemas.microsoft.com/office/drawing/2014/main" id="{FD1F6095-F54F-4214-A536-B8E401098674}"/>
              </a:ext>
            </a:extLst>
          </p:cNvPr>
          <p:cNvSpPr>
            <a:spLocks xmlns:a="http://schemas.openxmlformats.org/drawingml/2006/main" noGrp="1"/>
          </p:cNvSpPr>
          <p:nvPr/>
        </p:nvSpPr>
        <p:spPr>
          <a:xfrm xmlns:a="http://schemas.openxmlformats.org/drawingml/2006/main">
            <a:off x="8801100" y="337185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111111"/>
                </a:solidFill>
              </a:defRPr>
            </a:pPr>
            <a:r>
              <a:rPr sz="1575" b="1" i="0">
                <a:solidFill>
                  <a:srgbClr val="111111"/>
                </a:solidFill>
              </a:rPr>
              <a:t>Company-owned rules</a:t>
            </a:r>
          </a:p>
        </p:txBody>
      </p:sp>
      <p:sp>
        <p:nvSpPr>
          <p:cNvPr id="12" name="">
            <a:extLst xmlns:a="http://schemas.openxmlformats.org/drawingml/2006/main">
              <a:ext uri="{FF2B5EF4-FFF2-40B4-BE49-F238E27FC236}">
                <a16:creationId xmlns:a16="http://schemas.microsoft.com/office/drawing/2014/main" id="{6B373E36-FA8C-435B-80B7-E8E83D3955B4}"/>
              </a:ext>
            </a:extLst>
          </p:cNvPr>
          <p:cNvSpPr>
            <a:spLocks xmlns:a="http://schemas.openxmlformats.org/drawingml/2006/main" noGrp="1"/>
          </p:cNvSpPr>
          <p:nvPr/>
        </p:nvSpPr>
        <p:spPr>
          <a:xfrm xmlns:a="http://schemas.openxmlformats.org/drawingml/2006/main">
            <a:off x="8801100" y="377190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66645F"/>
                </a:solidFill>
              </a:defRPr>
            </a:pPr>
            <a:r>
              <a:rPr sz="1200" b="0" i="0">
                <a:solidFill>
                  <a:srgbClr val="66645F"/>
                </a:solidFill>
              </a:rPr>
              <a:t>Editable, searchable, exportable.</a:t>
            </a:r>
          </a:p>
        </p:txBody>
      </p:sp>
      <p:sp>
        <p:nvSpPr>
          <p:cNvPr id="13" name="">
            <a:extLst xmlns:a="http://schemas.openxmlformats.org/drawingml/2006/main">
              <a:ext uri="{FF2B5EF4-FFF2-40B4-BE49-F238E27FC236}">
                <a16:creationId xmlns:a16="http://schemas.microsoft.com/office/drawing/2014/main" id="{6C5E3BC9-BA4C-403A-AB59-E817503B17B2}"/>
              </a:ext>
            </a:extLst>
          </p:cNvPr>
          <p:cNvSpPr>
            <a:spLocks xmlns:a="http://schemas.openxmlformats.org/drawingml/2006/main" noGrp="1"/>
          </p:cNvSpPr>
          <p:nvPr/>
        </p:nvSpPr>
        <p:spPr>
          <a:xfrm xmlns:a="http://schemas.openxmlformats.org/drawingml/2006/main">
            <a:off x="8591550" y="4476750"/>
            <a:ext cx="3067050" cy="1104900"/>
          </a:xfrm>
          <a:prstGeom xmlns:a="http://schemas.openxmlformats.org/drawingml/2006/main" prst="roundRect">
            <a:avLst>
              <a:gd name="adj" fmla="val 6897"/>
            </a:avLst>
          </a:prstGeom>
          <a:solidFill xmlns:a="http://schemas.openxmlformats.org/drawingml/2006/main">
            <a:srgbClr val="E7F4EE"/>
          </a:solidFill>
          <a:ln xmlns:a="http://schemas.openxmlformats.org/drawingml/2006/main" w="9525">
            <a:solidFill>
              <a:srgbClr val="167B55"/>
            </a:solidFill>
            <a:prstDash val="solid"/>
          </a:ln>
        </p:spPr>
      </p:sp>
      <p:sp>
        <p:nvSpPr>
          <p:cNvPr id="14" name="">
            <a:extLst xmlns:a="http://schemas.openxmlformats.org/drawingml/2006/main">
              <a:ext uri="{FF2B5EF4-FFF2-40B4-BE49-F238E27FC236}">
                <a16:creationId xmlns:a16="http://schemas.microsoft.com/office/drawing/2014/main" id="{1490C009-2D14-432A-9EDA-6BC774E57E1A}"/>
              </a:ext>
            </a:extLst>
          </p:cNvPr>
          <p:cNvSpPr>
            <a:spLocks xmlns:a="http://schemas.openxmlformats.org/drawingml/2006/main" noGrp="1"/>
          </p:cNvSpPr>
          <p:nvPr/>
        </p:nvSpPr>
        <p:spPr>
          <a:xfrm xmlns:a="http://schemas.openxmlformats.org/drawingml/2006/main">
            <a:off x="8801100" y="466725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167B55"/>
                </a:solidFill>
              </a:defRPr>
            </a:pPr>
            <a:r>
              <a:rPr sz="1575" b="1" i="0">
                <a:solidFill>
                  <a:srgbClr val="167B55"/>
                </a:solidFill>
              </a:rPr>
              <a:t>Open policy engine</a:t>
            </a:r>
          </a:p>
        </p:txBody>
      </p:sp>
      <p:sp>
        <p:nvSpPr>
          <p:cNvPr id="15" name="">
            <a:extLst xmlns:a="http://schemas.openxmlformats.org/drawingml/2006/main">
              <a:ext uri="{FF2B5EF4-FFF2-40B4-BE49-F238E27FC236}">
                <a16:creationId xmlns:a16="http://schemas.microsoft.com/office/drawing/2014/main" id="{68536B5A-396A-428A-A17F-13C5BA365727}"/>
              </a:ext>
            </a:extLst>
          </p:cNvPr>
          <p:cNvSpPr>
            <a:spLocks xmlns:a="http://schemas.openxmlformats.org/drawingml/2006/main" noGrp="1"/>
          </p:cNvSpPr>
          <p:nvPr/>
        </p:nvSpPr>
        <p:spPr>
          <a:xfrm xmlns:a="http://schemas.openxmlformats.org/drawingml/2006/main">
            <a:off x="8801100" y="506730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111111"/>
                </a:solidFill>
              </a:defRPr>
            </a:pPr>
            <a:r>
              <a:rPr sz="1200" b="0" i="0">
                <a:solidFill>
                  <a:srgbClr val="111111"/>
                </a:solidFill>
              </a:rPr>
              <a:t>Navigate directly to the live values.</a:t>
            </a:r>
          </a:p>
        </p:txBody>
      </p:sp>
      <p:sp>
        <p:nvSpPr>
          <p:cNvPr id="16" name="">
            <a:extLst xmlns:a="http://schemas.openxmlformats.org/drawingml/2006/main">
              <a:ext uri="{FF2B5EF4-FFF2-40B4-BE49-F238E27FC236}">
                <a16:creationId xmlns:a16="http://schemas.microsoft.com/office/drawing/2014/main" id="{B61CD400-EB5A-40BE-98A4-3B2C4088D673}"/>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DAB79E4-4110-4F2A-92B7-5DAF3CF1995E}"/>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38" name=""/>
          <p:cNvCxnSpPr>
            <a:stCxn xmlns:a="http://schemas.openxmlformats.org/drawingml/2006/main" id="16" idx="6"/>
            <a:endCxn xmlns:a="http://schemas.openxmlformats.org/drawingml/2006/main" id="17"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19" name="">
            <a:extLst xmlns:a="http://schemas.openxmlformats.org/drawingml/2006/main">
              <a:ext uri="{FF2B5EF4-FFF2-40B4-BE49-F238E27FC236}">
                <a16:creationId xmlns:a16="http://schemas.microsoft.com/office/drawing/2014/main" id="{5B2431AE-6F5D-4B1E-B011-64BF1156755A}"/>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COMPANY RULES</a:t>
            </a:r>
          </a:p>
        </p:txBody>
      </p:sp>
      <p:sp>
        <p:nvSpPr>
          <p:cNvPr id="20" name="">
            <a:extLst xmlns:a="http://schemas.openxmlformats.org/drawingml/2006/main">
              <a:ext uri="{FF2B5EF4-FFF2-40B4-BE49-F238E27FC236}">
                <a16:creationId xmlns:a16="http://schemas.microsoft.com/office/drawing/2014/main" id="{5051E9D4-02F7-4DA2-941B-4FE34781D892}"/>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04</a:t>
            </a:r>
          </a:p>
        </p:txBody>
      </p:sp>
    </p:spTree>
    <p:extLst>
      <p:ext uri="{BB962C8B-B14F-4D97-AF65-F5344CB8AC3E}">
        <p14:creationId xmlns:p14="http://schemas.microsoft.com/office/powerpoint/2010/main" val="1997825886"/>
      </p:ext>
    </p:extLst>
  </p:cSld>
</p:sld>
</file>

<file path=ppt/slides/slide5.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0ACF03C-B62D-4C57-857C-2B76F85F89AC}"/>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APPLY NEW RULE</a:t>
            </a:r>
          </a:p>
        </p:txBody>
      </p:sp>
      <p:sp>
        <p:nvSpPr>
          <p:cNvPr id="2" name="">
            <a:extLst xmlns:a="http://schemas.openxmlformats.org/drawingml/2006/main">
              <a:ext uri="{FF2B5EF4-FFF2-40B4-BE49-F238E27FC236}">
                <a16:creationId xmlns:a16="http://schemas.microsoft.com/office/drawing/2014/main" id="{9D5F5D5A-ED01-47AB-B08F-90C25922D138}"/>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3-STEP FLOW</a:t>
            </a:r>
          </a:p>
        </p:txBody>
      </p:sp>
      <p:sp>
        <p:nvSpPr>
          <p:cNvPr id="3" name="">
            <a:extLst xmlns:a="http://schemas.openxmlformats.org/drawingml/2006/main">
              <a:ext uri="{FF2B5EF4-FFF2-40B4-BE49-F238E27FC236}">
                <a16:creationId xmlns:a16="http://schemas.microsoft.com/office/drawing/2014/main" id="{5348A15E-7900-498F-8FAE-CF15CD3D7DAF}"/>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Scope first. Governed calculation second. Review before activation.</a:t>
            </a:r>
          </a:p>
        </p:txBody>
      </p:sp>
      <p:sp>
        <p:nvSpPr>
          <p:cNvPr id="4" name="">
            <a:extLst xmlns:a="http://schemas.openxmlformats.org/drawingml/2006/main">
              <a:ext uri="{FF2B5EF4-FFF2-40B4-BE49-F238E27FC236}">
                <a16:creationId xmlns:a16="http://schemas.microsoft.com/office/drawing/2014/main" id="{66305CEB-9C35-421B-A71C-97582F1717A1}"/>
              </a:ext>
            </a:extLst>
          </p:cNvPr>
          <p:cNvSpPr>
            <a:spLocks xmlns:a="http://schemas.openxmlformats.org/drawingml/2006/main" noGrp="1"/>
          </p:cNvSpPr>
          <p:nvPr/>
        </p:nvSpPr>
        <p:spPr>
          <a:xfrm xmlns:a="http://schemas.openxmlformats.org/drawingml/2006/main">
            <a:off x="533400" y="1619250"/>
            <a:ext cx="342900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1CFCA"/>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c8cae851bcd4585"/>
          <a:stretch xmlns:a="http://schemas.openxmlformats.org/drawingml/2006/main"/>
        </p:blipFill>
        <p:spPr>
          <a:xfrm xmlns:a="http://schemas.openxmlformats.org/drawingml/2006/main">
            <a:off x="590550" y="2053503"/>
            <a:ext cx="3314700" cy="246524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5FF0BFC-83FA-4039-A7F5-EE01736AE428}"/>
              </a:ext>
            </a:extLst>
          </p:cNvPr>
          <p:cNvSpPr>
            <a:spLocks xmlns:a="http://schemas.openxmlformats.org/drawingml/2006/main" noGrp="1"/>
          </p:cNvSpPr>
          <p:nvPr/>
        </p:nvSpPr>
        <p:spPr>
          <a:xfrm xmlns:a="http://schemas.openxmlformats.org/drawingml/2006/main">
            <a:off x="590550" y="5143500"/>
            <a:ext cx="331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111111"/>
                </a:solidFill>
              </a:defRPr>
            </a:pPr>
            <a:r>
              <a:rPr sz="1650" b="1" i="0">
                <a:solidFill>
                  <a:srgbClr val="111111"/>
                </a:solidFill>
              </a:rPr>
              <a:t>1  Rule details</a:t>
            </a:r>
          </a:p>
        </p:txBody>
      </p:sp>
      <p:sp>
        <p:nvSpPr>
          <p:cNvPr id="7" name="">
            <a:extLst xmlns:a="http://schemas.openxmlformats.org/drawingml/2006/main">
              <a:ext uri="{FF2B5EF4-FFF2-40B4-BE49-F238E27FC236}">
                <a16:creationId xmlns:a16="http://schemas.microsoft.com/office/drawing/2014/main" id="{EE6DD5E6-61A8-4450-BEC0-6787FB64F762}"/>
              </a:ext>
            </a:extLst>
          </p:cNvPr>
          <p:cNvSpPr>
            <a:spLocks xmlns:a="http://schemas.openxmlformats.org/drawingml/2006/main" noGrp="1"/>
          </p:cNvSpPr>
          <p:nvPr/>
        </p:nvSpPr>
        <p:spPr>
          <a:xfrm xmlns:a="http://schemas.openxmlformats.org/drawingml/2006/main">
            <a:off x="590550" y="5524500"/>
            <a:ext cx="3314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Who, category, sub-category, plain-language rule</a:t>
            </a:r>
          </a:p>
        </p:txBody>
      </p:sp>
      <p:sp>
        <p:nvSpPr>
          <p:cNvPr id="8" name="">
            <a:extLst xmlns:a="http://schemas.openxmlformats.org/drawingml/2006/main">
              <a:ext uri="{FF2B5EF4-FFF2-40B4-BE49-F238E27FC236}">
                <a16:creationId xmlns:a16="http://schemas.microsoft.com/office/drawing/2014/main" id="{4C19F252-33DB-436D-BE3E-E45253BD04E3}"/>
              </a:ext>
            </a:extLst>
          </p:cNvPr>
          <p:cNvSpPr>
            <a:spLocks xmlns:a="http://schemas.openxmlformats.org/drawingml/2006/main" noGrp="1"/>
          </p:cNvSpPr>
          <p:nvPr/>
        </p:nvSpPr>
        <p:spPr>
          <a:xfrm xmlns:a="http://schemas.openxmlformats.org/drawingml/2006/main">
            <a:off x="4267200" y="1619250"/>
            <a:ext cx="342900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1CFCA"/>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1b898da96e349e8"/>
          <a:stretch xmlns:a="http://schemas.openxmlformats.org/drawingml/2006/main"/>
        </p:blipFill>
        <p:spPr>
          <a:xfrm xmlns:a="http://schemas.openxmlformats.org/drawingml/2006/main">
            <a:off x="4324350" y="2053503"/>
            <a:ext cx="3314700" cy="246524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E0EB9D5-F1C3-46CC-A534-3590AA401B21}"/>
              </a:ext>
            </a:extLst>
          </p:cNvPr>
          <p:cNvSpPr>
            <a:spLocks xmlns:a="http://schemas.openxmlformats.org/drawingml/2006/main" noGrp="1"/>
          </p:cNvSpPr>
          <p:nvPr/>
        </p:nvSpPr>
        <p:spPr>
          <a:xfrm xmlns:a="http://schemas.openxmlformats.org/drawingml/2006/main">
            <a:off x="4324350" y="5143500"/>
            <a:ext cx="331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5C2A91"/>
                </a:solidFill>
              </a:defRPr>
            </a:pPr>
            <a:r>
              <a:rPr sz="1650" b="1" i="0">
                <a:solidFill>
                  <a:srgbClr val="5C2A91"/>
                </a:solidFill>
              </a:rPr>
              <a:t>2  Policy engine</a:t>
            </a:r>
          </a:p>
        </p:txBody>
      </p:sp>
      <p:sp>
        <p:nvSpPr>
          <p:cNvPr id="11" name="">
            <a:extLst xmlns:a="http://schemas.openxmlformats.org/drawingml/2006/main">
              <a:ext uri="{FF2B5EF4-FFF2-40B4-BE49-F238E27FC236}">
                <a16:creationId xmlns:a16="http://schemas.microsoft.com/office/drawing/2014/main" id="{AC580FC4-FF22-4DBD-89B0-FBCE1C5FCFFA}"/>
              </a:ext>
            </a:extLst>
          </p:cNvPr>
          <p:cNvSpPr>
            <a:spLocks xmlns:a="http://schemas.openxmlformats.org/drawingml/2006/main" noGrp="1"/>
          </p:cNvSpPr>
          <p:nvPr/>
        </p:nvSpPr>
        <p:spPr>
          <a:xfrm xmlns:a="http://schemas.openxmlformats.org/drawingml/2006/main">
            <a:off x="4324350" y="5524500"/>
            <a:ext cx="3314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Choose a mapped code or create a configured variant</a:t>
            </a:r>
          </a:p>
        </p:txBody>
      </p:sp>
      <p:sp>
        <p:nvSpPr>
          <p:cNvPr id="12" name="">
            <a:extLst xmlns:a="http://schemas.openxmlformats.org/drawingml/2006/main">
              <a:ext uri="{FF2B5EF4-FFF2-40B4-BE49-F238E27FC236}">
                <a16:creationId xmlns:a16="http://schemas.microsoft.com/office/drawing/2014/main" id="{29C6DADC-78E2-4FA9-B557-E4E131AF449F}"/>
              </a:ext>
            </a:extLst>
          </p:cNvPr>
          <p:cNvSpPr>
            <a:spLocks xmlns:a="http://schemas.openxmlformats.org/drawingml/2006/main" noGrp="1"/>
          </p:cNvSpPr>
          <p:nvPr/>
        </p:nvSpPr>
        <p:spPr>
          <a:xfrm xmlns:a="http://schemas.openxmlformats.org/drawingml/2006/main">
            <a:off x="8001000" y="1619250"/>
            <a:ext cx="342900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1CFCA"/>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ac891eb77ee4593"/>
          <a:stretch xmlns:a="http://schemas.openxmlformats.org/drawingml/2006/main"/>
        </p:blipFill>
        <p:spPr>
          <a:xfrm xmlns:a="http://schemas.openxmlformats.org/drawingml/2006/main">
            <a:off x="8058150" y="2053503"/>
            <a:ext cx="3314700" cy="246524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0AB6AF0E-AF08-4D12-AAE1-AE67F8BA8BCE}"/>
              </a:ext>
            </a:extLst>
          </p:cNvPr>
          <p:cNvSpPr>
            <a:spLocks xmlns:a="http://schemas.openxmlformats.org/drawingml/2006/main" noGrp="1"/>
          </p:cNvSpPr>
          <p:nvPr/>
        </p:nvSpPr>
        <p:spPr>
          <a:xfrm xmlns:a="http://schemas.openxmlformats.org/drawingml/2006/main">
            <a:off x="8058150" y="5143500"/>
            <a:ext cx="331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111111"/>
                </a:solidFill>
              </a:defRPr>
            </a:pPr>
            <a:r>
              <a:rPr sz="1650" b="1" i="0">
                <a:solidFill>
                  <a:srgbClr val="111111"/>
                </a:solidFill>
              </a:rPr>
              <a:t>3  Review</a:t>
            </a:r>
          </a:p>
        </p:txBody>
      </p:sp>
      <p:sp>
        <p:nvSpPr>
          <p:cNvPr id="15" name="">
            <a:extLst xmlns:a="http://schemas.openxmlformats.org/drawingml/2006/main">
              <a:ext uri="{FF2B5EF4-FFF2-40B4-BE49-F238E27FC236}">
                <a16:creationId xmlns:a16="http://schemas.microsoft.com/office/drawing/2014/main" id="{50F985B1-881B-42F4-B340-A74F6C831809}"/>
              </a:ext>
            </a:extLst>
          </p:cNvPr>
          <p:cNvSpPr>
            <a:spLocks xmlns:a="http://schemas.openxmlformats.org/drawingml/2006/main" noGrp="1"/>
          </p:cNvSpPr>
          <p:nvPr/>
        </p:nvSpPr>
        <p:spPr>
          <a:xfrm xmlns:a="http://schemas.openxmlformats.org/drawingml/2006/main">
            <a:off x="8058150" y="5524500"/>
            <a:ext cx="3314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Confirm live parameter values before applying</a:t>
            </a:r>
          </a:p>
        </p:txBody>
      </p:sp>
      <p:sp>
        <p:nvSpPr>
          <p:cNvPr id="16" name="">
            <a:extLst xmlns:a="http://schemas.openxmlformats.org/drawingml/2006/main">
              <a:ext uri="{FF2B5EF4-FFF2-40B4-BE49-F238E27FC236}">
                <a16:creationId xmlns:a16="http://schemas.microsoft.com/office/drawing/2014/main" id="{B0997344-A83B-4321-A64B-90631EADD3E4}"/>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2233720-475D-4829-8152-723B7DA40DB1}"/>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38" name=""/>
          <p:cNvCxnSpPr>
            <a:stCxn xmlns:a="http://schemas.openxmlformats.org/drawingml/2006/main" id="16" idx="6"/>
            <a:endCxn xmlns:a="http://schemas.openxmlformats.org/drawingml/2006/main" id="17"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19" name="">
            <a:extLst xmlns:a="http://schemas.openxmlformats.org/drawingml/2006/main">
              <a:ext uri="{FF2B5EF4-FFF2-40B4-BE49-F238E27FC236}">
                <a16:creationId xmlns:a16="http://schemas.microsoft.com/office/drawing/2014/main" id="{DB4A2FF3-C8A6-4042-B7C9-EE7A1A83BF02}"/>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RULE FLOW</a:t>
            </a:r>
          </a:p>
        </p:txBody>
      </p:sp>
      <p:sp>
        <p:nvSpPr>
          <p:cNvPr id="20" name="">
            <a:extLst xmlns:a="http://schemas.openxmlformats.org/drawingml/2006/main">
              <a:ext uri="{FF2B5EF4-FFF2-40B4-BE49-F238E27FC236}">
                <a16:creationId xmlns:a16="http://schemas.microsoft.com/office/drawing/2014/main" id="{0ABB7D25-3EE4-45F3-B33E-A073634A7133}"/>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05</a:t>
            </a:r>
          </a:p>
        </p:txBody>
      </p:sp>
    </p:spTree>
    <p:extLst>
      <p:ext uri="{BB962C8B-B14F-4D97-AF65-F5344CB8AC3E}">
        <p14:creationId xmlns:p14="http://schemas.microsoft.com/office/powerpoint/2010/main" val="1170615701"/>
      </p:ext>
    </p:extLst>
  </p:cSld>
</p:sld>
</file>

<file path=ppt/slides/slide6.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339935D-12B6-4DA9-995F-2A784797DD0B}"/>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TAKE-HOME PAY</a:t>
            </a:r>
          </a:p>
        </p:txBody>
      </p:sp>
      <p:sp>
        <p:nvSpPr>
          <p:cNvPr id="2" name="">
            <a:extLst xmlns:a="http://schemas.openxmlformats.org/drawingml/2006/main">
              <a:ext uri="{FF2B5EF4-FFF2-40B4-BE49-F238E27FC236}">
                <a16:creationId xmlns:a16="http://schemas.microsoft.com/office/drawing/2014/main" id="{2A5F5607-CB56-4E05-98EF-181830F9C30B}"/>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THP-001 / THP-002</a:t>
            </a:r>
          </a:p>
        </p:txBody>
      </p:sp>
      <p:sp>
        <p:nvSpPr>
          <p:cNvPr id="3" name="">
            <a:extLst xmlns:a="http://schemas.openxmlformats.org/drawingml/2006/main">
              <a:ext uri="{FF2B5EF4-FFF2-40B4-BE49-F238E27FC236}">
                <a16:creationId xmlns:a16="http://schemas.microsoft.com/office/drawing/2014/main" id="{8B223C6C-6BC4-4045-B058-A8953C525202}"/>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Take-home protection preserves the statutory layer first</a:t>
            </a:r>
          </a:p>
        </p:txBody>
      </p:sp>
      <p:sp>
        <p:nvSpPr>
          <p:cNvPr id="4" name="">
            <a:extLst xmlns:a="http://schemas.openxmlformats.org/drawingml/2006/main">
              <a:ext uri="{FF2B5EF4-FFF2-40B4-BE49-F238E27FC236}">
                <a16:creationId xmlns:a16="http://schemas.microsoft.com/office/drawing/2014/main" id="{D7879EB4-1137-4767-A394-8518DAEE4D45}"/>
              </a:ext>
            </a:extLst>
          </p:cNvPr>
          <p:cNvSpPr>
            <a:spLocks xmlns:a="http://schemas.openxmlformats.org/drawingml/2006/main" noGrp="1"/>
          </p:cNvSpPr>
          <p:nvPr/>
        </p:nvSpPr>
        <p:spPr>
          <a:xfrm xmlns:a="http://schemas.openxmlformats.org/drawingml/2006/main">
            <a:off x="533400" y="1352550"/>
            <a:ext cx="7334250" cy="47625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1CFCA"/>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cd472f885fa44ed"/>
          <a:stretch xmlns:a="http://schemas.openxmlformats.org/drawingml/2006/main"/>
        </p:blipFill>
        <p:spPr>
          <a:xfrm xmlns:a="http://schemas.openxmlformats.org/drawingml/2006/main">
            <a:off x="1076009" y="1409700"/>
            <a:ext cx="6249032" cy="4648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2E77E7B-1A27-4D42-9216-2BC7426D90E4}"/>
              </a:ext>
            </a:extLst>
          </p:cNvPr>
          <p:cNvSpPr>
            <a:spLocks xmlns:a="http://schemas.openxmlformats.org/drawingml/2006/main" noGrp="1"/>
          </p:cNvSpPr>
          <p:nvPr/>
        </p:nvSpPr>
        <p:spPr>
          <a:xfrm xmlns:a="http://schemas.openxmlformats.org/drawingml/2006/main">
            <a:off x="8172450" y="1466850"/>
            <a:ext cx="1409700" cy="304800"/>
          </a:xfrm>
          <a:prstGeom xmlns:a="http://schemas.openxmlformats.org/drawingml/2006/main" prst="roundRect">
            <a:avLst>
              <a:gd name="adj" fmla="val 25000"/>
            </a:avLst>
          </a:prstGeom>
          <a:solidFill xmlns:a="http://schemas.openxmlformats.org/drawingml/2006/main">
            <a:srgbClr val="F2ECF8"/>
          </a:solidFill>
          <a:ln xmlns:a="http://schemas.openxmlformats.org/drawingml/2006/main" w="9525">
            <a:solidFill>
              <a:srgbClr val="5C2A91"/>
            </a:solidFill>
            <a:prstDash val="solid"/>
          </a:ln>
        </p:spPr>
      </p:sp>
      <p:sp>
        <p:nvSpPr>
          <p:cNvPr id="7" name="">
            <a:extLst xmlns:a="http://schemas.openxmlformats.org/drawingml/2006/main">
              <a:ext uri="{FF2B5EF4-FFF2-40B4-BE49-F238E27FC236}">
                <a16:creationId xmlns:a16="http://schemas.microsoft.com/office/drawing/2014/main" id="{3503252A-3C17-4982-B9B0-236E224D2CA3}"/>
              </a:ext>
            </a:extLst>
          </p:cNvPr>
          <p:cNvSpPr>
            <a:spLocks xmlns:a="http://schemas.openxmlformats.org/drawingml/2006/main" noGrp="1"/>
          </p:cNvSpPr>
          <p:nvPr/>
        </p:nvSpPr>
        <p:spPr>
          <a:xfrm xmlns:a="http://schemas.openxmlformats.org/drawingml/2006/main">
            <a:off x="8172450" y="146685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975" b="1" i="0">
                <a:solidFill>
                  <a:srgbClr val="5C2A91"/>
                </a:solidFill>
              </a:defRPr>
            </a:pPr>
            <a:r>
              <a:rPr sz="975" b="1" i="0">
                <a:solidFill>
                  <a:srgbClr val="5C2A91"/>
                </a:solidFill>
              </a:rPr>
              <a:t>EXCEL → APP</a:t>
            </a:r>
          </a:p>
        </p:txBody>
      </p:sp>
      <p:sp>
        <p:nvSpPr>
          <p:cNvPr id="8" name="">
            <a:extLst xmlns:a="http://schemas.openxmlformats.org/drawingml/2006/main">
              <a:ext uri="{FF2B5EF4-FFF2-40B4-BE49-F238E27FC236}">
                <a16:creationId xmlns:a16="http://schemas.microsoft.com/office/drawing/2014/main" id="{62D73D5B-FB99-449A-B808-28A8C29EB8DE}"/>
              </a:ext>
            </a:extLst>
          </p:cNvPr>
          <p:cNvSpPr>
            <a:spLocks xmlns:a="http://schemas.openxmlformats.org/drawingml/2006/main" noGrp="1"/>
          </p:cNvSpPr>
          <p:nvPr/>
        </p:nvSpPr>
        <p:spPr>
          <a:xfrm xmlns:a="http://schemas.openxmlformats.org/drawingml/2006/main">
            <a:off x="8172450" y="1981200"/>
            <a:ext cx="34861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1CFCA"/>
            </a:solidFill>
            <a:prstDash val="solid"/>
          </a:ln>
        </p:spPr>
      </p:sp>
      <p:sp>
        <p:nvSpPr>
          <p:cNvPr id="9" name="">
            <a:extLst xmlns:a="http://schemas.openxmlformats.org/drawingml/2006/main">
              <a:ext uri="{FF2B5EF4-FFF2-40B4-BE49-F238E27FC236}">
                <a16:creationId xmlns:a16="http://schemas.microsoft.com/office/drawing/2014/main" id="{17AECE8B-943F-413A-BBCA-253EA37B9556}"/>
              </a:ext>
            </a:extLst>
          </p:cNvPr>
          <p:cNvSpPr>
            <a:spLocks xmlns:a="http://schemas.openxmlformats.org/drawingml/2006/main" noGrp="1"/>
          </p:cNvSpPr>
          <p:nvPr/>
        </p:nvSpPr>
        <p:spPr>
          <a:xfrm xmlns:a="http://schemas.openxmlformats.org/drawingml/2006/main">
            <a:off x="8343900" y="20955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l">
              <a:defRPr sz="1050" b="1" i="0">
                <a:solidFill>
                  <a:srgbClr val="66645F"/>
                </a:solidFill>
              </a:defRPr>
            </a:pPr>
            <a:r>
              <a:rPr sz="1050" b="1" i="0">
                <a:solidFill>
                  <a:srgbClr val="66645F"/>
                </a:solidFill>
              </a:rPr>
              <a:t>Base</a:t>
            </a:r>
          </a:p>
        </p:txBody>
      </p:sp>
      <p:sp>
        <p:nvSpPr>
          <p:cNvPr id="10" name="">
            <a:extLst xmlns:a="http://schemas.openxmlformats.org/drawingml/2006/main">
              <a:ext uri="{FF2B5EF4-FFF2-40B4-BE49-F238E27FC236}">
                <a16:creationId xmlns:a16="http://schemas.microsoft.com/office/drawing/2014/main" id="{DE0A95AE-578E-4E13-A3DC-2ECFB04CBB87}"/>
              </a:ext>
            </a:extLst>
          </p:cNvPr>
          <p:cNvSpPr>
            <a:spLocks xmlns:a="http://schemas.openxmlformats.org/drawingml/2006/main" noGrp="1"/>
          </p:cNvSpPr>
          <p:nvPr/>
        </p:nvSpPr>
        <p:spPr>
          <a:xfrm xmlns:a="http://schemas.openxmlformats.org/drawingml/2006/main">
            <a:off x="8343900" y="23431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0588"/>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₱36,500 − ₱2,000</a:t>
            </a:r>
          </a:p>
        </p:txBody>
      </p:sp>
      <p:sp>
        <p:nvSpPr>
          <p:cNvPr id="11" name="">
            <a:extLst xmlns:a="http://schemas.openxmlformats.org/drawingml/2006/main">
              <a:ext uri="{FF2B5EF4-FFF2-40B4-BE49-F238E27FC236}">
                <a16:creationId xmlns:a16="http://schemas.microsoft.com/office/drawing/2014/main" id="{BBEB6146-B06C-49C3-A55E-25D21292FB3A}"/>
              </a:ext>
            </a:extLst>
          </p:cNvPr>
          <p:cNvSpPr>
            <a:spLocks xmlns:a="http://schemas.openxmlformats.org/drawingml/2006/main" noGrp="1"/>
          </p:cNvSpPr>
          <p:nvPr/>
        </p:nvSpPr>
        <p:spPr>
          <a:xfrm xmlns:a="http://schemas.openxmlformats.org/drawingml/2006/main">
            <a:off x="10267950" y="232410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185"/>
          </a:bodyPr>
          <a:lstStyle xmlns:a="http://schemas.openxmlformats.org/drawingml/2006/main"/>
          <a:p xmlns:a="http://schemas.openxmlformats.org/drawingml/2006/main">
            <a:pPr algn="r">
              <a:defRPr sz="1350" b="1" i="0">
                <a:solidFill>
                  <a:srgbClr val="111111"/>
                </a:solidFill>
              </a:defRPr>
            </a:pPr>
            <a:r>
              <a:rPr sz="1350" b="1" i="0">
                <a:solidFill>
                  <a:srgbClr val="111111"/>
                </a:solidFill>
              </a:rPr>
              <a:t>₱34,500</a:t>
            </a:r>
          </a:p>
        </p:txBody>
      </p:sp>
      <p:sp>
        <p:nvSpPr>
          <p:cNvPr id="12" name="">
            <a:extLst xmlns:a="http://schemas.openxmlformats.org/drawingml/2006/main">
              <a:ext uri="{FF2B5EF4-FFF2-40B4-BE49-F238E27FC236}">
                <a16:creationId xmlns:a16="http://schemas.microsoft.com/office/drawing/2014/main" id="{64C707AD-85CE-47E6-8E43-F8B753D621E9}"/>
              </a:ext>
            </a:extLst>
          </p:cNvPr>
          <p:cNvSpPr>
            <a:spLocks xmlns:a="http://schemas.openxmlformats.org/drawingml/2006/main" noGrp="1"/>
          </p:cNvSpPr>
          <p:nvPr/>
        </p:nvSpPr>
        <p:spPr>
          <a:xfrm xmlns:a="http://schemas.openxmlformats.org/drawingml/2006/main">
            <a:off x="8172450" y="2838450"/>
            <a:ext cx="3486150" cy="704850"/>
          </a:xfrm>
          <a:prstGeom xmlns:a="http://schemas.openxmlformats.org/drawingml/2006/main" prst="roundRect">
            <a:avLst>
              <a:gd name="adj" fmla="val 10811"/>
            </a:avLst>
          </a:prstGeom>
          <a:solidFill xmlns:a="http://schemas.openxmlformats.org/drawingml/2006/main">
            <a:srgbClr val="F2ECF8"/>
          </a:solidFill>
          <a:ln xmlns:a="http://schemas.openxmlformats.org/drawingml/2006/main" w="9525">
            <a:solidFill>
              <a:srgbClr val="5C2A91"/>
            </a:solidFill>
            <a:prstDash val="solid"/>
          </a:ln>
        </p:spPr>
      </p:sp>
      <p:sp>
        <p:nvSpPr>
          <p:cNvPr id="13" name="">
            <a:extLst xmlns:a="http://schemas.openxmlformats.org/drawingml/2006/main">
              <a:ext uri="{FF2B5EF4-FFF2-40B4-BE49-F238E27FC236}">
                <a16:creationId xmlns:a16="http://schemas.microsoft.com/office/drawing/2014/main" id="{D779E0AE-D993-4277-B9F3-4C6D7B98C80A}"/>
              </a:ext>
            </a:extLst>
          </p:cNvPr>
          <p:cNvSpPr>
            <a:spLocks xmlns:a="http://schemas.openxmlformats.org/drawingml/2006/main" noGrp="1"/>
          </p:cNvSpPr>
          <p:nvPr/>
        </p:nvSpPr>
        <p:spPr>
          <a:xfrm xmlns:a="http://schemas.openxmlformats.org/drawingml/2006/main">
            <a:off x="8343900" y="29527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l">
              <a:defRPr sz="1050" b="1" i="0">
                <a:solidFill>
                  <a:srgbClr val="66645F"/>
                </a:solidFill>
              </a:defRPr>
            </a:pPr>
            <a:r>
              <a:rPr sz="1050" b="1" i="0">
                <a:solidFill>
                  <a:srgbClr val="66645F"/>
                </a:solidFill>
              </a:rPr>
              <a:t>Protected minimum</a:t>
            </a:r>
          </a:p>
        </p:txBody>
      </p:sp>
      <p:sp>
        <p:nvSpPr>
          <p:cNvPr id="14" name="">
            <a:extLst xmlns:a="http://schemas.openxmlformats.org/drawingml/2006/main">
              <a:ext uri="{FF2B5EF4-FFF2-40B4-BE49-F238E27FC236}">
                <a16:creationId xmlns:a16="http://schemas.microsoft.com/office/drawing/2014/main" id="{94ED284C-6AF0-464D-A1E6-3378A405D189}"/>
              </a:ext>
            </a:extLst>
          </p:cNvPr>
          <p:cNvSpPr>
            <a:spLocks xmlns:a="http://schemas.openxmlformats.org/drawingml/2006/main" noGrp="1"/>
          </p:cNvSpPr>
          <p:nvPr/>
        </p:nvSpPr>
        <p:spPr>
          <a:xfrm xmlns:a="http://schemas.openxmlformats.org/drawingml/2006/main">
            <a:off x="8343900" y="320040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0588"/>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30% × ₱34,500</a:t>
            </a:r>
          </a:p>
        </p:txBody>
      </p:sp>
      <p:sp>
        <p:nvSpPr>
          <p:cNvPr id="15" name="">
            <a:extLst xmlns:a="http://schemas.openxmlformats.org/drawingml/2006/main">
              <a:ext uri="{FF2B5EF4-FFF2-40B4-BE49-F238E27FC236}">
                <a16:creationId xmlns:a16="http://schemas.microsoft.com/office/drawing/2014/main" id="{2EAD5A6E-63F6-4243-95E0-28F7AE65825C}"/>
              </a:ext>
            </a:extLst>
          </p:cNvPr>
          <p:cNvSpPr>
            <a:spLocks xmlns:a="http://schemas.openxmlformats.org/drawingml/2006/main" noGrp="1"/>
          </p:cNvSpPr>
          <p:nvPr/>
        </p:nvSpPr>
        <p:spPr>
          <a:xfrm xmlns:a="http://schemas.openxmlformats.org/drawingml/2006/main">
            <a:off x="10267950" y="31813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185"/>
          </a:bodyPr>
          <a:lstStyle xmlns:a="http://schemas.openxmlformats.org/drawingml/2006/main"/>
          <a:p xmlns:a="http://schemas.openxmlformats.org/drawingml/2006/main">
            <a:pPr algn="r">
              <a:defRPr sz="1350" b="1" i="0">
                <a:solidFill>
                  <a:srgbClr val="5C2A91"/>
                </a:solidFill>
              </a:defRPr>
            </a:pPr>
            <a:r>
              <a:rPr sz="1350" b="1" i="0">
                <a:solidFill>
                  <a:srgbClr val="5C2A91"/>
                </a:solidFill>
              </a:rPr>
              <a:t>₱10,350</a:t>
            </a:r>
          </a:p>
        </p:txBody>
      </p:sp>
      <p:sp>
        <p:nvSpPr>
          <p:cNvPr id="16" name="">
            <a:extLst xmlns:a="http://schemas.openxmlformats.org/drawingml/2006/main">
              <a:ext uri="{FF2B5EF4-FFF2-40B4-BE49-F238E27FC236}">
                <a16:creationId xmlns:a16="http://schemas.microsoft.com/office/drawing/2014/main" id="{1D613655-1C3E-4EB3-BCCB-8962A0CE5B2F}"/>
              </a:ext>
            </a:extLst>
          </p:cNvPr>
          <p:cNvSpPr>
            <a:spLocks xmlns:a="http://schemas.openxmlformats.org/drawingml/2006/main" noGrp="1"/>
          </p:cNvSpPr>
          <p:nvPr/>
        </p:nvSpPr>
        <p:spPr>
          <a:xfrm xmlns:a="http://schemas.openxmlformats.org/drawingml/2006/main">
            <a:off x="8172450" y="3695700"/>
            <a:ext cx="34861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1CFCA"/>
            </a:solidFill>
            <a:prstDash val="solid"/>
          </a:ln>
        </p:spPr>
      </p:sp>
      <p:sp>
        <p:nvSpPr>
          <p:cNvPr id="17" name="">
            <a:extLst xmlns:a="http://schemas.openxmlformats.org/drawingml/2006/main">
              <a:ext uri="{FF2B5EF4-FFF2-40B4-BE49-F238E27FC236}">
                <a16:creationId xmlns:a16="http://schemas.microsoft.com/office/drawing/2014/main" id="{E0396BA8-2A93-4F84-ADC6-00047C6CFA4E}"/>
              </a:ext>
            </a:extLst>
          </p:cNvPr>
          <p:cNvSpPr>
            <a:spLocks xmlns:a="http://schemas.openxmlformats.org/drawingml/2006/main" noGrp="1"/>
          </p:cNvSpPr>
          <p:nvPr/>
        </p:nvSpPr>
        <p:spPr>
          <a:xfrm xmlns:a="http://schemas.openxmlformats.org/drawingml/2006/main">
            <a:off x="8343900" y="38100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l">
              <a:defRPr sz="1050" b="1" i="0">
                <a:solidFill>
                  <a:srgbClr val="66645F"/>
                </a:solidFill>
              </a:defRPr>
            </a:pPr>
            <a:r>
              <a:rPr sz="1050" b="1" i="0">
                <a:solidFill>
                  <a:srgbClr val="66645F"/>
                </a:solidFill>
              </a:rPr>
              <a:t>Statutory deductions</a:t>
            </a:r>
          </a:p>
        </p:txBody>
      </p:sp>
      <p:sp>
        <p:nvSpPr>
          <p:cNvPr id="18" name="">
            <a:extLst xmlns:a="http://schemas.openxmlformats.org/drawingml/2006/main">
              <a:ext uri="{FF2B5EF4-FFF2-40B4-BE49-F238E27FC236}">
                <a16:creationId xmlns:a16="http://schemas.microsoft.com/office/drawing/2014/main" id="{6ADC9FA6-D4F3-49B7-B234-BF99314634AA}"/>
              </a:ext>
            </a:extLst>
          </p:cNvPr>
          <p:cNvSpPr>
            <a:spLocks xmlns:a="http://schemas.openxmlformats.org/drawingml/2006/main" noGrp="1"/>
          </p:cNvSpPr>
          <p:nvPr/>
        </p:nvSpPr>
        <p:spPr>
          <a:xfrm xmlns:a="http://schemas.openxmlformats.org/drawingml/2006/main">
            <a:off x="8343900" y="40576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0588"/>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Applied in full</a:t>
            </a:r>
          </a:p>
        </p:txBody>
      </p:sp>
      <p:sp>
        <p:nvSpPr>
          <p:cNvPr id="19" name="">
            <a:extLst xmlns:a="http://schemas.openxmlformats.org/drawingml/2006/main">
              <a:ext uri="{FF2B5EF4-FFF2-40B4-BE49-F238E27FC236}">
                <a16:creationId xmlns:a16="http://schemas.microsoft.com/office/drawing/2014/main" id="{0C9A2E0E-C021-42C3-B4C4-398A87D997C6}"/>
              </a:ext>
            </a:extLst>
          </p:cNvPr>
          <p:cNvSpPr>
            <a:spLocks xmlns:a="http://schemas.openxmlformats.org/drawingml/2006/main" noGrp="1"/>
          </p:cNvSpPr>
          <p:nvPr/>
        </p:nvSpPr>
        <p:spPr>
          <a:xfrm xmlns:a="http://schemas.openxmlformats.org/drawingml/2006/main">
            <a:off x="10267950" y="403860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185"/>
          </a:bodyPr>
          <a:lstStyle xmlns:a="http://schemas.openxmlformats.org/drawingml/2006/main"/>
          <a:p xmlns:a="http://schemas.openxmlformats.org/drawingml/2006/main">
            <a:pPr algn="r">
              <a:defRPr sz="1350" b="1" i="0">
                <a:solidFill>
                  <a:srgbClr val="111111"/>
                </a:solidFill>
              </a:defRPr>
            </a:pPr>
            <a:r>
              <a:rPr sz="1350" b="1" i="0">
                <a:solidFill>
                  <a:srgbClr val="111111"/>
                </a:solidFill>
              </a:rPr>
              <a:t>₱6,500</a:t>
            </a:r>
          </a:p>
        </p:txBody>
      </p:sp>
      <p:sp>
        <p:nvSpPr>
          <p:cNvPr id="20" name="">
            <a:extLst xmlns:a="http://schemas.openxmlformats.org/drawingml/2006/main">
              <a:ext uri="{FF2B5EF4-FFF2-40B4-BE49-F238E27FC236}">
                <a16:creationId xmlns:a16="http://schemas.microsoft.com/office/drawing/2014/main" id="{E4AB67E1-0CAC-46BB-83F7-0E263AC06B7E}"/>
              </a:ext>
            </a:extLst>
          </p:cNvPr>
          <p:cNvSpPr>
            <a:spLocks xmlns:a="http://schemas.openxmlformats.org/drawingml/2006/main" noGrp="1"/>
          </p:cNvSpPr>
          <p:nvPr/>
        </p:nvSpPr>
        <p:spPr>
          <a:xfrm xmlns:a="http://schemas.openxmlformats.org/drawingml/2006/main">
            <a:off x="8172450" y="4552950"/>
            <a:ext cx="34861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1CFCA"/>
            </a:solidFill>
            <a:prstDash val="solid"/>
          </a:ln>
        </p:spPr>
      </p:sp>
      <p:sp>
        <p:nvSpPr>
          <p:cNvPr id="21" name="">
            <a:extLst xmlns:a="http://schemas.openxmlformats.org/drawingml/2006/main">
              <a:ext uri="{FF2B5EF4-FFF2-40B4-BE49-F238E27FC236}">
                <a16:creationId xmlns:a16="http://schemas.microsoft.com/office/drawing/2014/main" id="{08F2E570-FB35-424B-95C4-66D08EBAC87F}"/>
              </a:ext>
            </a:extLst>
          </p:cNvPr>
          <p:cNvSpPr>
            <a:spLocks xmlns:a="http://schemas.openxmlformats.org/drawingml/2006/main" noGrp="1"/>
          </p:cNvSpPr>
          <p:nvPr/>
        </p:nvSpPr>
        <p:spPr>
          <a:xfrm xmlns:a="http://schemas.openxmlformats.org/drawingml/2006/main">
            <a:off x="8343900" y="4667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l">
              <a:defRPr sz="1050" b="1" i="0">
                <a:solidFill>
                  <a:srgbClr val="66645F"/>
                </a:solidFill>
              </a:defRPr>
            </a:pPr>
            <a:r>
              <a:rPr sz="1050" b="1" i="0">
                <a:solidFill>
                  <a:srgbClr val="66645F"/>
                </a:solidFill>
              </a:rPr>
              <a:t>Lower-priority items</a:t>
            </a:r>
          </a:p>
        </p:txBody>
      </p:sp>
      <p:sp>
        <p:nvSpPr>
          <p:cNvPr id="22" name="">
            <a:extLst xmlns:a="http://schemas.openxmlformats.org/drawingml/2006/main">
              <a:ext uri="{FF2B5EF4-FFF2-40B4-BE49-F238E27FC236}">
                <a16:creationId xmlns:a16="http://schemas.microsoft.com/office/drawing/2014/main" id="{4A3B16A0-538D-4577-8A1C-97FEFF32840A}"/>
              </a:ext>
            </a:extLst>
          </p:cNvPr>
          <p:cNvSpPr>
            <a:spLocks xmlns:a="http://schemas.openxmlformats.org/drawingml/2006/main" noGrp="1"/>
          </p:cNvSpPr>
          <p:nvPr/>
        </p:nvSpPr>
        <p:spPr>
          <a:xfrm xmlns:a="http://schemas.openxmlformats.org/drawingml/2006/main">
            <a:off x="8343900" y="491490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0588"/>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Reduce / defer</a:t>
            </a:r>
          </a:p>
        </p:txBody>
      </p:sp>
      <p:sp>
        <p:nvSpPr>
          <p:cNvPr id="23" name="">
            <a:extLst xmlns:a="http://schemas.openxmlformats.org/drawingml/2006/main">
              <a:ext uri="{FF2B5EF4-FFF2-40B4-BE49-F238E27FC236}">
                <a16:creationId xmlns:a16="http://schemas.microsoft.com/office/drawing/2014/main" id="{84859BBF-4114-4046-BB62-004E762EDF29}"/>
              </a:ext>
            </a:extLst>
          </p:cNvPr>
          <p:cNvSpPr>
            <a:spLocks xmlns:a="http://schemas.openxmlformats.org/drawingml/2006/main" noGrp="1"/>
          </p:cNvSpPr>
          <p:nvPr/>
        </p:nvSpPr>
        <p:spPr>
          <a:xfrm xmlns:a="http://schemas.openxmlformats.org/drawingml/2006/main">
            <a:off x="10267950" y="489585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185"/>
          </a:bodyPr>
          <a:lstStyle xmlns:a="http://schemas.openxmlformats.org/drawingml/2006/main"/>
          <a:p xmlns:a="http://schemas.openxmlformats.org/drawingml/2006/main">
            <a:pPr algn="r">
              <a:defRPr sz="1350" b="1" i="0">
                <a:solidFill>
                  <a:srgbClr val="111111"/>
                </a:solidFill>
              </a:defRPr>
            </a:pPr>
            <a:r>
              <a:rPr sz="1350" b="1" i="0">
                <a:solidFill>
                  <a:srgbClr val="111111"/>
                </a:solidFill>
              </a:rPr>
              <a:t>Carry forward</a:t>
            </a:r>
          </a:p>
        </p:txBody>
      </p:sp>
      <p:sp>
        <p:nvSpPr>
          <p:cNvPr id="24" name="">
            <a:extLst xmlns:a="http://schemas.openxmlformats.org/drawingml/2006/main">
              <a:ext uri="{FF2B5EF4-FFF2-40B4-BE49-F238E27FC236}">
                <a16:creationId xmlns:a16="http://schemas.microsoft.com/office/drawing/2014/main" id="{AB4DECB2-5EE6-45D4-987F-8C4A7A84E2DE}"/>
              </a:ext>
            </a:extLst>
          </p:cNvPr>
          <p:cNvSpPr>
            <a:spLocks xmlns:a="http://schemas.openxmlformats.org/drawingml/2006/main" noGrp="1"/>
          </p:cNvSpPr>
          <p:nvPr/>
        </p:nvSpPr>
        <p:spPr>
          <a:xfrm xmlns:a="http://schemas.openxmlformats.org/drawingml/2006/main">
            <a:off x="8172450" y="5562600"/>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1">
                <a:solidFill>
                  <a:srgbClr val="66645F"/>
                </a:solidFill>
              </a:defRPr>
            </a:pPr>
            <a:r>
              <a:rPr sz="1125" b="0" i="1">
                <a:solidFill>
                  <a:srgbClr val="66645F"/>
                </a:solidFill>
              </a:rPr>
              <a:t>Policy options in the source are alternatives—not simultaneous constraints.</a:t>
            </a:r>
          </a:p>
        </p:txBody>
      </p:sp>
      <p:sp>
        <p:nvSpPr>
          <p:cNvPr id="25" name="">
            <a:extLst xmlns:a="http://schemas.openxmlformats.org/drawingml/2006/main">
              <a:ext uri="{FF2B5EF4-FFF2-40B4-BE49-F238E27FC236}">
                <a16:creationId xmlns:a16="http://schemas.microsoft.com/office/drawing/2014/main" id="{7248BF6C-186A-4F5F-94BD-4A11647B08A4}"/>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7FBA1F-7D4C-41B1-855F-717633A3F8AA}"/>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56" name=""/>
          <p:cNvCxnSpPr>
            <a:stCxn xmlns:a="http://schemas.openxmlformats.org/drawingml/2006/main" id="25" idx="6"/>
            <a:endCxn xmlns:a="http://schemas.openxmlformats.org/drawingml/2006/main" id="26"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8" name="">
            <a:extLst xmlns:a="http://schemas.openxmlformats.org/drawingml/2006/main">
              <a:ext uri="{FF2B5EF4-FFF2-40B4-BE49-F238E27FC236}">
                <a16:creationId xmlns:a16="http://schemas.microsoft.com/office/drawing/2014/main" id="{699C85A4-84D5-4FD4-8422-4D8F18FF164E}"/>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TAKE-HOME PAY</a:t>
            </a:r>
          </a:p>
        </p:txBody>
      </p:sp>
      <p:sp>
        <p:nvSpPr>
          <p:cNvPr id="29" name="">
            <a:extLst xmlns:a="http://schemas.openxmlformats.org/drawingml/2006/main">
              <a:ext uri="{FF2B5EF4-FFF2-40B4-BE49-F238E27FC236}">
                <a16:creationId xmlns:a16="http://schemas.microsoft.com/office/drawing/2014/main" id="{C897CC03-23B2-408C-BCC0-79B51B00A171}"/>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06</a:t>
            </a:r>
          </a:p>
        </p:txBody>
      </p:sp>
    </p:spTree>
    <p:extLst>
      <p:ext uri="{BB962C8B-B14F-4D97-AF65-F5344CB8AC3E}">
        <p14:creationId xmlns:p14="http://schemas.microsoft.com/office/powerpoint/2010/main" val="1996687754"/>
      </p:ext>
    </p:extLst>
  </p:cSld>
</p:sld>
</file>

<file path=ppt/slides/slide7.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5082B57-3B49-49D8-82E0-784372931430}"/>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TAKE-HOME PAY DEPENDENCIES</a:t>
            </a:r>
          </a:p>
        </p:txBody>
      </p:sp>
      <p:sp>
        <p:nvSpPr>
          <p:cNvPr id="2" name="">
            <a:extLst xmlns:a="http://schemas.openxmlformats.org/drawingml/2006/main">
              <a:ext uri="{FF2B5EF4-FFF2-40B4-BE49-F238E27FC236}">
                <a16:creationId xmlns:a16="http://schemas.microsoft.com/office/drawing/2014/main" id="{8C599808-FA93-4783-8633-A71E5E9DD8AD}"/>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INTERCONNECTED MODULES</a:t>
            </a:r>
          </a:p>
        </p:txBody>
      </p:sp>
      <p:sp>
        <p:nvSpPr>
          <p:cNvPr id="3" name="">
            <a:extLst xmlns:a="http://schemas.openxmlformats.org/drawingml/2006/main">
              <a:ext uri="{FF2B5EF4-FFF2-40B4-BE49-F238E27FC236}">
                <a16:creationId xmlns:a16="http://schemas.microsoft.com/office/drawing/2014/main" id="{F6DA9493-51FE-4A01-B738-9CC6B6BC5F47}"/>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162"/>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Amounts stay with their owning modules; the engine owns the adjustment order</a:t>
            </a:r>
          </a:p>
        </p:txBody>
      </p:sp>
      <p:sp>
        <p:nvSpPr>
          <p:cNvPr id="4" name="">
            <a:extLst xmlns:a="http://schemas.openxmlformats.org/drawingml/2006/main">
              <a:ext uri="{FF2B5EF4-FFF2-40B4-BE49-F238E27FC236}">
                <a16:creationId xmlns:a16="http://schemas.microsoft.com/office/drawing/2014/main" id="{0DB442C3-AB22-48DB-8289-5A6C6FF0F532}"/>
              </a:ext>
            </a:extLst>
          </p:cNvPr>
          <p:cNvSpPr>
            <a:spLocks xmlns:a="http://schemas.openxmlformats.org/drawingml/2006/main" noGrp="1"/>
          </p:cNvSpPr>
          <p:nvPr/>
        </p:nvSpPr>
        <p:spPr>
          <a:xfrm xmlns:a="http://schemas.openxmlformats.org/drawingml/2006/main">
            <a:off x="533400" y="1809750"/>
            <a:ext cx="20383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111111"/>
            </a:solidFill>
            <a:prstDash val="solid"/>
          </a:ln>
        </p:spPr>
      </p:sp>
      <p:sp>
        <p:nvSpPr>
          <p:cNvPr id="5" name="">
            <a:extLst xmlns:a="http://schemas.openxmlformats.org/drawingml/2006/main">
              <a:ext uri="{FF2B5EF4-FFF2-40B4-BE49-F238E27FC236}">
                <a16:creationId xmlns:a16="http://schemas.microsoft.com/office/drawing/2014/main" id="{02A8B24A-44BE-48CE-9DEB-6C880A2BF9E2}"/>
              </a:ext>
            </a:extLst>
          </p:cNvPr>
          <p:cNvSpPr>
            <a:spLocks xmlns:a="http://schemas.openxmlformats.org/drawingml/2006/main" noGrp="1"/>
          </p:cNvSpPr>
          <p:nvPr/>
        </p:nvSpPr>
        <p:spPr>
          <a:xfrm xmlns:a="http://schemas.openxmlformats.org/drawingml/2006/main">
            <a:off x="533400" y="2838450"/>
            <a:ext cx="20383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111111"/>
            </a:solidFill>
            <a:prstDash val="solid"/>
          </a:ln>
        </p:spPr>
      </p:sp>
      <p:sp>
        <p:nvSpPr>
          <p:cNvPr id="6" name="">
            <a:extLst xmlns:a="http://schemas.openxmlformats.org/drawingml/2006/main">
              <a:ext uri="{FF2B5EF4-FFF2-40B4-BE49-F238E27FC236}">
                <a16:creationId xmlns:a16="http://schemas.microsoft.com/office/drawing/2014/main" id="{EFCDC17A-515A-48DD-B3EA-F59542B10836}"/>
              </a:ext>
            </a:extLst>
          </p:cNvPr>
          <p:cNvSpPr>
            <a:spLocks xmlns:a="http://schemas.openxmlformats.org/drawingml/2006/main" noGrp="1"/>
          </p:cNvSpPr>
          <p:nvPr/>
        </p:nvSpPr>
        <p:spPr>
          <a:xfrm xmlns:a="http://schemas.openxmlformats.org/drawingml/2006/main">
            <a:off x="533400" y="3867150"/>
            <a:ext cx="20383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111111"/>
            </a:solidFill>
            <a:prstDash val="solid"/>
          </a:ln>
        </p:spPr>
      </p:sp>
      <p:sp>
        <p:nvSpPr>
          <p:cNvPr id="7" name="">
            <a:extLst xmlns:a="http://schemas.openxmlformats.org/drawingml/2006/main">
              <a:ext uri="{FF2B5EF4-FFF2-40B4-BE49-F238E27FC236}">
                <a16:creationId xmlns:a16="http://schemas.microsoft.com/office/drawing/2014/main" id="{09B69A71-43C4-4A6D-932F-8C5EFAAD1C30}"/>
              </a:ext>
            </a:extLst>
          </p:cNvPr>
          <p:cNvSpPr>
            <a:spLocks xmlns:a="http://schemas.openxmlformats.org/drawingml/2006/main" noGrp="1"/>
          </p:cNvSpPr>
          <p:nvPr/>
        </p:nvSpPr>
        <p:spPr>
          <a:xfrm xmlns:a="http://schemas.openxmlformats.org/drawingml/2006/main">
            <a:off x="3181350" y="2724150"/>
            <a:ext cx="2228850" cy="933450"/>
          </a:xfrm>
          <a:prstGeom xmlns:a="http://schemas.openxmlformats.org/drawingml/2006/main" prst="roundRect">
            <a:avLst>
              <a:gd name="adj" fmla="val 8163"/>
            </a:avLst>
          </a:prstGeom>
          <a:solidFill xmlns:a="http://schemas.openxmlformats.org/drawingml/2006/main">
            <a:srgbClr val="F2ECF8"/>
          </a:solidFill>
          <a:ln xmlns:a="http://schemas.openxmlformats.org/drawingml/2006/main" w="19050">
            <a:solidFill>
              <a:srgbClr val="5C2A91"/>
            </a:solidFill>
            <a:prstDash val="solid"/>
          </a:ln>
        </p:spPr>
      </p:sp>
      <p:cxnSp>
        <p:nvCxnSpPr>
          <p:cNvPr id="36" name=""/>
          <p:cNvCxnSpPr>
            <a:stCxn xmlns:a="http://schemas.openxmlformats.org/drawingml/2006/main" id="4" idx="3"/>
            <a:endCxn xmlns:a="http://schemas.openxmlformats.org/drawingml/2006/main" id="7" idx="1"/>
          </p:cNvCxnSpPr>
          <p:nvPr/>
        </p:nvCxnSpPr>
        <p:spPr>
          <a:xfrm xmlns:a="http://schemas.openxmlformats.org/drawingml/2006/main">
            <a:off x="2571750" y="2162175"/>
            <a:ext cx="609600" cy="1028700"/>
          </a:xfrm>
          <a:prstGeom xmlns:a="http://schemas.openxmlformats.org/drawingml/2006/main" prst="bentConnector3">
            <a:avLst>
              <a:gd name="adj1" fmla="val 50000"/>
            </a:avLst>
          </a:prstGeom>
          <a:ln xmlns:a="http://schemas.openxmlformats.org/drawingml/2006/main" w="19050">
            <a:solidFill>
              <a:srgbClr val="5C2A91"/>
            </a:solidFill>
            <a:prstDash val="solid"/>
            <a:tailEnd type="arrow" w="med" len="med"/>
          </a:ln>
        </p:spPr>
      </p:cxnSp>
      <p:cxnSp>
        <p:nvCxnSpPr>
          <p:cNvPr id="37" name=""/>
          <p:cNvCxnSpPr>
            <a:stCxn xmlns:a="http://schemas.openxmlformats.org/drawingml/2006/main" id="5" idx="3"/>
            <a:endCxn xmlns:a="http://schemas.openxmlformats.org/drawingml/2006/main" id="7" idx="1"/>
          </p:cNvCxnSpPr>
          <p:nvPr/>
        </p:nvCxnSpPr>
        <p:spPr>
          <a:xfrm xmlns:a="http://schemas.openxmlformats.org/drawingml/2006/main">
            <a:off x="2571750" y="3190875"/>
            <a:ext cx="609600" cy="0"/>
          </a:xfrm>
          <a:prstGeom xmlns:a="http://schemas.openxmlformats.org/drawingml/2006/main" prst="straightConnector1">
            <a:avLst/>
          </a:prstGeom>
          <a:ln xmlns:a="http://schemas.openxmlformats.org/drawingml/2006/main" w="19050">
            <a:solidFill>
              <a:srgbClr val="5C2A91"/>
            </a:solidFill>
            <a:prstDash val="solid"/>
            <a:tailEnd type="arrow" w="med" len="med"/>
          </a:ln>
        </p:spPr>
      </p:cxn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flipV="1">
            <a:off x="2571750" y="3190875"/>
            <a:ext cx="609600" cy="1028700"/>
          </a:xfrm>
          <a:prstGeom xmlns:a="http://schemas.openxmlformats.org/drawingml/2006/main" prst="bentConnector3">
            <a:avLst>
              <a:gd name="adj1" fmla="val 50000"/>
            </a:avLst>
          </a:prstGeom>
          <a:ln xmlns:a="http://schemas.openxmlformats.org/drawingml/2006/main" w="19050">
            <a:solidFill>
              <a:srgbClr val="5C2A91"/>
            </a:solidFill>
            <a:prstDash val="solid"/>
            <a:tailEnd type="arrow" w="med" len="med"/>
          </a:ln>
        </p:spPr>
      </p:cxnSp>
      <p:sp>
        <p:nvSpPr>
          <p:cNvPr id="11" name="">
            <a:extLst xmlns:a="http://schemas.openxmlformats.org/drawingml/2006/main">
              <a:ext uri="{FF2B5EF4-FFF2-40B4-BE49-F238E27FC236}">
                <a16:creationId xmlns:a16="http://schemas.microsoft.com/office/drawing/2014/main" id="{388207ED-1B80-4E48-AC66-B2B220659410}"/>
              </a:ext>
            </a:extLst>
          </p:cNvPr>
          <p:cNvSpPr>
            <a:spLocks xmlns:a="http://schemas.openxmlformats.org/drawingml/2006/main" noGrp="1"/>
          </p:cNvSpPr>
          <p:nvPr/>
        </p:nvSpPr>
        <p:spPr>
          <a:xfrm xmlns:a="http://schemas.openxmlformats.org/drawingml/2006/main">
            <a:off x="723900" y="1981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111111"/>
                </a:solidFill>
              </a:defRPr>
            </a:pPr>
            <a:r>
              <a:rPr sz="1575" b="1" i="0">
                <a:solidFill>
                  <a:srgbClr val="111111"/>
                </a:solidFill>
              </a:rPr>
              <a:t>Deductions</a:t>
            </a:r>
          </a:p>
        </p:txBody>
      </p:sp>
      <p:sp>
        <p:nvSpPr>
          <p:cNvPr id="12" name="">
            <a:extLst xmlns:a="http://schemas.openxmlformats.org/drawingml/2006/main">
              <a:ext uri="{FF2B5EF4-FFF2-40B4-BE49-F238E27FC236}">
                <a16:creationId xmlns:a16="http://schemas.microsoft.com/office/drawing/2014/main" id="{3EF25444-309A-424D-AD80-E9D031CD76A7}"/>
              </a:ext>
            </a:extLst>
          </p:cNvPr>
          <p:cNvSpPr>
            <a:spLocks xmlns:a="http://schemas.openxmlformats.org/drawingml/2006/main" noGrp="1"/>
          </p:cNvSpPr>
          <p:nvPr/>
        </p:nvSpPr>
        <p:spPr>
          <a:xfrm xmlns:a="http://schemas.openxmlformats.org/drawingml/2006/main">
            <a:off x="723900" y="2266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6667"/>
          </a:bodyPr>
          <a:lstStyle xmlns:a="http://schemas.openxmlformats.org/drawingml/2006/main"/>
          <a:p xmlns:a="http://schemas.openxmlformats.org/drawingml/2006/main">
            <a:pPr algn="l">
              <a:defRPr sz="975" b="0" i="0">
                <a:solidFill>
                  <a:srgbClr val="66645F"/>
                </a:solidFill>
              </a:defRPr>
            </a:pPr>
            <a:r>
              <a:rPr sz="975" b="0" i="0">
                <a:solidFill>
                  <a:srgbClr val="66645F"/>
                </a:solidFill>
              </a:rPr>
              <a:t>Codes, due amounts, schedules</a:t>
            </a:r>
          </a:p>
        </p:txBody>
      </p:sp>
      <p:sp>
        <p:nvSpPr>
          <p:cNvPr id="13" name="">
            <a:extLst xmlns:a="http://schemas.openxmlformats.org/drawingml/2006/main">
              <a:ext uri="{FF2B5EF4-FFF2-40B4-BE49-F238E27FC236}">
                <a16:creationId xmlns:a16="http://schemas.microsoft.com/office/drawing/2014/main" id="{76C3975E-CD25-4587-BBD2-8E28E893EFDF}"/>
              </a:ext>
            </a:extLst>
          </p:cNvPr>
          <p:cNvSpPr>
            <a:spLocks xmlns:a="http://schemas.openxmlformats.org/drawingml/2006/main" noGrp="1"/>
          </p:cNvSpPr>
          <p:nvPr/>
        </p:nvSpPr>
        <p:spPr>
          <a:xfrm xmlns:a="http://schemas.openxmlformats.org/drawingml/2006/main">
            <a:off x="723900" y="30099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111111"/>
                </a:solidFill>
              </a:defRPr>
            </a:pPr>
            <a:r>
              <a:rPr sz="1575" b="1" i="0">
                <a:solidFill>
                  <a:srgbClr val="111111"/>
                </a:solidFill>
              </a:rPr>
              <a:t>Company Loans</a:t>
            </a:r>
          </a:p>
        </p:txBody>
      </p:sp>
      <p:sp>
        <p:nvSpPr>
          <p:cNvPr id="14" name="">
            <a:extLst xmlns:a="http://schemas.openxmlformats.org/drawingml/2006/main">
              <a:ext uri="{FF2B5EF4-FFF2-40B4-BE49-F238E27FC236}">
                <a16:creationId xmlns:a16="http://schemas.microsoft.com/office/drawing/2014/main" id="{14A83A01-7300-43A6-BFB8-21B62B016BE0}"/>
              </a:ext>
            </a:extLst>
          </p:cNvPr>
          <p:cNvSpPr>
            <a:spLocks xmlns:a="http://schemas.openxmlformats.org/drawingml/2006/main" noGrp="1"/>
          </p:cNvSpPr>
          <p:nvPr/>
        </p:nvSpPr>
        <p:spPr>
          <a:xfrm xmlns:a="http://schemas.openxmlformats.org/drawingml/2006/main">
            <a:off x="723900" y="3295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6667"/>
          </a:bodyPr>
          <a:lstStyle xmlns:a="http://schemas.openxmlformats.org/drawingml/2006/main"/>
          <a:p xmlns:a="http://schemas.openxmlformats.org/drawingml/2006/main">
            <a:pPr algn="l">
              <a:defRPr sz="975" b="0" i="0">
                <a:solidFill>
                  <a:srgbClr val="66645F"/>
                </a:solidFill>
              </a:defRPr>
            </a:pPr>
            <a:r>
              <a:rPr sz="975" b="0" i="0">
                <a:solidFill>
                  <a:srgbClr val="66645F"/>
                </a:solidFill>
              </a:rPr>
              <a:t>Amortization and balances</a:t>
            </a:r>
          </a:p>
        </p:txBody>
      </p:sp>
      <p:sp>
        <p:nvSpPr>
          <p:cNvPr id="15" name="">
            <a:extLst xmlns:a="http://schemas.openxmlformats.org/drawingml/2006/main">
              <a:ext uri="{FF2B5EF4-FFF2-40B4-BE49-F238E27FC236}">
                <a16:creationId xmlns:a16="http://schemas.microsoft.com/office/drawing/2014/main" id="{EB22563D-B9BD-4E4D-AFDE-7BB72B2C5CC6}"/>
              </a:ext>
            </a:extLst>
          </p:cNvPr>
          <p:cNvSpPr>
            <a:spLocks xmlns:a="http://schemas.openxmlformats.org/drawingml/2006/main" noGrp="1"/>
          </p:cNvSpPr>
          <p:nvPr/>
        </p:nvSpPr>
        <p:spPr>
          <a:xfrm xmlns:a="http://schemas.openxmlformats.org/drawingml/2006/main">
            <a:off x="723900" y="4038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111111"/>
                </a:solidFill>
              </a:defRPr>
            </a:pPr>
            <a:r>
              <a:rPr sz="1575" b="1" i="0">
                <a:solidFill>
                  <a:srgbClr val="111111"/>
                </a:solidFill>
              </a:rPr>
              <a:t>Government Loans</a:t>
            </a:r>
          </a:p>
        </p:txBody>
      </p:sp>
      <p:sp>
        <p:nvSpPr>
          <p:cNvPr id="16" name="">
            <a:extLst xmlns:a="http://schemas.openxmlformats.org/drawingml/2006/main">
              <a:ext uri="{FF2B5EF4-FFF2-40B4-BE49-F238E27FC236}">
                <a16:creationId xmlns:a16="http://schemas.microsoft.com/office/drawing/2014/main" id="{B7DA0A4A-0C1E-4862-9C4F-64B6E1FD2665}"/>
              </a:ext>
            </a:extLst>
          </p:cNvPr>
          <p:cNvSpPr>
            <a:spLocks xmlns:a="http://schemas.openxmlformats.org/drawingml/2006/main" noGrp="1"/>
          </p:cNvSpPr>
          <p:nvPr/>
        </p:nvSpPr>
        <p:spPr>
          <a:xfrm xmlns:a="http://schemas.openxmlformats.org/drawingml/2006/main">
            <a:off x="723900" y="43243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66667"/>
          </a:bodyPr>
          <a:lstStyle xmlns:a="http://schemas.openxmlformats.org/drawingml/2006/main"/>
          <a:p xmlns:a="http://schemas.openxmlformats.org/drawingml/2006/main">
            <a:pPr algn="l">
              <a:defRPr sz="975" b="0" i="0">
                <a:solidFill>
                  <a:srgbClr val="66645F"/>
                </a:solidFill>
              </a:defRPr>
            </a:pPr>
            <a:r>
              <a:rPr sz="975" b="0" i="0">
                <a:solidFill>
                  <a:srgbClr val="66645F"/>
                </a:solidFill>
              </a:rPr>
              <a:t>SSS / HDMF collections</a:t>
            </a:r>
          </a:p>
        </p:txBody>
      </p:sp>
      <p:sp>
        <p:nvSpPr>
          <p:cNvPr id="17" name="">
            <a:extLst xmlns:a="http://schemas.openxmlformats.org/drawingml/2006/main">
              <a:ext uri="{FF2B5EF4-FFF2-40B4-BE49-F238E27FC236}">
                <a16:creationId xmlns:a16="http://schemas.microsoft.com/office/drawing/2014/main" id="{857DF783-5672-41C5-B82D-5136AE5CEF33}"/>
              </a:ext>
            </a:extLst>
          </p:cNvPr>
          <p:cNvSpPr>
            <a:spLocks xmlns:a="http://schemas.openxmlformats.org/drawingml/2006/main" noGrp="1"/>
          </p:cNvSpPr>
          <p:nvPr/>
        </p:nvSpPr>
        <p:spPr>
          <a:xfrm xmlns:a="http://schemas.openxmlformats.org/drawingml/2006/main">
            <a:off x="3371850" y="2895600"/>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ctr">
              <a:defRPr sz="1200" b="1" i="0">
                <a:solidFill>
                  <a:srgbClr val="5C2A91"/>
                </a:solidFill>
              </a:defRPr>
            </a:pPr>
            <a:r>
              <a:rPr sz="1200" b="1" i="0">
                <a:solidFill>
                  <a:srgbClr val="5C2A91"/>
                </a:solidFill>
              </a:rPr>
              <a:t>REF-011</a:t>
            </a:r>
          </a:p>
        </p:txBody>
      </p:sp>
      <p:sp>
        <p:nvSpPr>
          <p:cNvPr id="18" name="">
            <a:extLst xmlns:a="http://schemas.openxmlformats.org/drawingml/2006/main">
              <a:ext uri="{FF2B5EF4-FFF2-40B4-BE49-F238E27FC236}">
                <a16:creationId xmlns:a16="http://schemas.microsoft.com/office/drawing/2014/main" id="{280CB23A-55DD-47B3-BE9C-BD4BDA43DD3A}"/>
              </a:ext>
            </a:extLst>
          </p:cNvPr>
          <p:cNvSpPr>
            <a:spLocks xmlns:a="http://schemas.openxmlformats.org/drawingml/2006/main" noGrp="1"/>
          </p:cNvSpPr>
          <p:nvPr/>
        </p:nvSpPr>
        <p:spPr>
          <a:xfrm xmlns:a="http://schemas.openxmlformats.org/drawingml/2006/main">
            <a:off x="3371850" y="31813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271"/>
          </a:bodyPr>
          <a:lstStyle xmlns:a="http://schemas.openxmlformats.org/drawingml/2006/main"/>
          <a:p xmlns:a="http://schemas.openxmlformats.org/drawingml/2006/main">
            <a:pPr algn="ctr">
              <a:defRPr sz="1425" b="1" i="0">
                <a:solidFill>
                  <a:srgbClr val="111111"/>
                </a:solidFill>
              </a:defRPr>
            </a:pPr>
            <a:r>
              <a:rPr sz="1425" b="1" i="0">
                <a:solidFill>
                  <a:srgbClr val="111111"/>
                </a:solidFill>
              </a:rPr>
              <a:t>Deduction &amp; Loan Hierarchy</a:t>
            </a:r>
          </a:p>
        </p:txBody>
      </p:sp>
      <p:sp>
        <p:nvSpPr>
          <p:cNvPr id="19" name="">
            <a:extLst xmlns:a="http://schemas.openxmlformats.org/drawingml/2006/main">
              <a:ext uri="{FF2B5EF4-FFF2-40B4-BE49-F238E27FC236}">
                <a16:creationId xmlns:a16="http://schemas.microsoft.com/office/drawing/2014/main" id="{04454B00-1735-4623-ABAC-0D6FE5BA2205}"/>
              </a:ext>
            </a:extLst>
          </p:cNvPr>
          <p:cNvSpPr>
            <a:spLocks xmlns:a="http://schemas.openxmlformats.org/drawingml/2006/main" noGrp="1"/>
          </p:cNvSpPr>
          <p:nvPr/>
        </p:nvSpPr>
        <p:spPr>
          <a:xfrm xmlns:a="http://schemas.openxmlformats.org/drawingml/2006/main">
            <a:off x="5848350" y="1409700"/>
            <a:ext cx="5810250" cy="4724400"/>
          </a:xfrm>
          <a:prstGeom xmlns:a="http://schemas.openxmlformats.org/drawingml/2006/main" prst="roundRect">
            <a:avLst>
              <a:gd name="adj" fmla="val 1613"/>
            </a:avLst>
          </a:prstGeom>
          <a:solidFill xmlns:a="http://schemas.openxmlformats.org/drawingml/2006/main">
            <a:srgbClr val="FFFFFF"/>
          </a:solidFill>
          <a:ln xmlns:a="http://schemas.openxmlformats.org/drawingml/2006/main" w="9525">
            <a:solidFill>
              <a:srgbClr val="D1CFCA"/>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f05930c6440e4639"/>
          <a:srcRect xmlns:a="http://schemas.openxmlformats.org/drawingml/2006/main" l="4049" t="0" r="4049" b="0"/>
          <a:stretch xmlns:a="http://schemas.openxmlformats.org/drawingml/2006/main">
            <a:fillRect l="0" t="0" r="0" b="0"/>
          </a:stretch>
        </p:blipFill>
        <p:spPr>
          <a:xfrm xmlns:a="http://schemas.openxmlformats.org/drawingml/2006/main">
            <a:off x="5905500" y="1466850"/>
            <a:ext cx="5695950" cy="46101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9628FD2A-C474-42C6-8862-835AE7C0C2E2}"/>
              </a:ext>
            </a:extLst>
          </p:cNvPr>
          <p:cNvSpPr>
            <a:spLocks xmlns:a="http://schemas.openxmlformats.org/drawingml/2006/main" noGrp="1"/>
          </p:cNvSpPr>
          <p:nvPr/>
        </p:nvSpPr>
        <p:spPr>
          <a:xfrm xmlns:a="http://schemas.openxmlformats.org/drawingml/2006/main">
            <a:off x="3524250" y="4000500"/>
            <a:ext cx="152400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111111"/>
            </a:solidFill>
            <a:prstDash val="solid"/>
          </a:ln>
        </p:spPr>
      </p:sp>
      <p:sp>
        <p:nvSpPr>
          <p:cNvPr id="22" name="">
            <a:extLst xmlns:a="http://schemas.openxmlformats.org/drawingml/2006/main">
              <a:ext uri="{FF2B5EF4-FFF2-40B4-BE49-F238E27FC236}">
                <a16:creationId xmlns:a16="http://schemas.microsoft.com/office/drawing/2014/main" id="{1752BF0E-2692-48AA-BE4C-A4C04284B74B}"/>
              </a:ext>
            </a:extLst>
          </p:cNvPr>
          <p:cNvSpPr>
            <a:spLocks xmlns:a="http://schemas.openxmlformats.org/drawingml/2006/main" noGrp="1"/>
          </p:cNvSpPr>
          <p:nvPr/>
        </p:nvSpPr>
        <p:spPr>
          <a:xfrm xmlns:a="http://schemas.openxmlformats.org/drawingml/2006/main">
            <a:off x="3524250" y="40005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Priority only</a:t>
            </a:r>
          </a:p>
        </p:txBody>
      </p:sp>
      <p:sp>
        <p:nvSpPr>
          <p:cNvPr id="23" name="">
            <a:extLst xmlns:a="http://schemas.openxmlformats.org/drawingml/2006/main">
              <a:ext uri="{FF2B5EF4-FFF2-40B4-BE49-F238E27FC236}">
                <a16:creationId xmlns:a16="http://schemas.microsoft.com/office/drawing/2014/main" id="{ECE3B1E4-06AB-4BA6-B6D4-F73C375FD467}"/>
              </a:ext>
            </a:extLst>
          </p:cNvPr>
          <p:cNvSpPr>
            <a:spLocks xmlns:a="http://schemas.openxmlformats.org/drawingml/2006/main" noGrp="1"/>
          </p:cNvSpPr>
          <p:nvPr/>
        </p:nvSpPr>
        <p:spPr>
          <a:xfrm xmlns:a="http://schemas.openxmlformats.org/drawingml/2006/main">
            <a:off x="533400" y="5181600"/>
            <a:ext cx="4876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i="0">
                <a:solidFill>
                  <a:srgbClr val="66645F"/>
                </a:solidFill>
              </a:defRPr>
            </a:pPr>
            <a:r>
              <a:rPr sz="1275" b="0" i="0">
                <a:solidFill>
                  <a:srgbClr val="66645F"/>
                </a:solidFill>
              </a:rPr>
              <a:t>Statutory items remain mandatory; eligible lower-priority items may be deferred.</a:t>
            </a:r>
          </a:p>
        </p:txBody>
      </p:sp>
      <p:sp>
        <p:nvSpPr>
          <p:cNvPr id="24" name="">
            <a:extLst xmlns:a="http://schemas.openxmlformats.org/drawingml/2006/main">
              <a:ext uri="{FF2B5EF4-FFF2-40B4-BE49-F238E27FC236}">
                <a16:creationId xmlns:a16="http://schemas.microsoft.com/office/drawing/2014/main" id="{F1100066-A000-4FCF-9EEA-57C1806D4C37}"/>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4CCFB65-2BD2-4EB1-881F-C2FF5E643384}"/>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54" name=""/>
          <p:cNvCxnSpPr>
            <a:stCxn xmlns:a="http://schemas.openxmlformats.org/drawingml/2006/main" id="24" idx="6"/>
            <a:endCxn xmlns:a="http://schemas.openxmlformats.org/drawingml/2006/main" id="25"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7" name="">
            <a:extLst xmlns:a="http://schemas.openxmlformats.org/drawingml/2006/main">
              <a:ext uri="{FF2B5EF4-FFF2-40B4-BE49-F238E27FC236}">
                <a16:creationId xmlns:a16="http://schemas.microsoft.com/office/drawing/2014/main" id="{1C21C174-A920-40F5-A01B-70B9075B3808}"/>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DEPENDENCIES</a:t>
            </a:r>
          </a:p>
        </p:txBody>
      </p:sp>
      <p:sp>
        <p:nvSpPr>
          <p:cNvPr id="28" name="">
            <a:extLst xmlns:a="http://schemas.openxmlformats.org/drawingml/2006/main">
              <a:ext uri="{FF2B5EF4-FFF2-40B4-BE49-F238E27FC236}">
                <a16:creationId xmlns:a16="http://schemas.microsoft.com/office/drawing/2014/main" id="{C33CE47C-15CB-4E85-854D-91A81BB439C2}"/>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07</a:t>
            </a:r>
          </a:p>
        </p:txBody>
      </p:sp>
    </p:spTree>
    <p:extLst>
      <p:ext uri="{BB962C8B-B14F-4D97-AF65-F5344CB8AC3E}">
        <p14:creationId xmlns:p14="http://schemas.microsoft.com/office/powerpoint/2010/main" val="1017643548"/>
      </p:ext>
    </p:extLst>
  </p:cSld>
</p:sld>
</file>

<file path=ppt/slides/slide8.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22CB29C-91FF-42D6-B712-2A64B6354BEF}"/>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RETIREMENT PAY</a:t>
            </a:r>
          </a:p>
        </p:txBody>
      </p:sp>
      <p:sp>
        <p:nvSpPr>
          <p:cNvPr id="2" name="">
            <a:extLst xmlns:a="http://schemas.openxmlformats.org/drawingml/2006/main">
              <a:ext uri="{FF2B5EF4-FFF2-40B4-BE49-F238E27FC236}">
                <a16:creationId xmlns:a16="http://schemas.microsoft.com/office/drawing/2014/main" id="{71DE8D3A-F901-4541-B7CA-9736F24D9141}"/>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RET-001 / RET-002</a:t>
            </a:r>
          </a:p>
        </p:txBody>
      </p:sp>
      <p:sp>
        <p:nvSpPr>
          <p:cNvPr id="3" name="">
            <a:extLst xmlns:a="http://schemas.openxmlformats.org/drawingml/2006/main">
              <a:ext uri="{FF2B5EF4-FFF2-40B4-BE49-F238E27FC236}">
                <a16:creationId xmlns:a16="http://schemas.microsoft.com/office/drawing/2014/main" id="{A558C1C4-874B-450B-BA28-B5F9BFCD7019}"/>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Eligibility, service rounding, and the more-beneficial result are visible</a:t>
            </a:r>
          </a:p>
        </p:txBody>
      </p:sp>
      <p:sp>
        <p:nvSpPr>
          <p:cNvPr id="4" name="">
            <a:extLst xmlns:a="http://schemas.openxmlformats.org/drawingml/2006/main">
              <a:ext uri="{FF2B5EF4-FFF2-40B4-BE49-F238E27FC236}">
                <a16:creationId xmlns:a16="http://schemas.microsoft.com/office/drawing/2014/main" id="{C7A9688B-C4D2-43EC-8E5E-C0A3BAEAB831}"/>
              </a:ext>
            </a:extLst>
          </p:cNvPr>
          <p:cNvSpPr>
            <a:spLocks xmlns:a="http://schemas.openxmlformats.org/drawingml/2006/main" noGrp="1"/>
          </p:cNvSpPr>
          <p:nvPr/>
        </p:nvSpPr>
        <p:spPr>
          <a:xfrm xmlns:a="http://schemas.openxmlformats.org/drawingml/2006/main">
            <a:off x="4457700" y="1352550"/>
            <a:ext cx="7200900" cy="47625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1CFCA"/>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92f0086daa44e3e"/>
          <a:stretch xmlns:a="http://schemas.openxmlformats.org/drawingml/2006/main"/>
        </p:blipFill>
        <p:spPr>
          <a:xfrm xmlns:a="http://schemas.openxmlformats.org/drawingml/2006/main">
            <a:off x="4933634" y="1409700"/>
            <a:ext cx="6249032" cy="4648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0A337D2-B1BD-43D1-982C-00657E19B672}"/>
              </a:ext>
            </a:extLst>
          </p:cNvPr>
          <p:cNvSpPr>
            <a:spLocks xmlns:a="http://schemas.openxmlformats.org/drawingml/2006/main" noGrp="1"/>
          </p:cNvSpPr>
          <p:nvPr/>
        </p:nvSpPr>
        <p:spPr>
          <a:xfrm xmlns:a="http://schemas.openxmlformats.org/drawingml/2006/main">
            <a:off x="533400" y="1524000"/>
            <a:ext cx="1524000" cy="304800"/>
          </a:xfrm>
          <a:prstGeom xmlns:a="http://schemas.openxmlformats.org/drawingml/2006/main" prst="roundRect">
            <a:avLst>
              <a:gd name="adj" fmla="val 25000"/>
            </a:avLst>
          </a:prstGeom>
          <a:solidFill xmlns:a="http://schemas.openxmlformats.org/drawingml/2006/main">
            <a:srgbClr val="F2ECF8"/>
          </a:solidFill>
          <a:ln xmlns:a="http://schemas.openxmlformats.org/drawingml/2006/main" w="9525">
            <a:solidFill>
              <a:srgbClr val="5C2A91"/>
            </a:solidFill>
            <a:prstDash val="solid"/>
          </a:ln>
        </p:spPr>
      </p:sp>
      <p:sp>
        <p:nvSpPr>
          <p:cNvPr id="7" name="">
            <a:extLst xmlns:a="http://schemas.openxmlformats.org/drawingml/2006/main">
              <a:ext uri="{FF2B5EF4-FFF2-40B4-BE49-F238E27FC236}">
                <a16:creationId xmlns:a16="http://schemas.microsoft.com/office/drawing/2014/main" id="{BE744893-7081-4848-9115-AEBD68EE2535}"/>
              </a:ext>
            </a:extLst>
          </p:cNvPr>
          <p:cNvSpPr>
            <a:spLocks xmlns:a="http://schemas.openxmlformats.org/drawingml/2006/main" noGrp="1"/>
          </p:cNvSpPr>
          <p:nvPr/>
        </p:nvSpPr>
        <p:spPr>
          <a:xfrm xmlns:a="http://schemas.openxmlformats.org/drawingml/2006/main">
            <a:off x="533400" y="15240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975" b="1" i="0">
                <a:solidFill>
                  <a:srgbClr val="5C2A91"/>
                </a:solidFill>
              </a:defRPr>
            </a:pPr>
            <a:r>
              <a:rPr sz="975" b="1" i="0">
                <a:solidFill>
                  <a:srgbClr val="5C2A91"/>
                </a:solidFill>
              </a:rPr>
              <a:t>SOURCE EXAMPLE</a:t>
            </a:r>
          </a:p>
        </p:txBody>
      </p:sp>
      <p:sp>
        <p:nvSpPr>
          <p:cNvPr id="8" name="">
            <a:extLst xmlns:a="http://schemas.openxmlformats.org/drawingml/2006/main">
              <a:ext uri="{FF2B5EF4-FFF2-40B4-BE49-F238E27FC236}">
                <a16:creationId xmlns:a16="http://schemas.microsoft.com/office/drawing/2014/main" id="{3982E3E0-E562-40D0-A36D-6C9495504C29}"/>
              </a:ext>
            </a:extLst>
          </p:cNvPr>
          <p:cNvSpPr>
            <a:spLocks xmlns:a="http://schemas.openxmlformats.org/drawingml/2006/main" noGrp="1"/>
          </p:cNvSpPr>
          <p:nvPr/>
        </p:nvSpPr>
        <p:spPr>
          <a:xfrm xmlns:a="http://schemas.openxmlformats.org/drawingml/2006/main">
            <a:off x="533400" y="20764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619"/>
          </a:bodyPr>
          <a:lstStyle xmlns:a="http://schemas.openxmlformats.org/drawingml/2006/main"/>
          <a:p xmlns:a="http://schemas.openxmlformats.org/drawingml/2006/main">
            <a:pPr algn="l">
              <a:defRPr sz="2100" b="1" i="0">
                <a:solidFill>
                  <a:srgbClr val="111111"/>
                </a:solidFill>
              </a:defRPr>
            </a:pPr>
            <a:r>
              <a:rPr sz="2100" b="1" i="0">
                <a:solidFill>
                  <a:srgbClr val="111111"/>
                </a:solidFill>
              </a:rPr>
              <a:t>₱20,000 ÷ 30</a:t>
            </a:r>
          </a:p>
        </p:txBody>
      </p:sp>
      <p:sp>
        <p:nvSpPr>
          <p:cNvPr id="9" name="">
            <a:extLst xmlns:a="http://schemas.openxmlformats.org/drawingml/2006/main">
              <a:ext uri="{FF2B5EF4-FFF2-40B4-BE49-F238E27FC236}">
                <a16:creationId xmlns:a16="http://schemas.microsoft.com/office/drawing/2014/main" id="{633B31B0-A118-4FD0-84EF-5AD038C6E7AD}"/>
              </a:ext>
            </a:extLst>
          </p:cNvPr>
          <p:cNvSpPr>
            <a:spLocks xmlns:a="http://schemas.openxmlformats.org/drawingml/2006/main" noGrp="1"/>
          </p:cNvSpPr>
          <p:nvPr/>
        </p:nvSpPr>
        <p:spPr>
          <a:xfrm xmlns:a="http://schemas.openxmlformats.org/drawingml/2006/main">
            <a:off x="533400" y="2476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619"/>
          </a:bodyPr>
          <a:lstStyle xmlns:a="http://schemas.openxmlformats.org/drawingml/2006/main"/>
          <a:p xmlns:a="http://schemas.openxmlformats.org/drawingml/2006/main">
            <a:pPr algn="l">
              <a:defRPr sz="2100" b="1" i="0">
                <a:solidFill>
                  <a:srgbClr val="111111"/>
                </a:solidFill>
              </a:defRPr>
            </a:pPr>
            <a:r>
              <a:rPr sz="2100" b="1" i="0">
                <a:solidFill>
                  <a:srgbClr val="111111"/>
                </a:solidFill>
              </a:rPr>
              <a:t>× 22.5 days × 10 years</a:t>
            </a:r>
          </a:p>
        </p:txBody>
      </p:sp>
      <p:sp>
        <p:nvSpPr>
          <p:cNvPr id="10" name="">
            <a:extLst xmlns:a="http://schemas.openxmlformats.org/drawingml/2006/main">
              <a:ext uri="{FF2B5EF4-FFF2-40B4-BE49-F238E27FC236}">
                <a16:creationId xmlns:a16="http://schemas.microsoft.com/office/drawing/2014/main" id="{F2F4E9E6-5AE2-4D95-88D9-7CFCFAC3924A}"/>
              </a:ext>
            </a:extLst>
          </p:cNvPr>
          <p:cNvSpPr>
            <a:spLocks xmlns:a="http://schemas.openxmlformats.org/drawingml/2006/main" noGrp="1"/>
          </p:cNvSpPr>
          <p:nvPr/>
        </p:nvSpPr>
        <p:spPr>
          <a:xfrm xmlns:a="http://schemas.openxmlformats.org/drawingml/2006/main">
            <a:off x="5334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211"/>
          </a:bodyPr>
          <a:lstStyle xmlns:a="http://schemas.openxmlformats.org/drawingml/2006/main"/>
          <a:p xmlns:a="http://schemas.openxmlformats.org/drawingml/2006/main">
            <a:pPr algn="l">
              <a:defRPr sz="2850" b="1" i="0">
                <a:solidFill>
                  <a:srgbClr val="5C2A91"/>
                </a:solidFill>
              </a:defRPr>
            </a:pPr>
            <a:r>
              <a:rPr sz="2850" b="1" i="0">
                <a:solidFill>
                  <a:srgbClr val="5C2A91"/>
                </a:solidFill>
              </a:rPr>
              <a:t>= ₱150,000</a:t>
            </a:r>
          </a:p>
        </p:txBody>
      </p:sp>
      <p:sp>
        <p:nvSpPr>
          <p:cNvPr id="11" name="">
            <a:extLst xmlns:a="http://schemas.openxmlformats.org/drawingml/2006/main">
              <a:ext uri="{FF2B5EF4-FFF2-40B4-BE49-F238E27FC236}">
                <a16:creationId xmlns:a16="http://schemas.microsoft.com/office/drawing/2014/main" id="{CB2C797A-E8FF-491F-8C38-13EA6B48EC22}"/>
              </a:ext>
            </a:extLst>
          </p:cNvPr>
          <p:cNvSpPr>
            <a:spLocks xmlns:a="http://schemas.openxmlformats.org/drawingml/2006/main" noGrp="1"/>
          </p:cNvSpPr>
          <p:nvPr/>
        </p:nvSpPr>
        <p:spPr>
          <a:xfrm xmlns:a="http://schemas.openxmlformats.org/drawingml/2006/main">
            <a:off x="533400" y="375285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7AFE1B-35A2-4A93-AFAF-7E0EA25A4B81}"/>
              </a:ext>
            </a:extLst>
          </p:cNvPr>
          <p:cNvSpPr>
            <a:spLocks xmlns:a="http://schemas.openxmlformats.org/drawingml/2006/main" noGrp="1"/>
          </p:cNvSpPr>
          <p:nvPr/>
        </p:nvSpPr>
        <p:spPr>
          <a:xfrm xmlns:a="http://schemas.openxmlformats.org/drawingml/2006/main">
            <a:off x="3886200" y="375285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36" name=""/>
          <p:cNvCxnSpPr>
            <a:stCxn xmlns:a="http://schemas.openxmlformats.org/drawingml/2006/main" id="11" idx="6"/>
            <a:endCxn xmlns:a="http://schemas.openxmlformats.org/drawingml/2006/main" id="12" idx="2"/>
          </p:cNvCxnSpPr>
          <p:nvPr/>
        </p:nvCxnSpPr>
        <p:spPr>
          <a:xfrm xmlns:a="http://schemas.openxmlformats.org/drawingml/2006/main">
            <a:off x="542925" y="3757613"/>
            <a:ext cx="3343275" cy="0"/>
          </a:xfrm>
          <a:prstGeom xmlns:a="http://schemas.openxmlformats.org/drawingml/2006/main" prst="straightConnector1">
            <a:avLst/>
          </a:prstGeom>
          <a:ln xmlns:a="http://schemas.openxmlformats.org/drawingml/2006/main" w="9525">
            <a:solidFill>
              <a:srgbClr val="D1CFCA"/>
            </a:solidFill>
            <a:prstDash val="solid"/>
          </a:ln>
        </p:spPr>
      </p:cxnSp>
      <p:sp>
        <p:nvSpPr>
          <p:cNvPr id="14" name="">
            <a:extLst xmlns:a="http://schemas.openxmlformats.org/drawingml/2006/main">
              <a:ext uri="{FF2B5EF4-FFF2-40B4-BE49-F238E27FC236}">
                <a16:creationId xmlns:a16="http://schemas.microsoft.com/office/drawing/2014/main" id="{9D23B14C-D724-43AC-9F74-0FA3110ED22D}"/>
              </a:ext>
            </a:extLst>
          </p:cNvPr>
          <p:cNvSpPr>
            <a:spLocks xmlns:a="http://schemas.openxmlformats.org/drawingml/2006/main" noGrp="1"/>
          </p:cNvSpPr>
          <p:nvPr/>
        </p:nvSpPr>
        <p:spPr>
          <a:xfrm xmlns:a="http://schemas.openxmlformats.org/drawingml/2006/main">
            <a:off x="533400" y="39624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defRPr sz="1200" b="1" i="0">
                <a:solidFill>
                  <a:srgbClr val="66645F"/>
                </a:solidFill>
              </a:defRPr>
            </a:pPr>
            <a:r>
              <a:rPr sz="1200" b="1" i="0">
                <a:solidFill>
                  <a:srgbClr val="66645F"/>
                </a:solidFill>
              </a:rPr>
              <a:t>Wireframe scenario</a:t>
            </a:r>
          </a:p>
        </p:txBody>
      </p:sp>
      <p:sp>
        <p:nvSpPr>
          <p:cNvPr id="15" name="">
            <a:extLst xmlns:a="http://schemas.openxmlformats.org/drawingml/2006/main">
              <a:ext uri="{FF2B5EF4-FFF2-40B4-BE49-F238E27FC236}">
                <a16:creationId xmlns:a16="http://schemas.microsoft.com/office/drawing/2014/main" id="{924DCA6D-27D9-409E-933A-0C4804A49F95}"/>
              </a:ext>
            </a:extLst>
          </p:cNvPr>
          <p:cNvSpPr>
            <a:spLocks xmlns:a="http://schemas.openxmlformats.org/drawingml/2006/main" noGrp="1"/>
          </p:cNvSpPr>
          <p:nvPr/>
        </p:nvSpPr>
        <p:spPr>
          <a:xfrm xmlns:a="http://schemas.openxmlformats.org/drawingml/2006/main">
            <a:off x="533400" y="43624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913"/>
          </a:bodyPr>
          <a:lstStyle xmlns:a="http://schemas.openxmlformats.org/drawingml/2006/main"/>
          <a:p xmlns:a="http://schemas.openxmlformats.org/drawingml/2006/main">
            <a:pPr algn="l">
              <a:defRPr sz="1725" b="1" i="0">
                <a:solidFill>
                  <a:srgbClr val="111111"/>
                </a:solidFill>
              </a:defRPr>
            </a:pPr>
            <a:r>
              <a:rPr sz="1725" b="1" i="0">
                <a:solidFill>
                  <a:srgbClr val="111111"/>
                </a:solidFill>
              </a:rPr>
              <a:t>12y 6m → 13 years</a:t>
            </a:r>
          </a:p>
        </p:txBody>
      </p:sp>
      <p:sp>
        <p:nvSpPr>
          <p:cNvPr id="16" name="">
            <a:extLst xmlns:a="http://schemas.openxmlformats.org/drawingml/2006/main">
              <a:ext uri="{FF2B5EF4-FFF2-40B4-BE49-F238E27FC236}">
                <a16:creationId xmlns:a16="http://schemas.microsoft.com/office/drawing/2014/main" id="{40ABBAA6-81C2-4052-99CA-88C82720A269}"/>
              </a:ext>
            </a:extLst>
          </p:cNvPr>
          <p:cNvSpPr>
            <a:spLocks xmlns:a="http://schemas.openxmlformats.org/drawingml/2006/main" noGrp="1"/>
          </p:cNvSpPr>
          <p:nvPr/>
        </p:nvSpPr>
        <p:spPr>
          <a:xfrm xmlns:a="http://schemas.openxmlformats.org/drawingml/2006/main">
            <a:off x="533400" y="48006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5926"/>
          </a:bodyPr>
          <a:lstStyle xmlns:a="http://schemas.openxmlformats.org/drawingml/2006/main"/>
          <a:p xmlns:a="http://schemas.openxmlformats.org/drawingml/2006/main">
            <a:pPr algn="l">
              <a:defRPr sz="1350" b="0" i="0">
                <a:solidFill>
                  <a:srgbClr val="111111"/>
                </a:solidFill>
              </a:defRPr>
            </a:pPr>
            <a:r>
              <a:rPr sz="1350" b="0" i="0">
                <a:solidFill>
                  <a:srgbClr val="111111"/>
                </a:solidFill>
              </a:rPr>
              <a:t>Statutory  ₱585,000</a:t>
            </a:r>
          </a:p>
        </p:txBody>
      </p:sp>
      <p:sp>
        <p:nvSpPr>
          <p:cNvPr id="17" name="">
            <a:extLst xmlns:a="http://schemas.openxmlformats.org/drawingml/2006/main">
              <a:ext uri="{FF2B5EF4-FFF2-40B4-BE49-F238E27FC236}">
                <a16:creationId xmlns:a16="http://schemas.microsoft.com/office/drawing/2014/main" id="{0EFBE505-CF2C-4014-8F0C-9AB70B01E209}"/>
              </a:ext>
            </a:extLst>
          </p:cNvPr>
          <p:cNvSpPr>
            <a:spLocks xmlns:a="http://schemas.openxmlformats.org/drawingml/2006/main" noGrp="1"/>
          </p:cNvSpPr>
          <p:nvPr/>
        </p:nvSpPr>
        <p:spPr>
          <a:xfrm xmlns:a="http://schemas.openxmlformats.org/drawingml/2006/main">
            <a:off x="533400" y="51435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5926"/>
          </a:bodyPr>
          <a:lstStyle xmlns:a="http://schemas.openxmlformats.org/drawingml/2006/main"/>
          <a:p xmlns:a="http://schemas.openxmlformats.org/drawingml/2006/main">
            <a:pPr algn="l">
              <a:defRPr sz="1350" b="1" i="0">
                <a:solidFill>
                  <a:srgbClr val="5C2A91"/>
                </a:solidFill>
              </a:defRPr>
            </a:pPr>
            <a:r>
              <a:rPr sz="1350" b="1" i="0">
                <a:solidFill>
                  <a:srgbClr val="5C2A91"/>
                </a:solidFill>
              </a:rPr>
              <a:t>Company plan  ₱795,000</a:t>
            </a:r>
          </a:p>
        </p:txBody>
      </p:sp>
      <p:sp>
        <p:nvSpPr>
          <p:cNvPr id="18" name="">
            <a:extLst xmlns:a="http://schemas.openxmlformats.org/drawingml/2006/main">
              <a:ext uri="{FF2B5EF4-FFF2-40B4-BE49-F238E27FC236}">
                <a16:creationId xmlns:a16="http://schemas.microsoft.com/office/drawing/2014/main" id="{15C87827-B4E6-4379-A710-B24D7943A037}"/>
              </a:ext>
            </a:extLst>
          </p:cNvPr>
          <p:cNvSpPr>
            <a:spLocks xmlns:a="http://schemas.openxmlformats.org/drawingml/2006/main" noGrp="1"/>
          </p:cNvSpPr>
          <p:nvPr/>
        </p:nvSpPr>
        <p:spPr>
          <a:xfrm xmlns:a="http://schemas.openxmlformats.org/drawingml/2006/main">
            <a:off x="533400" y="55816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66645F"/>
                </a:solidFill>
              </a:defRPr>
            </a:pPr>
            <a:r>
              <a:rPr sz="1200" b="0" i="0">
                <a:solidFill>
                  <a:srgbClr val="66645F"/>
                </a:solidFill>
              </a:rPr>
              <a:t>System uses the higher qualifying value.</a:t>
            </a:r>
          </a:p>
        </p:txBody>
      </p:sp>
      <p:sp>
        <p:nvSpPr>
          <p:cNvPr id="19" name="">
            <a:extLst xmlns:a="http://schemas.openxmlformats.org/drawingml/2006/main">
              <a:ext uri="{FF2B5EF4-FFF2-40B4-BE49-F238E27FC236}">
                <a16:creationId xmlns:a16="http://schemas.microsoft.com/office/drawing/2014/main" id="{CBFE77BB-CE4C-48D5-933B-0AA679482D2D}"/>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DCE2007-B228-4246-9AF1-C3763F001AD4}"/>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44" name=""/>
          <p:cNvCxnSpPr>
            <a:stCxn xmlns:a="http://schemas.openxmlformats.org/drawingml/2006/main" id="19" idx="6"/>
            <a:endCxn xmlns:a="http://schemas.openxmlformats.org/drawingml/2006/main" id="20"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2" name="">
            <a:extLst xmlns:a="http://schemas.openxmlformats.org/drawingml/2006/main">
              <a:ext uri="{FF2B5EF4-FFF2-40B4-BE49-F238E27FC236}">
                <a16:creationId xmlns:a16="http://schemas.microsoft.com/office/drawing/2014/main" id="{CFE7F105-9F84-4F6A-A1C9-59F3BBA310DC}"/>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RETIREMENT PAY</a:t>
            </a:r>
          </a:p>
        </p:txBody>
      </p:sp>
      <p:sp>
        <p:nvSpPr>
          <p:cNvPr id="23" name="">
            <a:extLst xmlns:a="http://schemas.openxmlformats.org/drawingml/2006/main">
              <a:ext uri="{FF2B5EF4-FFF2-40B4-BE49-F238E27FC236}">
                <a16:creationId xmlns:a16="http://schemas.microsoft.com/office/drawing/2014/main" id="{2F3D5915-C1E0-4B7D-A651-CFA65A79D210}"/>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08</a:t>
            </a:r>
          </a:p>
        </p:txBody>
      </p:sp>
    </p:spTree>
    <p:extLst>
      <p:ext uri="{BB962C8B-B14F-4D97-AF65-F5344CB8AC3E}">
        <p14:creationId xmlns:p14="http://schemas.microsoft.com/office/powerpoint/2010/main" val="1450367035"/>
      </p:ext>
    </p:extLst>
  </p:cSld>
</p:sld>
</file>

<file path=ppt/slides/slide9.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D8128CB-032D-44E0-A531-F183DDAB6B7A}"/>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FINAL PAY</a:t>
            </a:r>
          </a:p>
        </p:txBody>
      </p:sp>
      <p:sp>
        <p:nvSpPr>
          <p:cNvPr id="2" name="">
            <a:extLst xmlns:a="http://schemas.openxmlformats.org/drawingml/2006/main">
              <a:ext uri="{FF2B5EF4-FFF2-40B4-BE49-F238E27FC236}">
                <a16:creationId xmlns:a16="http://schemas.microsoft.com/office/drawing/2014/main" id="{CA57A703-AFB8-4EE8-9C66-22A1DA248F13}"/>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FIN-001</a:t>
            </a:r>
          </a:p>
        </p:txBody>
      </p:sp>
      <p:sp>
        <p:nvSpPr>
          <p:cNvPr id="3" name="">
            <a:extLst xmlns:a="http://schemas.openxmlformats.org/drawingml/2006/main">
              <a:ext uri="{FF2B5EF4-FFF2-40B4-BE49-F238E27FC236}">
                <a16:creationId xmlns:a16="http://schemas.microsoft.com/office/drawing/2014/main" id="{ED0C1096-10A9-4962-BA19-1BE50E4E0079}"/>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Final pay assembles approved components, then applies offsets and tax</a:t>
            </a:r>
          </a:p>
        </p:txBody>
      </p:sp>
      <p:sp>
        <p:nvSpPr>
          <p:cNvPr id="4" name="">
            <a:extLst xmlns:a="http://schemas.openxmlformats.org/drawingml/2006/main">
              <a:ext uri="{FF2B5EF4-FFF2-40B4-BE49-F238E27FC236}">
                <a16:creationId xmlns:a16="http://schemas.microsoft.com/office/drawing/2014/main" id="{821ED802-E14C-4F33-A62C-C14A37FB1456}"/>
              </a:ext>
            </a:extLst>
          </p:cNvPr>
          <p:cNvSpPr>
            <a:spLocks xmlns:a="http://schemas.openxmlformats.org/drawingml/2006/main" noGrp="1"/>
          </p:cNvSpPr>
          <p:nvPr/>
        </p:nvSpPr>
        <p:spPr>
          <a:xfrm xmlns:a="http://schemas.openxmlformats.org/drawingml/2006/main">
            <a:off x="4629150" y="1352550"/>
            <a:ext cx="7029450" cy="47625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1CFCA"/>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973000c99d74e5c"/>
          <a:stretch xmlns:a="http://schemas.openxmlformats.org/drawingml/2006/main"/>
        </p:blipFill>
        <p:spPr>
          <a:xfrm xmlns:a="http://schemas.openxmlformats.org/drawingml/2006/main">
            <a:off x="5019359" y="1409700"/>
            <a:ext cx="6249032" cy="4648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9D236A-53F1-46F0-80C3-B64CF989886D}"/>
              </a:ext>
            </a:extLst>
          </p:cNvPr>
          <p:cNvSpPr>
            <a:spLocks xmlns:a="http://schemas.openxmlformats.org/drawingml/2006/main" noGrp="1"/>
          </p:cNvSpPr>
          <p:nvPr/>
        </p:nvSpPr>
        <p:spPr>
          <a:xfrm xmlns:a="http://schemas.openxmlformats.org/drawingml/2006/main">
            <a:off x="533400" y="1524000"/>
            <a:ext cx="400050" cy="400050"/>
          </a:xfrm>
          <a:prstGeom xmlns:a="http://schemas.openxmlformats.org/drawingml/2006/main" prst="roundRect">
            <a:avLst>
              <a:gd name="adj" fmla="val 19048"/>
            </a:avLst>
          </a:prstGeom>
          <a:solidFill xmlns:a="http://schemas.openxmlformats.org/drawingml/2006/main">
            <a:srgbClr val="111111"/>
          </a:solidFill>
          <a:ln xmlns:a="http://schemas.openxmlformats.org/drawingml/2006/main" w="9525">
            <a:solidFill>
              <a:srgbClr val="111111"/>
            </a:solidFill>
            <a:prstDash val="solid"/>
          </a:ln>
        </p:spPr>
      </p:sp>
      <p:sp>
        <p:nvSpPr>
          <p:cNvPr id="7" name="">
            <a:extLst xmlns:a="http://schemas.openxmlformats.org/drawingml/2006/main">
              <a:ext uri="{FF2B5EF4-FFF2-40B4-BE49-F238E27FC236}">
                <a16:creationId xmlns:a16="http://schemas.microsoft.com/office/drawing/2014/main" id="{DC6B1221-5202-4EA0-A55C-699561AFF6E7}"/>
              </a:ext>
            </a:extLst>
          </p:cNvPr>
          <p:cNvSpPr>
            <a:spLocks xmlns:a="http://schemas.openxmlformats.org/drawingml/2006/main" noGrp="1"/>
          </p:cNvSpPr>
          <p:nvPr/>
        </p:nvSpPr>
        <p:spPr>
          <a:xfrm xmlns:a="http://schemas.openxmlformats.org/drawingml/2006/main">
            <a:off x="533400" y="1524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8" name="">
            <a:extLst xmlns:a="http://schemas.openxmlformats.org/drawingml/2006/main">
              <a:ext uri="{FF2B5EF4-FFF2-40B4-BE49-F238E27FC236}">
                <a16:creationId xmlns:a16="http://schemas.microsoft.com/office/drawing/2014/main" id="{B27E6CBB-7EA0-49AB-800F-B4E3702C4AAE}"/>
              </a:ext>
            </a:extLst>
          </p:cNvPr>
          <p:cNvSpPr>
            <a:spLocks xmlns:a="http://schemas.openxmlformats.org/drawingml/2006/main" noGrp="1"/>
          </p:cNvSpPr>
          <p:nvPr/>
        </p:nvSpPr>
        <p:spPr>
          <a:xfrm xmlns:a="http://schemas.openxmlformats.org/drawingml/2006/main">
            <a:off x="1104900" y="15240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111111"/>
                </a:solidFill>
              </a:defRPr>
            </a:pPr>
            <a:r>
              <a:rPr sz="1575" b="1" i="0">
                <a:solidFill>
                  <a:srgbClr val="111111"/>
                </a:solidFill>
              </a:rPr>
              <a:t>Earnings</a:t>
            </a:r>
          </a:p>
        </p:txBody>
      </p:sp>
      <p:sp>
        <p:nvSpPr>
          <p:cNvPr id="9" name="">
            <a:extLst xmlns:a="http://schemas.openxmlformats.org/drawingml/2006/main">
              <a:ext uri="{FF2B5EF4-FFF2-40B4-BE49-F238E27FC236}">
                <a16:creationId xmlns:a16="http://schemas.microsoft.com/office/drawing/2014/main" id="{20B25939-0814-43E9-B2BC-4A1A12973A58}"/>
              </a:ext>
            </a:extLst>
          </p:cNvPr>
          <p:cNvSpPr>
            <a:spLocks xmlns:a="http://schemas.openxmlformats.org/drawingml/2006/main" noGrp="1"/>
          </p:cNvSpPr>
          <p:nvPr/>
        </p:nvSpPr>
        <p:spPr>
          <a:xfrm xmlns:a="http://schemas.openxmlformats.org/drawingml/2006/main">
            <a:off x="1104900" y="186690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Unpaid salary, 13th month, leave, allowances</a:t>
            </a:r>
          </a:p>
        </p:txBody>
      </p:sp>
      <p:sp>
        <p:nvSpPr>
          <p:cNvPr id="10" name="">
            <a:extLst xmlns:a="http://schemas.openxmlformats.org/drawingml/2006/main">
              <a:ext uri="{FF2B5EF4-FFF2-40B4-BE49-F238E27FC236}">
                <a16:creationId xmlns:a16="http://schemas.microsoft.com/office/drawing/2014/main" id="{82BB8884-1F6B-430F-A7DA-0347FB3884AF}"/>
              </a:ext>
            </a:extLst>
          </p:cNvPr>
          <p:cNvSpPr>
            <a:spLocks xmlns:a="http://schemas.openxmlformats.org/drawingml/2006/main" noGrp="1"/>
          </p:cNvSpPr>
          <p:nvPr/>
        </p:nvSpPr>
        <p:spPr>
          <a:xfrm xmlns:a="http://schemas.openxmlformats.org/drawingml/2006/main">
            <a:off x="533400" y="2590800"/>
            <a:ext cx="400050" cy="400050"/>
          </a:xfrm>
          <a:prstGeom xmlns:a="http://schemas.openxmlformats.org/drawingml/2006/main" prst="roundRect">
            <a:avLst>
              <a:gd name="adj" fmla="val 19048"/>
            </a:avLst>
          </a:prstGeom>
          <a:solidFill xmlns:a="http://schemas.openxmlformats.org/drawingml/2006/main">
            <a:srgbClr val="111111"/>
          </a:solidFill>
          <a:ln xmlns:a="http://schemas.openxmlformats.org/drawingml/2006/main" w="9525">
            <a:solidFill>
              <a:srgbClr val="111111"/>
            </a:solidFill>
            <a:prstDash val="solid"/>
          </a:ln>
        </p:spPr>
      </p:sp>
      <p:sp>
        <p:nvSpPr>
          <p:cNvPr id="11" name="">
            <a:extLst xmlns:a="http://schemas.openxmlformats.org/drawingml/2006/main">
              <a:ext uri="{FF2B5EF4-FFF2-40B4-BE49-F238E27FC236}">
                <a16:creationId xmlns:a16="http://schemas.microsoft.com/office/drawing/2014/main" id="{DBCDCA95-16F3-4BD4-8599-336786E1B2EE}"/>
              </a:ext>
            </a:extLst>
          </p:cNvPr>
          <p:cNvSpPr>
            <a:spLocks xmlns:a="http://schemas.openxmlformats.org/drawingml/2006/main" noGrp="1"/>
          </p:cNvSpPr>
          <p:nvPr/>
        </p:nvSpPr>
        <p:spPr>
          <a:xfrm xmlns:a="http://schemas.openxmlformats.org/drawingml/2006/main">
            <a:off x="533400" y="2590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12" name="">
            <a:extLst xmlns:a="http://schemas.openxmlformats.org/drawingml/2006/main">
              <a:ext uri="{FF2B5EF4-FFF2-40B4-BE49-F238E27FC236}">
                <a16:creationId xmlns:a16="http://schemas.microsoft.com/office/drawing/2014/main" id="{5D59E278-CDF3-45C7-A5DF-8369613CAF40}"/>
              </a:ext>
            </a:extLst>
          </p:cNvPr>
          <p:cNvSpPr>
            <a:spLocks xmlns:a="http://schemas.openxmlformats.org/drawingml/2006/main" noGrp="1"/>
          </p:cNvSpPr>
          <p:nvPr/>
        </p:nvSpPr>
        <p:spPr>
          <a:xfrm xmlns:a="http://schemas.openxmlformats.org/drawingml/2006/main">
            <a:off x="1104900" y="25908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111111"/>
                </a:solidFill>
              </a:defRPr>
            </a:pPr>
            <a:r>
              <a:rPr sz="1575" b="1" i="0">
                <a:solidFill>
                  <a:srgbClr val="111111"/>
                </a:solidFill>
              </a:rPr>
              <a:t>Linked benefit</a:t>
            </a:r>
          </a:p>
        </p:txBody>
      </p:sp>
      <p:sp>
        <p:nvSpPr>
          <p:cNvPr id="13" name="">
            <a:extLst xmlns:a="http://schemas.openxmlformats.org/drawingml/2006/main">
              <a:ext uri="{FF2B5EF4-FFF2-40B4-BE49-F238E27FC236}">
                <a16:creationId xmlns:a16="http://schemas.microsoft.com/office/drawing/2014/main" id="{C3D778C8-BA89-4DAE-80B5-4413A00EF1E1}"/>
              </a:ext>
            </a:extLst>
          </p:cNvPr>
          <p:cNvSpPr>
            <a:spLocks xmlns:a="http://schemas.openxmlformats.org/drawingml/2006/main" noGrp="1"/>
          </p:cNvSpPr>
          <p:nvPr/>
        </p:nvSpPr>
        <p:spPr>
          <a:xfrm xmlns:a="http://schemas.openxmlformats.org/drawingml/2006/main">
            <a:off x="1104900" y="293370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Retirement result when applicable</a:t>
            </a:r>
          </a:p>
        </p:txBody>
      </p:sp>
      <p:sp>
        <p:nvSpPr>
          <p:cNvPr id="14" name="">
            <a:extLst xmlns:a="http://schemas.openxmlformats.org/drawingml/2006/main">
              <a:ext uri="{FF2B5EF4-FFF2-40B4-BE49-F238E27FC236}">
                <a16:creationId xmlns:a16="http://schemas.microsoft.com/office/drawing/2014/main" id="{47D11432-1D5E-4F48-B081-DB0BD07D58F2}"/>
              </a:ext>
            </a:extLst>
          </p:cNvPr>
          <p:cNvSpPr>
            <a:spLocks xmlns:a="http://schemas.openxmlformats.org/drawingml/2006/main" noGrp="1"/>
          </p:cNvSpPr>
          <p:nvPr/>
        </p:nvSpPr>
        <p:spPr>
          <a:xfrm xmlns:a="http://schemas.openxmlformats.org/drawingml/2006/main">
            <a:off x="533400" y="3657600"/>
            <a:ext cx="400050" cy="400050"/>
          </a:xfrm>
          <a:prstGeom xmlns:a="http://schemas.openxmlformats.org/drawingml/2006/main" prst="roundRect">
            <a:avLst>
              <a:gd name="adj" fmla="val 19048"/>
            </a:avLst>
          </a:prstGeom>
          <a:solidFill xmlns:a="http://schemas.openxmlformats.org/drawingml/2006/main">
            <a:srgbClr val="111111"/>
          </a:solidFill>
          <a:ln xmlns:a="http://schemas.openxmlformats.org/drawingml/2006/main" w="9525">
            <a:solidFill>
              <a:srgbClr val="111111"/>
            </a:solidFill>
            <a:prstDash val="solid"/>
          </a:ln>
        </p:spPr>
      </p:sp>
      <p:sp>
        <p:nvSpPr>
          <p:cNvPr id="15" name="">
            <a:extLst xmlns:a="http://schemas.openxmlformats.org/drawingml/2006/main">
              <a:ext uri="{FF2B5EF4-FFF2-40B4-BE49-F238E27FC236}">
                <a16:creationId xmlns:a16="http://schemas.microsoft.com/office/drawing/2014/main" id="{9B720BF7-9B6D-4181-AAFF-D55F962B6D6B}"/>
              </a:ext>
            </a:extLst>
          </p:cNvPr>
          <p:cNvSpPr>
            <a:spLocks xmlns:a="http://schemas.openxmlformats.org/drawingml/2006/main" noGrp="1"/>
          </p:cNvSpPr>
          <p:nvPr/>
        </p:nvSpPr>
        <p:spPr>
          <a:xfrm xmlns:a="http://schemas.openxmlformats.org/drawingml/2006/main">
            <a:off x="533400" y="36576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6" name="">
            <a:extLst xmlns:a="http://schemas.openxmlformats.org/drawingml/2006/main">
              <a:ext uri="{FF2B5EF4-FFF2-40B4-BE49-F238E27FC236}">
                <a16:creationId xmlns:a16="http://schemas.microsoft.com/office/drawing/2014/main" id="{E60EA485-92A7-44C4-83EA-C7E37F9212EF}"/>
              </a:ext>
            </a:extLst>
          </p:cNvPr>
          <p:cNvSpPr>
            <a:spLocks xmlns:a="http://schemas.openxmlformats.org/drawingml/2006/main" noGrp="1"/>
          </p:cNvSpPr>
          <p:nvPr/>
        </p:nvSpPr>
        <p:spPr>
          <a:xfrm xmlns:a="http://schemas.openxmlformats.org/drawingml/2006/main">
            <a:off x="1104900" y="36576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111111"/>
                </a:solidFill>
              </a:defRPr>
            </a:pPr>
            <a:r>
              <a:rPr sz="1575" b="1" i="0">
                <a:solidFill>
                  <a:srgbClr val="111111"/>
                </a:solidFill>
              </a:rPr>
              <a:t>Authorized offsets</a:t>
            </a:r>
          </a:p>
        </p:txBody>
      </p:sp>
      <p:sp>
        <p:nvSpPr>
          <p:cNvPr id="17" name="">
            <a:extLst xmlns:a="http://schemas.openxmlformats.org/drawingml/2006/main">
              <a:ext uri="{FF2B5EF4-FFF2-40B4-BE49-F238E27FC236}">
                <a16:creationId xmlns:a16="http://schemas.microsoft.com/office/drawing/2014/main" id="{6C526BDD-C240-4B56-8248-FABFCD3BDF7C}"/>
              </a:ext>
            </a:extLst>
          </p:cNvPr>
          <p:cNvSpPr>
            <a:spLocks xmlns:a="http://schemas.openxmlformats.org/drawingml/2006/main" noGrp="1"/>
          </p:cNvSpPr>
          <p:nvPr/>
        </p:nvSpPr>
        <p:spPr>
          <a:xfrm xmlns:a="http://schemas.openxmlformats.org/drawingml/2006/main">
            <a:off x="1104900" y="400050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Government loans, company loans, accountabilities</a:t>
            </a:r>
          </a:p>
        </p:txBody>
      </p:sp>
      <p:sp>
        <p:nvSpPr>
          <p:cNvPr id="18" name="">
            <a:extLst xmlns:a="http://schemas.openxmlformats.org/drawingml/2006/main">
              <a:ext uri="{FF2B5EF4-FFF2-40B4-BE49-F238E27FC236}">
                <a16:creationId xmlns:a16="http://schemas.microsoft.com/office/drawing/2014/main" id="{088E2244-EA77-4E5B-B0ED-1032A3490C54}"/>
              </a:ext>
            </a:extLst>
          </p:cNvPr>
          <p:cNvSpPr>
            <a:spLocks xmlns:a="http://schemas.openxmlformats.org/drawingml/2006/main" noGrp="1"/>
          </p:cNvSpPr>
          <p:nvPr/>
        </p:nvSpPr>
        <p:spPr>
          <a:xfrm xmlns:a="http://schemas.openxmlformats.org/drawingml/2006/main">
            <a:off x="533400" y="4724400"/>
            <a:ext cx="400050" cy="400050"/>
          </a:xfrm>
          <a:prstGeom xmlns:a="http://schemas.openxmlformats.org/drawingml/2006/main" prst="roundRect">
            <a:avLst>
              <a:gd name="adj" fmla="val 19048"/>
            </a:avLst>
          </a:prstGeom>
          <a:solidFill xmlns:a="http://schemas.openxmlformats.org/drawingml/2006/main">
            <a:srgbClr val="5C2A91"/>
          </a:solidFill>
          <a:ln xmlns:a="http://schemas.openxmlformats.org/drawingml/2006/main" w="9525">
            <a:solidFill>
              <a:srgbClr val="5C2A91"/>
            </a:solidFill>
            <a:prstDash val="solid"/>
          </a:ln>
        </p:spPr>
      </p:sp>
      <p:sp>
        <p:nvSpPr>
          <p:cNvPr id="19" name="">
            <a:extLst xmlns:a="http://schemas.openxmlformats.org/drawingml/2006/main">
              <a:ext uri="{FF2B5EF4-FFF2-40B4-BE49-F238E27FC236}">
                <a16:creationId xmlns:a16="http://schemas.microsoft.com/office/drawing/2014/main" id="{F1519326-72DE-41F5-BE44-4AFCB7E8A372}"/>
              </a:ext>
            </a:extLst>
          </p:cNvPr>
          <p:cNvSpPr>
            <a:spLocks xmlns:a="http://schemas.openxmlformats.org/drawingml/2006/main" noGrp="1"/>
          </p:cNvSpPr>
          <p:nvPr/>
        </p:nvSpPr>
        <p:spPr>
          <a:xfrm xmlns:a="http://schemas.openxmlformats.org/drawingml/2006/main">
            <a:off x="533400" y="47244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20" name="">
            <a:extLst xmlns:a="http://schemas.openxmlformats.org/drawingml/2006/main">
              <a:ext uri="{FF2B5EF4-FFF2-40B4-BE49-F238E27FC236}">
                <a16:creationId xmlns:a16="http://schemas.microsoft.com/office/drawing/2014/main" id="{56491761-B15F-4ABC-A9B3-1F68EE46F0D4}"/>
              </a:ext>
            </a:extLst>
          </p:cNvPr>
          <p:cNvSpPr>
            <a:spLocks xmlns:a="http://schemas.openxmlformats.org/drawingml/2006/main" noGrp="1"/>
          </p:cNvSpPr>
          <p:nvPr/>
        </p:nvSpPr>
        <p:spPr>
          <a:xfrm xmlns:a="http://schemas.openxmlformats.org/drawingml/2006/main">
            <a:off x="1104900" y="47244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016"/>
          </a:bodyPr>
          <a:lstStyle xmlns:a="http://schemas.openxmlformats.org/drawingml/2006/main"/>
          <a:p xmlns:a="http://schemas.openxmlformats.org/drawingml/2006/main">
            <a:pPr algn="l">
              <a:defRPr sz="1575" b="1" i="0">
                <a:solidFill>
                  <a:srgbClr val="5C2A91"/>
                </a:solidFill>
              </a:defRPr>
            </a:pPr>
            <a:r>
              <a:rPr sz="1575" b="1" i="0">
                <a:solidFill>
                  <a:srgbClr val="5C2A91"/>
                </a:solidFill>
              </a:rPr>
              <a:t>Tax + net</a:t>
            </a:r>
          </a:p>
        </p:txBody>
      </p:sp>
      <p:sp>
        <p:nvSpPr>
          <p:cNvPr id="21" name="">
            <a:extLst xmlns:a="http://schemas.openxmlformats.org/drawingml/2006/main">
              <a:ext uri="{FF2B5EF4-FFF2-40B4-BE49-F238E27FC236}">
                <a16:creationId xmlns:a16="http://schemas.microsoft.com/office/drawing/2014/main" id="{AB521B25-6FE8-4C13-AC91-E42A29462ED5}"/>
              </a:ext>
            </a:extLst>
          </p:cNvPr>
          <p:cNvSpPr>
            <a:spLocks xmlns:a="http://schemas.openxmlformats.org/drawingml/2006/main" noGrp="1"/>
          </p:cNvSpPr>
          <p:nvPr/>
        </p:nvSpPr>
        <p:spPr>
          <a:xfrm xmlns:a="http://schemas.openxmlformats.org/drawingml/2006/main">
            <a:off x="1104900" y="5067300"/>
            <a:ext cx="295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Final/annualized tax and itemized breakdown</a:t>
            </a:r>
          </a:p>
        </p:txBody>
      </p:sp>
      <p:sp>
        <p:nvSpPr>
          <p:cNvPr id="22" name="">
            <a:extLst xmlns:a="http://schemas.openxmlformats.org/drawingml/2006/main">
              <a:ext uri="{FF2B5EF4-FFF2-40B4-BE49-F238E27FC236}">
                <a16:creationId xmlns:a16="http://schemas.microsoft.com/office/drawing/2014/main" id="{E4E20BEB-02A8-42E7-BEA5-2C23340B131C}"/>
              </a:ext>
            </a:extLst>
          </p:cNvPr>
          <p:cNvSpPr>
            <a:spLocks xmlns:a="http://schemas.openxmlformats.org/drawingml/2006/main" noGrp="1"/>
          </p:cNvSpPr>
          <p:nvPr/>
        </p:nvSpPr>
        <p:spPr>
          <a:xfrm xmlns:a="http://schemas.openxmlformats.org/drawingml/2006/main">
            <a:off x="533400" y="5810250"/>
            <a:ext cx="3638550" cy="342900"/>
          </a:xfrm>
          <a:prstGeom xmlns:a="http://schemas.openxmlformats.org/drawingml/2006/main" prst="roundRect">
            <a:avLst>
              <a:gd name="adj" fmla="val 22222"/>
            </a:avLst>
          </a:prstGeom>
          <a:solidFill xmlns:a="http://schemas.openxmlformats.org/drawingml/2006/main">
            <a:srgbClr val="E7F4EE"/>
          </a:solidFill>
          <a:ln xmlns:a="http://schemas.openxmlformats.org/drawingml/2006/main" w="9525">
            <a:solidFill>
              <a:srgbClr val="167B55"/>
            </a:solidFill>
            <a:prstDash val="solid"/>
          </a:ln>
        </p:spPr>
      </p:sp>
      <p:sp>
        <p:nvSpPr>
          <p:cNvPr id="23" name="">
            <a:extLst xmlns:a="http://schemas.openxmlformats.org/drawingml/2006/main">
              <a:ext uri="{FF2B5EF4-FFF2-40B4-BE49-F238E27FC236}">
                <a16:creationId xmlns:a16="http://schemas.microsoft.com/office/drawing/2014/main" id="{70F4D4DF-A961-4FEE-8ABD-6CFDE5293F5F}"/>
              </a:ext>
            </a:extLst>
          </p:cNvPr>
          <p:cNvSpPr>
            <a:spLocks xmlns:a="http://schemas.openxmlformats.org/drawingml/2006/main" noGrp="1"/>
          </p:cNvSpPr>
          <p:nvPr/>
        </p:nvSpPr>
        <p:spPr>
          <a:xfrm xmlns:a="http://schemas.openxmlformats.org/drawingml/2006/main">
            <a:off x="666750" y="5876925"/>
            <a:ext cx="3371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ctr">
              <a:defRPr sz="1050" b="1" i="0">
                <a:solidFill>
                  <a:srgbClr val="167B55"/>
                </a:solidFill>
              </a:defRPr>
            </a:pPr>
            <a:r>
              <a:rPr sz="1050" b="1" i="0">
                <a:solidFill>
                  <a:srgbClr val="167B55"/>
                </a:solidFill>
              </a:rPr>
              <a:t>Retirement is pulled from RET—not recomputed here.</a:t>
            </a:r>
          </a:p>
        </p:txBody>
      </p:sp>
      <p:sp>
        <p:nvSpPr>
          <p:cNvPr id="24" name="">
            <a:extLst xmlns:a="http://schemas.openxmlformats.org/drawingml/2006/main">
              <a:ext uri="{FF2B5EF4-FFF2-40B4-BE49-F238E27FC236}">
                <a16:creationId xmlns:a16="http://schemas.microsoft.com/office/drawing/2014/main" id="{F235F320-1827-461B-BE71-5BA8ADAB8FED}"/>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BDD6A0E-A059-4C7F-917F-576FE8AAA2A2}"/>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54" name=""/>
          <p:cNvCxnSpPr>
            <a:stCxn xmlns:a="http://schemas.openxmlformats.org/drawingml/2006/main" id="24" idx="6"/>
            <a:endCxn xmlns:a="http://schemas.openxmlformats.org/drawingml/2006/main" id="25"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7" name="">
            <a:extLst xmlns:a="http://schemas.openxmlformats.org/drawingml/2006/main">
              <a:ext uri="{FF2B5EF4-FFF2-40B4-BE49-F238E27FC236}">
                <a16:creationId xmlns:a16="http://schemas.microsoft.com/office/drawing/2014/main" id="{A3D2A2C8-FCF4-466B-A1FC-0332D78917E6}"/>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FINAL PAY</a:t>
            </a:r>
          </a:p>
        </p:txBody>
      </p:sp>
      <p:sp>
        <p:nvSpPr>
          <p:cNvPr id="28" name="">
            <a:extLst xmlns:a="http://schemas.openxmlformats.org/drawingml/2006/main">
              <a:ext uri="{FF2B5EF4-FFF2-40B4-BE49-F238E27FC236}">
                <a16:creationId xmlns:a16="http://schemas.microsoft.com/office/drawing/2014/main" id="{15C2EE6D-6EBD-44E9-96C0-5007878599E9}"/>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09</a:t>
            </a:r>
          </a:p>
        </p:txBody>
      </p:sp>
    </p:spTree>
    <p:extLst>
      <p:ext uri="{BB962C8B-B14F-4D97-AF65-F5344CB8AC3E}">
        <p14:creationId xmlns:p14="http://schemas.microsoft.com/office/powerpoint/2010/main" val="858114739"/>
      </p:ext>
    </p:extLst>
  </p:cSld>
</p:sld>
</file>

<file path=ppt/slides/slide10.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2B7198C-78D3-400E-84E9-8E5FB83993C9}"/>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GROSS UP</a:t>
            </a:r>
          </a:p>
        </p:txBody>
      </p:sp>
      <p:sp>
        <p:nvSpPr>
          <p:cNvPr id="2" name="">
            <a:extLst xmlns:a="http://schemas.openxmlformats.org/drawingml/2006/main">
              <a:ext uri="{FF2B5EF4-FFF2-40B4-BE49-F238E27FC236}">
                <a16:creationId xmlns:a16="http://schemas.microsoft.com/office/drawing/2014/main" id="{EE696E33-6D04-42AF-AEE6-F4E5227E7E7C}"/>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GUP-001</a:t>
            </a:r>
          </a:p>
        </p:txBody>
      </p:sp>
      <p:sp>
        <p:nvSpPr>
          <p:cNvPr id="3" name="">
            <a:extLst xmlns:a="http://schemas.openxmlformats.org/drawingml/2006/main">
              <a:ext uri="{FF2B5EF4-FFF2-40B4-BE49-F238E27FC236}">
                <a16:creationId xmlns:a16="http://schemas.microsoft.com/office/drawing/2014/main" id="{69F85360-26D2-4BCC-8EF2-9087FC5065B3}"/>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Gross-up solves backward from the employee’s promised net</a:t>
            </a:r>
          </a:p>
        </p:txBody>
      </p:sp>
      <p:sp>
        <p:nvSpPr>
          <p:cNvPr id="4" name="">
            <a:extLst xmlns:a="http://schemas.openxmlformats.org/drawingml/2006/main">
              <a:ext uri="{FF2B5EF4-FFF2-40B4-BE49-F238E27FC236}">
                <a16:creationId xmlns:a16="http://schemas.microsoft.com/office/drawing/2014/main" id="{74C29C40-B819-4323-A19A-E3AFFC90AE01}"/>
              </a:ext>
            </a:extLst>
          </p:cNvPr>
          <p:cNvSpPr>
            <a:spLocks xmlns:a="http://schemas.openxmlformats.org/drawingml/2006/main" noGrp="1"/>
          </p:cNvSpPr>
          <p:nvPr/>
        </p:nvSpPr>
        <p:spPr>
          <a:xfrm xmlns:a="http://schemas.openxmlformats.org/drawingml/2006/main">
            <a:off x="4476750" y="1352550"/>
            <a:ext cx="7181850" cy="47625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1CFCA"/>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8601a5e1b7f43b6"/>
          <a:stretch xmlns:a="http://schemas.openxmlformats.org/drawingml/2006/main"/>
        </p:blipFill>
        <p:spPr>
          <a:xfrm xmlns:a="http://schemas.openxmlformats.org/drawingml/2006/main">
            <a:off x="4943159" y="1409700"/>
            <a:ext cx="6249032" cy="4648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6F28D40-4E45-4BD0-B52C-01D31A25F04C}"/>
              </a:ext>
            </a:extLst>
          </p:cNvPr>
          <p:cNvSpPr>
            <a:spLocks xmlns:a="http://schemas.openxmlformats.org/drawingml/2006/main" noGrp="1"/>
          </p:cNvSpPr>
          <p:nvPr/>
        </p:nvSpPr>
        <p:spPr>
          <a:xfrm xmlns:a="http://schemas.openxmlformats.org/drawingml/2006/main">
            <a:off x="533400" y="1543050"/>
            <a:ext cx="1524000" cy="304800"/>
          </a:xfrm>
          <a:prstGeom xmlns:a="http://schemas.openxmlformats.org/drawingml/2006/main" prst="roundRect">
            <a:avLst>
              <a:gd name="adj" fmla="val 25000"/>
            </a:avLst>
          </a:prstGeom>
          <a:solidFill xmlns:a="http://schemas.openxmlformats.org/drawingml/2006/main">
            <a:srgbClr val="F2ECF8"/>
          </a:solidFill>
          <a:ln xmlns:a="http://schemas.openxmlformats.org/drawingml/2006/main" w="9525">
            <a:solidFill>
              <a:srgbClr val="5C2A91"/>
            </a:solidFill>
            <a:prstDash val="solid"/>
          </a:ln>
        </p:spPr>
      </p:sp>
      <p:sp>
        <p:nvSpPr>
          <p:cNvPr id="7" name="">
            <a:extLst xmlns:a="http://schemas.openxmlformats.org/drawingml/2006/main">
              <a:ext uri="{FF2B5EF4-FFF2-40B4-BE49-F238E27FC236}">
                <a16:creationId xmlns:a16="http://schemas.microsoft.com/office/drawing/2014/main" id="{61F43928-FBD0-4787-9D4B-74D162D59B64}"/>
              </a:ext>
            </a:extLst>
          </p:cNvPr>
          <p:cNvSpPr>
            <a:spLocks xmlns:a="http://schemas.openxmlformats.org/drawingml/2006/main" noGrp="1"/>
          </p:cNvSpPr>
          <p:nvPr/>
        </p:nvSpPr>
        <p:spPr>
          <a:xfrm xmlns:a="http://schemas.openxmlformats.org/drawingml/2006/main">
            <a:off x="533400" y="15430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975" b="1" i="0">
                <a:solidFill>
                  <a:srgbClr val="5C2A91"/>
                </a:solidFill>
              </a:defRPr>
            </a:pPr>
            <a:r>
              <a:rPr sz="975" b="1" i="0">
                <a:solidFill>
                  <a:srgbClr val="5C2A91"/>
                </a:solidFill>
              </a:rPr>
              <a:t>SOURCE EXAMPLE</a:t>
            </a:r>
          </a:p>
        </p:txBody>
      </p:sp>
      <p:sp>
        <p:nvSpPr>
          <p:cNvPr id="8" name="">
            <a:extLst xmlns:a="http://schemas.openxmlformats.org/drawingml/2006/main">
              <a:ext uri="{FF2B5EF4-FFF2-40B4-BE49-F238E27FC236}">
                <a16:creationId xmlns:a16="http://schemas.microsoft.com/office/drawing/2014/main" id="{E939DD67-C2CA-4B5B-A240-7BD504AD28B0}"/>
              </a:ext>
            </a:extLst>
          </p:cNvPr>
          <p:cNvSpPr>
            <a:spLocks xmlns:a="http://schemas.openxmlformats.org/drawingml/2006/main" noGrp="1"/>
          </p:cNvSpPr>
          <p:nvPr/>
        </p:nvSpPr>
        <p:spPr>
          <a:xfrm xmlns:a="http://schemas.openxmlformats.org/drawingml/2006/main">
            <a:off x="533400" y="21336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defRPr sz="1200" b="1" i="0">
                <a:solidFill>
                  <a:srgbClr val="66645F"/>
                </a:solidFill>
              </a:defRPr>
            </a:pPr>
            <a:r>
              <a:rPr sz="1200" b="1" i="0">
                <a:solidFill>
                  <a:srgbClr val="66645F"/>
                </a:solidFill>
              </a:rPr>
              <a:t>Promised net</a:t>
            </a:r>
          </a:p>
        </p:txBody>
      </p:sp>
      <p:sp>
        <p:nvSpPr>
          <p:cNvPr id="9" name="">
            <a:extLst xmlns:a="http://schemas.openxmlformats.org/drawingml/2006/main">
              <a:ext uri="{FF2B5EF4-FFF2-40B4-BE49-F238E27FC236}">
                <a16:creationId xmlns:a16="http://schemas.microsoft.com/office/drawing/2014/main" id="{09E3458A-2410-4409-A72A-6927F4B8160D}"/>
              </a:ext>
            </a:extLst>
          </p:cNvPr>
          <p:cNvSpPr>
            <a:spLocks xmlns:a="http://schemas.openxmlformats.org/drawingml/2006/main" noGrp="1"/>
          </p:cNvSpPr>
          <p:nvPr/>
        </p:nvSpPr>
        <p:spPr>
          <a:xfrm xmlns:a="http://schemas.openxmlformats.org/drawingml/2006/main">
            <a:off x="533400" y="24574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630"/>
          </a:bodyPr>
          <a:lstStyle xmlns:a="http://schemas.openxmlformats.org/drawingml/2006/main"/>
          <a:p xmlns:a="http://schemas.openxmlformats.org/drawingml/2006/main">
            <a:pPr algn="l">
              <a:defRPr sz="2700" b="1" i="0">
                <a:solidFill>
                  <a:srgbClr val="111111"/>
                </a:solidFill>
              </a:defRPr>
            </a:pPr>
            <a:r>
              <a:rPr sz="2700" b="1" i="0">
                <a:solidFill>
                  <a:srgbClr val="111111"/>
                </a:solidFill>
              </a:rPr>
              <a:t>₱10,000</a:t>
            </a:r>
          </a:p>
        </p:txBody>
      </p:sp>
      <p:sp>
        <p:nvSpPr>
          <p:cNvPr id="10" name="">
            <a:extLst xmlns:a="http://schemas.openxmlformats.org/drawingml/2006/main">
              <a:ext uri="{FF2B5EF4-FFF2-40B4-BE49-F238E27FC236}">
                <a16:creationId xmlns:a16="http://schemas.microsoft.com/office/drawing/2014/main" id="{A6F142A9-3E25-46A9-9FE2-9AA3EE831F61}"/>
              </a:ext>
            </a:extLst>
          </p:cNvPr>
          <p:cNvSpPr>
            <a:spLocks xmlns:a="http://schemas.openxmlformats.org/drawingml/2006/main" noGrp="1"/>
          </p:cNvSpPr>
          <p:nvPr/>
        </p:nvSpPr>
        <p:spPr>
          <a:xfrm xmlns:a="http://schemas.openxmlformats.org/drawingml/2006/main">
            <a:off x="533400" y="30480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000"/>
          </a:bodyPr>
          <a:lstStyle xmlns:a="http://schemas.openxmlformats.org/drawingml/2006/main"/>
          <a:p xmlns:a="http://schemas.openxmlformats.org/drawingml/2006/main">
            <a:pPr algn="l">
              <a:defRPr sz="2250" b="1" i="0">
                <a:solidFill>
                  <a:srgbClr val="5C2A91"/>
                </a:solidFill>
              </a:defRPr>
            </a:pPr>
            <a:r>
              <a:rPr sz="2250" b="1" i="0">
                <a:solidFill>
                  <a:srgbClr val="5C2A91"/>
                </a:solidFill>
              </a:rPr>
              <a:t>÷  (1 − 20%)</a:t>
            </a:r>
          </a:p>
        </p:txBody>
      </p:sp>
      <p:sp>
        <p:nvSpPr>
          <p:cNvPr id="11" name="">
            <a:extLst xmlns:a="http://schemas.openxmlformats.org/drawingml/2006/main">
              <a:ext uri="{FF2B5EF4-FFF2-40B4-BE49-F238E27FC236}">
                <a16:creationId xmlns:a16="http://schemas.microsoft.com/office/drawing/2014/main" id="{5C936BC8-9C94-48A9-A088-3C1AE7726125}"/>
              </a:ext>
            </a:extLst>
          </p:cNvPr>
          <p:cNvSpPr>
            <a:spLocks xmlns:a="http://schemas.openxmlformats.org/drawingml/2006/main" noGrp="1"/>
          </p:cNvSpPr>
          <p:nvPr/>
        </p:nvSpPr>
        <p:spPr>
          <a:xfrm xmlns:a="http://schemas.openxmlformats.org/drawingml/2006/main">
            <a:off x="533400" y="36385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026"/>
          </a:bodyPr>
          <a:lstStyle xmlns:a="http://schemas.openxmlformats.org/drawingml/2006/main"/>
          <a:p xmlns:a="http://schemas.openxmlformats.org/drawingml/2006/main">
            <a:pPr algn="l">
              <a:defRPr sz="1950" b="1" i="0">
                <a:solidFill>
                  <a:srgbClr val="111111"/>
                </a:solidFill>
              </a:defRPr>
            </a:pPr>
            <a:r>
              <a:rPr sz="1950" b="1" i="0">
                <a:solidFill>
                  <a:srgbClr val="111111"/>
                </a:solidFill>
              </a:rPr>
              <a:t>Gross required  ₱12,500</a:t>
            </a:r>
          </a:p>
        </p:txBody>
      </p:sp>
      <p:sp>
        <p:nvSpPr>
          <p:cNvPr id="12" name="">
            <a:extLst xmlns:a="http://schemas.openxmlformats.org/drawingml/2006/main">
              <a:ext uri="{FF2B5EF4-FFF2-40B4-BE49-F238E27FC236}">
                <a16:creationId xmlns:a16="http://schemas.microsoft.com/office/drawing/2014/main" id="{2B967264-2F42-4160-8B86-4497D347AF7C}"/>
              </a:ext>
            </a:extLst>
          </p:cNvPr>
          <p:cNvSpPr>
            <a:spLocks xmlns:a="http://schemas.openxmlformats.org/drawingml/2006/main" noGrp="1"/>
          </p:cNvSpPr>
          <p:nvPr/>
        </p:nvSpPr>
        <p:spPr>
          <a:xfrm xmlns:a="http://schemas.openxmlformats.org/drawingml/2006/main">
            <a:off x="533400" y="41148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defRPr sz="1500" b="0" i="0">
                <a:solidFill>
                  <a:srgbClr val="66645F"/>
                </a:solidFill>
              </a:defRPr>
            </a:pPr>
            <a:r>
              <a:rPr sz="1500" b="0" i="0">
                <a:solidFill>
                  <a:srgbClr val="66645F"/>
                </a:solidFill>
              </a:rPr>
              <a:t>Employer tax  ₱2,500</a:t>
            </a:r>
          </a:p>
        </p:txBody>
      </p:sp>
      <p:sp>
        <p:nvSpPr>
          <p:cNvPr id="13" name="">
            <a:extLst xmlns:a="http://schemas.openxmlformats.org/drawingml/2006/main">
              <a:ext uri="{FF2B5EF4-FFF2-40B4-BE49-F238E27FC236}">
                <a16:creationId xmlns:a16="http://schemas.microsoft.com/office/drawing/2014/main" id="{7786D197-477B-4C76-AC55-DFB49C5E0C1F}"/>
              </a:ext>
            </a:extLst>
          </p:cNvPr>
          <p:cNvSpPr>
            <a:spLocks xmlns:a="http://schemas.openxmlformats.org/drawingml/2006/main" noGrp="1"/>
          </p:cNvSpPr>
          <p:nvPr/>
        </p:nvSpPr>
        <p:spPr>
          <a:xfrm xmlns:a="http://schemas.openxmlformats.org/drawingml/2006/main">
            <a:off x="533400" y="474345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C19095-FEC5-4187-8A7A-B5032E15E71F}"/>
              </a:ext>
            </a:extLst>
          </p:cNvPr>
          <p:cNvSpPr>
            <a:spLocks xmlns:a="http://schemas.openxmlformats.org/drawingml/2006/main" noGrp="1"/>
          </p:cNvSpPr>
          <p:nvPr/>
        </p:nvSpPr>
        <p:spPr>
          <a:xfrm xmlns:a="http://schemas.openxmlformats.org/drawingml/2006/main">
            <a:off x="3886200" y="474345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36" name=""/>
          <p:cNvCxnSpPr>
            <a:stCxn xmlns:a="http://schemas.openxmlformats.org/drawingml/2006/main" id="13" idx="6"/>
            <a:endCxn xmlns:a="http://schemas.openxmlformats.org/drawingml/2006/main" id="14" idx="2"/>
          </p:cNvCxnSpPr>
          <p:nvPr/>
        </p:nvCxnSpPr>
        <p:spPr>
          <a:xfrm xmlns:a="http://schemas.openxmlformats.org/drawingml/2006/main">
            <a:off x="542925" y="4748213"/>
            <a:ext cx="3343275" cy="0"/>
          </a:xfrm>
          <a:prstGeom xmlns:a="http://schemas.openxmlformats.org/drawingml/2006/main" prst="straightConnector1">
            <a:avLst/>
          </a:prstGeom>
          <a:ln xmlns:a="http://schemas.openxmlformats.org/drawingml/2006/main" w="9525">
            <a:solidFill>
              <a:srgbClr val="D1CFCA"/>
            </a:solidFill>
            <a:prstDash val="solid"/>
          </a:ln>
        </p:spPr>
      </p:cxnSp>
      <p:sp>
        <p:nvSpPr>
          <p:cNvPr id="16" name="">
            <a:extLst xmlns:a="http://schemas.openxmlformats.org/drawingml/2006/main">
              <a:ext uri="{FF2B5EF4-FFF2-40B4-BE49-F238E27FC236}">
                <a16:creationId xmlns:a16="http://schemas.microsoft.com/office/drawing/2014/main" id="{8588F5BE-0ECE-4454-B623-180C8B2EF12B}"/>
              </a:ext>
            </a:extLst>
          </p:cNvPr>
          <p:cNvSpPr>
            <a:spLocks xmlns:a="http://schemas.openxmlformats.org/drawingml/2006/main" noGrp="1"/>
          </p:cNvSpPr>
          <p:nvPr/>
        </p:nvSpPr>
        <p:spPr>
          <a:xfrm xmlns:a="http://schemas.openxmlformats.org/drawingml/2006/main">
            <a:off x="533400" y="4972050"/>
            <a:ext cx="3371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5000"/>
              </a:lnSpc>
              <a:buNone/>
              <a:defRPr sz="1275" b="0" i="0">
                <a:solidFill>
                  <a:srgbClr val="66645F"/>
                </a:solidFill>
              </a:defRPr>
            </a:pPr>
            <a:r>
              <a:rPr sz="1275" b="0" i="0">
                <a:solidFill>
                  <a:srgbClr val="66645F"/>
                </a:solidFill>
              </a:rPr>
              <a:t>The production flow uses the active tax table and iterates until the net converges within tolerance.</a:t>
            </a:r>
          </a:p>
        </p:txBody>
      </p:sp>
      <p:sp>
        <p:nvSpPr>
          <p:cNvPr id="17" name="">
            <a:extLst xmlns:a="http://schemas.openxmlformats.org/drawingml/2006/main">
              <a:ext uri="{FF2B5EF4-FFF2-40B4-BE49-F238E27FC236}">
                <a16:creationId xmlns:a16="http://schemas.microsoft.com/office/drawing/2014/main" id="{A5204765-7AE8-4E3B-8284-D61A7B29B3C8}"/>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DA97A87-DED6-4E02-BCF4-BCBCD53A55E2}"/>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40" name=""/>
          <p:cNvCxnSpPr>
            <a:stCxn xmlns:a="http://schemas.openxmlformats.org/drawingml/2006/main" id="17" idx="6"/>
            <a:endCxn xmlns:a="http://schemas.openxmlformats.org/drawingml/2006/main" id="18"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0" name="">
            <a:extLst xmlns:a="http://schemas.openxmlformats.org/drawingml/2006/main">
              <a:ext uri="{FF2B5EF4-FFF2-40B4-BE49-F238E27FC236}">
                <a16:creationId xmlns:a16="http://schemas.microsoft.com/office/drawing/2014/main" id="{DCAB23A9-8114-4C65-8D6A-9BEDB70FF057}"/>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GROSS UP</a:t>
            </a:r>
          </a:p>
        </p:txBody>
      </p:sp>
      <p:sp>
        <p:nvSpPr>
          <p:cNvPr id="21" name="">
            <a:extLst xmlns:a="http://schemas.openxmlformats.org/drawingml/2006/main">
              <a:ext uri="{FF2B5EF4-FFF2-40B4-BE49-F238E27FC236}">
                <a16:creationId xmlns:a16="http://schemas.microsoft.com/office/drawing/2014/main" id="{635820C3-8033-403E-A857-BFD44DE1A72D}"/>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10</a:t>
            </a:r>
          </a:p>
        </p:txBody>
      </p:sp>
    </p:spTree>
    <p:extLst>
      <p:ext uri="{BB962C8B-B14F-4D97-AF65-F5344CB8AC3E}">
        <p14:creationId xmlns:p14="http://schemas.microsoft.com/office/powerpoint/2010/main" val="1988067621"/>
      </p:ext>
    </p:extLst>
  </p:cSld>
</p:sld>
</file>

<file path=ppt/slides/slide11.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8054D86-AA3C-43D5-9E7F-862DE0B61811}"/>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COMPANY CALCULATIONS</a:t>
            </a:r>
          </a:p>
        </p:txBody>
      </p:sp>
      <p:sp>
        <p:nvSpPr>
          <p:cNvPr id="2" name="">
            <a:extLst xmlns:a="http://schemas.openxmlformats.org/drawingml/2006/main">
              <a:ext uri="{FF2B5EF4-FFF2-40B4-BE49-F238E27FC236}">
                <a16:creationId xmlns:a16="http://schemas.microsoft.com/office/drawing/2014/main" id="{0959E7B8-2C04-4301-A5D1-BE1AECD37D3A}"/>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CONTROLLED FLEXIBILITY</a:t>
            </a:r>
          </a:p>
        </p:txBody>
      </p:sp>
      <p:sp>
        <p:nvSpPr>
          <p:cNvPr id="3" name="">
            <a:extLst xmlns:a="http://schemas.openxmlformats.org/drawingml/2006/main">
              <a:ext uri="{FF2B5EF4-FFF2-40B4-BE49-F238E27FC236}">
                <a16:creationId xmlns:a16="http://schemas.microsoft.com/office/drawing/2014/main" id="{A36E89E0-50E3-4380-AF4F-FE9F73193483}"/>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Clients can create a calculation without changing the standard library</a:t>
            </a:r>
          </a:p>
        </p:txBody>
      </p:sp>
      <p:sp>
        <p:nvSpPr>
          <p:cNvPr id="4" name="">
            <a:extLst xmlns:a="http://schemas.openxmlformats.org/drawingml/2006/main">
              <a:ext uri="{FF2B5EF4-FFF2-40B4-BE49-F238E27FC236}">
                <a16:creationId xmlns:a16="http://schemas.microsoft.com/office/drawing/2014/main" id="{0C78FE49-46B6-4D38-A3C3-46D28E50A7A4}"/>
              </a:ext>
            </a:extLst>
          </p:cNvPr>
          <p:cNvSpPr>
            <a:spLocks xmlns:a="http://schemas.openxmlformats.org/drawingml/2006/main" noGrp="1"/>
          </p:cNvSpPr>
          <p:nvPr/>
        </p:nvSpPr>
        <p:spPr>
          <a:xfrm xmlns:a="http://schemas.openxmlformats.org/drawingml/2006/main">
            <a:off x="4457700" y="1352550"/>
            <a:ext cx="7200900" cy="47625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1CFCA"/>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5c3048311574e02"/>
          <a:stretch xmlns:a="http://schemas.openxmlformats.org/drawingml/2006/main"/>
        </p:blipFill>
        <p:spPr>
          <a:xfrm xmlns:a="http://schemas.openxmlformats.org/drawingml/2006/main">
            <a:off x="4933229" y="1409700"/>
            <a:ext cx="6249841" cy="4648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1A8283E-347F-4970-A7C2-D9C36735ADD2}"/>
              </a:ext>
            </a:extLst>
          </p:cNvPr>
          <p:cNvSpPr>
            <a:spLocks xmlns:a="http://schemas.openxmlformats.org/drawingml/2006/main" noGrp="1"/>
          </p:cNvSpPr>
          <p:nvPr/>
        </p:nvSpPr>
        <p:spPr>
          <a:xfrm xmlns:a="http://schemas.openxmlformats.org/drawingml/2006/main">
            <a:off x="533400" y="1638300"/>
            <a:ext cx="495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9050">
            <a:solidFill>
              <a:srgbClr val="5C2A91"/>
            </a:solidFill>
            <a:prstDash val="solid"/>
          </a:ln>
        </p:spPr>
      </p:sp>
      <p:sp>
        <p:nvSpPr>
          <p:cNvPr id="7" name="">
            <a:extLst xmlns:a="http://schemas.openxmlformats.org/drawingml/2006/main">
              <a:ext uri="{FF2B5EF4-FFF2-40B4-BE49-F238E27FC236}">
                <a16:creationId xmlns:a16="http://schemas.microsoft.com/office/drawing/2014/main" id="{62C6830F-755A-4D4D-8CD6-D6E40F588621}"/>
              </a:ext>
            </a:extLst>
          </p:cNvPr>
          <p:cNvSpPr>
            <a:spLocks xmlns:a="http://schemas.openxmlformats.org/drawingml/2006/main" noGrp="1"/>
          </p:cNvSpPr>
          <p:nvPr/>
        </p:nvSpPr>
        <p:spPr>
          <a:xfrm xmlns:a="http://schemas.openxmlformats.org/drawingml/2006/main">
            <a:off x="533400" y="1647825"/>
            <a:ext cx="495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500" b="1" i="0">
                <a:solidFill>
                  <a:srgbClr val="5C2A91"/>
                </a:solidFill>
              </a:defRPr>
            </a:pPr>
            <a:r>
              <a:rPr sz="1500" b="1" i="0">
                <a:solidFill>
                  <a:srgbClr val="5C2A91"/>
                </a:solidFill>
              </a:rPr>
              <a:t>01</a:t>
            </a:r>
          </a:p>
        </p:txBody>
      </p:sp>
      <p:sp>
        <p:nvSpPr>
          <p:cNvPr id="8" name="">
            <a:extLst xmlns:a="http://schemas.openxmlformats.org/drawingml/2006/main">
              <a:ext uri="{FF2B5EF4-FFF2-40B4-BE49-F238E27FC236}">
                <a16:creationId xmlns:a16="http://schemas.microsoft.com/office/drawing/2014/main" id="{2221B96B-EDE9-4B0C-B9E4-322305AEE43C}"/>
              </a:ext>
            </a:extLst>
          </p:cNvPr>
          <p:cNvSpPr>
            <a:spLocks xmlns:a="http://schemas.openxmlformats.org/drawingml/2006/main" noGrp="1"/>
          </p:cNvSpPr>
          <p:nvPr/>
        </p:nvSpPr>
        <p:spPr>
          <a:xfrm xmlns:a="http://schemas.openxmlformats.org/drawingml/2006/main">
            <a:off x="1219200" y="167640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500" b="1" i="0">
                <a:solidFill>
                  <a:srgbClr val="111111"/>
                </a:solidFill>
              </a:defRPr>
            </a:pPr>
            <a:r>
              <a:rPr sz="1500" b="1" i="0">
                <a:solidFill>
                  <a:srgbClr val="111111"/>
                </a:solidFill>
              </a:rPr>
              <a:t>Choose approved payroll fields</a:t>
            </a:r>
          </a:p>
        </p:txBody>
      </p:sp>
      <p:sp>
        <p:nvSpPr>
          <p:cNvPr id="9" name="">
            <a:extLst xmlns:a="http://schemas.openxmlformats.org/drawingml/2006/main">
              <a:ext uri="{FF2B5EF4-FFF2-40B4-BE49-F238E27FC236}">
                <a16:creationId xmlns:a16="http://schemas.microsoft.com/office/drawing/2014/main" id="{49E87135-9FF5-4600-9BF3-73535029E423}"/>
              </a:ext>
            </a:extLst>
          </p:cNvPr>
          <p:cNvSpPr>
            <a:spLocks xmlns:a="http://schemas.openxmlformats.org/drawingml/2006/main" noGrp="1"/>
          </p:cNvSpPr>
          <p:nvPr/>
        </p:nvSpPr>
        <p:spPr>
          <a:xfrm xmlns:a="http://schemas.openxmlformats.org/drawingml/2006/main">
            <a:off x="533400" y="2514600"/>
            <a:ext cx="495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9050">
            <a:solidFill>
              <a:srgbClr val="5C2A91"/>
            </a:solidFill>
            <a:prstDash val="solid"/>
          </a:ln>
        </p:spPr>
      </p:sp>
      <p:sp>
        <p:nvSpPr>
          <p:cNvPr id="10" name="">
            <a:extLst xmlns:a="http://schemas.openxmlformats.org/drawingml/2006/main">
              <a:ext uri="{FF2B5EF4-FFF2-40B4-BE49-F238E27FC236}">
                <a16:creationId xmlns:a16="http://schemas.microsoft.com/office/drawing/2014/main" id="{492DDEE6-6BEA-4727-929C-59B1394DCC39}"/>
              </a:ext>
            </a:extLst>
          </p:cNvPr>
          <p:cNvSpPr>
            <a:spLocks xmlns:a="http://schemas.openxmlformats.org/drawingml/2006/main" noGrp="1"/>
          </p:cNvSpPr>
          <p:nvPr/>
        </p:nvSpPr>
        <p:spPr>
          <a:xfrm xmlns:a="http://schemas.openxmlformats.org/drawingml/2006/main">
            <a:off x="533400" y="2524125"/>
            <a:ext cx="495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500" b="1" i="0">
                <a:solidFill>
                  <a:srgbClr val="5C2A91"/>
                </a:solidFill>
              </a:defRPr>
            </a:pPr>
            <a:r>
              <a:rPr sz="1500" b="1" i="0">
                <a:solidFill>
                  <a:srgbClr val="5C2A91"/>
                </a:solidFill>
              </a:rPr>
              <a:t>02</a:t>
            </a:r>
          </a:p>
        </p:txBody>
      </p:sp>
      <p:sp>
        <p:nvSpPr>
          <p:cNvPr id="11" name="">
            <a:extLst xmlns:a="http://schemas.openxmlformats.org/drawingml/2006/main">
              <a:ext uri="{FF2B5EF4-FFF2-40B4-BE49-F238E27FC236}">
                <a16:creationId xmlns:a16="http://schemas.microsoft.com/office/drawing/2014/main" id="{8C23F0FE-FC46-49AA-8895-53A3B47B1CCA}"/>
              </a:ext>
            </a:extLst>
          </p:cNvPr>
          <p:cNvSpPr>
            <a:spLocks xmlns:a="http://schemas.openxmlformats.org/drawingml/2006/main" noGrp="1"/>
          </p:cNvSpPr>
          <p:nvPr/>
        </p:nvSpPr>
        <p:spPr>
          <a:xfrm xmlns:a="http://schemas.openxmlformats.org/drawingml/2006/main">
            <a:off x="1219200" y="255270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500" b="1" i="0">
                <a:solidFill>
                  <a:srgbClr val="111111"/>
                </a:solidFill>
              </a:defRPr>
            </a:pPr>
            <a:r>
              <a:rPr sz="1500" b="1" i="0">
                <a:solidFill>
                  <a:srgbClr val="111111"/>
                </a:solidFill>
              </a:rPr>
              <a:t>Build with allowed operators</a:t>
            </a:r>
          </a:p>
        </p:txBody>
      </p:sp>
      <p:sp>
        <p:nvSpPr>
          <p:cNvPr id="12" name="">
            <a:extLst xmlns:a="http://schemas.openxmlformats.org/drawingml/2006/main">
              <a:ext uri="{FF2B5EF4-FFF2-40B4-BE49-F238E27FC236}">
                <a16:creationId xmlns:a16="http://schemas.microsoft.com/office/drawing/2014/main" id="{A473043E-0BDD-4815-94B9-5C8BAB4B5B19}"/>
              </a:ext>
            </a:extLst>
          </p:cNvPr>
          <p:cNvSpPr>
            <a:spLocks xmlns:a="http://schemas.openxmlformats.org/drawingml/2006/main" noGrp="1"/>
          </p:cNvSpPr>
          <p:nvPr/>
        </p:nvSpPr>
        <p:spPr>
          <a:xfrm xmlns:a="http://schemas.openxmlformats.org/drawingml/2006/main">
            <a:off x="533400" y="3390900"/>
            <a:ext cx="495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9050">
            <a:solidFill>
              <a:srgbClr val="167B55"/>
            </a:solidFill>
            <a:prstDash val="solid"/>
          </a:ln>
        </p:spPr>
      </p:sp>
      <p:sp>
        <p:nvSpPr>
          <p:cNvPr id="13" name="">
            <a:extLst xmlns:a="http://schemas.openxmlformats.org/drawingml/2006/main">
              <a:ext uri="{FF2B5EF4-FFF2-40B4-BE49-F238E27FC236}">
                <a16:creationId xmlns:a16="http://schemas.microsoft.com/office/drawing/2014/main" id="{B7BE413B-CF1E-4814-859A-5F7250CE73BA}"/>
              </a:ext>
            </a:extLst>
          </p:cNvPr>
          <p:cNvSpPr>
            <a:spLocks xmlns:a="http://schemas.openxmlformats.org/drawingml/2006/main" noGrp="1"/>
          </p:cNvSpPr>
          <p:nvPr/>
        </p:nvSpPr>
        <p:spPr>
          <a:xfrm xmlns:a="http://schemas.openxmlformats.org/drawingml/2006/main">
            <a:off x="533400" y="3400425"/>
            <a:ext cx="495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500" b="1" i="0">
                <a:solidFill>
                  <a:srgbClr val="167B55"/>
                </a:solidFill>
              </a:defRPr>
            </a:pPr>
            <a:r>
              <a:rPr sz="1500" b="1" i="0">
                <a:solidFill>
                  <a:srgbClr val="167B55"/>
                </a:solidFill>
              </a:rPr>
              <a:t>03</a:t>
            </a:r>
          </a:p>
        </p:txBody>
      </p:sp>
      <p:sp>
        <p:nvSpPr>
          <p:cNvPr id="14" name="">
            <a:extLst xmlns:a="http://schemas.openxmlformats.org/drawingml/2006/main">
              <a:ext uri="{FF2B5EF4-FFF2-40B4-BE49-F238E27FC236}">
                <a16:creationId xmlns:a16="http://schemas.microsoft.com/office/drawing/2014/main" id="{FE44D135-52D1-4432-89D7-EA7196876F47}"/>
              </a:ext>
            </a:extLst>
          </p:cNvPr>
          <p:cNvSpPr>
            <a:spLocks xmlns:a="http://schemas.openxmlformats.org/drawingml/2006/main" noGrp="1"/>
          </p:cNvSpPr>
          <p:nvPr/>
        </p:nvSpPr>
        <p:spPr>
          <a:xfrm xmlns:a="http://schemas.openxmlformats.org/drawingml/2006/main">
            <a:off x="1219200" y="342900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8732"/>
          </a:bodyPr>
          <a:lstStyle xmlns:a="http://schemas.openxmlformats.org/drawingml/2006/main"/>
          <a:p xmlns:a="http://schemas.openxmlformats.org/drawingml/2006/main">
            <a:pPr algn="l">
              <a:defRPr sz="1500" b="1" i="0">
                <a:solidFill>
                  <a:srgbClr val="111111"/>
                </a:solidFill>
              </a:defRPr>
            </a:pPr>
            <a:r>
              <a:rPr sz="1500" b="1" i="0">
                <a:solidFill>
                  <a:srgbClr val="111111"/>
                </a:solidFill>
              </a:rPr>
              <a:t>Validate and test the expression</a:t>
            </a:r>
          </a:p>
        </p:txBody>
      </p:sp>
      <p:sp>
        <p:nvSpPr>
          <p:cNvPr id="15" name="">
            <a:extLst xmlns:a="http://schemas.openxmlformats.org/drawingml/2006/main">
              <a:ext uri="{FF2B5EF4-FFF2-40B4-BE49-F238E27FC236}">
                <a16:creationId xmlns:a16="http://schemas.microsoft.com/office/drawing/2014/main" id="{8CBC51F7-30A9-4799-93DE-E065738152DD}"/>
              </a:ext>
            </a:extLst>
          </p:cNvPr>
          <p:cNvSpPr>
            <a:spLocks xmlns:a="http://schemas.openxmlformats.org/drawingml/2006/main" noGrp="1"/>
          </p:cNvSpPr>
          <p:nvPr/>
        </p:nvSpPr>
        <p:spPr>
          <a:xfrm xmlns:a="http://schemas.openxmlformats.org/drawingml/2006/main">
            <a:off x="533400" y="4267200"/>
            <a:ext cx="4953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9050">
            <a:solidFill>
              <a:srgbClr val="5C2A91"/>
            </a:solidFill>
            <a:prstDash val="solid"/>
          </a:ln>
        </p:spPr>
      </p:sp>
      <p:sp>
        <p:nvSpPr>
          <p:cNvPr id="16" name="">
            <a:extLst xmlns:a="http://schemas.openxmlformats.org/drawingml/2006/main">
              <a:ext uri="{FF2B5EF4-FFF2-40B4-BE49-F238E27FC236}">
                <a16:creationId xmlns:a16="http://schemas.microsoft.com/office/drawing/2014/main" id="{C86132C7-4526-424B-8612-058062AFDE4B}"/>
              </a:ext>
            </a:extLst>
          </p:cNvPr>
          <p:cNvSpPr>
            <a:spLocks xmlns:a="http://schemas.openxmlformats.org/drawingml/2006/main" noGrp="1"/>
          </p:cNvSpPr>
          <p:nvPr/>
        </p:nvSpPr>
        <p:spPr>
          <a:xfrm xmlns:a="http://schemas.openxmlformats.org/drawingml/2006/main">
            <a:off x="533400" y="4276725"/>
            <a:ext cx="495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500" b="1" i="0">
                <a:solidFill>
                  <a:srgbClr val="5C2A91"/>
                </a:solidFill>
              </a:defRPr>
            </a:pPr>
            <a:r>
              <a:rPr sz="1500" b="1" i="0">
                <a:solidFill>
                  <a:srgbClr val="5C2A91"/>
                </a:solidFill>
              </a:rPr>
              <a:t>04</a:t>
            </a:r>
          </a:p>
        </p:txBody>
      </p:sp>
      <p:sp>
        <p:nvSpPr>
          <p:cNvPr id="17" name="">
            <a:extLst xmlns:a="http://schemas.openxmlformats.org/drawingml/2006/main">
              <a:ext uri="{FF2B5EF4-FFF2-40B4-BE49-F238E27FC236}">
                <a16:creationId xmlns:a16="http://schemas.microsoft.com/office/drawing/2014/main" id="{772929C3-8520-4DAC-BA19-C89AFE7EAE88}"/>
              </a:ext>
            </a:extLst>
          </p:cNvPr>
          <p:cNvSpPr>
            <a:spLocks xmlns:a="http://schemas.openxmlformats.org/drawingml/2006/main" noGrp="1"/>
          </p:cNvSpPr>
          <p:nvPr/>
        </p:nvSpPr>
        <p:spPr>
          <a:xfrm xmlns:a="http://schemas.openxmlformats.org/drawingml/2006/main">
            <a:off x="1219200" y="430530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8882"/>
          </a:bodyPr>
          <a:lstStyle xmlns:a="http://schemas.openxmlformats.org/drawingml/2006/main"/>
          <a:p xmlns:a="http://schemas.openxmlformats.org/drawingml/2006/main">
            <a:pPr algn="l">
              <a:defRPr sz="1500" b="1" i="0">
                <a:solidFill>
                  <a:srgbClr val="111111"/>
                </a:solidFill>
              </a:defRPr>
            </a:pPr>
            <a:r>
              <a:rPr sz="1500" b="1" i="0">
                <a:solidFill>
                  <a:srgbClr val="111111"/>
                </a:solidFill>
              </a:rPr>
              <a:t>Save as company-owned and assign</a:t>
            </a:r>
          </a:p>
        </p:txBody>
      </p:sp>
      <p:sp>
        <p:nvSpPr>
          <p:cNvPr id="18" name="">
            <a:extLst xmlns:a="http://schemas.openxmlformats.org/drawingml/2006/main">
              <a:ext uri="{FF2B5EF4-FFF2-40B4-BE49-F238E27FC236}">
                <a16:creationId xmlns:a16="http://schemas.microsoft.com/office/drawing/2014/main" id="{E88F4F2C-7C33-4C9A-8BF6-B29FF24C8AA3}"/>
              </a:ext>
            </a:extLst>
          </p:cNvPr>
          <p:cNvSpPr>
            <a:spLocks xmlns:a="http://schemas.openxmlformats.org/drawingml/2006/main" noGrp="1"/>
          </p:cNvSpPr>
          <p:nvPr/>
        </p:nvSpPr>
        <p:spPr>
          <a:xfrm xmlns:a="http://schemas.openxmlformats.org/drawingml/2006/main">
            <a:off x="533400" y="5295900"/>
            <a:ext cx="3333750" cy="723900"/>
          </a:xfrm>
          <a:prstGeom xmlns:a="http://schemas.openxmlformats.org/drawingml/2006/main" prst="roundRect">
            <a:avLst>
              <a:gd name="adj" fmla="val 10526"/>
            </a:avLst>
          </a:prstGeom>
          <a:solidFill xmlns:a="http://schemas.openxmlformats.org/drawingml/2006/main">
            <a:srgbClr val="F2ECF8"/>
          </a:solidFill>
          <a:ln xmlns:a="http://schemas.openxmlformats.org/drawingml/2006/main" w="9525">
            <a:solidFill>
              <a:srgbClr val="5C2A91"/>
            </a:solidFill>
            <a:prstDash val="solid"/>
          </a:ln>
        </p:spPr>
      </p:sp>
      <p:sp>
        <p:nvSpPr>
          <p:cNvPr id="19" name="">
            <a:extLst xmlns:a="http://schemas.openxmlformats.org/drawingml/2006/main">
              <a:ext uri="{FF2B5EF4-FFF2-40B4-BE49-F238E27FC236}">
                <a16:creationId xmlns:a16="http://schemas.microsoft.com/office/drawing/2014/main" id="{61C09F98-5A4C-4D69-9FEA-B3463E4113AF}"/>
              </a:ext>
            </a:extLst>
          </p:cNvPr>
          <p:cNvSpPr>
            <a:spLocks xmlns:a="http://schemas.openxmlformats.org/drawingml/2006/main" noGrp="1"/>
          </p:cNvSpPr>
          <p:nvPr/>
        </p:nvSpPr>
        <p:spPr>
          <a:xfrm xmlns:a="http://schemas.openxmlformats.org/drawingml/2006/main">
            <a:off x="704850" y="54292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l">
              <a:defRPr sz="1050" b="1" i="0">
                <a:solidFill>
                  <a:srgbClr val="5C2A91"/>
                </a:solidFill>
              </a:defRPr>
            </a:pPr>
            <a:r>
              <a:rPr sz="1050" b="1" i="0">
                <a:solidFill>
                  <a:srgbClr val="5C2A91"/>
                </a:solidFill>
              </a:rPr>
              <a:t>Control boundary</a:t>
            </a:r>
          </a:p>
        </p:txBody>
      </p:sp>
      <p:sp>
        <p:nvSpPr>
          <p:cNvPr id="20" name="">
            <a:extLst xmlns:a="http://schemas.openxmlformats.org/drawingml/2006/main">
              <a:ext uri="{FF2B5EF4-FFF2-40B4-BE49-F238E27FC236}">
                <a16:creationId xmlns:a16="http://schemas.microsoft.com/office/drawing/2014/main" id="{597C8EAF-A53A-420A-853C-439C04E793A1}"/>
              </a:ext>
            </a:extLst>
          </p:cNvPr>
          <p:cNvSpPr>
            <a:spLocks xmlns:a="http://schemas.openxmlformats.org/drawingml/2006/main" noGrp="1"/>
          </p:cNvSpPr>
          <p:nvPr/>
        </p:nvSpPr>
        <p:spPr>
          <a:xfrm xmlns:a="http://schemas.openxmlformats.org/drawingml/2006/main">
            <a:off x="704850" y="56864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5297"/>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Built-ins stay read-only; company-owned formulas are editable.</a:t>
            </a:r>
          </a:p>
        </p:txBody>
      </p:sp>
      <p:sp>
        <p:nvSpPr>
          <p:cNvPr id="21" name="">
            <a:extLst xmlns:a="http://schemas.openxmlformats.org/drawingml/2006/main">
              <a:ext uri="{FF2B5EF4-FFF2-40B4-BE49-F238E27FC236}">
                <a16:creationId xmlns:a16="http://schemas.microsoft.com/office/drawing/2014/main" id="{86DB7953-37E6-447D-BB6E-D7DF4843ED57}"/>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AD9D53-7DB1-4329-A6FB-3291B43C246B}"/>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48" name=""/>
          <p:cNvCxnSpPr>
            <a:stCxn xmlns:a="http://schemas.openxmlformats.org/drawingml/2006/main" id="21" idx="6"/>
            <a:endCxn xmlns:a="http://schemas.openxmlformats.org/drawingml/2006/main" id="22"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4" name="">
            <a:extLst xmlns:a="http://schemas.openxmlformats.org/drawingml/2006/main">
              <a:ext uri="{FF2B5EF4-FFF2-40B4-BE49-F238E27FC236}">
                <a16:creationId xmlns:a16="http://schemas.microsoft.com/office/drawing/2014/main" id="{1A55B1EB-EE25-4F7D-B5E8-3DA72E9DED8E}"/>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CUSTOM COMPUTATION</a:t>
            </a:r>
          </a:p>
        </p:txBody>
      </p:sp>
      <p:sp>
        <p:nvSpPr>
          <p:cNvPr id="25" name="">
            <a:extLst xmlns:a="http://schemas.openxmlformats.org/drawingml/2006/main">
              <a:ext uri="{FF2B5EF4-FFF2-40B4-BE49-F238E27FC236}">
                <a16:creationId xmlns:a16="http://schemas.microsoft.com/office/drawing/2014/main" id="{6A982E62-5218-4A67-8A85-BC2E42DFE40A}"/>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11</a:t>
            </a:r>
          </a:p>
        </p:txBody>
      </p:sp>
    </p:spTree>
    <p:extLst>
      <p:ext uri="{BB962C8B-B14F-4D97-AF65-F5344CB8AC3E}">
        <p14:creationId xmlns:p14="http://schemas.microsoft.com/office/powerpoint/2010/main" val="397317285"/>
      </p:ext>
    </p:extLst>
  </p:cSld>
</p:sld>
</file>

<file path=ppt/slides/slide12.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2764DB5-2692-4748-A99D-14D2E979C4AE}"/>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ASSIGNMENTS AND REFERENCE SOURCES</a:t>
            </a:r>
          </a:p>
        </p:txBody>
      </p:sp>
      <p:sp>
        <p:nvSpPr>
          <p:cNvPr id="2" name="">
            <a:extLst xmlns:a="http://schemas.openxmlformats.org/drawingml/2006/main">
              <a:ext uri="{FF2B5EF4-FFF2-40B4-BE49-F238E27FC236}">
                <a16:creationId xmlns:a16="http://schemas.microsoft.com/office/drawing/2014/main" id="{BEE61F2B-6DF3-4306-B9CF-FB361375551E}"/>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DATA GOVERNANCE</a:t>
            </a:r>
          </a:p>
        </p:txBody>
      </p:sp>
      <p:sp>
        <p:nvSpPr>
          <p:cNvPr id="3" name="">
            <a:extLst xmlns:a="http://schemas.openxmlformats.org/drawingml/2006/main">
              <a:ext uri="{FF2B5EF4-FFF2-40B4-BE49-F238E27FC236}">
                <a16:creationId xmlns:a16="http://schemas.microsoft.com/office/drawing/2014/main" id="{603B702C-1A2F-4622-990C-82AA91A458CA}"/>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The formula, its effective data, and its audience remain separately controlled</a:t>
            </a:r>
          </a:p>
        </p:txBody>
      </p:sp>
      <p:sp>
        <p:nvSpPr>
          <p:cNvPr id="4" name="">
            <a:extLst xmlns:a="http://schemas.openxmlformats.org/drawingml/2006/main">
              <a:ext uri="{FF2B5EF4-FFF2-40B4-BE49-F238E27FC236}">
                <a16:creationId xmlns:a16="http://schemas.microsoft.com/office/drawing/2014/main" id="{55A40120-E89A-47B1-A5BE-526B5E299B86}"/>
              </a:ext>
            </a:extLst>
          </p:cNvPr>
          <p:cNvSpPr>
            <a:spLocks xmlns:a="http://schemas.openxmlformats.org/drawingml/2006/main" noGrp="1"/>
          </p:cNvSpPr>
          <p:nvPr/>
        </p:nvSpPr>
        <p:spPr>
          <a:xfrm xmlns:a="http://schemas.openxmlformats.org/drawingml/2006/main">
            <a:off x="533400" y="1562100"/>
            <a:ext cx="5314950" cy="4133850"/>
          </a:xfrm>
          <a:prstGeom xmlns:a="http://schemas.openxmlformats.org/drawingml/2006/main" prst="roundRect">
            <a:avLst>
              <a:gd name="adj" fmla="val 1843"/>
            </a:avLst>
          </a:prstGeom>
          <a:solidFill xmlns:a="http://schemas.openxmlformats.org/drawingml/2006/main">
            <a:srgbClr val="FFFFFF"/>
          </a:solidFill>
          <a:ln xmlns:a="http://schemas.openxmlformats.org/drawingml/2006/main" w="9525">
            <a:solidFill>
              <a:srgbClr val="D1CFCA"/>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13aa4c86a5342bf"/>
          <a:srcRect xmlns:a="http://schemas.openxmlformats.org/drawingml/2006/main" l="1887" t="0" r="1887" b="0"/>
          <a:stretch xmlns:a="http://schemas.openxmlformats.org/drawingml/2006/main">
            <a:fillRect l="0" t="0" r="0" b="0"/>
          </a:stretch>
        </p:blipFill>
        <p:spPr>
          <a:xfrm xmlns:a="http://schemas.openxmlformats.org/drawingml/2006/main">
            <a:off x="590550" y="1619250"/>
            <a:ext cx="5200650" cy="40195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FB5F21-EEF1-492A-9D73-B8A8B5758E1B}"/>
              </a:ext>
            </a:extLst>
          </p:cNvPr>
          <p:cNvSpPr>
            <a:spLocks xmlns:a="http://schemas.openxmlformats.org/drawingml/2006/main" noGrp="1"/>
          </p:cNvSpPr>
          <p:nvPr/>
        </p:nvSpPr>
        <p:spPr>
          <a:xfrm xmlns:a="http://schemas.openxmlformats.org/drawingml/2006/main">
            <a:off x="666750" y="1695450"/>
            <a:ext cx="18669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111111"/>
            </a:solidFill>
            <a:prstDash val="solid"/>
          </a:ln>
        </p:spPr>
      </p:sp>
      <p:sp>
        <p:nvSpPr>
          <p:cNvPr id="7" name="">
            <a:extLst xmlns:a="http://schemas.openxmlformats.org/drawingml/2006/main">
              <a:ext uri="{FF2B5EF4-FFF2-40B4-BE49-F238E27FC236}">
                <a16:creationId xmlns:a16="http://schemas.microsoft.com/office/drawing/2014/main" id="{ED8A6356-6A40-4F99-A59E-1AE4FB508DA0}"/>
              </a:ext>
            </a:extLst>
          </p:cNvPr>
          <p:cNvSpPr>
            <a:spLocks xmlns:a="http://schemas.openxmlformats.org/drawingml/2006/main" noGrp="1"/>
          </p:cNvSpPr>
          <p:nvPr/>
        </p:nvSpPr>
        <p:spPr>
          <a:xfrm xmlns:a="http://schemas.openxmlformats.org/drawingml/2006/main">
            <a:off x="666750" y="16954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975" b="1" i="0">
                <a:solidFill>
                  <a:srgbClr val="111111"/>
                </a:solidFill>
              </a:defRPr>
            </a:pPr>
            <a:r>
              <a:rPr sz="975" b="1" i="0">
                <a:solidFill>
                  <a:srgbClr val="111111"/>
                </a:solidFill>
              </a:rPr>
              <a:t>CLIENT ASSIGNMENTS</a:t>
            </a:r>
          </a:p>
        </p:txBody>
      </p:sp>
      <p:sp>
        <p:nvSpPr>
          <p:cNvPr id="8" name="">
            <a:extLst xmlns:a="http://schemas.openxmlformats.org/drawingml/2006/main">
              <a:ext uri="{FF2B5EF4-FFF2-40B4-BE49-F238E27FC236}">
                <a16:creationId xmlns:a16="http://schemas.microsoft.com/office/drawing/2014/main" id="{2B3ED2FB-E230-4FB7-BBF3-4B7844144658}"/>
              </a:ext>
            </a:extLst>
          </p:cNvPr>
          <p:cNvSpPr>
            <a:spLocks xmlns:a="http://schemas.openxmlformats.org/drawingml/2006/main" noGrp="1"/>
          </p:cNvSpPr>
          <p:nvPr/>
        </p:nvSpPr>
        <p:spPr>
          <a:xfrm xmlns:a="http://schemas.openxmlformats.org/drawingml/2006/main">
            <a:off x="6343650" y="1562100"/>
            <a:ext cx="5314950" cy="4133850"/>
          </a:xfrm>
          <a:prstGeom xmlns:a="http://schemas.openxmlformats.org/drawingml/2006/main" prst="roundRect">
            <a:avLst>
              <a:gd name="adj" fmla="val 1843"/>
            </a:avLst>
          </a:prstGeom>
          <a:solidFill xmlns:a="http://schemas.openxmlformats.org/drawingml/2006/main">
            <a:srgbClr val="FFFFFF"/>
          </a:solidFill>
          <a:ln xmlns:a="http://schemas.openxmlformats.org/drawingml/2006/main" w="9525">
            <a:solidFill>
              <a:srgbClr val="D1CFCA"/>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149a7d296ff4338"/>
          <a:srcRect xmlns:a="http://schemas.openxmlformats.org/drawingml/2006/main" l="1880" t="0" r="1880" b="0"/>
          <a:stretch xmlns:a="http://schemas.openxmlformats.org/drawingml/2006/main">
            <a:fillRect l="0" t="0" r="0" b="0"/>
          </a:stretch>
        </p:blipFill>
        <p:spPr>
          <a:xfrm xmlns:a="http://schemas.openxmlformats.org/drawingml/2006/main">
            <a:off x="6400800" y="1619250"/>
            <a:ext cx="5200650" cy="4019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83EEFE6-6A74-45A7-A352-D2058E01C284}"/>
              </a:ext>
            </a:extLst>
          </p:cNvPr>
          <p:cNvSpPr>
            <a:spLocks xmlns:a="http://schemas.openxmlformats.org/drawingml/2006/main" noGrp="1"/>
          </p:cNvSpPr>
          <p:nvPr/>
        </p:nvSpPr>
        <p:spPr>
          <a:xfrm xmlns:a="http://schemas.openxmlformats.org/drawingml/2006/main">
            <a:off x="6477000" y="1695450"/>
            <a:ext cx="1781175"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111111"/>
            </a:solidFill>
            <a:prstDash val="solid"/>
          </a:ln>
        </p:spPr>
      </p:sp>
      <p:sp>
        <p:nvSpPr>
          <p:cNvPr id="11" name="">
            <a:extLst xmlns:a="http://schemas.openxmlformats.org/drawingml/2006/main">
              <a:ext uri="{FF2B5EF4-FFF2-40B4-BE49-F238E27FC236}">
                <a16:creationId xmlns:a16="http://schemas.microsoft.com/office/drawing/2014/main" id="{9BB09A07-94E0-4E8D-BC94-B191619A4D29}"/>
              </a:ext>
            </a:extLst>
          </p:cNvPr>
          <p:cNvSpPr>
            <a:spLocks xmlns:a="http://schemas.openxmlformats.org/drawingml/2006/main" noGrp="1"/>
          </p:cNvSpPr>
          <p:nvPr/>
        </p:nvSpPr>
        <p:spPr>
          <a:xfrm xmlns:a="http://schemas.openxmlformats.org/drawingml/2006/main">
            <a:off x="6477000" y="1695450"/>
            <a:ext cx="1781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975" b="1" i="0">
                <a:solidFill>
                  <a:srgbClr val="111111"/>
                </a:solidFill>
              </a:defRPr>
            </a:pPr>
            <a:r>
              <a:rPr sz="975" b="1" i="0">
                <a:solidFill>
                  <a:srgbClr val="111111"/>
                </a:solidFill>
              </a:rPr>
              <a:t>REFERENCE SOURCES</a:t>
            </a:r>
          </a:p>
        </p:txBody>
      </p:sp>
      <p:sp>
        <p:nvSpPr>
          <p:cNvPr id="12" name="">
            <a:extLst xmlns:a="http://schemas.openxmlformats.org/drawingml/2006/main">
              <a:ext uri="{FF2B5EF4-FFF2-40B4-BE49-F238E27FC236}">
                <a16:creationId xmlns:a16="http://schemas.microsoft.com/office/drawing/2014/main" id="{54D6B4F2-51ED-46A7-9A21-5BB79CC9AFE6}"/>
              </a:ext>
            </a:extLst>
          </p:cNvPr>
          <p:cNvSpPr>
            <a:spLocks xmlns:a="http://schemas.openxmlformats.org/drawingml/2006/main" noGrp="1"/>
          </p:cNvSpPr>
          <p:nvPr/>
        </p:nvSpPr>
        <p:spPr>
          <a:xfrm xmlns:a="http://schemas.openxmlformats.org/drawingml/2006/main">
            <a:off x="1466850" y="5905500"/>
            <a:ext cx="123825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9525">
            <a:solidFill>
              <a:srgbClr val="111111"/>
            </a:solidFill>
            <a:prstDash val="solid"/>
          </a:ln>
        </p:spPr>
      </p:sp>
      <p:sp>
        <p:nvSpPr>
          <p:cNvPr id="13" name="">
            <a:extLst xmlns:a="http://schemas.openxmlformats.org/drawingml/2006/main">
              <a:ext uri="{FF2B5EF4-FFF2-40B4-BE49-F238E27FC236}">
                <a16:creationId xmlns:a16="http://schemas.microsoft.com/office/drawing/2014/main" id="{E5D5E6BF-6F90-4EB9-943D-40AEC313397C}"/>
              </a:ext>
            </a:extLst>
          </p:cNvPr>
          <p:cNvSpPr>
            <a:spLocks xmlns:a="http://schemas.openxmlformats.org/drawingml/2006/main" noGrp="1"/>
          </p:cNvSpPr>
          <p:nvPr/>
        </p:nvSpPr>
        <p:spPr>
          <a:xfrm xmlns:a="http://schemas.openxmlformats.org/drawingml/2006/main">
            <a:off x="1466850" y="59055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FORMULA</a:t>
            </a:r>
          </a:p>
        </p:txBody>
      </p:sp>
      <p:sp>
        <p:nvSpPr>
          <p:cNvPr id="14" name="">
            <a:extLst xmlns:a="http://schemas.openxmlformats.org/drawingml/2006/main">
              <a:ext uri="{FF2B5EF4-FFF2-40B4-BE49-F238E27FC236}">
                <a16:creationId xmlns:a16="http://schemas.microsoft.com/office/drawing/2014/main" id="{E6C7E5A3-9989-4C18-9A38-27FFACC0D73B}"/>
              </a:ext>
            </a:extLst>
          </p:cNvPr>
          <p:cNvSpPr>
            <a:spLocks xmlns:a="http://schemas.openxmlformats.org/drawingml/2006/main" noGrp="1"/>
          </p:cNvSpPr>
          <p:nvPr/>
        </p:nvSpPr>
        <p:spPr>
          <a:xfrm xmlns:a="http://schemas.openxmlformats.org/drawingml/2006/main">
            <a:off x="4000500" y="5905500"/>
            <a:ext cx="15240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9525">
            <a:solidFill>
              <a:srgbClr val="111111"/>
            </a:solidFill>
            <a:prstDash val="solid"/>
          </a:ln>
        </p:spPr>
      </p:sp>
      <p:sp>
        <p:nvSpPr>
          <p:cNvPr id="15" name="">
            <a:extLst xmlns:a="http://schemas.openxmlformats.org/drawingml/2006/main">
              <a:ext uri="{FF2B5EF4-FFF2-40B4-BE49-F238E27FC236}">
                <a16:creationId xmlns:a16="http://schemas.microsoft.com/office/drawing/2014/main" id="{C7E4EC8A-F731-4B30-AAB6-217DBDE29DCA}"/>
              </a:ext>
            </a:extLst>
          </p:cNvPr>
          <p:cNvSpPr>
            <a:spLocks xmlns:a="http://schemas.openxmlformats.org/drawingml/2006/main" noGrp="1"/>
          </p:cNvSpPr>
          <p:nvPr/>
        </p:nvSpPr>
        <p:spPr>
          <a:xfrm xmlns:a="http://schemas.openxmlformats.org/drawingml/2006/main">
            <a:off x="4000500" y="59055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EFFECTIVE DATA</a:t>
            </a:r>
          </a:p>
        </p:txBody>
      </p:sp>
      <p:sp>
        <p:nvSpPr>
          <p:cNvPr id="16" name="">
            <a:extLst xmlns:a="http://schemas.openxmlformats.org/drawingml/2006/main">
              <a:ext uri="{FF2B5EF4-FFF2-40B4-BE49-F238E27FC236}">
                <a16:creationId xmlns:a16="http://schemas.microsoft.com/office/drawing/2014/main" id="{80495FBE-ACD5-4CBD-B12D-5DC6A86D10B8}"/>
              </a:ext>
            </a:extLst>
          </p:cNvPr>
          <p:cNvSpPr>
            <a:spLocks xmlns:a="http://schemas.openxmlformats.org/drawingml/2006/main" noGrp="1"/>
          </p:cNvSpPr>
          <p:nvPr/>
        </p:nvSpPr>
        <p:spPr>
          <a:xfrm xmlns:a="http://schemas.openxmlformats.org/drawingml/2006/main">
            <a:off x="6762750" y="5905500"/>
            <a:ext cx="123825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9525">
            <a:solidFill>
              <a:srgbClr val="111111"/>
            </a:solidFill>
            <a:prstDash val="solid"/>
          </a:ln>
        </p:spPr>
      </p:sp>
      <p:sp>
        <p:nvSpPr>
          <p:cNvPr id="17" name="">
            <a:extLst xmlns:a="http://schemas.openxmlformats.org/drawingml/2006/main">
              <a:ext uri="{FF2B5EF4-FFF2-40B4-BE49-F238E27FC236}">
                <a16:creationId xmlns:a16="http://schemas.microsoft.com/office/drawing/2014/main" id="{D8EB38B3-52DC-4ED9-A74A-41116B324B43}"/>
              </a:ext>
            </a:extLst>
          </p:cNvPr>
          <p:cNvSpPr>
            <a:spLocks xmlns:a="http://schemas.openxmlformats.org/drawingml/2006/main" noGrp="1"/>
          </p:cNvSpPr>
          <p:nvPr/>
        </p:nvSpPr>
        <p:spPr>
          <a:xfrm xmlns:a="http://schemas.openxmlformats.org/drawingml/2006/main">
            <a:off x="6762750" y="59055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AUDIENCE</a:t>
            </a:r>
          </a:p>
        </p:txBody>
      </p:sp>
      <p:sp>
        <p:nvSpPr>
          <p:cNvPr id="18" name="">
            <a:extLst xmlns:a="http://schemas.openxmlformats.org/drawingml/2006/main">
              <a:ext uri="{FF2B5EF4-FFF2-40B4-BE49-F238E27FC236}">
                <a16:creationId xmlns:a16="http://schemas.microsoft.com/office/drawing/2014/main" id="{5FB41B9D-40F8-4D2B-9676-AB4C810ED45F}"/>
              </a:ext>
            </a:extLst>
          </p:cNvPr>
          <p:cNvSpPr>
            <a:spLocks xmlns:a="http://schemas.openxmlformats.org/drawingml/2006/main" noGrp="1"/>
          </p:cNvSpPr>
          <p:nvPr/>
        </p:nvSpPr>
        <p:spPr>
          <a:xfrm xmlns:a="http://schemas.openxmlformats.org/drawingml/2006/main">
            <a:off x="9277350" y="5905500"/>
            <a:ext cx="13335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9525">
            <a:solidFill>
              <a:srgbClr val="111111"/>
            </a:solidFill>
            <a:prstDash val="solid"/>
          </a:ln>
        </p:spPr>
      </p:sp>
      <p:sp>
        <p:nvSpPr>
          <p:cNvPr id="19" name="">
            <a:extLst xmlns:a="http://schemas.openxmlformats.org/drawingml/2006/main">
              <a:ext uri="{FF2B5EF4-FFF2-40B4-BE49-F238E27FC236}">
                <a16:creationId xmlns:a16="http://schemas.microsoft.com/office/drawing/2014/main" id="{1B9AE81A-0DF5-4501-8C55-B189FB890ED1}"/>
              </a:ext>
            </a:extLst>
          </p:cNvPr>
          <p:cNvSpPr>
            <a:spLocks xmlns:a="http://schemas.openxmlformats.org/drawingml/2006/main" noGrp="1"/>
          </p:cNvSpPr>
          <p:nvPr/>
        </p:nvSpPr>
        <p:spPr>
          <a:xfrm xmlns:a="http://schemas.openxmlformats.org/drawingml/2006/main">
            <a:off x="9277350" y="5905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FREQUENCY</a:t>
            </a:r>
          </a:p>
        </p:txBody>
      </p:sp>
      <p:sp>
        <p:nvSpPr>
          <p:cNvPr id="20" name="">
            <a:extLst xmlns:a="http://schemas.openxmlformats.org/drawingml/2006/main">
              <a:ext uri="{FF2B5EF4-FFF2-40B4-BE49-F238E27FC236}">
                <a16:creationId xmlns:a16="http://schemas.microsoft.com/office/drawing/2014/main" id="{3F443614-9FF6-4DFB-B0EB-79B4F2FD19A7}"/>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AA2E628-CE3D-46C1-BFDF-52E6ACB23CEA}"/>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46" name=""/>
          <p:cNvCxnSpPr>
            <a:stCxn xmlns:a="http://schemas.openxmlformats.org/drawingml/2006/main" id="20" idx="6"/>
            <a:endCxn xmlns:a="http://schemas.openxmlformats.org/drawingml/2006/main" id="21"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3" name="">
            <a:extLst xmlns:a="http://schemas.openxmlformats.org/drawingml/2006/main">
              <a:ext uri="{FF2B5EF4-FFF2-40B4-BE49-F238E27FC236}">
                <a16:creationId xmlns:a16="http://schemas.microsoft.com/office/drawing/2014/main" id="{DE1A261A-DEA0-4132-9F23-85E824D4CB67}"/>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GOVERNANCE</a:t>
            </a:r>
          </a:p>
        </p:txBody>
      </p:sp>
      <p:sp>
        <p:nvSpPr>
          <p:cNvPr id="24" name="">
            <a:extLst xmlns:a="http://schemas.openxmlformats.org/drawingml/2006/main">
              <a:ext uri="{FF2B5EF4-FFF2-40B4-BE49-F238E27FC236}">
                <a16:creationId xmlns:a16="http://schemas.microsoft.com/office/drawing/2014/main" id="{45AAFFB2-5B0B-4B3B-ADD9-64B4F2FE463E}"/>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12</a:t>
            </a:r>
          </a:p>
        </p:txBody>
      </p:sp>
    </p:spTree>
    <p:extLst>
      <p:ext uri="{BB962C8B-B14F-4D97-AF65-F5344CB8AC3E}">
        <p14:creationId xmlns:p14="http://schemas.microsoft.com/office/powerpoint/2010/main" val="921795"/>
      </p:ext>
    </p:extLst>
  </p:cSld>
</p:sld>
</file>

<file path=ppt/slides/slide13.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73C73CB2-F33C-42C4-9DBB-FCECEBF0401E}"/>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RECOMMENDED BUSINESS DEMO SEQUENCE</a:t>
            </a:r>
          </a:p>
        </p:txBody>
      </p:sp>
      <p:sp>
        <p:nvSpPr>
          <p:cNvPr id="2" name="">
            <a:extLst xmlns:a="http://schemas.openxmlformats.org/drawingml/2006/main">
              <a:ext uri="{FF2B5EF4-FFF2-40B4-BE49-F238E27FC236}">
                <a16:creationId xmlns:a16="http://schemas.microsoft.com/office/drawing/2014/main" id="{CB1562AB-7967-4497-AADE-491CA943FFC1}"/>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LIVE WALKTHROUGH</a:t>
            </a:r>
          </a:p>
        </p:txBody>
      </p:sp>
      <p:sp>
        <p:nvSpPr>
          <p:cNvPr id="3" name="">
            <a:extLst xmlns:a="http://schemas.openxmlformats.org/drawingml/2006/main">
              <a:ext uri="{FF2B5EF4-FFF2-40B4-BE49-F238E27FC236}">
                <a16:creationId xmlns:a16="http://schemas.microsoft.com/office/drawing/2014/main" id="{A08B5F6D-391A-4E40-A481-DE1C9E4D46FF}"/>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Four actions tell the complete story</a:t>
            </a:r>
          </a:p>
        </p:txBody>
      </p:sp>
      <p:sp>
        <p:nvSpPr>
          <p:cNvPr id="4" name="">
            <a:extLst xmlns:a="http://schemas.openxmlformats.org/drawingml/2006/main">
              <a:ext uri="{FF2B5EF4-FFF2-40B4-BE49-F238E27FC236}">
                <a16:creationId xmlns:a16="http://schemas.microsoft.com/office/drawing/2014/main" id="{559C779A-8637-485E-AA36-DCCFFBFAFBA3}"/>
              </a:ext>
            </a:extLst>
          </p:cNvPr>
          <p:cNvSpPr>
            <a:spLocks xmlns:a="http://schemas.openxmlformats.org/drawingml/2006/main" noGrp="1"/>
          </p:cNvSpPr>
          <p:nvPr/>
        </p:nvSpPr>
        <p:spPr>
          <a:xfrm xmlns:a="http://schemas.openxmlformats.org/drawingml/2006/main">
            <a:off x="533400" y="1924050"/>
            <a:ext cx="23812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111111"/>
            </a:solidFill>
            <a:prstDash val="solid"/>
          </a:ln>
        </p:spPr>
      </p:sp>
      <p:sp>
        <p:nvSpPr>
          <p:cNvPr id="5" name="">
            <a:extLst xmlns:a="http://schemas.openxmlformats.org/drawingml/2006/main">
              <a:ext uri="{FF2B5EF4-FFF2-40B4-BE49-F238E27FC236}">
                <a16:creationId xmlns:a16="http://schemas.microsoft.com/office/drawing/2014/main" id="{DFDF941A-6E70-4E33-8CAB-2866DD9C20D5}"/>
              </a:ext>
            </a:extLst>
          </p:cNvPr>
          <p:cNvSpPr>
            <a:spLocks xmlns:a="http://schemas.openxmlformats.org/drawingml/2006/main" noGrp="1"/>
          </p:cNvSpPr>
          <p:nvPr/>
        </p:nvSpPr>
        <p:spPr>
          <a:xfrm xmlns:a="http://schemas.openxmlformats.org/drawingml/2006/main">
            <a:off x="3314700" y="1924050"/>
            <a:ext cx="23812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111111"/>
            </a:solidFill>
            <a:prstDash val="solid"/>
          </a:ln>
        </p:spPr>
      </p:sp>
      <p:sp>
        <p:nvSpPr>
          <p:cNvPr id="6" name="">
            <a:extLst xmlns:a="http://schemas.openxmlformats.org/drawingml/2006/main">
              <a:ext uri="{FF2B5EF4-FFF2-40B4-BE49-F238E27FC236}">
                <a16:creationId xmlns:a16="http://schemas.microsoft.com/office/drawing/2014/main" id="{8877478A-694C-456D-B844-301A8A7D43C4}"/>
              </a:ext>
            </a:extLst>
          </p:cNvPr>
          <p:cNvSpPr>
            <a:spLocks xmlns:a="http://schemas.openxmlformats.org/drawingml/2006/main" noGrp="1"/>
          </p:cNvSpPr>
          <p:nvPr/>
        </p:nvSpPr>
        <p:spPr>
          <a:xfrm xmlns:a="http://schemas.openxmlformats.org/drawingml/2006/main">
            <a:off x="6096000" y="1924050"/>
            <a:ext cx="2381250" cy="2381250"/>
          </a:xfrm>
          <a:prstGeom xmlns:a="http://schemas.openxmlformats.org/drawingml/2006/main" prst="roundRect">
            <a:avLst>
              <a:gd name="adj" fmla="val 3200"/>
            </a:avLst>
          </a:prstGeom>
          <a:solidFill xmlns:a="http://schemas.openxmlformats.org/drawingml/2006/main">
            <a:srgbClr val="F2ECF8"/>
          </a:solidFill>
          <a:ln xmlns:a="http://schemas.openxmlformats.org/drawingml/2006/main" w="19050">
            <a:solidFill>
              <a:srgbClr val="5C2A91"/>
            </a:solidFill>
            <a:prstDash val="solid"/>
          </a:ln>
        </p:spPr>
      </p:sp>
      <p:sp>
        <p:nvSpPr>
          <p:cNvPr id="7" name="">
            <a:extLst xmlns:a="http://schemas.openxmlformats.org/drawingml/2006/main">
              <a:ext uri="{FF2B5EF4-FFF2-40B4-BE49-F238E27FC236}">
                <a16:creationId xmlns:a16="http://schemas.microsoft.com/office/drawing/2014/main" id="{822D0249-A6F4-4C2E-BB08-11149C8CA1CE}"/>
              </a:ext>
            </a:extLst>
          </p:cNvPr>
          <p:cNvSpPr>
            <a:spLocks xmlns:a="http://schemas.openxmlformats.org/drawingml/2006/main" noGrp="1"/>
          </p:cNvSpPr>
          <p:nvPr/>
        </p:nvSpPr>
        <p:spPr>
          <a:xfrm xmlns:a="http://schemas.openxmlformats.org/drawingml/2006/main">
            <a:off x="8877300" y="1924050"/>
            <a:ext cx="23812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111111"/>
            </a:solidFill>
            <a:prstDash val="solid"/>
          </a:ln>
        </p:spPr>
      </p:sp>
      <p:cxnSp>
        <p:nvCxnSpPr>
          <p:cNvPr id="50" name=""/>
          <p:cNvCxnSpPr>
            <a:stCxn xmlns:a="http://schemas.openxmlformats.org/drawingml/2006/main" id="4" idx="3"/>
            <a:endCxn xmlns:a="http://schemas.openxmlformats.org/drawingml/2006/main" id="5" idx="1"/>
          </p:cNvCxnSpPr>
          <p:nvPr/>
        </p:nvCxnSpPr>
        <p:spPr>
          <a:xfrm xmlns:a="http://schemas.openxmlformats.org/drawingml/2006/main">
            <a:off x="2914650" y="3114675"/>
            <a:ext cx="400050" cy="0"/>
          </a:xfrm>
          <a:prstGeom xmlns:a="http://schemas.openxmlformats.org/drawingml/2006/main" prst="straightConnector1">
            <a:avLst/>
          </a:prstGeom>
          <a:ln xmlns:a="http://schemas.openxmlformats.org/drawingml/2006/main" w="19050">
            <a:solidFill>
              <a:srgbClr val="5C2A91"/>
            </a:solidFill>
            <a:prstDash val="solid"/>
            <a:tailEnd type="arrow" w="med" len="med"/>
          </a:ln>
        </p:spPr>
      </p:cxnSp>
      <p:cxnSp>
        <p:nvCxnSpPr>
          <p:cNvPr id="51" name=""/>
          <p:cNvCxnSpPr>
            <a:stCxn xmlns:a="http://schemas.openxmlformats.org/drawingml/2006/main" id="5" idx="3"/>
            <a:endCxn xmlns:a="http://schemas.openxmlformats.org/drawingml/2006/main" id="6" idx="1"/>
          </p:cNvCxnSpPr>
          <p:nvPr/>
        </p:nvCxnSpPr>
        <p:spPr>
          <a:xfrm xmlns:a="http://schemas.openxmlformats.org/drawingml/2006/main">
            <a:off x="5695950" y="3114675"/>
            <a:ext cx="400050" cy="0"/>
          </a:xfrm>
          <a:prstGeom xmlns:a="http://schemas.openxmlformats.org/drawingml/2006/main" prst="straightConnector1">
            <a:avLst/>
          </a:prstGeom>
          <a:ln xmlns:a="http://schemas.openxmlformats.org/drawingml/2006/main" w="19050">
            <a:solidFill>
              <a:srgbClr val="5C2A91"/>
            </a:solidFill>
            <a:prstDash val="solid"/>
            <a:tailEnd type="arrow" w="med" len="med"/>
          </a:ln>
        </p:spPr>
      </p:cxnSp>
      <p:cxnSp>
        <p:nvCxnSpPr>
          <p:cNvPr id="52" name=""/>
          <p:cNvCxnSpPr>
            <a:stCxn xmlns:a="http://schemas.openxmlformats.org/drawingml/2006/main" id="6" idx="3"/>
            <a:endCxn xmlns:a="http://schemas.openxmlformats.org/drawingml/2006/main" id="7" idx="1"/>
          </p:cNvCxnSpPr>
          <p:nvPr/>
        </p:nvCxnSpPr>
        <p:spPr>
          <a:xfrm xmlns:a="http://schemas.openxmlformats.org/drawingml/2006/main">
            <a:off x="8477250" y="3114675"/>
            <a:ext cx="400050" cy="0"/>
          </a:xfrm>
          <a:prstGeom xmlns:a="http://schemas.openxmlformats.org/drawingml/2006/main" prst="straightConnector1">
            <a:avLst/>
          </a:prstGeom>
          <a:ln xmlns:a="http://schemas.openxmlformats.org/drawingml/2006/main" w="19050">
            <a:solidFill>
              <a:srgbClr val="5C2A91"/>
            </a:solidFill>
            <a:prstDash val="solid"/>
            <a:tailEnd type="arrow" w="med" len="med"/>
          </a:ln>
        </p:spPr>
      </p:cxnSp>
      <p:sp>
        <p:nvSpPr>
          <p:cNvPr id="11" name="">
            <a:extLst xmlns:a="http://schemas.openxmlformats.org/drawingml/2006/main">
              <a:ext uri="{FF2B5EF4-FFF2-40B4-BE49-F238E27FC236}">
                <a16:creationId xmlns:a16="http://schemas.microsoft.com/office/drawing/2014/main" id="{04AE28D4-3B61-4A65-9A3E-1D30A55858C6}"/>
              </a:ext>
            </a:extLst>
          </p:cNvPr>
          <p:cNvSpPr>
            <a:spLocks xmlns:a="http://schemas.openxmlformats.org/drawingml/2006/main" noGrp="1"/>
          </p:cNvSpPr>
          <p:nvPr/>
        </p:nvSpPr>
        <p:spPr>
          <a:xfrm xmlns:a="http://schemas.openxmlformats.org/drawingml/2006/main">
            <a:off x="704850" y="2114550"/>
            <a:ext cx="400050" cy="400050"/>
          </a:xfrm>
          <a:prstGeom xmlns:a="http://schemas.openxmlformats.org/drawingml/2006/main" prst="roundRect">
            <a:avLst>
              <a:gd name="adj" fmla="val 19048"/>
            </a:avLst>
          </a:prstGeom>
          <a:solidFill xmlns:a="http://schemas.openxmlformats.org/drawingml/2006/main">
            <a:srgbClr val="111111"/>
          </a:solidFill>
          <a:ln xmlns:a="http://schemas.openxmlformats.org/drawingml/2006/main" w="9525">
            <a:solidFill>
              <a:srgbClr val="111111"/>
            </a:solidFill>
            <a:prstDash val="solid"/>
          </a:ln>
        </p:spPr>
      </p:sp>
      <p:sp>
        <p:nvSpPr>
          <p:cNvPr id="12" name="">
            <a:extLst xmlns:a="http://schemas.openxmlformats.org/drawingml/2006/main">
              <a:ext uri="{FF2B5EF4-FFF2-40B4-BE49-F238E27FC236}">
                <a16:creationId xmlns:a16="http://schemas.microsoft.com/office/drawing/2014/main" id="{EE669D52-4755-4ADA-B08D-9B9F4DE44CB0}"/>
              </a:ext>
            </a:extLst>
          </p:cNvPr>
          <p:cNvSpPr>
            <a:spLocks xmlns:a="http://schemas.openxmlformats.org/drawingml/2006/main" noGrp="1"/>
          </p:cNvSpPr>
          <p:nvPr/>
        </p:nvSpPr>
        <p:spPr>
          <a:xfrm xmlns:a="http://schemas.openxmlformats.org/drawingml/2006/main">
            <a:off x="704850" y="21145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13" name="">
            <a:extLst xmlns:a="http://schemas.openxmlformats.org/drawingml/2006/main">
              <a:ext uri="{FF2B5EF4-FFF2-40B4-BE49-F238E27FC236}">
                <a16:creationId xmlns:a16="http://schemas.microsoft.com/office/drawing/2014/main" id="{69EF2D32-210A-4C17-B13F-B8957516EB4D}"/>
              </a:ext>
            </a:extLst>
          </p:cNvPr>
          <p:cNvSpPr>
            <a:spLocks xmlns:a="http://schemas.openxmlformats.org/drawingml/2006/main" noGrp="1"/>
          </p:cNvSpPr>
          <p:nvPr/>
        </p:nvSpPr>
        <p:spPr>
          <a:xfrm xmlns:a="http://schemas.openxmlformats.org/drawingml/2006/main">
            <a:off x="704850" y="27813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Choose a payroll scenario</a:t>
            </a:r>
          </a:p>
        </p:txBody>
      </p:sp>
      <p:sp>
        <p:nvSpPr>
          <p:cNvPr id="14" name="">
            <a:extLst xmlns:a="http://schemas.openxmlformats.org/drawingml/2006/main">
              <a:ext uri="{FF2B5EF4-FFF2-40B4-BE49-F238E27FC236}">
                <a16:creationId xmlns:a16="http://schemas.microsoft.com/office/drawing/2014/main" id="{79B583CD-090F-4632-AF50-91726E579BA0}"/>
              </a:ext>
            </a:extLst>
          </p:cNvPr>
          <p:cNvSpPr>
            <a:spLocks xmlns:a="http://schemas.openxmlformats.org/drawingml/2006/main" noGrp="1"/>
          </p:cNvSpPr>
          <p:nvPr/>
        </p:nvSpPr>
        <p:spPr>
          <a:xfrm xmlns:a="http://schemas.openxmlformats.org/drawingml/2006/main">
            <a:off x="704850" y="356235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Take-home, retirement, final pay, or gross-up</a:t>
            </a:r>
          </a:p>
        </p:txBody>
      </p:sp>
      <p:sp>
        <p:nvSpPr>
          <p:cNvPr id="15" name="">
            <a:extLst xmlns:a="http://schemas.openxmlformats.org/drawingml/2006/main">
              <a:ext uri="{FF2B5EF4-FFF2-40B4-BE49-F238E27FC236}">
                <a16:creationId xmlns:a16="http://schemas.microsoft.com/office/drawing/2014/main" id="{CE586347-D746-4377-9C6D-BE81ABD4C83E}"/>
              </a:ext>
            </a:extLst>
          </p:cNvPr>
          <p:cNvSpPr>
            <a:spLocks xmlns:a="http://schemas.openxmlformats.org/drawingml/2006/main" noGrp="1"/>
          </p:cNvSpPr>
          <p:nvPr/>
        </p:nvSpPr>
        <p:spPr>
          <a:xfrm xmlns:a="http://schemas.openxmlformats.org/drawingml/2006/main">
            <a:off x="3486150" y="2114550"/>
            <a:ext cx="400050" cy="400050"/>
          </a:xfrm>
          <a:prstGeom xmlns:a="http://schemas.openxmlformats.org/drawingml/2006/main" prst="roundRect">
            <a:avLst>
              <a:gd name="adj" fmla="val 19048"/>
            </a:avLst>
          </a:prstGeom>
          <a:solidFill xmlns:a="http://schemas.openxmlformats.org/drawingml/2006/main">
            <a:srgbClr val="111111"/>
          </a:solidFill>
          <a:ln xmlns:a="http://schemas.openxmlformats.org/drawingml/2006/main" w="9525">
            <a:solidFill>
              <a:srgbClr val="111111"/>
            </a:solidFill>
            <a:prstDash val="solid"/>
          </a:ln>
        </p:spPr>
      </p:sp>
      <p:sp>
        <p:nvSpPr>
          <p:cNvPr id="16" name="">
            <a:extLst xmlns:a="http://schemas.openxmlformats.org/drawingml/2006/main">
              <a:ext uri="{FF2B5EF4-FFF2-40B4-BE49-F238E27FC236}">
                <a16:creationId xmlns:a16="http://schemas.microsoft.com/office/drawing/2014/main" id="{DBFFE21A-8EF9-437F-BBA3-A31E3C3D3B7F}"/>
              </a:ext>
            </a:extLst>
          </p:cNvPr>
          <p:cNvSpPr>
            <a:spLocks xmlns:a="http://schemas.openxmlformats.org/drawingml/2006/main" noGrp="1"/>
          </p:cNvSpPr>
          <p:nvPr/>
        </p:nvSpPr>
        <p:spPr>
          <a:xfrm xmlns:a="http://schemas.openxmlformats.org/drawingml/2006/main">
            <a:off x="3486150" y="21145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17" name="">
            <a:extLst xmlns:a="http://schemas.openxmlformats.org/drawingml/2006/main">
              <a:ext uri="{FF2B5EF4-FFF2-40B4-BE49-F238E27FC236}">
                <a16:creationId xmlns:a16="http://schemas.microsoft.com/office/drawing/2014/main" id="{F7EEB572-3CAD-4A08-97FB-CE8DD3C1FF76}"/>
              </a:ext>
            </a:extLst>
          </p:cNvPr>
          <p:cNvSpPr>
            <a:spLocks xmlns:a="http://schemas.openxmlformats.org/drawingml/2006/main" noGrp="1"/>
          </p:cNvSpPr>
          <p:nvPr/>
        </p:nvSpPr>
        <p:spPr>
          <a:xfrm xmlns:a="http://schemas.openxmlformats.org/drawingml/2006/main">
            <a:off x="3486150" y="27813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Configure company values</a:t>
            </a:r>
          </a:p>
        </p:txBody>
      </p:sp>
      <p:sp>
        <p:nvSpPr>
          <p:cNvPr id="18" name="">
            <a:extLst xmlns:a="http://schemas.openxmlformats.org/drawingml/2006/main">
              <a:ext uri="{FF2B5EF4-FFF2-40B4-BE49-F238E27FC236}">
                <a16:creationId xmlns:a16="http://schemas.microsoft.com/office/drawing/2014/main" id="{0F475CAE-8532-4C6C-954E-FA171626D6EA}"/>
              </a:ext>
            </a:extLst>
          </p:cNvPr>
          <p:cNvSpPr>
            <a:spLocks xmlns:a="http://schemas.openxmlformats.org/drawingml/2006/main" noGrp="1"/>
          </p:cNvSpPr>
          <p:nvPr/>
        </p:nvSpPr>
        <p:spPr>
          <a:xfrm xmlns:a="http://schemas.openxmlformats.org/drawingml/2006/main">
            <a:off x="3486150" y="356235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Basis, thresholds, components, eligibility</a:t>
            </a:r>
          </a:p>
        </p:txBody>
      </p:sp>
      <p:sp>
        <p:nvSpPr>
          <p:cNvPr id="19" name="">
            <a:extLst xmlns:a="http://schemas.openxmlformats.org/drawingml/2006/main">
              <a:ext uri="{FF2B5EF4-FFF2-40B4-BE49-F238E27FC236}">
                <a16:creationId xmlns:a16="http://schemas.microsoft.com/office/drawing/2014/main" id="{D65AFCAC-6E84-41EC-8F40-C7FF21DB51D4}"/>
              </a:ext>
            </a:extLst>
          </p:cNvPr>
          <p:cNvSpPr>
            <a:spLocks xmlns:a="http://schemas.openxmlformats.org/drawingml/2006/main" noGrp="1"/>
          </p:cNvSpPr>
          <p:nvPr/>
        </p:nvSpPr>
        <p:spPr>
          <a:xfrm xmlns:a="http://schemas.openxmlformats.org/drawingml/2006/main">
            <a:off x="6267450" y="2114550"/>
            <a:ext cx="400050" cy="400050"/>
          </a:xfrm>
          <a:prstGeom xmlns:a="http://schemas.openxmlformats.org/drawingml/2006/main" prst="roundRect">
            <a:avLst>
              <a:gd name="adj" fmla="val 19048"/>
            </a:avLst>
          </a:prstGeom>
          <a:solidFill xmlns:a="http://schemas.openxmlformats.org/drawingml/2006/main">
            <a:srgbClr val="5C2A91"/>
          </a:solidFill>
          <a:ln xmlns:a="http://schemas.openxmlformats.org/drawingml/2006/main" w="9525">
            <a:solidFill>
              <a:srgbClr val="5C2A91"/>
            </a:solidFill>
            <a:prstDash val="solid"/>
          </a:ln>
        </p:spPr>
      </p:sp>
      <p:sp>
        <p:nvSpPr>
          <p:cNvPr id="20" name="">
            <a:extLst xmlns:a="http://schemas.openxmlformats.org/drawingml/2006/main">
              <a:ext uri="{FF2B5EF4-FFF2-40B4-BE49-F238E27FC236}">
                <a16:creationId xmlns:a16="http://schemas.microsoft.com/office/drawing/2014/main" id="{78606675-3927-40C1-9D96-DED3012C76C4}"/>
              </a:ext>
            </a:extLst>
          </p:cNvPr>
          <p:cNvSpPr>
            <a:spLocks xmlns:a="http://schemas.openxmlformats.org/drawingml/2006/main" noGrp="1"/>
          </p:cNvSpPr>
          <p:nvPr/>
        </p:nvSpPr>
        <p:spPr>
          <a:xfrm xmlns:a="http://schemas.openxmlformats.org/drawingml/2006/main">
            <a:off x="6267450" y="21145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21" name="">
            <a:extLst xmlns:a="http://schemas.openxmlformats.org/drawingml/2006/main">
              <a:ext uri="{FF2B5EF4-FFF2-40B4-BE49-F238E27FC236}">
                <a16:creationId xmlns:a16="http://schemas.microsoft.com/office/drawing/2014/main" id="{161D24A9-4692-473C-B93D-6FBB61AF9C2F}"/>
              </a:ext>
            </a:extLst>
          </p:cNvPr>
          <p:cNvSpPr>
            <a:spLocks xmlns:a="http://schemas.openxmlformats.org/drawingml/2006/main" noGrp="1"/>
          </p:cNvSpPr>
          <p:nvPr/>
        </p:nvSpPr>
        <p:spPr>
          <a:xfrm xmlns:a="http://schemas.openxmlformats.org/drawingml/2006/main">
            <a:off x="6267450" y="27813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Run the scenario</a:t>
            </a:r>
          </a:p>
        </p:txBody>
      </p:sp>
      <p:sp>
        <p:nvSpPr>
          <p:cNvPr id="22" name="">
            <a:extLst xmlns:a="http://schemas.openxmlformats.org/drawingml/2006/main">
              <a:ext uri="{FF2B5EF4-FFF2-40B4-BE49-F238E27FC236}">
                <a16:creationId xmlns:a16="http://schemas.microsoft.com/office/drawing/2014/main" id="{56605647-C7AD-4320-B2B8-FB78B9A6976D}"/>
              </a:ext>
            </a:extLst>
          </p:cNvPr>
          <p:cNvSpPr>
            <a:spLocks xmlns:a="http://schemas.openxmlformats.org/drawingml/2006/main" noGrp="1"/>
          </p:cNvSpPr>
          <p:nvPr/>
        </p:nvSpPr>
        <p:spPr>
          <a:xfrm xmlns:a="http://schemas.openxmlformats.org/drawingml/2006/main">
            <a:off x="6267450" y="356235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See the result and calculation trace before payroll</a:t>
            </a:r>
          </a:p>
        </p:txBody>
      </p:sp>
      <p:sp>
        <p:nvSpPr>
          <p:cNvPr id="23" name="">
            <a:extLst xmlns:a="http://schemas.openxmlformats.org/drawingml/2006/main">
              <a:ext uri="{FF2B5EF4-FFF2-40B4-BE49-F238E27FC236}">
                <a16:creationId xmlns:a16="http://schemas.microsoft.com/office/drawing/2014/main" id="{80513730-6A86-4295-BDDA-6D208AE0CA15}"/>
              </a:ext>
            </a:extLst>
          </p:cNvPr>
          <p:cNvSpPr>
            <a:spLocks xmlns:a="http://schemas.openxmlformats.org/drawingml/2006/main" noGrp="1"/>
          </p:cNvSpPr>
          <p:nvPr/>
        </p:nvSpPr>
        <p:spPr>
          <a:xfrm xmlns:a="http://schemas.openxmlformats.org/drawingml/2006/main">
            <a:off x="9048750" y="2114550"/>
            <a:ext cx="400050" cy="400050"/>
          </a:xfrm>
          <a:prstGeom xmlns:a="http://schemas.openxmlformats.org/drawingml/2006/main" prst="roundRect">
            <a:avLst>
              <a:gd name="adj" fmla="val 19048"/>
            </a:avLst>
          </a:prstGeom>
          <a:solidFill xmlns:a="http://schemas.openxmlformats.org/drawingml/2006/main">
            <a:srgbClr val="111111"/>
          </a:solidFill>
          <a:ln xmlns:a="http://schemas.openxmlformats.org/drawingml/2006/main" w="9525">
            <a:solidFill>
              <a:srgbClr val="111111"/>
            </a:solidFill>
            <a:prstDash val="solid"/>
          </a:ln>
        </p:spPr>
      </p:sp>
      <p:sp>
        <p:nvSpPr>
          <p:cNvPr id="24" name="">
            <a:extLst xmlns:a="http://schemas.openxmlformats.org/drawingml/2006/main">
              <a:ext uri="{FF2B5EF4-FFF2-40B4-BE49-F238E27FC236}">
                <a16:creationId xmlns:a16="http://schemas.microsoft.com/office/drawing/2014/main" id="{3BA5B9C1-6025-42DB-9B59-89809C3632CB}"/>
              </a:ext>
            </a:extLst>
          </p:cNvPr>
          <p:cNvSpPr>
            <a:spLocks xmlns:a="http://schemas.openxmlformats.org/drawingml/2006/main" noGrp="1"/>
          </p:cNvSpPr>
          <p:nvPr/>
        </p:nvSpPr>
        <p:spPr>
          <a:xfrm xmlns:a="http://schemas.openxmlformats.org/drawingml/2006/main">
            <a:off x="9048750" y="21145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25" name="">
            <a:extLst xmlns:a="http://schemas.openxmlformats.org/drawingml/2006/main">
              <a:ext uri="{FF2B5EF4-FFF2-40B4-BE49-F238E27FC236}">
                <a16:creationId xmlns:a16="http://schemas.microsoft.com/office/drawing/2014/main" id="{3DA96B66-47D2-4A20-B65C-A310A83F03DC}"/>
              </a:ext>
            </a:extLst>
          </p:cNvPr>
          <p:cNvSpPr>
            <a:spLocks xmlns:a="http://schemas.openxmlformats.org/drawingml/2006/main" noGrp="1"/>
          </p:cNvSpPr>
          <p:nvPr/>
        </p:nvSpPr>
        <p:spPr>
          <a:xfrm xmlns:a="http://schemas.openxmlformats.org/drawingml/2006/main">
            <a:off x="9048750" y="27813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5000"/>
              </a:lnSpc>
              <a:buNone/>
              <a:defRPr sz="1725" b="1" i="0">
                <a:solidFill>
                  <a:srgbClr val="111111"/>
                </a:solidFill>
              </a:defRPr>
            </a:pPr>
            <a:r>
              <a:rPr sz="1725" b="1" i="0">
                <a:solidFill>
                  <a:srgbClr val="111111"/>
                </a:solidFill>
              </a:rPr>
              <a:t>Apply the Company Rule</a:t>
            </a:r>
          </a:p>
        </p:txBody>
      </p:sp>
      <p:sp>
        <p:nvSpPr>
          <p:cNvPr id="26" name="">
            <a:extLst xmlns:a="http://schemas.openxmlformats.org/drawingml/2006/main">
              <a:ext uri="{FF2B5EF4-FFF2-40B4-BE49-F238E27FC236}">
                <a16:creationId xmlns:a16="http://schemas.microsoft.com/office/drawing/2014/main" id="{D5B4BA59-91A0-48F3-B9A5-DE8D410D5B59}"/>
              </a:ext>
            </a:extLst>
          </p:cNvPr>
          <p:cNvSpPr>
            <a:spLocks xmlns:a="http://schemas.openxmlformats.org/drawingml/2006/main" noGrp="1"/>
          </p:cNvSpPr>
          <p:nvPr/>
        </p:nvSpPr>
        <p:spPr>
          <a:xfrm xmlns:a="http://schemas.openxmlformats.org/drawingml/2006/main">
            <a:off x="9048750" y="3562350"/>
            <a:ext cx="2038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0" i="0">
                <a:solidFill>
                  <a:srgbClr val="66645F"/>
                </a:solidFill>
              </a:defRPr>
            </a:pPr>
            <a:r>
              <a:rPr sz="1125" b="0" i="0">
                <a:solidFill>
                  <a:srgbClr val="66645F"/>
                </a:solidFill>
              </a:rPr>
              <a:t>Select the audience, code, review, and activate</a:t>
            </a:r>
          </a:p>
        </p:txBody>
      </p:sp>
      <p:sp>
        <p:nvSpPr>
          <p:cNvPr id="27" name="">
            <a:extLst xmlns:a="http://schemas.openxmlformats.org/drawingml/2006/main">
              <a:ext uri="{FF2B5EF4-FFF2-40B4-BE49-F238E27FC236}">
                <a16:creationId xmlns:a16="http://schemas.microsoft.com/office/drawing/2014/main" id="{B6D87286-79CB-4F39-B82B-7D6EA56288E1}"/>
              </a:ext>
            </a:extLst>
          </p:cNvPr>
          <p:cNvSpPr>
            <a:spLocks xmlns:a="http://schemas.openxmlformats.org/drawingml/2006/main" noGrp="1"/>
          </p:cNvSpPr>
          <p:nvPr/>
        </p:nvSpPr>
        <p:spPr>
          <a:xfrm xmlns:a="http://schemas.openxmlformats.org/drawingml/2006/main">
            <a:off x="533400" y="49149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185"/>
          </a:bodyPr>
          <a:lstStyle xmlns:a="http://schemas.openxmlformats.org/drawingml/2006/main"/>
          <a:p xmlns:a="http://schemas.openxmlformats.org/drawingml/2006/main">
            <a:pPr algn="l">
              <a:defRPr sz="1350" b="1" i="0">
                <a:solidFill>
                  <a:srgbClr val="5C2A91"/>
                </a:solidFill>
              </a:defRPr>
            </a:pPr>
            <a:r>
              <a:rPr sz="1350" b="1" i="0">
                <a:solidFill>
                  <a:srgbClr val="5C2A91"/>
                </a:solidFill>
              </a:rPr>
              <a:t>Business validation questions</a:t>
            </a:r>
          </a:p>
        </p:txBody>
      </p:sp>
      <p:sp>
        <p:nvSpPr>
          <p:cNvPr id="28" name="">
            <a:extLst xmlns:a="http://schemas.openxmlformats.org/drawingml/2006/main">
              <a:ext uri="{FF2B5EF4-FFF2-40B4-BE49-F238E27FC236}">
                <a16:creationId xmlns:a16="http://schemas.microsoft.com/office/drawing/2014/main" id="{E4C96637-4911-43AA-9FC1-F698518F9295}"/>
              </a:ext>
            </a:extLst>
          </p:cNvPr>
          <p:cNvSpPr>
            <a:spLocks xmlns:a="http://schemas.openxmlformats.org/drawingml/2006/main" noGrp="1"/>
          </p:cNvSpPr>
          <p:nvPr/>
        </p:nvSpPr>
        <p:spPr>
          <a:xfrm xmlns:a="http://schemas.openxmlformats.org/drawingml/2006/main">
            <a:off x="533400" y="5372100"/>
            <a:ext cx="161925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111111"/>
            </a:solidFill>
            <a:prstDash val="solid"/>
          </a:ln>
        </p:spPr>
      </p:sp>
      <p:sp>
        <p:nvSpPr>
          <p:cNvPr id="29" name="">
            <a:extLst xmlns:a="http://schemas.openxmlformats.org/drawingml/2006/main">
              <a:ext uri="{FF2B5EF4-FFF2-40B4-BE49-F238E27FC236}">
                <a16:creationId xmlns:a16="http://schemas.microsoft.com/office/drawing/2014/main" id="{D9B3A05D-85BF-4581-830B-32CB28CE3A1A}"/>
              </a:ext>
            </a:extLst>
          </p:cNvPr>
          <p:cNvSpPr>
            <a:spLocks xmlns:a="http://schemas.openxmlformats.org/drawingml/2006/main" noGrp="1"/>
          </p:cNvSpPr>
          <p:nvPr/>
        </p:nvSpPr>
        <p:spPr>
          <a:xfrm xmlns:a="http://schemas.openxmlformats.org/drawingml/2006/main">
            <a:off x="533400" y="537210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Correct basis?</a:t>
            </a:r>
          </a:p>
        </p:txBody>
      </p:sp>
      <p:sp>
        <p:nvSpPr>
          <p:cNvPr id="30" name="">
            <a:extLst xmlns:a="http://schemas.openxmlformats.org/drawingml/2006/main">
              <a:ext uri="{FF2B5EF4-FFF2-40B4-BE49-F238E27FC236}">
                <a16:creationId xmlns:a16="http://schemas.microsoft.com/office/drawing/2014/main" id="{E9674074-55AF-4B35-8069-B5B3BBD15C7A}"/>
              </a:ext>
            </a:extLst>
          </p:cNvPr>
          <p:cNvSpPr>
            <a:spLocks xmlns:a="http://schemas.openxmlformats.org/drawingml/2006/main" noGrp="1"/>
          </p:cNvSpPr>
          <p:nvPr/>
        </p:nvSpPr>
        <p:spPr>
          <a:xfrm xmlns:a="http://schemas.openxmlformats.org/drawingml/2006/main">
            <a:off x="2362200" y="5372100"/>
            <a:ext cx="186690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111111"/>
            </a:solidFill>
            <a:prstDash val="solid"/>
          </a:ln>
        </p:spPr>
      </p:sp>
      <p:sp>
        <p:nvSpPr>
          <p:cNvPr id="31" name="">
            <a:extLst xmlns:a="http://schemas.openxmlformats.org/drawingml/2006/main">
              <a:ext uri="{FF2B5EF4-FFF2-40B4-BE49-F238E27FC236}">
                <a16:creationId xmlns:a16="http://schemas.microsoft.com/office/drawing/2014/main" id="{EC6196CA-04FD-44BC-A3A5-9397AC19051E}"/>
              </a:ext>
            </a:extLst>
          </p:cNvPr>
          <p:cNvSpPr>
            <a:spLocks xmlns:a="http://schemas.openxmlformats.org/drawingml/2006/main" noGrp="1"/>
          </p:cNvSpPr>
          <p:nvPr/>
        </p:nvSpPr>
        <p:spPr>
          <a:xfrm xmlns:a="http://schemas.openxmlformats.org/drawingml/2006/main">
            <a:off x="2362200" y="53721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Correct precedence?</a:t>
            </a:r>
          </a:p>
        </p:txBody>
      </p:sp>
      <p:sp>
        <p:nvSpPr>
          <p:cNvPr id="32" name="">
            <a:extLst xmlns:a="http://schemas.openxmlformats.org/drawingml/2006/main">
              <a:ext uri="{FF2B5EF4-FFF2-40B4-BE49-F238E27FC236}">
                <a16:creationId xmlns:a16="http://schemas.microsoft.com/office/drawing/2014/main" id="{C5624AF6-FBA9-41EA-BFB3-68DE56E3BCB1}"/>
              </a:ext>
            </a:extLst>
          </p:cNvPr>
          <p:cNvSpPr>
            <a:spLocks xmlns:a="http://schemas.openxmlformats.org/drawingml/2006/main" noGrp="1"/>
          </p:cNvSpPr>
          <p:nvPr/>
        </p:nvSpPr>
        <p:spPr>
          <a:xfrm xmlns:a="http://schemas.openxmlformats.org/drawingml/2006/main">
            <a:off x="4438650" y="5372100"/>
            <a:ext cx="213360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111111"/>
            </a:solidFill>
            <a:prstDash val="solid"/>
          </a:ln>
        </p:spPr>
      </p:sp>
      <p:sp>
        <p:nvSpPr>
          <p:cNvPr id="33" name="">
            <a:extLst xmlns:a="http://schemas.openxmlformats.org/drawingml/2006/main">
              <a:ext uri="{FF2B5EF4-FFF2-40B4-BE49-F238E27FC236}">
                <a16:creationId xmlns:a16="http://schemas.microsoft.com/office/drawing/2014/main" id="{6BC63913-8EC6-4BA8-A68E-12512D5A2DF2}"/>
              </a:ext>
            </a:extLst>
          </p:cNvPr>
          <p:cNvSpPr>
            <a:spLocks xmlns:a="http://schemas.openxmlformats.org/drawingml/2006/main" noGrp="1"/>
          </p:cNvSpPr>
          <p:nvPr/>
        </p:nvSpPr>
        <p:spPr>
          <a:xfrm xmlns:a="http://schemas.openxmlformats.org/drawingml/2006/main">
            <a:off x="4438650" y="537210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Correct employee group?</a:t>
            </a:r>
          </a:p>
        </p:txBody>
      </p:sp>
      <p:sp>
        <p:nvSpPr>
          <p:cNvPr id="34" name="">
            <a:extLst xmlns:a="http://schemas.openxmlformats.org/drawingml/2006/main">
              <a:ext uri="{FF2B5EF4-FFF2-40B4-BE49-F238E27FC236}">
                <a16:creationId xmlns:a16="http://schemas.microsoft.com/office/drawing/2014/main" id="{E8AF396B-1CCB-4690-9B39-82C598D20D52}"/>
              </a:ext>
            </a:extLst>
          </p:cNvPr>
          <p:cNvSpPr>
            <a:spLocks xmlns:a="http://schemas.openxmlformats.org/drawingml/2006/main" noGrp="1"/>
          </p:cNvSpPr>
          <p:nvPr/>
        </p:nvSpPr>
        <p:spPr>
          <a:xfrm xmlns:a="http://schemas.openxmlformats.org/drawingml/2006/main">
            <a:off x="6781800" y="5372100"/>
            <a:ext cx="165735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111111"/>
            </a:solidFill>
            <a:prstDash val="solid"/>
          </a:ln>
        </p:spPr>
      </p:sp>
      <p:sp>
        <p:nvSpPr>
          <p:cNvPr id="35" name="">
            <a:extLst xmlns:a="http://schemas.openxmlformats.org/drawingml/2006/main">
              <a:ext uri="{FF2B5EF4-FFF2-40B4-BE49-F238E27FC236}">
                <a16:creationId xmlns:a16="http://schemas.microsoft.com/office/drawing/2014/main" id="{D9BEBCC9-55B2-4B65-838A-88D519C4FB20}"/>
              </a:ext>
            </a:extLst>
          </p:cNvPr>
          <p:cNvSpPr>
            <a:spLocks xmlns:a="http://schemas.openxmlformats.org/drawingml/2006/main" noGrp="1"/>
          </p:cNvSpPr>
          <p:nvPr/>
        </p:nvSpPr>
        <p:spPr>
          <a:xfrm xmlns:a="http://schemas.openxmlformats.org/drawingml/2006/main">
            <a:off x="6781800" y="5372100"/>
            <a:ext cx="1657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11111"/>
                </a:solidFill>
              </a:defRPr>
            </a:pPr>
            <a:r>
              <a:rPr sz="1125" b="1" i="0">
                <a:solidFill>
                  <a:srgbClr val="111111"/>
                </a:solidFill>
              </a:rPr>
              <a:t>Correct output?</a:t>
            </a:r>
          </a:p>
        </p:txBody>
      </p:sp>
      <p:sp>
        <p:nvSpPr>
          <p:cNvPr id="36" name="">
            <a:extLst xmlns:a="http://schemas.openxmlformats.org/drawingml/2006/main">
              <a:ext uri="{FF2B5EF4-FFF2-40B4-BE49-F238E27FC236}">
                <a16:creationId xmlns:a16="http://schemas.microsoft.com/office/drawing/2014/main" id="{5EA13EDD-7927-481B-B3BC-41B4B934697C}"/>
              </a:ext>
            </a:extLst>
          </p:cNvPr>
          <p:cNvSpPr>
            <a:spLocks xmlns:a="http://schemas.openxmlformats.org/drawingml/2006/main" noGrp="1"/>
          </p:cNvSpPr>
          <p:nvPr/>
        </p:nvSpPr>
        <p:spPr>
          <a:xfrm xmlns:a="http://schemas.openxmlformats.org/drawingml/2006/main">
            <a:off x="8648700" y="5372100"/>
            <a:ext cx="1866900" cy="381000"/>
          </a:xfrm>
          <a:prstGeom xmlns:a="http://schemas.openxmlformats.org/drawingml/2006/main" prst="roundRect">
            <a:avLst>
              <a:gd name="adj" fmla="val 20000"/>
            </a:avLst>
          </a:prstGeom>
          <a:solidFill xmlns:a="http://schemas.openxmlformats.org/drawingml/2006/main">
            <a:srgbClr val="E7F4EE"/>
          </a:solidFill>
          <a:ln xmlns:a="http://schemas.openxmlformats.org/drawingml/2006/main" w="9525">
            <a:solidFill>
              <a:srgbClr val="167B55"/>
            </a:solidFill>
            <a:prstDash val="solid"/>
          </a:ln>
        </p:spPr>
      </p:sp>
      <p:sp>
        <p:nvSpPr>
          <p:cNvPr id="37" name="">
            <a:extLst xmlns:a="http://schemas.openxmlformats.org/drawingml/2006/main">
              <a:ext uri="{FF2B5EF4-FFF2-40B4-BE49-F238E27FC236}">
                <a16:creationId xmlns:a16="http://schemas.microsoft.com/office/drawing/2014/main" id="{08FC537B-24F1-4650-9C1F-E36762CB8078}"/>
              </a:ext>
            </a:extLst>
          </p:cNvPr>
          <p:cNvSpPr>
            <a:spLocks xmlns:a="http://schemas.openxmlformats.org/drawingml/2006/main" noGrp="1"/>
          </p:cNvSpPr>
          <p:nvPr/>
        </p:nvSpPr>
        <p:spPr>
          <a:xfrm xmlns:a="http://schemas.openxmlformats.org/drawingml/2006/main">
            <a:off x="8648700" y="53721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1125" b="1" i="0">
                <a:solidFill>
                  <a:srgbClr val="167B55"/>
                </a:solidFill>
              </a:defRPr>
            </a:pPr>
            <a:r>
              <a:rPr sz="1125" b="1" i="0">
                <a:solidFill>
                  <a:srgbClr val="167B55"/>
                </a:solidFill>
              </a:rPr>
              <a:t>Clear audit trail?</a:t>
            </a:r>
          </a:p>
        </p:txBody>
      </p:sp>
      <p:sp>
        <p:nvSpPr>
          <p:cNvPr id="38" name="">
            <a:extLst xmlns:a="http://schemas.openxmlformats.org/drawingml/2006/main">
              <a:ext uri="{FF2B5EF4-FFF2-40B4-BE49-F238E27FC236}">
                <a16:creationId xmlns:a16="http://schemas.microsoft.com/office/drawing/2014/main" id="{88FCE904-86CB-495A-8C9C-90A2BAD8C712}"/>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79A8684-2B5B-446F-B645-9A2794DDBF92}"/>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82" name=""/>
          <p:cNvCxnSpPr>
            <a:stCxn xmlns:a="http://schemas.openxmlformats.org/drawingml/2006/main" id="38" idx="6"/>
            <a:endCxn xmlns:a="http://schemas.openxmlformats.org/drawingml/2006/main" id="39"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41" name="">
            <a:extLst xmlns:a="http://schemas.openxmlformats.org/drawingml/2006/main">
              <a:ext uri="{FF2B5EF4-FFF2-40B4-BE49-F238E27FC236}">
                <a16:creationId xmlns:a16="http://schemas.microsoft.com/office/drawing/2014/main" id="{DE20B10D-CFCC-45B6-915B-97CB01CC2DEC}"/>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DEMO FLOW</a:t>
            </a:r>
          </a:p>
        </p:txBody>
      </p:sp>
      <p:sp>
        <p:nvSpPr>
          <p:cNvPr id="42" name="">
            <a:extLst xmlns:a="http://schemas.openxmlformats.org/drawingml/2006/main">
              <a:ext uri="{FF2B5EF4-FFF2-40B4-BE49-F238E27FC236}">
                <a16:creationId xmlns:a16="http://schemas.microsoft.com/office/drawing/2014/main" id="{B38D6E62-22E5-4C1A-8C2F-5213D2162B68}"/>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13</a:t>
            </a:r>
          </a:p>
        </p:txBody>
      </p:sp>
    </p:spTree>
    <p:extLst>
      <p:ext uri="{BB962C8B-B14F-4D97-AF65-F5344CB8AC3E}">
        <p14:creationId xmlns:p14="http://schemas.microsoft.com/office/powerpoint/2010/main" val="337790982"/>
      </p:ext>
    </p:extLst>
  </p:cSld>
</p:sld>
</file>

<file path=ppt/slides/slide14.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5DACFC-D3C0-4A6E-94CC-14CB9C7D7783}"/>
              </a:ext>
            </a:extLst>
          </p:cNvPr>
          <p:cNvSpPr>
            <a:spLocks xmlns:a="http://schemas.openxmlformats.org/drawingml/2006/main" noGrp="1"/>
          </p:cNvSpPr>
          <p:nvPr/>
        </p:nvSpPr>
        <p:spPr>
          <a:xfrm xmlns:a="http://schemas.openxmlformats.org/drawingml/2006/main">
            <a:off x="533400" y="4572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619"/>
          </a:bodyPr>
          <a:lstStyle xmlns:a="http://schemas.openxmlformats.org/drawingml/2006/main"/>
          <a:p xmlns:a="http://schemas.openxmlformats.org/drawingml/2006/main">
            <a:pPr algn="l">
              <a:defRPr sz="1050" b="1" i="0">
                <a:solidFill>
                  <a:srgbClr val="CDB5E4"/>
                </a:solidFill>
              </a:defRPr>
            </a:pPr>
            <a:r>
              <a:rPr sz="1050" b="1" i="0">
                <a:solidFill>
                  <a:srgbClr val="CDB5E4"/>
                </a:solidFill>
              </a:rPr>
              <a:t>BUSINESS TAKEAWAY</a:t>
            </a:r>
          </a:p>
        </p:txBody>
      </p:sp>
      <p:sp>
        <p:nvSpPr>
          <p:cNvPr id="2" name="">
            <a:extLst xmlns:a="http://schemas.openxmlformats.org/drawingml/2006/main">
              <a:ext uri="{FF2B5EF4-FFF2-40B4-BE49-F238E27FC236}">
                <a16:creationId xmlns:a16="http://schemas.microsoft.com/office/drawing/2014/main" id="{BBBDBDC6-A619-454A-B09C-A9B4F1FAC3C7}"/>
              </a:ext>
            </a:extLst>
          </p:cNvPr>
          <p:cNvSpPr>
            <a:spLocks xmlns:a="http://schemas.openxmlformats.org/drawingml/2006/main" noGrp="1"/>
          </p:cNvSpPr>
          <p:nvPr/>
        </p:nvSpPr>
        <p:spPr>
          <a:xfrm xmlns:a="http://schemas.openxmlformats.org/drawingml/2006/main">
            <a:off x="533400" y="1085850"/>
            <a:ext cx="933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0000"/>
              </a:lnSpc>
              <a:buNone/>
              <a:defRPr sz="3450" b="1" i="0">
                <a:solidFill>
                  <a:srgbClr val="FFFFFF"/>
                </a:solidFill>
              </a:defRPr>
            </a:pPr>
            <a:r>
              <a:rPr sz="3450" b="1" i="0">
                <a:solidFill>
                  <a:srgbClr val="FFFFFF"/>
                </a:solidFill>
              </a:rPr>
              <a:t>Payroll policy becomes</a:t>
            </a:r>
          </a:p>
          <a:p xmlns:a="http://schemas.openxmlformats.org/drawingml/2006/main">
            <a:pPr algn="l">
              <a:lnSpc>
                <a:spcPct val="90000"/>
              </a:lnSpc>
              <a:buNone/>
              <a:defRPr sz="3450" b="1" i="0">
                <a:solidFill>
                  <a:srgbClr val="FFFFFF"/>
                </a:solidFill>
              </a:defRPr>
            </a:pPr>
            <a:r>
              <a:rPr sz="3450" b="1" i="0">
                <a:solidFill>
                  <a:srgbClr val="FFFFFF"/>
                </a:solidFill>
              </a:rPr>
              <a:t>visible, testable, and traceable.</a:t>
            </a:r>
          </a:p>
        </p:txBody>
      </p:sp>
      <p:sp>
        <p:nvSpPr>
          <p:cNvPr id="3" name="">
            <a:extLst xmlns:a="http://schemas.openxmlformats.org/drawingml/2006/main">
              <a:ext uri="{FF2B5EF4-FFF2-40B4-BE49-F238E27FC236}">
                <a16:creationId xmlns:a16="http://schemas.microsoft.com/office/drawing/2014/main" id="{A8B8BF53-E50D-4B4B-A63A-6B2A9C3FBFB2}"/>
              </a:ext>
            </a:extLst>
          </p:cNvPr>
          <p:cNvSpPr>
            <a:spLocks xmlns:a="http://schemas.openxmlformats.org/drawingml/2006/main" noGrp="1"/>
          </p:cNvSpPr>
          <p:nvPr/>
        </p:nvSpPr>
        <p:spPr>
          <a:xfrm xmlns:a="http://schemas.openxmlformats.org/drawingml/2006/main">
            <a:off x="533400" y="3162300"/>
            <a:ext cx="3314700" cy="1562100"/>
          </a:xfrm>
          <a:prstGeom xmlns:a="http://schemas.openxmlformats.org/drawingml/2006/main" prst="roundRect">
            <a:avLst>
              <a:gd name="adj" fmla="val 4878"/>
            </a:avLst>
          </a:prstGeom>
          <a:solidFill xmlns:a="http://schemas.openxmlformats.org/drawingml/2006/main">
            <a:srgbClr val="1C1C1C"/>
          </a:solidFill>
          <a:ln xmlns:a="http://schemas.openxmlformats.org/drawingml/2006/main" w="9525">
            <a:solidFill>
              <a:srgbClr val="4B4B4B"/>
            </a:solidFill>
            <a:prstDash val="solid"/>
          </a:ln>
        </p:spPr>
      </p:sp>
      <p:sp>
        <p:nvSpPr>
          <p:cNvPr id="4" name="">
            <a:extLst xmlns:a="http://schemas.openxmlformats.org/drawingml/2006/main">
              <a:ext uri="{FF2B5EF4-FFF2-40B4-BE49-F238E27FC236}">
                <a16:creationId xmlns:a16="http://schemas.microsoft.com/office/drawing/2014/main" id="{C3A7695A-C72B-4B2E-8A7A-7B87DE1367E2}"/>
              </a:ext>
            </a:extLst>
          </p:cNvPr>
          <p:cNvSpPr>
            <a:spLocks xmlns:a="http://schemas.openxmlformats.org/drawingml/2006/main" noGrp="1"/>
          </p:cNvSpPr>
          <p:nvPr/>
        </p:nvSpPr>
        <p:spPr>
          <a:xfrm xmlns:a="http://schemas.openxmlformats.org/drawingml/2006/main">
            <a:off x="742950" y="33909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l">
              <a:defRPr sz="1200" b="1" i="0">
                <a:solidFill>
                  <a:srgbClr val="CDB5E4"/>
                </a:solidFill>
              </a:defRPr>
            </a:pPr>
            <a:r>
              <a:rPr sz="1200" b="1" i="0">
                <a:solidFill>
                  <a:srgbClr val="CDB5E4"/>
                </a:solidFill>
              </a:rPr>
              <a:t>VISIBLE</a:t>
            </a:r>
          </a:p>
        </p:txBody>
      </p:sp>
      <p:sp>
        <p:nvSpPr>
          <p:cNvPr id="5" name="">
            <a:extLst xmlns:a="http://schemas.openxmlformats.org/drawingml/2006/main">
              <a:ext uri="{FF2B5EF4-FFF2-40B4-BE49-F238E27FC236}">
                <a16:creationId xmlns:a16="http://schemas.microsoft.com/office/drawing/2014/main" id="{BCBC4764-720E-4BC2-B22D-BC6BF442486C}"/>
              </a:ext>
            </a:extLst>
          </p:cNvPr>
          <p:cNvSpPr>
            <a:spLocks xmlns:a="http://schemas.openxmlformats.org/drawingml/2006/main" noGrp="1"/>
          </p:cNvSpPr>
          <p:nvPr/>
        </p:nvSpPr>
        <p:spPr>
          <a:xfrm xmlns:a="http://schemas.openxmlformats.org/drawingml/2006/main">
            <a:off x="742950" y="3848100"/>
            <a:ext cx="2895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2000"/>
              </a:lnSpc>
              <a:buNone/>
              <a:defRPr sz="1425" b="0" i="0">
                <a:solidFill>
                  <a:srgbClr val="FFFFFF"/>
                </a:solidFill>
              </a:defRPr>
            </a:pPr>
            <a:r>
              <a:rPr sz="1425" b="0" i="0">
                <a:solidFill>
                  <a:srgbClr val="FFFFFF"/>
                </a:solidFill>
              </a:rPr>
              <a:t>The rule, owning engine, and effective values are shown together.</a:t>
            </a:r>
          </a:p>
        </p:txBody>
      </p:sp>
      <p:sp>
        <p:nvSpPr>
          <p:cNvPr id="6" name="">
            <a:extLst xmlns:a="http://schemas.openxmlformats.org/drawingml/2006/main">
              <a:ext uri="{FF2B5EF4-FFF2-40B4-BE49-F238E27FC236}">
                <a16:creationId xmlns:a16="http://schemas.microsoft.com/office/drawing/2014/main" id="{0E6D3EC1-0FE8-4A5D-BC47-77FC70ED8992}"/>
              </a:ext>
            </a:extLst>
          </p:cNvPr>
          <p:cNvSpPr>
            <a:spLocks xmlns:a="http://schemas.openxmlformats.org/drawingml/2006/main" noGrp="1"/>
          </p:cNvSpPr>
          <p:nvPr/>
        </p:nvSpPr>
        <p:spPr>
          <a:xfrm xmlns:a="http://schemas.openxmlformats.org/drawingml/2006/main">
            <a:off x="4229100" y="3162300"/>
            <a:ext cx="3314700" cy="1562100"/>
          </a:xfrm>
          <a:prstGeom xmlns:a="http://schemas.openxmlformats.org/drawingml/2006/main" prst="roundRect">
            <a:avLst>
              <a:gd name="adj" fmla="val 4878"/>
            </a:avLst>
          </a:prstGeom>
          <a:solidFill xmlns:a="http://schemas.openxmlformats.org/drawingml/2006/main">
            <a:srgbClr val="1C1C1C"/>
          </a:solidFill>
          <a:ln xmlns:a="http://schemas.openxmlformats.org/drawingml/2006/main" w="19050">
            <a:solidFill>
              <a:srgbClr val="CDB5E4"/>
            </a:solidFill>
            <a:prstDash val="solid"/>
          </a:ln>
        </p:spPr>
      </p:sp>
      <p:sp>
        <p:nvSpPr>
          <p:cNvPr id="7" name="">
            <a:extLst xmlns:a="http://schemas.openxmlformats.org/drawingml/2006/main">
              <a:ext uri="{FF2B5EF4-FFF2-40B4-BE49-F238E27FC236}">
                <a16:creationId xmlns:a16="http://schemas.microsoft.com/office/drawing/2014/main" id="{FA1A1AC2-BFFB-4CA0-BD79-BCDC75BA83D4}"/>
              </a:ext>
            </a:extLst>
          </p:cNvPr>
          <p:cNvSpPr>
            <a:spLocks xmlns:a="http://schemas.openxmlformats.org/drawingml/2006/main" noGrp="1"/>
          </p:cNvSpPr>
          <p:nvPr/>
        </p:nvSpPr>
        <p:spPr>
          <a:xfrm xmlns:a="http://schemas.openxmlformats.org/drawingml/2006/main">
            <a:off x="4438650" y="33909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l">
              <a:defRPr sz="1200" b="1" i="0">
                <a:solidFill>
                  <a:srgbClr val="CDB5E4"/>
                </a:solidFill>
              </a:defRPr>
            </a:pPr>
            <a:r>
              <a:rPr sz="1200" b="1" i="0">
                <a:solidFill>
                  <a:srgbClr val="CDB5E4"/>
                </a:solidFill>
              </a:rPr>
              <a:t>TESTABLE</a:t>
            </a:r>
          </a:p>
        </p:txBody>
      </p:sp>
      <p:sp>
        <p:nvSpPr>
          <p:cNvPr id="8" name="">
            <a:extLst xmlns:a="http://schemas.openxmlformats.org/drawingml/2006/main">
              <a:ext uri="{FF2B5EF4-FFF2-40B4-BE49-F238E27FC236}">
                <a16:creationId xmlns:a16="http://schemas.microsoft.com/office/drawing/2014/main" id="{969403B8-A1DF-417A-9DF5-2EDE46227938}"/>
              </a:ext>
            </a:extLst>
          </p:cNvPr>
          <p:cNvSpPr>
            <a:spLocks xmlns:a="http://schemas.openxmlformats.org/drawingml/2006/main" noGrp="1"/>
          </p:cNvSpPr>
          <p:nvPr/>
        </p:nvSpPr>
        <p:spPr>
          <a:xfrm xmlns:a="http://schemas.openxmlformats.org/drawingml/2006/main">
            <a:off x="4438650" y="3848100"/>
            <a:ext cx="2895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2000"/>
              </a:lnSpc>
              <a:buNone/>
              <a:defRPr sz="1425" b="0" i="0">
                <a:solidFill>
                  <a:srgbClr val="FFFFFF"/>
                </a:solidFill>
              </a:defRPr>
            </a:pPr>
            <a:r>
              <a:rPr sz="1425" b="0" i="0">
                <a:solidFill>
                  <a:srgbClr val="FFFFFF"/>
                </a:solidFill>
              </a:rPr>
              <a:t>Payroll can run a scenario before using the policy in payroll.</a:t>
            </a:r>
          </a:p>
        </p:txBody>
      </p:sp>
      <p:sp>
        <p:nvSpPr>
          <p:cNvPr id="9" name="">
            <a:extLst xmlns:a="http://schemas.openxmlformats.org/drawingml/2006/main">
              <a:ext uri="{FF2B5EF4-FFF2-40B4-BE49-F238E27FC236}">
                <a16:creationId xmlns:a16="http://schemas.microsoft.com/office/drawing/2014/main" id="{D7F9283F-7CCD-4096-9B8A-FE3AAA7BCDB2}"/>
              </a:ext>
            </a:extLst>
          </p:cNvPr>
          <p:cNvSpPr>
            <a:spLocks xmlns:a="http://schemas.openxmlformats.org/drawingml/2006/main" noGrp="1"/>
          </p:cNvSpPr>
          <p:nvPr/>
        </p:nvSpPr>
        <p:spPr>
          <a:xfrm xmlns:a="http://schemas.openxmlformats.org/drawingml/2006/main">
            <a:off x="7924800" y="3162300"/>
            <a:ext cx="3314700" cy="1562100"/>
          </a:xfrm>
          <a:prstGeom xmlns:a="http://schemas.openxmlformats.org/drawingml/2006/main" prst="roundRect">
            <a:avLst>
              <a:gd name="adj" fmla="val 4878"/>
            </a:avLst>
          </a:prstGeom>
          <a:solidFill xmlns:a="http://schemas.openxmlformats.org/drawingml/2006/main">
            <a:srgbClr val="1C1C1C"/>
          </a:solidFill>
          <a:ln xmlns:a="http://schemas.openxmlformats.org/drawingml/2006/main" w="9525">
            <a:solidFill>
              <a:srgbClr val="4B4B4B"/>
            </a:solidFill>
            <a:prstDash val="solid"/>
          </a:ln>
        </p:spPr>
      </p:sp>
      <p:sp>
        <p:nvSpPr>
          <p:cNvPr id="10" name="">
            <a:extLst xmlns:a="http://schemas.openxmlformats.org/drawingml/2006/main">
              <a:ext uri="{FF2B5EF4-FFF2-40B4-BE49-F238E27FC236}">
                <a16:creationId xmlns:a16="http://schemas.microsoft.com/office/drawing/2014/main" id="{7D856F50-BCD0-4214-B437-A52DE630C25C}"/>
              </a:ext>
            </a:extLst>
          </p:cNvPr>
          <p:cNvSpPr>
            <a:spLocks xmlns:a="http://schemas.openxmlformats.org/drawingml/2006/main" noGrp="1"/>
          </p:cNvSpPr>
          <p:nvPr/>
        </p:nvSpPr>
        <p:spPr>
          <a:xfrm xmlns:a="http://schemas.openxmlformats.org/drawingml/2006/main">
            <a:off x="8134350" y="339090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l">
              <a:defRPr sz="1200" b="1" i="0">
                <a:solidFill>
                  <a:srgbClr val="CDB5E4"/>
                </a:solidFill>
              </a:defRPr>
            </a:pPr>
            <a:r>
              <a:rPr sz="1200" b="1" i="0">
                <a:solidFill>
                  <a:srgbClr val="CDB5E4"/>
                </a:solidFill>
              </a:rPr>
              <a:t>TRACEABLE</a:t>
            </a:r>
          </a:p>
        </p:txBody>
      </p:sp>
      <p:sp>
        <p:nvSpPr>
          <p:cNvPr id="11" name="">
            <a:extLst xmlns:a="http://schemas.openxmlformats.org/drawingml/2006/main">
              <a:ext uri="{FF2B5EF4-FFF2-40B4-BE49-F238E27FC236}">
                <a16:creationId xmlns:a16="http://schemas.microsoft.com/office/drawing/2014/main" id="{C6070AB7-9846-45FE-ABD6-5E7A28AA639A}"/>
              </a:ext>
            </a:extLst>
          </p:cNvPr>
          <p:cNvSpPr>
            <a:spLocks xmlns:a="http://schemas.openxmlformats.org/drawingml/2006/main" noGrp="1"/>
          </p:cNvSpPr>
          <p:nvPr/>
        </p:nvSpPr>
        <p:spPr>
          <a:xfrm xmlns:a="http://schemas.openxmlformats.org/drawingml/2006/main">
            <a:off x="8134350" y="3848100"/>
            <a:ext cx="2895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2000"/>
              </a:lnSpc>
              <a:buNone/>
              <a:defRPr sz="1425" b="0" i="0">
                <a:solidFill>
                  <a:srgbClr val="FFFFFF"/>
                </a:solidFill>
              </a:defRPr>
            </a:pPr>
            <a:r>
              <a:rPr sz="1425" b="0" i="0">
                <a:solidFill>
                  <a:srgbClr val="FFFFFF"/>
                </a:solidFill>
              </a:rPr>
              <a:t>Source, version, assignment, result, and change history stay linked.</a:t>
            </a:r>
          </a:p>
        </p:txBody>
      </p:sp>
      <p:sp>
        <p:nvSpPr>
          <p:cNvPr id="12" name="">
            <a:extLst xmlns:a="http://schemas.openxmlformats.org/drawingml/2006/main">
              <a:ext uri="{FF2B5EF4-FFF2-40B4-BE49-F238E27FC236}">
                <a16:creationId xmlns:a16="http://schemas.microsoft.com/office/drawing/2014/main" id="{262B487C-F807-4260-898F-F0F0CCA0FC25}"/>
              </a:ext>
            </a:extLst>
          </p:cNvPr>
          <p:cNvSpPr>
            <a:spLocks xmlns:a="http://schemas.openxmlformats.org/drawingml/2006/main" noGrp="1"/>
          </p:cNvSpPr>
          <p:nvPr/>
        </p:nvSpPr>
        <p:spPr>
          <a:xfrm xmlns:a="http://schemas.openxmlformats.org/drawingml/2006/main">
            <a:off x="533400" y="5276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l">
              <a:defRPr sz="1200" b="1" i="0">
                <a:solidFill>
                  <a:srgbClr val="CDB5E4"/>
                </a:solidFill>
              </a:defRPr>
            </a:pPr>
            <a:r>
              <a:rPr sz="1200" b="1" i="0">
                <a:solidFill>
                  <a:srgbClr val="CDB5E4"/>
                </a:solidFill>
              </a:rPr>
              <a:t>Next business workshop</a:t>
            </a:r>
          </a:p>
        </p:txBody>
      </p:sp>
      <p:sp>
        <p:nvSpPr>
          <p:cNvPr id="13" name="">
            <a:extLst xmlns:a="http://schemas.openxmlformats.org/drawingml/2006/main">
              <a:ext uri="{FF2B5EF4-FFF2-40B4-BE49-F238E27FC236}">
                <a16:creationId xmlns:a16="http://schemas.microsoft.com/office/drawing/2014/main" id="{B7762DAC-521F-40F7-84A9-310581E25D02}"/>
              </a:ext>
            </a:extLst>
          </p:cNvPr>
          <p:cNvSpPr>
            <a:spLocks xmlns:a="http://schemas.openxmlformats.org/drawingml/2006/main" noGrp="1"/>
          </p:cNvSpPr>
          <p:nvPr/>
        </p:nvSpPr>
        <p:spPr>
          <a:xfrm xmlns:a="http://schemas.openxmlformats.org/drawingml/2006/main">
            <a:off x="533400" y="56578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i="0">
                <a:solidFill>
                  <a:srgbClr val="FFFFFF"/>
                </a:solidFill>
              </a:defRPr>
            </a:pPr>
            <a:r>
              <a:rPr sz="1500" b="0" i="0">
                <a:solidFill>
                  <a:srgbClr val="FFFFFF"/>
                </a:solidFill>
              </a:rPr>
              <a:t>Validate one representative scenario per engine  •  confirm employee groups  •  confirm owners and effective dates</a:t>
            </a:r>
          </a:p>
        </p:txBody>
      </p:sp>
      <p:sp>
        <p:nvSpPr>
          <p:cNvPr id="14" name="">
            <a:extLst xmlns:a="http://schemas.openxmlformats.org/drawingml/2006/main">
              <a:ext uri="{FF2B5EF4-FFF2-40B4-BE49-F238E27FC236}">
                <a16:creationId xmlns:a16="http://schemas.microsoft.com/office/drawing/2014/main" id="{CEB59D38-4ABA-4507-9588-09EC539C3E4D}"/>
              </a:ext>
            </a:extLst>
          </p:cNvPr>
          <p:cNvSpPr>
            <a:spLocks xmlns:a="http://schemas.openxmlformats.org/drawingml/2006/main" noGrp="1"/>
          </p:cNvSpPr>
          <p:nvPr/>
        </p:nvSpPr>
        <p:spPr>
          <a:xfrm xmlns:a="http://schemas.openxmlformats.org/drawingml/2006/main">
            <a:off x="11049000" y="647700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9A9A9A"/>
                </a:solidFill>
              </a:defRPr>
            </a:pPr>
            <a:r>
              <a:rPr sz="825" b="1" i="0">
                <a:solidFill>
                  <a:srgbClr val="9A9A9A"/>
                </a:solidFill>
              </a:rPr>
              <a:t>14</a:t>
            </a:r>
          </a:p>
        </p:txBody>
      </p:sp>
    </p:spTree>
    <p:extLst>
      <p:ext uri="{BB962C8B-B14F-4D97-AF65-F5344CB8AC3E}">
        <p14:creationId xmlns:p14="http://schemas.microsoft.com/office/powerpoint/2010/main" val="48659501"/>
      </p:ext>
    </p:extLst>
  </p:cSld>
</p:sld>
</file>

<file path=ppt/slides/slide15.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A6706ED8-BB6B-4745-A494-4DC5412B54B8}"/>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ANNEX A</a:t>
            </a:r>
          </a:p>
        </p:txBody>
      </p:sp>
      <p:sp>
        <p:nvSpPr>
          <p:cNvPr id="2" name="">
            <a:extLst xmlns:a="http://schemas.openxmlformats.org/drawingml/2006/main">
              <a:ext uri="{FF2B5EF4-FFF2-40B4-BE49-F238E27FC236}">
                <a16:creationId xmlns:a16="http://schemas.microsoft.com/office/drawing/2014/main" id="{A7A222D3-E9FE-4255-9C7A-0ABC298E8465}"/>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TRACEABILITY</a:t>
            </a:r>
          </a:p>
        </p:txBody>
      </p:sp>
      <p:sp>
        <p:nvSpPr>
          <p:cNvPr id="3" name="">
            <a:extLst xmlns:a="http://schemas.openxmlformats.org/drawingml/2006/main">
              <a:ext uri="{FF2B5EF4-FFF2-40B4-BE49-F238E27FC236}">
                <a16:creationId xmlns:a16="http://schemas.microsoft.com/office/drawing/2014/main" id="{C4816BAB-B1B3-4A2A-8343-7D6F5281BAD9}"/>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Requirement-to-wireframe map</a:t>
            </a:r>
          </a:p>
        </p:txBody>
      </p:sp>
      <p:sp>
        <p:nvSpPr>
          <p:cNvPr id="4" name="">
            <a:extLst xmlns:a="http://schemas.openxmlformats.org/drawingml/2006/main">
              <a:ext uri="{FF2B5EF4-FFF2-40B4-BE49-F238E27FC236}">
                <a16:creationId xmlns:a16="http://schemas.microsoft.com/office/drawing/2014/main" id="{AA2CE70C-ECE4-4E94-B513-E88024286244}"/>
              </a:ext>
            </a:extLst>
          </p:cNvPr>
          <p:cNvSpPr>
            <a:spLocks xmlns:a="http://schemas.openxmlformats.org/drawingml/2006/main" noGrp="1"/>
          </p:cNvSpPr>
          <p:nvPr/>
        </p:nvSpPr>
        <p:spPr>
          <a:xfrm xmlns:a="http://schemas.openxmlformats.org/drawingml/2006/main">
            <a:off x="533400" y="1409700"/>
            <a:ext cx="1657350" cy="514350"/>
          </a:xfrm>
          <a:prstGeom xmlns:a="http://schemas.openxmlformats.org/drawingml/2006/main" prst="rect">
            <a:avLst/>
          </a:prstGeom>
          <a:solidFill xmlns:a="http://schemas.openxmlformats.org/drawingml/2006/main">
            <a:srgbClr val="111111"/>
          </a:solidFill>
          <a:ln xmlns:a="http://schemas.openxmlformats.org/drawingml/2006/main" w="9525">
            <a:solidFill>
              <a:srgbClr val="111111"/>
            </a:solidFill>
            <a:prstDash val="solid"/>
          </a:ln>
        </p:spPr>
      </p:sp>
      <p:sp>
        <p:nvSpPr>
          <p:cNvPr id="5" name="">
            <a:extLst xmlns:a="http://schemas.openxmlformats.org/drawingml/2006/main">
              <a:ext uri="{FF2B5EF4-FFF2-40B4-BE49-F238E27FC236}">
                <a16:creationId xmlns:a16="http://schemas.microsoft.com/office/drawing/2014/main" id="{97B81966-60C6-494B-931A-D61F35CDF5D0}"/>
              </a:ext>
            </a:extLst>
          </p:cNvPr>
          <p:cNvSpPr>
            <a:spLocks xmlns:a="http://schemas.openxmlformats.org/drawingml/2006/main" noGrp="1"/>
          </p:cNvSpPr>
          <p:nvPr/>
        </p:nvSpPr>
        <p:spPr>
          <a:xfrm xmlns:a="http://schemas.openxmlformats.org/drawingml/2006/main">
            <a:off x="647700" y="1543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i="0">
                <a:solidFill>
                  <a:srgbClr val="FFFFFF"/>
                </a:solidFill>
              </a:defRPr>
            </a:pPr>
            <a:r>
              <a:rPr sz="1125" b="1" i="0">
                <a:solidFill>
                  <a:srgbClr val="FFFFFF"/>
                </a:solidFill>
              </a:rPr>
              <a:t>Business area</a:t>
            </a:r>
          </a:p>
        </p:txBody>
      </p:sp>
      <p:sp>
        <p:nvSpPr>
          <p:cNvPr id="6" name="">
            <a:extLst xmlns:a="http://schemas.openxmlformats.org/drawingml/2006/main">
              <a:ext uri="{FF2B5EF4-FFF2-40B4-BE49-F238E27FC236}">
                <a16:creationId xmlns:a16="http://schemas.microsoft.com/office/drawing/2014/main" id="{6A9B9F8A-D40B-46A1-B998-61179FD5FD3B}"/>
              </a:ext>
            </a:extLst>
          </p:cNvPr>
          <p:cNvSpPr>
            <a:spLocks xmlns:a="http://schemas.openxmlformats.org/drawingml/2006/main" noGrp="1"/>
          </p:cNvSpPr>
          <p:nvPr/>
        </p:nvSpPr>
        <p:spPr>
          <a:xfrm xmlns:a="http://schemas.openxmlformats.org/drawingml/2006/main">
            <a:off x="2305050" y="1409700"/>
            <a:ext cx="2914650" cy="514350"/>
          </a:xfrm>
          <a:prstGeom xmlns:a="http://schemas.openxmlformats.org/drawingml/2006/main" prst="rect">
            <a:avLst/>
          </a:prstGeom>
          <a:solidFill xmlns:a="http://schemas.openxmlformats.org/drawingml/2006/main">
            <a:srgbClr val="111111"/>
          </a:solidFill>
          <a:ln xmlns:a="http://schemas.openxmlformats.org/drawingml/2006/main" w="9525">
            <a:solidFill>
              <a:srgbClr val="111111"/>
            </a:solidFill>
            <a:prstDash val="solid"/>
          </a:ln>
        </p:spPr>
      </p:sp>
      <p:sp>
        <p:nvSpPr>
          <p:cNvPr id="7" name="">
            <a:extLst xmlns:a="http://schemas.openxmlformats.org/drawingml/2006/main">
              <a:ext uri="{FF2B5EF4-FFF2-40B4-BE49-F238E27FC236}">
                <a16:creationId xmlns:a16="http://schemas.microsoft.com/office/drawing/2014/main" id="{C4A252D5-8A48-4BC0-B2A0-D863F32EF7C5}"/>
              </a:ext>
            </a:extLst>
          </p:cNvPr>
          <p:cNvSpPr>
            <a:spLocks xmlns:a="http://schemas.openxmlformats.org/drawingml/2006/main" noGrp="1"/>
          </p:cNvSpPr>
          <p:nvPr/>
        </p:nvSpPr>
        <p:spPr>
          <a:xfrm xmlns:a="http://schemas.openxmlformats.org/drawingml/2006/main">
            <a:off x="2419350" y="15430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i="0">
                <a:solidFill>
                  <a:srgbClr val="FFFFFF"/>
                </a:solidFill>
              </a:defRPr>
            </a:pPr>
            <a:r>
              <a:rPr sz="1125" b="1" i="0">
                <a:solidFill>
                  <a:srgbClr val="FFFFFF"/>
                </a:solidFill>
              </a:rPr>
              <a:t>Source of truth</a:t>
            </a:r>
          </a:p>
        </p:txBody>
      </p:sp>
      <p:sp>
        <p:nvSpPr>
          <p:cNvPr id="8" name="">
            <a:extLst xmlns:a="http://schemas.openxmlformats.org/drawingml/2006/main">
              <a:ext uri="{FF2B5EF4-FFF2-40B4-BE49-F238E27FC236}">
                <a16:creationId xmlns:a16="http://schemas.microsoft.com/office/drawing/2014/main" id="{C2A35704-3F6C-4D3C-9450-85D9AEADD6BE}"/>
              </a:ext>
            </a:extLst>
          </p:cNvPr>
          <p:cNvSpPr>
            <a:spLocks xmlns:a="http://schemas.openxmlformats.org/drawingml/2006/main" noGrp="1"/>
          </p:cNvSpPr>
          <p:nvPr/>
        </p:nvSpPr>
        <p:spPr>
          <a:xfrm xmlns:a="http://schemas.openxmlformats.org/drawingml/2006/main">
            <a:off x="5334000" y="1409700"/>
            <a:ext cx="3505200" cy="514350"/>
          </a:xfrm>
          <a:prstGeom xmlns:a="http://schemas.openxmlformats.org/drawingml/2006/main" prst="rect">
            <a:avLst/>
          </a:prstGeom>
          <a:solidFill xmlns:a="http://schemas.openxmlformats.org/drawingml/2006/main">
            <a:srgbClr val="111111"/>
          </a:solidFill>
          <a:ln xmlns:a="http://schemas.openxmlformats.org/drawingml/2006/main" w="9525">
            <a:solidFill>
              <a:srgbClr val="111111"/>
            </a:solidFill>
            <a:prstDash val="solid"/>
          </a:ln>
        </p:spPr>
      </p:sp>
      <p:sp>
        <p:nvSpPr>
          <p:cNvPr id="9" name="">
            <a:extLst xmlns:a="http://schemas.openxmlformats.org/drawingml/2006/main">
              <a:ext uri="{FF2B5EF4-FFF2-40B4-BE49-F238E27FC236}">
                <a16:creationId xmlns:a16="http://schemas.microsoft.com/office/drawing/2014/main" id="{4167051E-2FE0-4111-8EFB-0C0A7CFD0ADB}"/>
              </a:ext>
            </a:extLst>
          </p:cNvPr>
          <p:cNvSpPr>
            <a:spLocks xmlns:a="http://schemas.openxmlformats.org/drawingml/2006/main" noGrp="1"/>
          </p:cNvSpPr>
          <p:nvPr/>
        </p:nvSpPr>
        <p:spPr>
          <a:xfrm xmlns:a="http://schemas.openxmlformats.org/drawingml/2006/main">
            <a:off x="5448300" y="1543050"/>
            <a:ext cx="3276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i="0">
                <a:solidFill>
                  <a:srgbClr val="FFFFFF"/>
                </a:solidFill>
              </a:defRPr>
            </a:pPr>
            <a:r>
              <a:rPr sz="1125" b="1" i="0">
                <a:solidFill>
                  <a:srgbClr val="FFFFFF"/>
                </a:solidFill>
              </a:rPr>
              <a:t>Wireframe translation</a:t>
            </a:r>
          </a:p>
        </p:txBody>
      </p:sp>
      <p:sp>
        <p:nvSpPr>
          <p:cNvPr id="10" name="">
            <a:extLst xmlns:a="http://schemas.openxmlformats.org/drawingml/2006/main">
              <a:ext uri="{FF2B5EF4-FFF2-40B4-BE49-F238E27FC236}">
                <a16:creationId xmlns:a16="http://schemas.microsoft.com/office/drawing/2014/main" id="{752AFC30-F305-4386-B708-21A8BEAC9EC4}"/>
              </a:ext>
            </a:extLst>
          </p:cNvPr>
          <p:cNvSpPr>
            <a:spLocks xmlns:a="http://schemas.openxmlformats.org/drawingml/2006/main" noGrp="1"/>
          </p:cNvSpPr>
          <p:nvPr/>
        </p:nvSpPr>
        <p:spPr>
          <a:xfrm xmlns:a="http://schemas.openxmlformats.org/drawingml/2006/main">
            <a:off x="8953500" y="1409700"/>
            <a:ext cx="2705100" cy="514350"/>
          </a:xfrm>
          <a:prstGeom xmlns:a="http://schemas.openxmlformats.org/drawingml/2006/main" prst="rect">
            <a:avLst/>
          </a:prstGeom>
          <a:solidFill xmlns:a="http://schemas.openxmlformats.org/drawingml/2006/main">
            <a:srgbClr val="111111"/>
          </a:solidFill>
          <a:ln xmlns:a="http://schemas.openxmlformats.org/drawingml/2006/main" w="9525">
            <a:solidFill>
              <a:srgbClr val="111111"/>
            </a:solidFill>
            <a:prstDash val="solid"/>
          </a:ln>
        </p:spPr>
      </p:sp>
      <p:sp>
        <p:nvSpPr>
          <p:cNvPr id="11" name="">
            <a:extLst xmlns:a="http://schemas.openxmlformats.org/drawingml/2006/main">
              <a:ext uri="{FF2B5EF4-FFF2-40B4-BE49-F238E27FC236}">
                <a16:creationId xmlns:a16="http://schemas.microsoft.com/office/drawing/2014/main" id="{3F13672F-75C1-431C-A8DE-D716196A2988}"/>
              </a:ext>
            </a:extLst>
          </p:cNvPr>
          <p:cNvSpPr>
            <a:spLocks xmlns:a="http://schemas.openxmlformats.org/drawingml/2006/main" noGrp="1"/>
          </p:cNvSpPr>
          <p:nvPr/>
        </p:nvSpPr>
        <p:spPr>
          <a:xfrm xmlns:a="http://schemas.openxmlformats.org/drawingml/2006/main">
            <a:off x="9067800" y="15430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i="0">
                <a:solidFill>
                  <a:srgbClr val="FFFFFF"/>
                </a:solidFill>
              </a:defRPr>
            </a:pPr>
            <a:r>
              <a:rPr sz="1125" b="1" i="0">
                <a:solidFill>
                  <a:srgbClr val="FFFFFF"/>
                </a:solidFill>
              </a:rPr>
              <a:t>Demo evidence</a:t>
            </a:r>
          </a:p>
        </p:txBody>
      </p:sp>
      <p:sp>
        <p:nvSpPr>
          <p:cNvPr id="12" name="">
            <a:extLst xmlns:a="http://schemas.openxmlformats.org/drawingml/2006/main">
              <a:ext uri="{FF2B5EF4-FFF2-40B4-BE49-F238E27FC236}">
                <a16:creationId xmlns:a16="http://schemas.microsoft.com/office/drawing/2014/main" id="{82A307E6-1926-4564-BD9E-48E7E6962153}"/>
              </a:ext>
            </a:extLst>
          </p:cNvPr>
          <p:cNvSpPr>
            <a:spLocks xmlns:a="http://schemas.openxmlformats.org/drawingml/2006/main" noGrp="1"/>
          </p:cNvSpPr>
          <p:nvPr/>
        </p:nvSpPr>
        <p:spPr>
          <a:xfrm xmlns:a="http://schemas.openxmlformats.org/drawingml/2006/main">
            <a:off x="533400" y="1924050"/>
            <a:ext cx="16573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13" name="">
            <a:extLst xmlns:a="http://schemas.openxmlformats.org/drawingml/2006/main">
              <a:ext uri="{FF2B5EF4-FFF2-40B4-BE49-F238E27FC236}">
                <a16:creationId xmlns:a16="http://schemas.microsoft.com/office/drawing/2014/main" id="{F1B6BCA1-B9DB-4D2E-96D8-AFF8B747F832}"/>
              </a:ext>
            </a:extLst>
          </p:cNvPr>
          <p:cNvSpPr>
            <a:spLocks xmlns:a="http://schemas.openxmlformats.org/drawingml/2006/main" noGrp="1"/>
          </p:cNvSpPr>
          <p:nvPr/>
        </p:nvSpPr>
        <p:spPr>
          <a:xfrm xmlns:a="http://schemas.openxmlformats.org/drawingml/2006/main">
            <a:off x="647700" y="20383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Take-Home Pay</a:t>
            </a:r>
          </a:p>
        </p:txBody>
      </p:sp>
      <p:sp>
        <p:nvSpPr>
          <p:cNvPr id="14" name="">
            <a:extLst xmlns:a="http://schemas.openxmlformats.org/drawingml/2006/main">
              <a:ext uri="{FF2B5EF4-FFF2-40B4-BE49-F238E27FC236}">
                <a16:creationId xmlns:a16="http://schemas.microsoft.com/office/drawing/2014/main" id="{8EA31D6A-9CEC-4433-83DF-8E3F9947E2DF}"/>
              </a:ext>
            </a:extLst>
          </p:cNvPr>
          <p:cNvSpPr>
            <a:spLocks xmlns:a="http://schemas.openxmlformats.org/drawingml/2006/main" noGrp="1"/>
          </p:cNvSpPr>
          <p:nvPr/>
        </p:nvSpPr>
        <p:spPr>
          <a:xfrm xmlns:a="http://schemas.openxmlformats.org/drawingml/2006/main">
            <a:off x="2305050" y="1924050"/>
            <a:ext cx="29146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15" name="">
            <a:extLst xmlns:a="http://schemas.openxmlformats.org/drawingml/2006/main">
              <a:ext uri="{FF2B5EF4-FFF2-40B4-BE49-F238E27FC236}">
                <a16:creationId xmlns:a16="http://schemas.microsoft.com/office/drawing/2014/main" id="{68CEEC67-7244-4DB2-A759-10DD4D5B162E}"/>
              </a:ext>
            </a:extLst>
          </p:cNvPr>
          <p:cNvSpPr>
            <a:spLocks xmlns:a="http://schemas.openxmlformats.org/drawingml/2006/main" noGrp="1"/>
          </p:cNvSpPr>
          <p:nvPr/>
        </p:nvSpPr>
        <p:spPr>
          <a:xfrm xmlns:a="http://schemas.openxmlformats.org/drawingml/2006/main">
            <a:off x="2419350" y="20383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Annex B — Take Home Pay</a:t>
            </a:r>
          </a:p>
          <a:p xmlns:a="http://schemas.openxmlformats.org/drawingml/2006/main">
            <a:pPr algn="l">
              <a:defRPr sz="1125" b="0" i="0">
                <a:solidFill>
                  <a:srgbClr val="111111"/>
                </a:solidFill>
              </a:defRPr>
            </a:pPr>
            <a:r>
              <a:rPr sz="1125" b="0" i="0">
                <a:solidFill>
                  <a:srgbClr val="111111"/>
                </a:solidFill>
              </a:rPr>
              <a:t>BRD Audit H54:J54</a:t>
            </a:r>
          </a:p>
        </p:txBody>
      </p:sp>
      <p:sp>
        <p:nvSpPr>
          <p:cNvPr id="16" name="">
            <a:extLst xmlns:a="http://schemas.openxmlformats.org/drawingml/2006/main">
              <a:ext uri="{FF2B5EF4-FFF2-40B4-BE49-F238E27FC236}">
                <a16:creationId xmlns:a16="http://schemas.microsoft.com/office/drawing/2014/main" id="{34E40DA2-0D27-474C-88F5-685B1548B70D}"/>
              </a:ext>
            </a:extLst>
          </p:cNvPr>
          <p:cNvSpPr>
            <a:spLocks xmlns:a="http://schemas.openxmlformats.org/drawingml/2006/main" noGrp="1"/>
          </p:cNvSpPr>
          <p:nvPr/>
        </p:nvSpPr>
        <p:spPr>
          <a:xfrm xmlns:a="http://schemas.openxmlformats.org/drawingml/2006/main">
            <a:off x="5334000" y="1924050"/>
            <a:ext cx="35052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17" name="">
            <a:extLst xmlns:a="http://schemas.openxmlformats.org/drawingml/2006/main">
              <a:ext uri="{FF2B5EF4-FFF2-40B4-BE49-F238E27FC236}">
                <a16:creationId xmlns:a16="http://schemas.microsoft.com/office/drawing/2014/main" id="{5EECCC40-218B-48B9-B5DB-04DECF00AA04}"/>
              </a:ext>
            </a:extLst>
          </p:cNvPr>
          <p:cNvSpPr>
            <a:spLocks xmlns:a="http://schemas.openxmlformats.org/drawingml/2006/main" noGrp="1"/>
          </p:cNvSpPr>
          <p:nvPr/>
        </p:nvSpPr>
        <p:spPr>
          <a:xfrm xmlns:a="http://schemas.openxmlformats.org/drawingml/2006/main">
            <a:off x="5448300" y="2038350"/>
            <a:ext cx="327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THP-001/002 + REF-011 + deferral and module links</a:t>
            </a:r>
          </a:p>
        </p:txBody>
      </p:sp>
      <p:sp>
        <p:nvSpPr>
          <p:cNvPr id="18" name="">
            <a:extLst xmlns:a="http://schemas.openxmlformats.org/drawingml/2006/main">
              <a:ext uri="{FF2B5EF4-FFF2-40B4-BE49-F238E27FC236}">
                <a16:creationId xmlns:a16="http://schemas.microsoft.com/office/drawing/2014/main" id="{86F9F5AB-0476-4C51-B4C7-811A91F45BAD}"/>
              </a:ext>
            </a:extLst>
          </p:cNvPr>
          <p:cNvSpPr>
            <a:spLocks xmlns:a="http://schemas.openxmlformats.org/drawingml/2006/main" noGrp="1"/>
          </p:cNvSpPr>
          <p:nvPr/>
        </p:nvSpPr>
        <p:spPr>
          <a:xfrm xmlns:a="http://schemas.openxmlformats.org/drawingml/2006/main">
            <a:off x="8953500" y="1924050"/>
            <a:ext cx="27051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19" name="">
            <a:extLst xmlns:a="http://schemas.openxmlformats.org/drawingml/2006/main">
              <a:ext uri="{FF2B5EF4-FFF2-40B4-BE49-F238E27FC236}">
                <a16:creationId xmlns:a16="http://schemas.microsoft.com/office/drawing/2014/main" id="{E6F7733C-6485-4D5F-811D-ADAF5AA6C16A}"/>
              </a:ext>
            </a:extLst>
          </p:cNvPr>
          <p:cNvSpPr>
            <a:spLocks xmlns:a="http://schemas.openxmlformats.org/drawingml/2006/main" noGrp="1"/>
          </p:cNvSpPr>
          <p:nvPr/>
        </p:nvSpPr>
        <p:spPr>
          <a:xfrm xmlns:a="http://schemas.openxmlformats.org/drawingml/2006/main">
            <a:off x="9067800" y="20383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Slides 6–7</a:t>
            </a:r>
          </a:p>
        </p:txBody>
      </p:sp>
      <p:sp>
        <p:nvSpPr>
          <p:cNvPr id="20" name="">
            <a:extLst xmlns:a="http://schemas.openxmlformats.org/drawingml/2006/main">
              <a:ext uri="{FF2B5EF4-FFF2-40B4-BE49-F238E27FC236}">
                <a16:creationId xmlns:a16="http://schemas.microsoft.com/office/drawing/2014/main" id="{1B6417FA-9CC9-422B-A237-5C4A92797B39}"/>
              </a:ext>
            </a:extLst>
          </p:cNvPr>
          <p:cNvSpPr>
            <a:spLocks xmlns:a="http://schemas.openxmlformats.org/drawingml/2006/main" noGrp="1"/>
          </p:cNvSpPr>
          <p:nvPr/>
        </p:nvSpPr>
        <p:spPr>
          <a:xfrm xmlns:a="http://schemas.openxmlformats.org/drawingml/2006/main">
            <a:off x="533400" y="2762250"/>
            <a:ext cx="1657350" cy="838200"/>
          </a:xfrm>
          <a:prstGeom xmlns:a="http://schemas.openxmlformats.org/drawingml/2006/main" prst="rect">
            <a:avLst/>
          </a:prstGeom>
          <a:solidFill xmlns:a="http://schemas.openxmlformats.org/drawingml/2006/main">
            <a:srgbClr val="F0EFEC"/>
          </a:solidFill>
          <a:ln xmlns:a="http://schemas.openxmlformats.org/drawingml/2006/main" w="9525">
            <a:solidFill>
              <a:srgbClr val="D1CFCA"/>
            </a:solidFill>
            <a:prstDash val="solid"/>
          </a:ln>
        </p:spPr>
      </p:sp>
      <p:sp>
        <p:nvSpPr>
          <p:cNvPr id="21" name="">
            <a:extLst xmlns:a="http://schemas.openxmlformats.org/drawingml/2006/main">
              <a:ext uri="{FF2B5EF4-FFF2-40B4-BE49-F238E27FC236}">
                <a16:creationId xmlns:a16="http://schemas.microsoft.com/office/drawing/2014/main" id="{A3446039-0B79-4273-A677-E552F2D5BCEF}"/>
              </a:ext>
            </a:extLst>
          </p:cNvPr>
          <p:cNvSpPr>
            <a:spLocks xmlns:a="http://schemas.openxmlformats.org/drawingml/2006/main" noGrp="1"/>
          </p:cNvSpPr>
          <p:nvPr/>
        </p:nvSpPr>
        <p:spPr>
          <a:xfrm xmlns:a="http://schemas.openxmlformats.org/drawingml/2006/main">
            <a:off x="647700" y="28765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Retirement Pay</a:t>
            </a:r>
          </a:p>
        </p:txBody>
      </p:sp>
      <p:sp>
        <p:nvSpPr>
          <p:cNvPr id="22" name="">
            <a:extLst xmlns:a="http://schemas.openxmlformats.org/drawingml/2006/main">
              <a:ext uri="{FF2B5EF4-FFF2-40B4-BE49-F238E27FC236}">
                <a16:creationId xmlns:a16="http://schemas.microsoft.com/office/drawing/2014/main" id="{E0681144-0F69-4EDC-93F2-65A4DF876971}"/>
              </a:ext>
            </a:extLst>
          </p:cNvPr>
          <p:cNvSpPr>
            <a:spLocks xmlns:a="http://schemas.openxmlformats.org/drawingml/2006/main" noGrp="1"/>
          </p:cNvSpPr>
          <p:nvPr/>
        </p:nvSpPr>
        <p:spPr>
          <a:xfrm xmlns:a="http://schemas.openxmlformats.org/drawingml/2006/main">
            <a:off x="2305050" y="2762250"/>
            <a:ext cx="2914650" cy="838200"/>
          </a:xfrm>
          <a:prstGeom xmlns:a="http://schemas.openxmlformats.org/drawingml/2006/main" prst="rect">
            <a:avLst/>
          </a:prstGeom>
          <a:solidFill xmlns:a="http://schemas.openxmlformats.org/drawingml/2006/main">
            <a:srgbClr val="F0EFEC"/>
          </a:solidFill>
          <a:ln xmlns:a="http://schemas.openxmlformats.org/drawingml/2006/main" w="9525">
            <a:solidFill>
              <a:srgbClr val="D1CFCA"/>
            </a:solidFill>
            <a:prstDash val="solid"/>
          </a:ln>
        </p:spPr>
      </p:sp>
      <p:sp>
        <p:nvSpPr>
          <p:cNvPr id="23" name="">
            <a:extLst xmlns:a="http://schemas.openxmlformats.org/drawingml/2006/main">
              <a:ext uri="{FF2B5EF4-FFF2-40B4-BE49-F238E27FC236}">
                <a16:creationId xmlns:a16="http://schemas.microsoft.com/office/drawing/2014/main" id="{FA303231-4A81-415C-AED5-99DCD39389AE}"/>
              </a:ext>
            </a:extLst>
          </p:cNvPr>
          <p:cNvSpPr>
            <a:spLocks xmlns:a="http://schemas.openxmlformats.org/drawingml/2006/main" noGrp="1"/>
          </p:cNvSpPr>
          <p:nvPr/>
        </p:nvSpPr>
        <p:spPr>
          <a:xfrm xmlns:a="http://schemas.openxmlformats.org/drawingml/2006/main">
            <a:off x="2419350" y="28765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Annex B — Retirement Pay</a:t>
            </a:r>
          </a:p>
          <a:p xmlns:a="http://schemas.openxmlformats.org/drawingml/2006/main">
            <a:pPr algn="l">
              <a:defRPr sz="1125" b="0" i="0">
                <a:solidFill>
                  <a:srgbClr val="111111"/>
                </a:solidFill>
              </a:defRPr>
            </a:pPr>
            <a:r>
              <a:rPr sz="1125" b="0" i="0">
                <a:solidFill>
                  <a:srgbClr val="111111"/>
                </a:solidFill>
              </a:rPr>
              <a:t>Retirement sample workbook</a:t>
            </a:r>
          </a:p>
        </p:txBody>
      </p:sp>
      <p:sp>
        <p:nvSpPr>
          <p:cNvPr id="24" name="">
            <a:extLst xmlns:a="http://schemas.openxmlformats.org/drawingml/2006/main">
              <a:ext uri="{FF2B5EF4-FFF2-40B4-BE49-F238E27FC236}">
                <a16:creationId xmlns:a16="http://schemas.microsoft.com/office/drawing/2014/main" id="{B3AE29ED-E897-4F63-855A-046902DD4DC5}"/>
              </a:ext>
            </a:extLst>
          </p:cNvPr>
          <p:cNvSpPr>
            <a:spLocks xmlns:a="http://schemas.openxmlformats.org/drawingml/2006/main" noGrp="1"/>
          </p:cNvSpPr>
          <p:nvPr/>
        </p:nvSpPr>
        <p:spPr>
          <a:xfrm xmlns:a="http://schemas.openxmlformats.org/drawingml/2006/main">
            <a:off x="5334000" y="2762250"/>
            <a:ext cx="3505200" cy="838200"/>
          </a:xfrm>
          <a:prstGeom xmlns:a="http://schemas.openxmlformats.org/drawingml/2006/main" prst="rect">
            <a:avLst/>
          </a:prstGeom>
          <a:solidFill xmlns:a="http://schemas.openxmlformats.org/drawingml/2006/main">
            <a:srgbClr val="F0EFEC"/>
          </a:solidFill>
          <a:ln xmlns:a="http://schemas.openxmlformats.org/drawingml/2006/main" w="9525">
            <a:solidFill>
              <a:srgbClr val="D1CFCA"/>
            </a:solidFill>
            <a:prstDash val="solid"/>
          </a:ln>
        </p:spPr>
      </p:sp>
      <p:sp>
        <p:nvSpPr>
          <p:cNvPr id="25" name="">
            <a:extLst xmlns:a="http://schemas.openxmlformats.org/drawingml/2006/main">
              <a:ext uri="{FF2B5EF4-FFF2-40B4-BE49-F238E27FC236}">
                <a16:creationId xmlns:a16="http://schemas.microsoft.com/office/drawing/2014/main" id="{276C8C31-3238-4745-BD7D-1B583FAF7ECA}"/>
              </a:ext>
            </a:extLst>
          </p:cNvPr>
          <p:cNvSpPr>
            <a:spLocks xmlns:a="http://schemas.openxmlformats.org/drawingml/2006/main" noGrp="1"/>
          </p:cNvSpPr>
          <p:nvPr/>
        </p:nvSpPr>
        <p:spPr>
          <a:xfrm xmlns:a="http://schemas.openxmlformats.org/drawingml/2006/main">
            <a:off x="5448300" y="2876550"/>
            <a:ext cx="327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RET-001/002 + eligibility, rounding, plan comparison</a:t>
            </a:r>
          </a:p>
        </p:txBody>
      </p:sp>
      <p:sp>
        <p:nvSpPr>
          <p:cNvPr id="26" name="">
            <a:extLst xmlns:a="http://schemas.openxmlformats.org/drawingml/2006/main">
              <a:ext uri="{FF2B5EF4-FFF2-40B4-BE49-F238E27FC236}">
                <a16:creationId xmlns:a16="http://schemas.microsoft.com/office/drawing/2014/main" id="{221BC520-E7DB-4D26-9672-73B431031894}"/>
              </a:ext>
            </a:extLst>
          </p:cNvPr>
          <p:cNvSpPr>
            <a:spLocks xmlns:a="http://schemas.openxmlformats.org/drawingml/2006/main" noGrp="1"/>
          </p:cNvSpPr>
          <p:nvPr/>
        </p:nvSpPr>
        <p:spPr>
          <a:xfrm xmlns:a="http://schemas.openxmlformats.org/drawingml/2006/main">
            <a:off x="8953500" y="2762250"/>
            <a:ext cx="2705100" cy="838200"/>
          </a:xfrm>
          <a:prstGeom xmlns:a="http://schemas.openxmlformats.org/drawingml/2006/main" prst="rect">
            <a:avLst/>
          </a:prstGeom>
          <a:solidFill xmlns:a="http://schemas.openxmlformats.org/drawingml/2006/main">
            <a:srgbClr val="F0EFEC"/>
          </a:solidFill>
          <a:ln xmlns:a="http://schemas.openxmlformats.org/drawingml/2006/main" w="9525">
            <a:solidFill>
              <a:srgbClr val="D1CFCA"/>
            </a:solidFill>
            <a:prstDash val="solid"/>
          </a:ln>
        </p:spPr>
      </p:sp>
      <p:sp>
        <p:nvSpPr>
          <p:cNvPr id="27" name="">
            <a:extLst xmlns:a="http://schemas.openxmlformats.org/drawingml/2006/main">
              <a:ext uri="{FF2B5EF4-FFF2-40B4-BE49-F238E27FC236}">
                <a16:creationId xmlns:a16="http://schemas.microsoft.com/office/drawing/2014/main" id="{827FDE3C-8C2C-4BA9-85F5-3DDE370692E4}"/>
              </a:ext>
            </a:extLst>
          </p:cNvPr>
          <p:cNvSpPr>
            <a:spLocks xmlns:a="http://schemas.openxmlformats.org/drawingml/2006/main" noGrp="1"/>
          </p:cNvSpPr>
          <p:nvPr/>
        </p:nvSpPr>
        <p:spPr>
          <a:xfrm xmlns:a="http://schemas.openxmlformats.org/drawingml/2006/main">
            <a:off x="9067800" y="28765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Slide 8</a:t>
            </a:r>
          </a:p>
        </p:txBody>
      </p:sp>
      <p:sp>
        <p:nvSpPr>
          <p:cNvPr id="28" name="">
            <a:extLst xmlns:a="http://schemas.openxmlformats.org/drawingml/2006/main">
              <a:ext uri="{FF2B5EF4-FFF2-40B4-BE49-F238E27FC236}">
                <a16:creationId xmlns:a16="http://schemas.microsoft.com/office/drawing/2014/main" id="{520263DA-F305-4441-859D-53FEA67024B8}"/>
              </a:ext>
            </a:extLst>
          </p:cNvPr>
          <p:cNvSpPr>
            <a:spLocks xmlns:a="http://schemas.openxmlformats.org/drawingml/2006/main" noGrp="1"/>
          </p:cNvSpPr>
          <p:nvPr/>
        </p:nvSpPr>
        <p:spPr>
          <a:xfrm xmlns:a="http://schemas.openxmlformats.org/drawingml/2006/main">
            <a:off x="533400" y="3600450"/>
            <a:ext cx="16573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29" name="">
            <a:extLst xmlns:a="http://schemas.openxmlformats.org/drawingml/2006/main">
              <a:ext uri="{FF2B5EF4-FFF2-40B4-BE49-F238E27FC236}">
                <a16:creationId xmlns:a16="http://schemas.microsoft.com/office/drawing/2014/main" id="{A230909A-443A-4A8A-AB3A-E5B262722826}"/>
              </a:ext>
            </a:extLst>
          </p:cNvPr>
          <p:cNvSpPr>
            <a:spLocks xmlns:a="http://schemas.openxmlformats.org/drawingml/2006/main" noGrp="1"/>
          </p:cNvSpPr>
          <p:nvPr/>
        </p:nvSpPr>
        <p:spPr>
          <a:xfrm xmlns:a="http://schemas.openxmlformats.org/drawingml/2006/main">
            <a:off x="647700" y="37147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Final Pay</a:t>
            </a:r>
          </a:p>
        </p:txBody>
      </p:sp>
      <p:sp>
        <p:nvSpPr>
          <p:cNvPr id="30" name="">
            <a:extLst xmlns:a="http://schemas.openxmlformats.org/drawingml/2006/main">
              <a:ext uri="{FF2B5EF4-FFF2-40B4-BE49-F238E27FC236}">
                <a16:creationId xmlns:a16="http://schemas.microsoft.com/office/drawing/2014/main" id="{8A707415-C663-4665-A366-AA6674D20231}"/>
              </a:ext>
            </a:extLst>
          </p:cNvPr>
          <p:cNvSpPr>
            <a:spLocks xmlns:a="http://schemas.openxmlformats.org/drawingml/2006/main" noGrp="1"/>
          </p:cNvSpPr>
          <p:nvPr/>
        </p:nvSpPr>
        <p:spPr>
          <a:xfrm xmlns:a="http://schemas.openxmlformats.org/drawingml/2006/main">
            <a:off x="2305050" y="3600450"/>
            <a:ext cx="29146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31" name="">
            <a:extLst xmlns:a="http://schemas.openxmlformats.org/drawingml/2006/main">
              <a:ext uri="{FF2B5EF4-FFF2-40B4-BE49-F238E27FC236}">
                <a16:creationId xmlns:a16="http://schemas.microsoft.com/office/drawing/2014/main" id="{0FA1F6AD-B958-42C6-9325-2CA15C29284B}"/>
              </a:ext>
            </a:extLst>
          </p:cNvPr>
          <p:cNvSpPr>
            <a:spLocks xmlns:a="http://schemas.openxmlformats.org/drawingml/2006/main" noGrp="1"/>
          </p:cNvSpPr>
          <p:nvPr/>
        </p:nvSpPr>
        <p:spPr>
          <a:xfrm xmlns:a="http://schemas.openxmlformats.org/drawingml/2006/main">
            <a:off x="2419350" y="37147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Annex B — Final Pay</a:t>
            </a:r>
          </a:p>
          <a:p xmlns:a="http://schemas.openxmlformats.org/drawingml/2006/main">
            <a:pPr algn="l">
              <a:defRPr sz="1125" b="0" i="0">
                <a:solidFill>
                  <a:srgbClr val="111111"/>
                </a:solidFill>
              </a:defRPr>
            </a:pPr>
            <a:r>
              <a:rPr sz="1125" b="0" i="0">
                <a:solidFill>
                  <a:srgbClr val="111111"/>
                </a:solidFill>
              </a:rPr>
              <a:t>BRD Audit H55:J55</a:t>
            </a:r>
          </a:p>
        </p:txBody>
      </p:sp>
      <p:sp>
        <p:nvSpPr>
          <p:cNvPr id="32" name="">
            <a:extLst xmlns:a="http://schemas.openxmlformats.org/drawingml/2006/main">
              <a:ext uri="{FF2B5EF4-FFF2-40B4-BE49-F238E27FC236}">
                <a16:creationId xmlns:a16="http://schemas.microsoft.com/office/drawing/2014/main" id="{86D6680B-AD40-4AA5-94AB-21DB28E44D50}"/>
              </a:ext>
            </a:extLst>
          </p:cNvPr>
          <p:cNvSpPr>
            <a:spLocks xmlns:a="http://schemas.openxmlformats.org/drawingml/2006/main" noGrp="1"/>
          </p:cNvSpPr>
          <p:nvPr/>
        </p:nvSpPr>
        <p:spPr>
          <a:xfrm xmlns:a="http://schemas.openxmlformats.org/drawingml/2006/main">
            <a:off x="5334000" y="3600450"/>
            <a:ext cx="35052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33" name="">
            <a:extLst xmlns:a="http://schemas.openxmlformats.org/drawingml/2006/main">
              <a:ext uri="{FF2B5EF4-FFF2-40B4-BE49-F238E27FC236}">
                <a16:creationId xmlns:a16="http://schemas.microsoft.com/office/drawing/2014/main" id="{523CC16E-698B-4049-9462-A9A42F046B52}"/>
              </a:ext>
            </a:extLst>
          </p:cNvPr>
          <p:cNvSpPr>
            <a:spLocks xmlns:a="http://schemas.openxmlformats.org/drawingml/2006/main" noGrp="1"/>
          </p:cNvSpPr>
          <p:nvPr/>
        </p:nvSpPr>
        <p:spPr>
          <a:xfrm xmlns:a="http://schemas.openxmlformats.org/drawingml/2006/main">
            <a:off x="5448300" y="3714750"/>
            <a:ext cx="327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FIN-001 + leave, retirement, loans, accountabilities, tax</a:t>
            </a:r>
          </a:p>
        </p:txBody>
      </p:sp>
      <p:sp>
        <p:nvSpPr>
          <p:cNvPr id="34" name="">
            <a:extLst xmlns:a="http://schemas.openxmlformats.org/drawingml/2006/main">
              <a:ext uri="{FF2B5EF4-FFF2-40B4-BE49-F238E27FC236}">
                <a16:creationId xmlns:a16="http://schemas.microsoft.com/office/drawing/2014/main" id="{CC431DDE-980A-4CA9-8D80-7AC0907EA5AE}"/>
              </a:ext>
            </a:extLst>
          </p:cNvPr>
          <p:cNvSpPr>
            <a:spLocks xmlns:a="http://schemas.openxmlformats.org/drawingml/2006/main" noGrp="1"/>
          </p:cNvSpPr>
          <p:nvPr/>
        </p:nvSpPr>
        <p:spPr>
          <a:xfrm xmlns:a="http://schemas.openxmlformats.org/drawingml/2006/main">
            <a:off x="8953500" y="3600450"/>
            <a:ext cx="27051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35" name="">
            <a:extLst xmlns:a="http://schemas.openxmlformats.org/drawingml/2006/main">
              <a:ext uri="{FF2B5EF4-FFF2-40B4-BE49-F238E27FC236}">
                <a16:creationId xmlns:a16="http://schemas.microsoft.com/office/drawing/2014/main" id="{2A2BDF98-A383-4930-AA61-D7367FCF9FE7}"/>
              </a:ext>
            </a:extLst>
          </p:cNvPr>
          <p:cNvSpPr>
            <a:spLocks xmlns:a="http://schemas.openxmlformats.org/drawingml/2006/main" noGrp="1"/>
          </p:cNvSpPr>
          <p:nvPr/>
        </p:nvSpPr>
        <p:spPr>
          <a:xfrm xmlns:a="http://schemas.openxmlformats.org/drawingml/2006/main">
            <a:off x="9067800" y="37147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Slide 9</a:t>
            </a:r>
          </a:p>
        </p:txBody>
      </p:sp>
      <p:sp>
        <p:nvSpPr>
          <p:cNvPr id="36" name="">
            <a:extLst xmlns:a="http://schemas.openxmlformats.org/drawingml/2006/main">
              <a:ext uri="{FF2B5EF4-FFF2-40B4-BE49-F238E27FC236}">
                <a16:creationId xmlns:a16="http://schemas.microsoft.com/office/drawing/2014/main" id="{4A572A9A-5907-494C-95B6-FA49E01F92B7}"/>
              </a:ext>
            </a:extLst>
          </p:cNvPr>
          <p:cNvSpPr>
            <a:spLocks xmlns:a="http://schemas.openxmlformats.org/drawingml/2006/main" noGrp="1"/>
          </p:cNvSpPr>
          <p:nvPr/>
        </p:nvSpPr>
        <p:spPr>
          <a:xfrm xmlns:a="http://schemas.openxmlformats.org/drawingml/2006/main">
            <a:off x="533400" y="4438650"/>
            <a:ext cx="1657350" cy="838200"/>
          </a:xfrm>
          <a:prstGeom xmlns:a="http://schemas.openxmlformats.org/drawingml/2006/main" prst="rect">
            <a:avLst/>
          </a:prstGeom>
          <a:solidFill xmlns:a="http://schemas.openxmlformats.org/drawingml/2006/main">
            <a:srgbClr val="F0EFEC"/>
          </a:solidFill>
          <a:ln xmlns:a="http://schemas.openxmlformats.org/drawingml/2006/main" w="9525">
            <a:solidFill>
              <a:srgbClr val="D1CFCA"/>
            </a:solidFill>
            <a:prstDash val="solid"/>
          </a:ln>
        </p:spPr>
      </p:sp>
      <p:sp>
        <p:nvSpPr>
          <p:cNvPr id="37" name="">
            <a:extLst xmlns:a="http://schemas.openxmlformats.org/drawingml/2006/main">
              <a:ext uri="{FF2B5EF4-FFF2-40B4-BE49-F238E27FC236}">
                <a16:creationId xmlns:a16="http://schemas.microsoft.com/office/drawing/2014/main" id="{143FF078-58F2-4AC9-BF6B-F8432F987E44}"/>
              </a:ext>
            </a:extLst>
          </p:cNvPr>
          <p:cNvSpPr>
            <a:spLocks xmlns:a="http://schemas.openxmlformats.org/drawingml/2006/main" noGrp="1"/>
          </p:cNvSpPr>
          <p:nvPr/>
        </p:nvSpPr>
        <p:spPr>
          <a:xfrm xmlns:a="http://schemas.openxmlformats.org/drawingml/2006/main">
            <a:off x="647700" y="45529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Gross Up</a:t>
            </a:r>
          </a:p>
        </p:txBody>
      </p:sp>
      <p:sp>
        <p:nvSpPr>
          <p:cNvPr id="38" name="">
            <a:extLst xmlns:a="http://schemas.openxmlformats.org/drawingml/2006/main">
              <a:ext uri="{FF2B5EF4-FFF2-40B4-BE49-F238E27FC236}">
                <a16:creationId xmlns:a16="http://schemas.microsoft.com/office/drawing/2014/main" id="{33443CA0-B912-4B3D-A7B9-DE2F48EA4FB9}"/>
              </a:ext>
            </a:extLst>
          </p:cNvPr>
          <p:cNvSpPr>
            <a:spLocks xmlns:a="http://schemas.openxmlformats.org/drawingml/2006/main" noGrp="1"/>
          </p:cNvSpPr>
          <p:nvPr/>
        </p:nvSpPr>
        <p:spPr>
          <a:xfrm xmlns:a="http://schemas.openxmlformats.org/drawingml/2006/main">
            <a:off x="2305050" y="4438650"/>
            <a:ext cx="2914650" cy="838200"/>
          </a:xfrm>
          <a:prstGeom xmlns:a="http://schemas.openxmlformats.org/drawingml/2006/main" prst="rect">
            <a:avLst/>
          </a:prstGeom>
          <a:solidFill xmlns:a="http://schemas.openxmlformats.org/drawingml/2006/main">
            <a:srgbClr val="F0EFEC"/>
          </a:solidFill>
          <a:ln xmlns:a="http://schemas.openxmlformats.org/drawingml/2006/main" w="9525">
            <a:solidFill>
              <a:srgbClr val="D1CFCA"/>
            </a:solidFill>
            <a:prstDash val="solid"/>
          </a:ln>
        </p:spPr>
      </p:sp>
      <p:sp>
        <p:nvSpPr>
          <p:cNvPr id="39" name="">
            <a:extLst xmlns:a="http://schemas.openxmlformats.org/drawingml/2006/main">
              <a:ext uri="{FF2B5EF4-FFF2-40B4-BE49-F238E27FC236}">
                <a16:creationId xmlns:a16="http://schemas.microsoft.com/office/drawing/2014/main" id="{F0327147-AE85-4351-A529-A956892AF61B}"/>
              </a:ext>
            </a:extLst>
          </p:cNvPr>
          <p:cNvSpPr>
            <a:spLocks xmlns:a="http://schemas.openxmlformats.org/drawingml/2006/main" noGrp="1"/>
          </p:cNvSpPr>
          <p:nvPr/>
        </p:nvSpPr>
        <p:spPr>
          <a:xfrm xmlns:a="http://schemas.openxmlformats.org/drawingml/2006/main">
            <a:off x="2419350" y="45529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Annex B — Gross Up</a:t>
            </a:r>
          </a:p>
          <a:p xmlns:a="http://schemas.openxmlformats.org/drawingml/2006/main">
            <a:pPr algn="l">
              <a:defRPr sz="1125" b="0" i="0">
                <a:solidFill>
                  <a:srgbClr val="111111"/>
                </a:solidFill>
              </a:defRPr>
            </a:pPr>
            <a:r>
              <a:rPr sz="1125" b="0" i="0">
                <a:solidFill>
                  <a:srgbClr val="111111"/>
                </a:solidFill>
              </a:rPr>
              <a:t>Gross-up sample workbooks</a:t>
            </a:r>
          </a:p>
        </p:txBody>
      </p:sp>
      <p:sp>
        <p:nvSpPr>
          <p:cNvPr id="40" name="">
            <a:extLst xmlns:a="http://schemas.openxmlformats.org/drawingml/2006/main">
              <a:ext uri="{FF2B5EF4-FFF2-40B4-BE49-F238E27FC236}">
                <a16:creationId xmlns:a16="http://schemas.microsoft.com/office/drawing/2014/main" id="{40ACEDDF-5F02-4C60-B1B9-47DBC2A4C653}"/>
              </a:ext>
            </a:extLst>
          </p:cNvPr>
          <p:cNvSpPr>
            <a:spLocks xmlns:a="http://schemas.openxmlformats.org/drawingml/2006/main" noGrp="1"/>
          </p:cNvSpPr>
          <p:nvPr/>
        </p:nvSpPr>
        <p:spPr>
          <a:xfrm xmlns:a="http://schemas.openxmlformats.org/drawingml/2006/main">
            <a:off x="5334000" y="4438650"/>
            <a:ext cx="3505200" cy="838200"/>
          </a:xfrm>
          <a:prstGeom xmlns:a="http://schemas.openxmlformats.org/drawingml/2006/main" prst="rect">
            <a:avLst/>
          </a:prstGeom>
          <a:solidFill xmlns:a="http://schemas.openxmlformats.org/drawingml/2006/main">
            <a:srgbClr val="F0EFEC"/>
          </a:solidFill>
          <a:ln xmlns:a="http://schemas.openxmlformats.org/drawingml/2006/main" w="9525">
            <a:solidFill>
              <a:srgbClr val="D1CFCA"/>
            </a:solidFill>
            <a:prstDash val="solid"/>
          </a:ln>
        </p:spPr>
      </p:sp>
      <p:sp>
        <p:nvSpPr>
          <p:cNvPr id="41" name="">
            <a:extLst xmlns:a="http://schemas.openxmlformats.org/drawingml/2006/main">
              <a:ext uri="{FF2B5EF4-FFF2-40B4-BE49-F238E27FC236}">
                <a16:creationId xmlns:a16="http://schemas.microsoft.com/office/drawing/2014/main" id="{90868169-B45A-4DB9-83D1-56CE92AE0D45}"/>
              </a:ext>
            </a:extLst>
          </p:cNvPr>
          <p:cNvSpPr>
            <a:spLocks xmlns:a="http://schemas.openxmlformats.org/drawingml/2006/main" noGrp="1"/>
          </p:cNvSpPr>
          <p:nvPr/>
        </p:nvSpPr>
        <p:spPr>
          <a:xfrm xmlns:a="http://schemas.openxmlformats.org/drawingml/2006/main">
            <a:off x="5448300" y="4552950"/>
            <a:ext cx="327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GUP-001 + target net, tax method, iteration trace</a:t>
            </a:r>
          </a:p>
        </p:txBody>
      </p:sp>
      <p:sp>
        <p:nvSpPr>
          <p:cNvPr id="42" name="">
            <a:extLst xmlns:a="http://schemas.openxmlformats.org/drawingml/2006/main">
              <a:ext uri="{FF2B5EF4-FFF2-40B4-BE49-F238E27FC236}">
                <a16:creationId xmlns:a16="http://schemas.microsoft.com/office/drawing/2014/main" id="{2F6991EA-2B6B-4A57-8CDA-08465D352BF3}"/>
              </a:ext>
            </a:extLst>
          </p:cNvPr>
          <p:cNvSpPr>
            <a:spLocks xmlns:a="http://schemas.openxmlformats.org/drawingml/2006/main" noGrp="1"/>
          </p:cNvSpPr>
          <p:nvPr/>
        </p:nvSpPr>
        <p:spPr>
          <a:xfrm xmlns:a="http://schemas.openxmlformats.org/drawingml/2006/main">
            <a:off x="8953500" y="4438650"/>
            <a:ext cx="2705100" cy="838200"/>
          </a:xfrm>
          <a:prstGeom xmlns:a="http://schemas.openxmlformats.org/drawingml/2006/main" prst="rect">
            <a:avLst/>
          </a:prstGeom>
          <a:solidFill xmlns:a="http://schemas.openxmlformats.org/drawingml/2006/main">
            <a:srgbClr val="F0EFEC"/>
          </a:solidFill>
          <a:ln xmlns:a="http://schemas.openxmlformats.org/drawingml/2006/main" w="9525">
            <a:solidFill>
              <a:srgbClr val="D1CFCA"/>
            </a:solidFill>
            <a:prstDash val="solid"/>
          </a:ln>
        </p:spPr>
      </p:sp>
      <p:sp>
        <p:nvSpPr>
          <p:cNvPr id="43" name="">
            <a:extLst xmlns:a="http://schemas.openxmlformats.org/drawingml/2006/main">
              <a:ext uri="{FF2B5EF4-FFF2-40B4-BE49-F238E27FC236}">
                <a16:creationId xmlns:a16="http://schemas.microsoft.com/office/drawing/2014/main" id="{067360F9-D8A1-4EC1-95FD-0CCD96746ABC}"/>
              </a:ext>
            </a:extLst>
          </p:cNvPr>
          <p:cNvSpPr>
            <a:spLocks xmlns:a="http://schemas.openxmlformats.org/drawingml/2006/main" noGrp="1"/>
          </p:cNvSpPr>
          <p:nvPr/>
        </p:nvSpPr>
        <p:spPr>
          <a:xfrm xmlns:a="http://schemas.openxmlformats.org/drawingml/2006/main">
            <a:off x="9067800" y="45529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Slide 10</a:t>
            </a:r>
          </a:p>
        </p:txBody>
      </p:sp>
      <p:sp>
        <p:nvSpPr>
          <p:cNvPr id="44" name="">
            <a:extLst xmlns:a="http://schemas.openxmlformats.org/drawingml/2006/main">
              <a:ext uri="{FF2B5EF4-FFF2-40B4-BE49-F238E27FC236}">
                <a16:creationId xmlns:a16="http://schemas.microsoft.com/office/drawing/2014/main" id="{098A2F44-AA01-4962-9116-5AA4A13265EB}"/>
              </a:ext>
            </a:extLst>
          </p:cNvPr>
          <p:cNvSpPr>
            <a:spLocks xmlns:a="http://schemas.openxmlformats.org/drawingml/2006/main" noGrp="1"/>
          </p:cNvSpPr>
          <p:nvPr/>
        </p:nvSpPr>
        <p:spPr>
          <a:xfrm xmlns:a="http://schemas.openxmlformats.org/drawingml/2006/main">
            <a:off x="533400" y="5276850"/>
            <a:ext cx="16573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45" name="">
            <a:extLst xmlns:a="http://schemas.openxmlformats.org/drawingml/2006/main">
              <a:ext uri="{FF2B5EF4-FFF2-40B4-BE49-F238E27FC236}">
                <a16:creationId xmlns:a16="http://schemas.microsoft.com/office/drawing/2014/main" id="{0D064334-DBF9-41B4-B65C-32D2CB5DFC27}"/>
              </a:ext>
            </a:extLst>
          </p:cNvPr>
          <p:cNvSpPr>
            <a:spLocks xmlns:a="http://schemas.openxmlformats.org/drawingml/2006/main" noGrp="1"/>
          </p:cNvSpPr>
          <p:nvPr/>
        </p:nvSpPr>
        <p:spPr>
          <a:xfrm xmlns:a="http://schemas.openxmlformats.org/drawingml/2006/main">
            <a:off x="647700" y="53911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275" b="1" i="0">
                <a:solidFill>
                  <a:srgbClr val="111111"/>
                </a:solidFill>
              </a:defRPr>
            </a:pPr>
            <a:r>
              <a:rPr sz="1275" b="1" i="0">
                <a:solidFill>
                  <a:srgbClr val="111111"/>
                </a:solidFill>
              </a:rPr>
              <a:t>Company Rules</a:t>
            </a:r>
          </a:p>
        </p:txBody>
      </p:sp>
      <p:sp>
        <p:nvSpPr>
          <p:cNvPr id="46" name="">
            <a:extLst xmlns:a="http://schemas.openxmlformats.org/drawingml/2006/main">
              <a:ext uri="{FF2B5EF4-FFF2-40B4-BE49-F238E27FC236}">
                <a16:creationId xmlns:a16="http://schemas.microsoft.com/office/drawing/2014/main" id="{0CC205AC-4E0D-4105-925F-A11D8FA0AF83}"/>
              </a:ext>
            </a:extLst>
          </p:cNvPr>
          <p:cNvSpPr>
            <a:spLocks xmlns:a="http://schemas.openxmlformats.org/drawingml/2006/main" noGrp="1"/>
          </p:cNvSpPr>
          <p:nvPr/>
        </p:nvSpPr>
        <p:spPr>
          <a:xfrm xmlns:a="http://schemas.openxmlformats.org/drawingml/2006/main">
            <a:off x="2305050" y="5276850"/>
            <a:ext cx="29146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47" name="">
            <a:extLst xmlns:a="http://schemas.openxmlformats.org/drawingml/2006/main">
              <a:ext uri="{FF2B5EF4-FFF2-40B4-BE49-F238E27FC236}">
                <a16:creationId xmlns:a16="http://schemas.microsoft.com/office/drawing/2014/main" id="{6DEE02C6-E8C0-4B6C-B7DD-D91E3A135013}"/>
              </a:ext>
            </a:extLst>
          </p:cNvPr>
          <p:cNvSpPr>
            <a:spLocks xmlns:a="http://schemas.openxmlformats.org/drawingml/2006/main" noGrp="1"/>
          </p:cNvSpPr>
          <p:nvPr/>
        </p:nvSpPr>
        <p:spPr>
          <a:xfrm xmlns:a="http://schemas.openxmlformats.org/drawingml/2006/main">
            <a:off x="2419350" y="53911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BRD Audit H61:J64</a:t>
            </a:r>
          </a:p>
          <a:p xmlns:a="http://schemas.openxmlformats.org/drawingml/2006/main">
            <a:pPr algn="l">
              <a:defRPr sz="1125" b="0" i="0">
                <a:solidFill>
                  <a:srgbClr val="111111"/>
                </a:solidFill>
              </a:defRPr>
            </a:pPr>
            <a:r>
              <a:rPr sz="1125" b="0" i="0">
                <a:solidFill>
                  <a:srgbClr val="111111"/>
                </a:solidFill>
              </a:rPr>
              <a:t>Project Plan HTP018/019/023</a:t>
            </a:r>
          </a:p>
        </p:txBody>
      </p:sp>
      <p:sp>
        <p:nvSpPr>
          <p:cNvPr id="48" name="">
            <a:extLst xmlns:a="http://schemas.openxmlformats.org/drawingml/2006/main">
              <a:ext uri="{FF2B5EF4-FFF2-40B4-BE49-F238E27FC236}">
                <a16:creationId xmlns:a16="http://schemas.microsoft.com/office/drawing/2014/main" id="{2651A6AA-3572-471F-82A9-5ECA811CD9AB}"/>
              </a:ext>
            </a:extLst>
          </p:cNvPr>
          <p:cNvSpPr>
            <a:spLocks xmlns:a="http://schemas.openxmlformats.org/drawingml/2006/main" noGrp="1"/>
          </p:cNvSpPr>
          <p:nvPr/>
        </p:nvSpPr>
        <p:spPr>
          <a:xfrm xmlns:a="http://schemas.openxmlformats.org/drawingml/2006/main">
            <a:off x="5334000" y="5276850"/>
            <a:ext cx="35052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49" name="">
            <a:extLst xmlns:a="http://schemas.openxmlformats.org/drawingml/2006/main">
              <a:ext uri="{FF2B5EF4-FFF2-40B4-BE49-F238E27FC236}">
                <a16:creationId xmlns:a16="http://schemas.microsoft.com/office/drawing/2014/main" id="{F7913FCC-4615-4F71-96EE-C0AB56317E95}"/>
              </a:ext>
            </a:extLst>
          </p:cNvPr>
          <p:cNvSpPr>
            <a:spLocks xmlns:a="http://schemas.openxmlformats.org/drawingml/2006/main" noGrp="1"/>
          </p:cNvSpPr>
          <p:nvPr/>
        </p:nvSpPr>
        <p:spPr>
          <a:xfrm xmlns:a="http://schemas.openxmlformats.org/drawingml/2006/main">
            <a:off x="5448300" y="5391150"/>
            <a:ext cx="327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0" i="0">
                <a:solidFill>
                  <a:srgbClr val="111111"/>
                </a:solidFill>
              </a:defRPr>
            </a:pPr>
            <a:r>
              <a:rPr sz="1125" b="0" i="0">
                <a:solidFill>
                  <a:srgbClr val="111111"/>
                </a:solidFill>
              </a:rPr>
              <a:t>One register + 3-step mapped policy-code flow</a:t>
            </a:r>
          </a:p>
        </p:txBody>
      </p:sp>
      <p:sp>
        <p:nvSpPr>
          <p:cNvPr id="50" name="">
            <a:extLst xmlns:a="http://schemas.openxmlformats.org/drawingml/2006/main">
              <a:ext uri="{FF2B5EF4-FFF2-40B4-BE49-F238E27FC236}">
                <a16:creationId xmlns:a16="http://schemas.microsoft.com/office/drawing/2014/main" id="{D251F3EA-3A92-47AF-B832-6BCA7569B2F0}"/>
              </a:ext>
            </a:extLst>
          </p:cNvPr>
          <p:cNvSpPr>
            <a:spLocks xmlns:a="http://schemas.openxmlformats.org/drawingml/2006/main" noGrp="1"/>
          </p:cNvSpPr>
          <p:nvPr/>
        </p:nvSpPr>
        <p:spPr>
          <a:xfrm xmlns:a="http://schemas.openxmlformats.org/drawingml/2006/main">
            <a:off x="8953500" y="5276850"/>
            <a:ext cx="27051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CFCA"/>
            </a:solidFill>
            <a:prstDash val="solid"/>
          </a:ln>
        </p:spPr>
      </p:sp>
      <p:sp>
        <p:nvSpPr>
          <p:cNvPr id="51" name="">
            <a:extLst xmlns:a="http://schemas.openxmlformats.org/drawingml/2006/main">
              <a:ext uri="{FF2B5EF4-FFF2-40B4-BE49-F238E27FC236}">
                <a16:creationId xmlns:a16="http://schemas.microsoft.com/office/drawing/2014/main" id="{1C2AF065-B487-45B7-BFA2-FABB49DDF71C}"/>
              </a:ext>
            </a:extLst>
          </p:cNvPr>
          <p:cNvSpPr>
            <a:spLocks xmlns:a="http://schemas.openxmlformats.org/drawingml/2006/main" noGrp="1"/>
          </p:cNvSpPr>
          <p:nvPr/>
        </p:nvSpPr>
        <p:spPr>
          <a:xfrm xmlns:a="http://schemas.openxmlformats.org/drawingml/2006/main">
            <a:off x="9067800" y="53911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Slides 4–5</a:t>
            </a:r>
          </a:p>
        </p:txBody>
      </p:sp>
      <p:sp>
        <p:nvSpPr>
          <p:cNvPr id="52" name="">
            <a:extLst xmlns:a="http://schemas.openxmlformats.org/drawingml/2006/main">
              <a:ext uri="{FF2B5EF4-FFF2-40B4-BE49-F238E27FC236}">
                <a16:creationId xmlns:a16="http://schemas.microsoft.com/office/drawing/2014/main" id="{4235377A-E8F4-414C-B72B-D18D61E03BBD}"/>
              </a:ext>
            </a:extLst>
          </p:cNvPr>
          <p:cNvSpPr>
            <a:spLocks xmlns:a="http://schemas.openxmlformats.org/drawingml/2006/main" noGrp="1"/>
          </p:cNvSpPr>
          <p:nvPr/>
        </p:nvSpPr>
        <p:spPr>
          <a:xfrm xmlns:a="http://schemas.openxmlformats.org/drawingml/2006/main">
            <a:off x="533400" y="62484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487"/>
          </a:bodyPr>
          <a:lstStyle xmlns:a="http://schemas.openxmlformats.org/drawingml/2006/main"/>
          <a:p xmlns:a="http://schemas.openxmlformats.org/drawingml/2006/main">
            <a:pPr algn="l">
              <a:defRPr sz="975" b="0" i="1">
                <a:solidFill>
                  <a:srgbClr val="66645F"/>
                </a:solidFill>
              </a:defRPr>
            </a:pPr>
            <a:r>
              <a:rPr sz="975" b="0" i="1">
                <a:solidFill>
                  <a:srgbClr val="66645F"/>
                </a:solidFill>
              </a:rPr>
              <a:t>Interpretation rule: source samples are configurable policy options; they are not all applied at once.</a:t>
            </a:r>
          </a:p>
        </p:txBody>
      </p:sp>
      <p:sp>
        <p:nvSpPr>
          <p:cNvPr id="53" name="">
            <a:extLst xmlns:a="http://schemas.openxmlformats.org/drawingml/2006/main">
              <a:ext uri="{FF2B5EF4-FFF2-40B4-BE49-F238E27FC236}">
                <a16:creationId xmlns:a16="http://schemas.microsoft.com/office/drawing/2014/main" id="{DA989626-75EB-41CC-820C-1FA17596BCAB}"/>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A0EB767B-72DD-4576-803D-1D2A0DF82B4C}"/>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112" name=""/>
          <p:cNvCxnSpPr>
            <a:stCxn xmlns:a="http://schemas.openxmlformats.org/drawingml/2006/main" id="53" idx="6"/>
            <a:endCxn xmlns:a="http://schemas.openxmlformats.org/drawingml/2006/main" id="54"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56" name="">
            <a:extLst xmlns:a="http://schemas.openxmlformats.org/drawingml/2006/main">
              <a:ext uri="{FF2B5EF4-FFF2-40B4-BE49-F238E27FC236}">
                <a16:creationId xmlns:a16="http://schemas.microsoft.com/office/drawing/2014/main" id="{8378F160-8FCE-4976-9787-EE847233BD8E}"/>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ANNEX A</a:t>
            </a:r>
          </a:p>
        </p:txBody>
      </p:sp>
      <p:sp>
        <p:nvSpPr>
          <p:cNvPr id="57" name="">
            <a:extLst xmlns:a="http://schemas.openxmlformats.org/drawingml/2006/main">
              <a:ext uri="{FF2B5EF4-FFF2-40B4-BE49-F238E27FC236}">
                <a16:creationId xmlns:a16="http://schemas.microsoft.com/office/drawing/2014/main" id="{E2F24284-E748-44DC-AF59-72D42B26E510}"/>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15</a:t>
            </a:r>
          </a:p>
        </p:txBody>
      </p:sp>
    </p:spTree>
    <p:extLst>
      <p:ext uri="{BB962C8B-B14F-4D97-AF65-F5344CB8AC3E}">
        <p14:creationId xmlns:p14="http://schemas.microsoft.com/office/powerpoint/2010/main" val="1400351626"/>
      </p:ext>
    </p:extLst>
  </p:cSld>
</p:sld>
</file>

<file path=ppt/slides/slide16.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7ED90D7F-C0E0-4E65-B531-ABD2ABC145F0}"/>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ANNEX B</a:t>
            </a:r>
          </a:p>
        </p:txBody>
      </p:sp>
      <p:sp>
        <p:nvSpPr>
          <p:cNvPr id="2" name="">
            <a:extLst xmlns:a="http://schemas.openxmlformats.org/drawingml/2006/main">
              <a:ext uri="{FF2B5EF4-FFF2-40B4-BE49-F238E27FC236}">
                <a16:creationId xmlns:a16="http://schemas.microsoft.com/office/drawing/2014/main" id="{4B836E64-FAA0-477E-9B31-BB82432F3E39}"/>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SCENARIO PACK</a:t>
            </a:r>
          </a:p>
        </p:txBody>
      </p:sp>
      <p:sp>
        <p:nvSpPr>
          <p:cNvPr id="3" name="">
            <a:extLst xmlns:a="http://schemas.openxmlformats.org/drawingml/2006/main">
              <a:ext uri="{FF2B5EF4-FFF2-40B4-BE49-F238E27FC236}">
                <a16:creationId xmlns:a16="http://schemas.microsoft.com/office/drawing/2014/main" id="{BB656379-18F4-475F-A1E2-E48DB561CC44}"/>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Representative business validation scenarios</a:t>
            </a:r>
          </a:p>
        </p:txBody>
      </p:sp>
      <p:sp>
        <p:nvSpPr>
          <p:cNvPr id="4" name="">
            <a:extLst xmlns:a="http://schemas.openxmlformats.org/drawingml/2006/main">
              <a:ext uri="{FF2B5EF4-FFF2-40B4-BE49-F238E27FC236}">
                <a16:creationId xmlns:a16="http://schemas.microsoft.com/office/drawing/2014/main" id="{7A5CAABD-0987-4785-827E-D24FE0D97BD6}"/>
              </a:ext>
            </a:extLst>
          </p:cNvPr>
          <p:cNvSpPr>
            <a:spLocks xmlns:a="http://schemas.openxmlformats.org/drawingml/2006/main" noGrp="1"/>
          </p:cNvSpPr>
          <p:nvPr/>
        </p:nvSpPr>
        <p:spPr>
          <a:xfrm xmlns:a="http://schemas.openxmlformats.org/drawingml/2006/main">
            <a:off x="533400" y="1562100"/>
            <a:ext cx="5181600" cy="1866900"/>
          </a:xfrm>
          <a:prstGeom xmlns:a="http://schemas.openxmlformats.org/drawingml/2006/main" prst="roundRect">
            <a:avLst>
              <a:gd name="adj" fmla="val 4082"/>
            </a:avLst>
          </a:prstGeom>
          <a:solidFill xmlns:a="http://schemas.openxmlformats.org/drawingml/2006/main">
            <a:srgbClr val="F2ECF8"/>
          </a:solidFill>
          <a:ln xmlns:a="http://schemas.openxmlformats.org/drawingml/2006/main" w="19050">
            <a:solidFill>
              <a:srgbClr val="5C2A91"/>
            </a:solidFill>
            <a:prstDash val="solid"/>
          </a:ln>
        </p:spPr>
      </p:sp>
      <p:sp>
        <p:nvSpPr>
          <p:cNvPr id="5" name="">
            <a:extLst xmlns:a="http://schemas.openxmlformats.org/drawingml/2006/main">
              <a:ext uri="{FF2B5EF4-FFF2-40B4-BE49-F238E27FC236}">
                <a16:creationId xmlns:a16="http://schemas.microsoft.com/office/drawing/2014/main" id="{4299EEDC-DCAA-429B-A238-85F4DC2176AA}"/>
              </a:ext>
            </a:extLst>
          </p:cNvPr>
          <p:cNvSpPr>
            <a:spLocks xmlns:a="http://schemas.openxmlformats.org/drawingml/2006/main" noGrp="1"/>
          </p:cNvSpPr>
          <p:nvPr/>
        </p:nvSpPr>
        <p:spPr>
          <a:xfrm xmlns:a="http://schemas.openxmlformats.org/drawingml/2006/main">
            <a:off x="723900" y="17526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01</a:t>
            </a:r>
          </a:p>
        </p:txBody>
      </p:sp>
      <p:sp>
        <p:nvSpPr>
          <p:cNvPr id="6" name="">
            <a:extLst xmlns:a="http://schemas.openxmlformats.org/drawingml/2006/main">
              <a:ext uri="{FF2B5EF4-FFF2-40B4-BE49-F238E27FC236}">
                <a16:creationId xmlns:a16="http://schemas.microsoft.com/office/drawing/2014/main" id="{F538311B-63F2-46D8-84BB-852511DA6EC9}"/>
              </a:ext>
            </a:extLst>
          </p:cNvPr>
          <p:cNvSpPr>
            <a:spLocks xmlns:a="http://schemas.openxmlformats.org/drawingml/2006/main" noGrp="1"/>
          </p:cNvSpPr>
          <p:nvPr/>
        </p:nvSpPr>
        <p:spPr>
          <a:xfrm xmlns:a="http://schemas.openxmlformats.org/drawingml/2006/main">
            <a:off x="1314450" y="17335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1333"/>
          </a:bodyPr>
          <a:lstStyle xmlns:a="http://schemas.openxmlformats.org/drawingml/2006/main"/>
          <a:p xmlns:a="http://schemas.openxmlformats.org/drawingml/2006/main">
            <a:pPr algn="l">
              <a:defRPr sz="1875" b="1" i="0">
                <a:solidFill>
                  <a:srgbClr val="111111"/>
                </a:solidFill>
              </a:defRPr>
            </a:pPr>
            <a:r>
              <a:rPr sz="1875" b="1" i="0">
                <a:solidFill>
                  <a:srgbClr val="111111"/>
                </a:solidFill>
              </a:rPr>
              <a:t>Take-Home</a:t>
            </a:r>
          </a:p>
        </p:txBody>
      </p:sp>
      <p:sp>
        <p:nvSpPr>
          <p:cNvPr id="7" name="">
            <a:extLst xmlns:a="http://schemas.openxmlformats.org/drawingml/2006/main">
              <a:ext uri="{FF2B5EF4-FFF2-40B4-BE49-F238E27FC236}">
                <a16:creationId xmlns:a16="http://schemas.microsoft.com/office/drawing/2014/main" id="{BED202D9-41CC-4064-B0E4-B732A7509811}"/>
              </a:ext>
            </a:extLst>
          </p:cNvPr>
          <p:cNvSpPr>
            <a:spLocks xmlns:a="http://schemas.openxmlformats.org/drawingml/2006/main" noGrp="1"/>
          </p:cNvSpPr>
          <p:nvPr/>
        </p:nvSpPr>
        <p:spPr>
          <a:xfrm xmlns:a="http://schemas.openxmlformats.org/drawingml/2006/main">
            <a:off x="742950" y="23241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INPUT</a:t>
            </a:r>
          </a:p>
        </p:txBody>
      </p:sp>
      <p:sp>
        <p:nvSpPr>
          <p:cNvPr id="8" name="">
            <a:extLst xmlns:a="http://schemas.openxmlformats.org/drawingml/2006/main">
              <a:ext uri="{FF2B5EF4-FFF2-40B4-BE49-F238E27FC236}">
                <a16:creationId xmlns:a16="http://schemas.microsoft.com/office/drawing/2014/main" id="{BD7AF006-CA34-4785-AFCF-45DE693CA8D9}"/>
              </a:ext>
            </a:extLst>
          </p:cNvPr>
          <p:cNvSpPr>
            <a:spLocks xmlns:a="http://schemas.openxmlformats.org/drawingml/2006/main" noGrp="1"/>
          </p:cNvSpPr>
          <p:nvPr/>
        </p:nvSpPr>
        <p:spPr>
          <a:xfrm xmlns:a="http://schemas.openxmlformats.org/drawingml/2006/main">
            <a:off x="1447800" y="2266950"/>
            <a:ext cx="3924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i="0">
                <a:solidFill>
                  <a:srgbClr val="111111"/>
                </a:solidFill>
              </a:defRPr>
            </a:pPr>
            <a:r>
              <a:rPr sz="1350" b="1" i="0">
                <a:solidFill>
                  <a:srgbClr val="111111"/>
                </a:solidFill>
              </a:rPr>
              <a:t>30% of gross less reimbursements</a:t>
            </a:r>
          </a:p>
        </p:txBody>
      </p:sp>
      <p:sp>
        <p:nvSpPr>
          <p:cNvPr id="9" name="">
            <a:extLst xmlns:a="http://schemas.openxmlformats.org/drawingml/2006/main">
              <a:ext uri="{FF2B5EF4-FFF2-40B4-BE49-F238E27FC236}">
                <a16:creationId xmlns:a16="http://schemas.microsoft.com/office/drawing/2014/main" id="{1759347D-8BC1-494E-B121-E0974673914D}"/>
              </a:ext>
            </a:extLst>
          </p:cNvPr>
          <p:cNvSpPr>
            <a:spLocks xmlns:a="http://schemas.openxmlformats.org/drawingml/2006/main" noGrp="1"/>
          </p:cNvSpPr>
          <p:nvPr/>
        </p:nvSpPr>
        <p:spPr>
          <a:xfrm xmlns:a="http://schemas.openxmlformats.org/drawingml/2006/main">
            <a:off x="742950" y="28194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EXPECTED</a:t>
            </a:r>
          </a:p>
        </p:txBody>
      </p:sp>
      <p:sp>
        <p:nvSpPr>
          <p:cNvPr id="10" name="">
            <a:extLst xmlns:a="http://schemas.openxmlformats.org/drawingml/2006/main">
              <a:ext uri="{FF2B5EF4-FFF2-40B4-BE49-F238E27FC236}">
                <a16:creationId xmlns:a16="http://schemas.microsoft.com/office/drawing/2014/main" id="{6235CF7E-088C-4E87-AED0-A91CE75273FB}"/>
              </a:ext>
            </a:extLst>
          </p:cNvPr>
          <p:cNvSpPr>
            <a:spLocks xmlns:a="http://schemas.openxmlformats.org/drawingml/2006/main" noGrp="1"/>
          </p:cNvSpPr>
          <p:nvPr/>
        </p:nvSpPr>
        <p:spPr>
          <a:xfrm xmlns:a="http://schemas.openxmlformats.org/drawingml/2006/main">
            <a:off x="1447800" y="2762250"/>
            <a:ext cx="3924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i="0">
                <a:solidFill>
                  <a:srgbClr val="111111"/>
                </a:solidFill>
              </a:defRPr>
            </a:pPr>
            <a:r>
              <a:rPr sz="1275" b="0" i="0">
                <a:solidFill>
                  <a:srgbClr val="111111"/>
                </a:solidFill>
              </a:rPr>
              <a:t>Statutory full; controllable items stop or defer</a:t>
            </a:r>
          </a:p>
        </p:txBody>
      </p:sp>
      <p:sp>
        <p:nvSpPr>
          <p:cNvPr id="11" name="">
            <a:extLst xmlns:a="http://schemas.openxmlformats.org/drawingml/2006/main">
              <a:ext uri="{FF2B5EF4-FFF2-40B4-BE49-F238E27FC236}">
                <a16:creationId xmlns:a16="http://schemas.microsoft.com/office/drawing/2014/main" id="{6E9C1011-98BB-41ED-8E38-7EBAC1066067}"/>
              </a:ext>
            </a:extLst>
          </p:cNvPr>
          <p:cNvSpPr>
            <a:spLocks xmlns:a="http://schemas.openxmlformats.org/drawingml/2006/main" noGrp="1"/>
          </p:cNvSpPr>
          <p:nvPr/>
        </p:nvSpPr>
        <p:spPr>
          <a:xfrm xmlns:a="http://schemas.openxmlformats.org/drawingml/2006/main">
            <a:off x="6096000" y="1562100"/>
            <a:ext cx="518160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111111"/>
            </a:solidFill>
            <a:prstDash val="solid"/>
          </a:ln>
        </p:spPr>
      </p:sp>
      <p:sp>
        <p:nvSpPr>
          <p:cNvPr id="12" name="">
            <a:extLst xmlns:a="http://schemas.openxmlformats.org/drawingml/2006/main">
              <a:ext uri="{FF2B5EF4-FFF2-40B4-BE49-F238E27FC236}">
                <a16:creationId xmlns:a16="http://schemas.microsoft.com/office/drawing/2014/main" id="{7465BF79-BF66-451C-9A9D-CFEFE47FC5A2}"/>
              </a:ext>
            </a:extLst>
          </p:cNvPr>
          <p:cNvSpPr>
            <a:spLocks xmlns:a="http://schemas.openxmlformats.org/drawingml/2006/main" noGrp="1"/>
          </p:cNvSpPr>
          <p:nvPr/>
        </p:nvSpPr>
        <p:spPr>
          <a:xfrm xmlns:a="http://schemas.openxmlformats.org/drawingml/2006/main">
            <a:off x="6286500" y="17526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02</a:t>
            </a:r>
          </a:p>
        </p:txBody>
      </p:sp>
      <p:sp>
        <p:nvSpPr>
          <p:cNvPr id="13" name="">
            <a:extLst xmlns:a="http://schemas.openxmlformats.org/drawingml/2006/main">
              <a:ext uri="{FF2B5EF4-FFF2-40B4-BE49-F238E27FC236}">
                <a16:creationId xmlns:a16="http://schemas.microsoft.com/office/drawing/2014/main" id="{E5A5E6ED-6B05-4DD9-8A7E-800DF0F22F66}"/>
              </a:ext>
            </a:extLst>
          </p:cNvPr>
          <p:cNvSpPr>
            <a:spLocks xmlns:a="http://schemas.openxmlformats.org/drawingml/2006/main" noGrp="1"/>
          </p:cNvSpPr>
          <p:nvPr/>
        </p:nvSpPr>
        <p:spPr>
          <a:xfrm xmlns:a="http://schemas.openxmlformats.org/drawingml/2006/main">
            <a:off x="6877050" y="17335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1333"/>
          </a:bodyPr>
          <a:lstStyle xmlns:a="http://schemas.openxmlformats.org/drawingml/2006/main"/>
          <a:p xmlns:a="http://schemas.openxmlformats.org/drawingml/2006/main">
            <a:pPr algn="l">
              <a:defRPr sz="1875" b="1" i="0">
                <a:solidFill>
                  <a:srgbClr val="111111"/>
                </a:solidFill>
              </a:defRPr>
            </a:pPr>
            <a:r>
              <a:rPr sz="1875" b="1" i="0">
                <a:solidFill>
                  <a:srgbClr val="111111"/>
                </a:solidFill>
              </a:rPr>
              <a:t>Retirement</a:t>
            </a:r>
          </a:p>
        </p:txBody>
      </p:sp>
      <p:sp>
        <p:nvSpPr>
          <p:cNvPr id="14" name="">
            <a:extLst xmlns:a="http://schemas.openxmlformats.org/drawingml/2006/main">
              <a:ext uri="{FF2B5EF4-FFF2-40B4-BE49-F238E27FC236}">
                <a16:creationId xmlns:a16="http://schemas.microsoft.com/office/drawing/2014/main" id="{56C0DBD0-F078-4E3A-83C8-1AD7A1BB5425}"/>
              </a:ext>
            </a:extLst>
          </p:cNvPr>
          <p:cNvSpPr>
            <a:spLocks xmlns:a="http://schemas.openxmlformats.org/drawingml/2006/main" noGrp="1"/>
          </p:cNvSpPr>
          <p:nvPr/>
        </p:nvSpPr>
        <p:spPr>
          <a:xfrm xmlns:a="http://schemas.openxmlformats.org/drawingml/2006/main">
            <a:off x="6305550" y="23241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INPUT</a:t>
            </a:r>
          </a:p>
        </p:txBody>
      </p:sp>
      <p:sp>
        <p:nvSpPr>
          <p:cNvPr id="15" name="">
            <a:extLst xmlns:a="http://schemas.openxmlformats.org/drawingml/2006/main">
              <a:ext uri="{FF2B5EF4-FFF2-40B4-BE49-F238E27FC236}">
                <a16:creationId xmlns:a16="http://schemas.microsoft.com/office/drawing/2014/main" id="{D9D7B652-75F3-48AB-8731-CF615F9241EA}"/>
              </a:ext>
            </a:extLst>
          </p:cNvPr>
          <p:cNvSpPr>
            <a:spLocks xmlns:a="http://schemas.openxmlformats.org/drawingml/2006/main" noGrp="1"/>
          </p:cNvSpPr>
          <p:nvPr/>
        </p:nvSpPr>
        <p:spPr>
          <a:xfrm xmlns:a="http://schemas.openxmlformats.org/drawingml/2006/main">
            <a:off x="7010400" y="2266950"/>
            <a:ext cx="3924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i="0">
                <a:solidFill>
                  <a:srgbClr val="111111"/>
                </a:solidFill>
              </a:defRPr>
            </a:pPr>
            <a:r>
              <a:rPr sz="1350" b="1" i="0">
                <a:solidFill>
                  <a:srgbClr val="111111"/>
                </a:solidFill>
              </a:rPr>
              <a:t>₱20k monthly / 30 × 22.5 × 10</a:t>
            </a:r>
          </a:p>
        </p:txBody>
      </p:sp>
      <p:sp>
        <p:nvSpPr>
          <p:cNvPr id="16" name="">
            <a:extLst xmlns:a="http://schemas.openxmlformats.org/drawingml/2006/main">
              <a:ext uri="{FF2B5EF4-FFF2-40B4-BE49-F238E27FC236}">
                <a16:creationId xmlns:a16="http://schemas.microsoft.com/office/drawing/2014/main" id="{E892ABB9-6947-4007-BBC7-08FBC0AD0A83}"/>
              </a:ext>
            </a:extLst>
          </p:cNvPr>
          <p:cNvSpPr>
            <a:spLocks xmlns:a="http://schemas.openxmlformats.org/drawingml/2006/main" noGrp="1"/>
          </p:cNvSpPr>
          <p:nvPr/>
        </p:nvSpPr>
        <p:spPr>
          <a:xfrm xmlns:a="http://schemas.openxmlformats.org/drawingml/2006/main">
            <a:off x="6305550" y="28194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EXPECTED</a:t>
            </a:r>
          </a:p>
        </p:txBody>
      </p:sp>
      <p:sp>
        <p:nvSpPr>
          <p:cNvPr id="17" name="">
            <a:extLst xmlns:a="http://schemas.openxmlformats.org/drawingml/2006/main">
              <a:ext uri="{FF2B5EF4-FFF2-40B4-BE49-F238E27FC236}">
                <a16:creationId xmlns:a16="http://schemas.microsoft.com/office/drawing/2014/main" id="{6C2E9AAC-82C2-42A4-BE30-F6A63D0748E1}"/>
              </a:ext>
            </a:extLst>
          </p:cNvPr>
          <p:cNvSpPr>
            <a:spLocks xmlns:a="http://schemas.openxmlformats.org/drawingml/2006/main" noGrp="1"/>
          </p:cNvSpPr>
          <p:nvPr/>
        </p:nvSpPr>
        <p:spPr>
          <a:xfrm xmlns:a="http://schemas.openxmlformats.org/drawingml/2006/main">
            <a:off x="7010400" y="2762250"/>
            <a:ext cx="3924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i="0">
                <a:solidFill>
                  <a:srgbClr val="111111"/>
                </a:solidFill>
              </a:defRPr>
            </a:pPr>
            <a:r>
              <a:rPr sz="1275" b="0" i="0">
                <a:solidFill>
                  <a:srgbClr val="111111"/>
                </a:solidFill>
              </a:rPr>
              <a:t>₱150,000 statutory example</a:t>
            </a:r>
          </a:p>
        </p:txBody>
      </p:sp>
      <p:sp>
        <p:nvSpPr>
          <p:cNvPr id="18" name="">
            <a:extLst xmlns:a="http://schemas.openxmlformats.org/drawingml/2006/main">
              <a:ext uri="{FF2B5EF4-FFF2-40B4-BE49-F238E27FC236}">
                <a16:creationId xmlns:a16="http://schemas.microsoft.com/office/drawing/2014/main" id="{7E9FB965-119A-4379-9DA9-84B3F3FD2DA2}"/>
              </a:ext>
            </a:extLst>
          </p:cNvPr>
          <p:cNvSpPr>
            <a:spLocks xmlns:a="http://schemas.openxmlformats.org/drawingml/2006/main" noGrp="1"/>
          </p:cNvSpPr>
          <p:nvPr/>
        </p:nvSpPr>
        <p:spPr>
          <a:xfrm xmlns:a="http://schemas.openxmlformats.org/drawingml/2006/main">
            <a:off x="533400" y="3733800"/>
            <a:ext cx="518160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111111"/>
            </a:solidFill>
            <a:prstDash val="solid"/>
          </a:ln>
        </p:spPr>
      </p:sp>
      <p:sp>
        <p:nvSpPr>
          <p:cNvPr id="19" name="">
            <a:extLst xmlns:a="http://schemas.openxmlformats.org/drawingml/2006/main">
              <a:ext uri="{FF2B5EF4-FFF2-40B4-BE49-F238E27FC236}">
                <a16:creationId xmlns:a16="http://schemas.microsoft.com/office/drawing/2014/main" id="{F7E2A763-9F57-40B5-A849-44570516EA17}"/>
              </a:ext>
            </a:extLst>
          </p:cNvPr>
          <p:cNvSpPr>
            <a:spLocks xmlns:a="http://schemas.openxmlformats.org/drawingml/2006/main" noGrp="1"/>
          </p:cNvSpPr>
          <p:nvPr/>
        </p:nvSpPr>
        <p:spPr>
          <a:xfrm xmlns:a="http://schemas.openxmlformats.org/drawingml/2006/main">
            <a:off x="723900" y="39243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03</a:t>
            </a:r>
          </a:p>
        </p:txBody>
      </p:sp>
      <p:sp>
        <p:nvSpPr>
          <p:cNvPr id="20" name="">
            <a:extLst xmlns:a="http://schemas.openxmlformats.org/drawingml/2006/main">
              <a:ext uri="{FF2B5EF4-FFF2-40B4-BE49-F238E27FC236}">
                <a16:creationId xmlns:a16="http://schemas.microsoft.com/office/drawing/2014/main" id="{2C38D25D-C806-4C5F-BBC8-7284EF6006DD}"/>
              </a:ext>
            </a:extLst>
          </p:cNvPr>
          <p:cNvSpPr>
            <a:spLocks xmlns:a="http://schemas.openxmlformats.org/drawingml/2006/main" noGrp="1"/>
          </p:cNvSpPr>
          <p:nvPr/>
        </p:nvSpPr>
        <p:spPr>
          <a:xfrm xmlns:a="http://schemas.openxmlformats.org/drawingml/2006/main">
            <a:off x="1314450" y="39052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1333"/>
          </a:bodyPr>
          <a:lstStyle xmlns:a="http://schemas.openxmlformats.org/drawingml/2006/main"/>
          <a:p xmlns:a="http://schemas.openxmlformats.org/drawingml/2006/main">
            <a:pPr algn="l">
              <a:defRPr sz="1875" b="1" i="0">
                <a:solidFill>
                  <a:srgbClr val="111111"/>
                </a:solidFill>
              </a:defRPr>
            </a:pPr>
            <a:r>
              <a:rPr sz="1875" b="1" i="0">
                <a:solidFill>
                  <a:srgbClr val="111111"/>
                </a:solidFill>
              </a:rPr>
              <a:t>Final Pay</a:t>
            </a:r>
          </a:p>
        </p:txBody>
      </p:sp>
      <p:sp>
        <p:nvSpPr>
          <p:cNvPr id="21" name="">
            <a:extLst xmlns:a="http://schemas.openxmlformats.org/drawingml/2006/main">
              <a:ext uri="{FF2B5EF4-FFF2-40B4-BE49-F238E27FC236}">
                <a16:creationId xmlns:a16="http://schemas.microsoft.com/office/drawing/2014/main" id="{AAFBCABF-7FD0-471F-B0FF-755B80537F43}"/>
              </a:ext>
            </a:extLst>
          </p:cNvPr>
          <p:cNvSpPr>
            <a:spLocks xmlns:a="http://schemas.openxmlformats.org/drawingml/2006/main" noGrp="1"/>
          </p:cNvSpPr>
          <p:nvPr/>
        </p:nvSpPr>
        <p:spPr>
          <a:xfrm xmlns:a="http://schemas.openxmlformats.org/drawingml/2006/main">
            <a:off x="742950" y="44958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INPUT</a:t>
            </a:r>
          </a:p>
        </p:txBody>
      </p:sp>
      <p:sp>
        <p:nvSpPr>
          <p:cNvPr id="22" name="">
            <a:extLst xmlns:a="http://schemas.openxmlformats.org/drawingml/2006/main">
              <a:ext uri="{FF2B5EF4-FFF2-40B4-BE49-F238E27FC236}">
                <a16:creationId xmlns:a16="http://schemas.microsoft.com/office/drawing/2014/main" id="{4FF7544E-F526-4EDE-9804-B5F10AFA1E7B}"/>
              </a:ext>
            </a:extLst>
          </p:cNvPr>
          <p:cNvSpPr>
            <a:spLocks xmlns:a="http://schemas.openxmlformats.org/drawingml/2006/main" noGrp="1"/>
          </p:cNvSpPr>
          <p:nvPr/>
        </p:nvSpPr>
        <p:spPr>
          <a:xfrm xmlns:a="http://schemas.openxmlformats.org/drawingml/2006/main">
            <a:off x="1447800" y="4438650"/>
            <a:ext cx="3924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i="0">
                <a:solidFill>
                  <a:srgbClr val="111111"/>
                </a:solidFill>
              </a:defRPr>
            </a:pPr>
            <a:r>
              <a:rPr sz="1350" b="1" i="0">
                <a:solidFill>
                  <a:srgbClr val="111111"/>
                </a:solidFill>
              </a:rPr>
              <a:t>Salary + 13th + leave + retirement</a:t>
            </a:r>
          </a:p>
        </p:txBody>
      </p:sp>
      <p:sp>
        <p:nvSpPr>
          <p:cNvPr id="23" name="">
            <a:extLst xmlns:a="http://schemas.openxmlformats.org/drawingml/2006/main">
              <a:ext uri="{FF2B5EF4-FFF2-40B4-BE49-F238E27FC236}">
                <a16:creationId xmlns:a16="http://schemas.microsoft.com/office/drawing/2014/main" id="{AAF82EAC-7911-49AC-A659-6457623C01F7}"/>
              </a:ext>
            </a:extLst>
          </p:cNvPr>
          <p:cNvSpPr>
            <a:spLocks xmlns:a="http://schemas.openxmlformats.org/drawingml/2006/main" noGrp="1"/>
          </p:cNvSpPr>
          <p:nvPr/>
        </p:nvSpPr>
        <p:spPr>
          <a:xfrm xmlns:a="http://schemas.openxmlformats.org/drawingml/2006/main">
            <a:off x="742950" y="49911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EXPECTED</a:t>
            </a:r>
          </a:p>
        </p:txBody>
      </p:sp>
      <p:sp>
        <p:nvSpPr>
          <p:cNvPr id="24" name="">
            <a:extLst xmlns:a="http://schemas.openxmlformats.org/drawingml/2006/main">
              <a:ext uri="{FF2B5EF4-FFF2-40B4-BE49-F238E27FC236}">
                <a16:creationId xmlns:a16="http://schemas.microsoft.com/office/drawing/2014/main" id="{8BC32EB1-8C2A-4320-A860-A24BEFA2FA01}"/>
              </a:ext>
            </a:extLst>
          </p:cNvPr>
          <p:cNvSpPr>
            <a:spLocks xmlns:a="http://schemas.openxmlformats.org/drawingml/2006/main" noGrp="1"/>
          </p:cNvSpPr>
          <p:nvPr/>
        </p:nvSpPr>
        <p:spPr>
          <a:xfrm xmlns:a="http://schemas.openxmlformats.org/drawingml/2006/main">
            <a:off x="1447800" y="4933950"/>
            <a:ext cx="3924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i="0">
                <a:solidFill>
                  <a:srgbClr val="111111"/>
                </a:solidFill>
              </a:defRPr>
            </a:pPr>
            <a:r>
              <a:rPr sz="1275" b="0" i="0">
                <a:solidFill>
                  <a:srgbClr val="111111"/>
                </a:solidFill>
              </a:rPr>
              <a:t>Less authorized balances and final tax</a:t>
            </a:r>
          </a:p>
        </p:txBody>
      </p:sp>
      <p:sp>
        <p:nvSpPr>
          <p:cNvPr id="25" name="">
            <a:extLst xmlns:a="http://schemas.openxmlformats.org/drawingml/2006/main">
              <a:ext uri="{FF2B5EF4-FFF2-40B4-BE49-F238E27FC236}">
                <a16:creationId xmlns:a16="http://schemas.microsoft.com/office/drawing/2014/main" id="{BF96B230-9CD0-4A31-9DAA-4F5AF1BDDB35}"/>
              </a:ext>
            </a:extLst>
          </p:cNvPr>
          <p:cNvSpPr>
            <a:spLocks xmlns:a="http://schemas.openxmlformats.org/drawingml/2006/main" noGrp="1"/>
          </p:cNvSpPr>
          <p:nvPr/>
        </p:nvSpPr>
        <p:spPr>
          <a:xfrm xmlns:a="http://schemas.openxmlformats.org/drawingml/2006/main">
            <a:off x="6096000" y="3733800"/>
            <a:ext cx="5181600" cy="18669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111111"/>
            </a:solidFill>
            <a:prstDash val="solid"/>
          </a:ln>
        </p:spPr>
      </p:sp>
      <p:sp>
        <p:nvSpPr>
          <p:cNvPr id="26" name="">
            <a:extLst xmlns:a="http://schemas.openxmlformats.org/drawingml/2006/main">
              <a:ext uri="{FF2B5EF4-FFF2-40B4-BE49-F238E27FC236}">
                <a16:creationId xmlns:a16="http://schemas.microsoft.com/office/drawing/2014/main" id="{B9ABA1D4-1E98-429C-9A3B-9EED5075ECF4}"/>
              </a:ext>
            </a:extLst>
          </p:cNvPr>
          <p:cNvSpPr>
            <a:spLocks xmlns:a="http://schemas.openxmlformats.org/drawingml/2006/main" noGrp="1"/>
          </p:cNvSpPr>
          <p:nvPr/>
        </p:nvSpPr>
        <p:spPr>
          <a:xfrm xmlns:a="http://schemas.openxmlformats.org/drawingml/2006/main">
            <a:off x="6286500" y="39243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i="0">
                <a:solidFill>
                  <a:srgbClr val="5C2A91"/>
                </a:solidFill>
              </a:defRPr>
            </a:pPr>
            <a:r>
              <a:rPr sz="1125" b="1" i="0">
                <a:solidFill>
                  <a:srgbClr val="5C2A91"/>
                </a:solidFill>
              </a:rPr>
              <a:t>04</a:t>
            </a:r>
          </a:p>
        </p:txBody>
      </p:sp>
      <p:sp>
        <p:nvSpPr>
          <p:cNvPr id="27" name="">
            <a:extLst xmlns:a="http://schemas.openxmlformats.org/drawingml/2006/main">
              <a:ext uri="{FF2B5EF4-FFF2-40B4-BE49-F238E27FC236}">
                <a16:creationId xmlns:a16="http://schemas.microsoft.com/office/drawing/2014/main" id="{D37E9BB5-F274-4358-88AA-45F9F3DA199A}"/>
              </a:ext>
            </a:extLst>
          </p:cNvPr>
          <p:cNvSpPr>
            <a:spLocks xmlns:a="http://schemas.openxmlformats.org/drawingml/2006/main" noGrp="1"/>
          </p:cNvSpPr>
          <p:nvPr/>
        </p:nvSpPr>
        <p:spPr>
          <a:xfrm xmlns:a="http://schemas.openxmlformats.org/drawingml/2006/main">
            <a:off x="6877050" y="39052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1333"/>
          </a:bodyPr>
          <a:lstStyle xmlns:a="http://schemas.openxmlformats.org/drawingml/2006/main"/>
          <a:p xmlns:a="http://schemas.openxmlformats.org/drawingml/2006/main">
            <a:pPr algn="l">
              <a:defRPr sz="1875" b="1" i="0">
                <a:solidFill>
                  <a:srgbClr val="111111"/>
                </a:solidFill>
              </a:defRPr>
            </a:pPr>
            <a:r>
              <a:rPr sz="1875" b="1" i="0">
                <a:solidFill>
                  <a:srgbClr val="111111"/>
                </a:solidFill>
              </a:rPr>
              <a:t>Gross Up</a:t>
            </a:r>
          </a:p>
        </p:txBody>
      </p:sp>
      <p:sp>
        <p:nvSpPr>
          <p:cNvPr id="28" name="">
            <a:extLst xmlns:a="http://schemas.openxmlformats.org/drawingml/2006/main">
              <a:ext uri="{FF2B5EF4-FFF2-40B4-BE49-F238E27FC236}">
                <a16:creationId xmlns:a16="http://schemas.microsoft.com/office/drawing/2014/main" id="{F040B120-9899-491C-BEA2-399579B4B699}"/>
              </a:ext>
            </a:extLst>
          </p:cNvPr>
          <p:cNvSpPr>
            <a:spLocks xmlns:a="http://schemas.openxmlformats.org/drawingml/2006/main" noGrp="1"/>
          </p:cNvSpPr>
          <p:nvPr/>
        </p:nvSpPr>
        <p:spPr>
          <a:xfrm xmlns:a="http://schemas.openxmlformats.org/drawingml/2006/main">
            <a:off x="6305550" y="44958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INPUT</a:t>
            </a:r>
          </a:p>
        </p:txBody>
      </p:sp>
      <p:sp>
        <p:nvSpPr>
          <p:cNvPr id="29" name="">
            <a:extLst xmlns:a="http://schemas.openxmlformats.org/drawingml/2006/main">
              <a:ext uri="{FF2B5EF4-FFF2-40B4-BE49-F238E27FC236}">
                <a16:creationId xmlns:a16="http://schemas.microsoft.com/office/drawing/2014/main" id="{B667BDD8-BE05-4824-9A56-1C832F656BD7}"/>
              </a:ext>
            </a:extLst>
          </p:cNvPr>
          <p:cNvSpPr>
            <a:spLocks xmlns:a="http://schemas.openxmlformats.org/drawingml/2006/main" noGrp="1"/>
          </p:cNvSpPr>
          <p:nvPr/>
        </p:nvSpPr>
        <p:spPr>
          <a:xfrm xmlns:a="http://schemas.openxmlformats.org/drawingml/2006/main">
            <a:off x="7010400" y="4438650"/>
            <a:ext cx="3924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350" b="1" i="0">
                <a:solidFill>
                  <a:srgbClr val="111111"/>
                </a:solidFill>
              </a:defRPr>
            </a:pPr>
            <a:r>
              <a:rPr sz="1350" b="1" i="0">
                <a:solidFill>
                  <a:srgbClr val="111111"/>
                </a:solidFill>
              </a:rPr>
              <a:t>₱10k net at 20% simple rate</a:t>
            </a:r>
          </a:p>
        </p:txBody>
      </p:sp>
      <p:sp>
        <p:nvSpPr>
          <p:cNvPr id="30" name="">
            <a:extLst xmlns:a="http://schemas.openxmlformats.org/drawingml/2006/main">
              <a:ext uri="{FF2B5EF4-FFF2-40B4-BE49-F238E27FC236}">
                <a16:creationId xmlns:a16="http://schemas.microsoft.com/office/drawing/2014/main" id="{2CE49548-0FC6-4948-9DC8-5F69F1168DDB}"/>
              </a:ext>
            </a:extLst>
          </p:cNvPr>
          <p:cNvSpPr>
            <a:spLocks xmlns:a="http://schemas.openxmlformats.org/drawingml/2006/main" noGrp="1"/>
          </p:cNvSpPr>
          <p:nvPr/>
        </p:nvSpPr>
        <p:spPr>
          <a:xfrm xmlns:a="http://schemas.openxmlformats.org/drawingml/2006/main">
            <a:off x="6305550" y="49911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l">
              <a:defRPr sz="900" b="1" i="0">
                <a:solidFill>
                  <a:srgbClr val="66645F"/>
                </a:solidFill>
              </a:defRPr>
            </a:pPr>
            <a:r>
              <a:rPr sz="900" b="1" i="0">
                <a:solidFill>
                  <a:srgbClr val="66645F"/>
                </a:solidFill>
              </a:rPr>
              <a:t>EXPECTED</a:t>
            </a:r>
          </a:p>
        </p:txBody>
      </p:sp>
      <p:sp>
        <p:nvSpPr>
          <p:cNvPr id="31" name="">
            <a:extLst xmlns:a="http://schemas.openxmlformats.org/drawingml/2006/main">
              <a:ext uri="{FF2B5EF4-FFF2-40B4-BE49-F238E27FC236}">
                <a16:creationId xmlns:a16="http://schemas.microsoft.com/office/drawing/2014/main" id="{87E708F1-7B79-45B1-BA36-64941141FA54}"/>
              </a:ext>
            </a:extLst>
          </p:cNvPr>
          <p:cNvSpPr>
            <a:spLocks xmlns:a="http://schemas.openxmlformats.org/drawingml/2006/main" noGrp="1"/>
          </p:cNvSpPr>
          <p:nvPr/>
        </p:nvSpPr>
        <p:spPr>
          <a:xfrm xmlns:a="http://schemas.openxmlformats.org/drawingml/2006/main">
            <a:off x="7010400" y="4933950"/>
            <a:ext cx="3924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75" b="0" i="0">
                <a:solidFill>
                  <a:srgbClr val="111111"/>
                </a:solidFill>
              </a:defRPr>
            </a:pPr>
            <a:r>
              <a:rPr sz="1275" b="0" i="0">
                <a:solidFill>
                  <a:srgbClr val="111111"/>
                </a:solidFill>
              </a:rPr>
              <a:t>₱12,500 gross; ₱2,500 employer tax</a:t>
            </a:r>
          </a:p>
        </p:txBody>
      </p:sp>
      <p:sp>
        <p:nvSpPr>
          <p:cNvPr id="32" name="">
            <a:extLst xmlns:a="http://schemas.openxmlformats.org/drawingml/2006/main">
              <a:ext uri="{FF2B5EF4-FFF2-40B4-BE49-F238E27FC236}">
                <a16:creationId xmlns:a16="http://schemas.microsoft.com/office/drawing/2014/main" id="{B40D967B-FBBA-4FA8-BBAA-E8207D8A4B33}"/>
              </a:ext>
            </a:extLst>
          </p:cNvPr>
          <p:cNvSpPr>
            <a:spLocks xmlns:a="http://schemas.openxmlformats.org/drawingml/2006/main" noGrp="1"/>
          </p:cNvSpPr>
          <p:nvPr/>
        </p:nvSpPr>
        <p:spPr>
          <a:xfrm xmlns:a="http://schemas.openxmlformats.org/drawingml/2006/main">
            <a:off x="533400" y="60007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1">
                <a:solidFill>
                  <a:srgbClr val="66645F"/>
                </a:solidFill>
              </a:defRPr>
            </a:pPr>
            <a:r>
              <a:rPr sz="1200" b="0" i="1">
                <a:solidFill>
                  <a:srgbClr val="66645F"/>
                </a:solidFill>
              </a:rPr>
              <a:t>Use these as starting cases. Add client-specific exceptions only after the base outcome is agreed.</a:t>
            </a:r>
          </a:p>
        </p:txBody>
      </p:sp>
      <p:sp>
        <p:nvSpPr>
          <p:cNvPr id="33" name="">
            <a:extLst xmlns:a="http://schemas.openxmlformats.org/drawingml/2006/main">
              <a:ext uri="{FF2B5EF4-FFF2-40B4-BE49-F238E27FC236}">
                <a16:creationId xmlns:a16="http://schemas.microsoft.com/office/drawing/2014/main" id="{E7E645FD-8203-4813-B040-32F087E76E17}"/>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2351B97-34B8-4A8A-AD77-05209074ED9F}"/>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72" name=""/>
          <p:cNvCxnSpPr>
            <a:stCxn xmlns:a="http://schemas.openxmlformats.org/drawingml/2006/main" id="33" idx="6"/>
            <a:endCxn xmlns:a="http://schemas.openxmlformats.org/drawingml/2006/main" id="34"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36" name="">
            <a:extLst xmlns:a="http://schemas.openxmlformats.org/drawingml/2006/main">
              <a:ext uri="{FF2B5EF4-FFF2-40B4-BE49-F238E27FC236}">
                <a16:creationId xmlns:a16="http://schemas.microsoft.com/office/drawing/2014/main" id="{32132BA6-E80D-4E96-AD31-F01BD9AE8636}"/>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ANNEX B</a:t>
            </a:r>
          </a:p>
        </p:txBody>
      </p:sp>
      <p:sp>
        <p:nvSpPr>
          <p:cNvPr id="37" name="">
            <a:extLst xmlns:a="http://schemas.openxmlformats.org/drawingml/2006/main">
              <a:ext uri="{FF2B5EF4-FFF2-40B4-BE49-F238E27FC236}">
                <a16:creationId xmlns:a16="http://schemas.microsoft.com/office/drawing/2014/main" id="{91324AD9-D8CF-40EE-B082-016C83CC7869}"/>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16</a:t>
            </a:r>
          </a:p>
        </p:txBody>
      </p:sp>
    </p:spTree>
    <p:extLst>
      <p:ext uri="{BB962C8B-B14F-4D97-AF65-F5344CB8AC3E}">
        <p14:creationId xmlns:p14="http://schemas.microsoft.com/office/powerpoint/2010/main" val="577729212"/>
      </p:ext>
    </p:extLst>
  </p:cSld>
</p:sld>
</file>

<file path=ppt/slides/slide17.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D396814-398F-46E5-9ACF-3658D0EC50D4}"/>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GLOSSARY</a:t>
            </a:r>
          </a:p>
        </p:txBody>
      </p:sp>
      <p:sp>
        <p:nvSpPr>
          <p:cNvPr id="2" name="">
            <a:extLst xmlns:a="http://schemas.openxmlformats.org/drawingml/2006/main">
              <a:ext uri="{FF2B5EF4-FFF2-40B4-BE49-F238E27FC236}">
                <a16:creationId xmlns:a16="http://schemas.microsoft.com/office/drawing/2014/main" id="{EB51B1D7-436F-4D4C-9469-EFF9FE557DB6}"/>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PLAIN LANGUAGE</a:t>
            </a:r>
          </a:p>
        </p:txBody>
      </p:sp>
      <p:sp>
        <p:nvSpPr>
          <p:cNvPr id="3" name="">
            <a:extLst xmlns:a="http://schemas.openxmlformats.org/drawingml/2006/main">
              <a:ext uri="{FF2B5EF4-FFF2-40B4-BE49-F238E27FC236}">
                <a16:creationId xmlns:a16="http://schemas.microsoft.com/office/drawing/2014/main" id="{78A08F47-80F4-49CC-9F26-7E88B25DBE9E}"/>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Six terms used in the demo</a:t>
            </a:r>
          </a:p>
        </p:txBody>
      </p:sp>
      <p:sp>
        <p:nvSpPr>
          <p:cNvPr id="4" name="">
            <a:extLst xmlns:a="http://schemas.openxmlformats.org/drawingml/2006/main">
              <a:ext uri="{FF2B5EF4-FFF2-40B4-BE49-F238E27FC236}">
                <a16:creationId xmlns:a16="http://schemas.microsoft.com/office/drawing/2014/main" id="{8683CE6F-7E01-4290-B3F4-BAE88F33F0B3}"/>
              </a:ext>
            </a:extLst>
          </p:cNvPr>
          <p:cNvSpPr>
            <a:spLocks xmlns:a="http://schemas.openxmlformats.org/drawingml/2006/main" noGrp="1"/>
          </p:cNvSpPr>
          <p:nvPr/>
        </p:nvSpPr>
        <p:spPr>
          <a:xfrm xmlns:a="http://schemas.openxmlformats.org/drawingml/2006/main">
            <a:off x="533400" y="1562100"/>
            <a:ext cx="51816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1CFCA"/>
            </a:solidFill>
            <a:prstDash val="solid"/>
          </a:ln>
        </p:spPr>
      </p:sp>
      <p:sp>
        <p:nvSpPr>
          <p:cNvPr id="5" name="">
            <a:extLst xmlns:a="http://schemas.openxmlformats.org/drawingml/2006/main">
              <a:ext uri="{FF2B5EF4-FFF2-40B4-BE49-F238E27FC236}">
                <a16:creationId xmlns:a16="http://schemas.microsoft.com/office/drawing/2014/main" id="{ED4341B2-88CE-48EE-B787-C6D1FD1547CD}"/>
              </a:ext>
            </a:extLst>
          </p:cNvPr>
          <p:cNvSpPr>
            <a:spLocks xmlns:a="http://schemas.openxmlformats.org/drawingml/2006/main" noGrp="1"/>
          </p:cNvSpPr>
          <p:nvPr/>
        </p:nvSpPr>
        <p:spPr>
          <a:xfrm xmlns:a="http://schemas.openxmlformats.org/drawingml/2006/main">
            <a:off x="742950" y="1752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111111"/>
                </a:solidFill>
              </a:defRPr>
            </a:pPr>
            <a:r>
              <a:rPr sz="1650" b="1" i="0">
                <a:solidFill>
                  <a:srgbClr val="111111"/>
                </a:solidFill>
              </a:rPr>
              <a:t>Computation</a:t>
            </a:r>
          </a:p>
        </p:txBody>
      </p:sp>
      <p:sp>
        <p:nvSpPr>
          <p:cNvPr id="6" name="">
            <a:extLst xmlns:a="http://schemas.openxmlformats.org/drawingml/2006/main">
              <a:ext uri="{FF2B5EF4-FFF2-40B4-BE49-F238E27FC236}">
                <a16:creationId xmlns:a16="http://schemas.microsoft.com/office/drawing/2014/main" id="{8F2C4DF5-EB7E-4FE5-93DF-0A9302DEBF81}"/>
              </a:ext>
            </a:extLst>
          </p:cNvPr>
          <p:cNvSpPr>
            <a:spLocks xmlns:a="http://schemas.openxmlformats.org/drawingml/2006/main" noGrp="1"/>
          </p:cNvSpPr>
          <p:nvPr/>
        </p:nvSpPr>
        <p:spPr>
          <a:xfrm xmlns:a="http://schemas.openxmlformats.org/drawingml/2006/main">
            <a:off x="742950" y="21526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66645F"/>
                </a:solidFill>
              </a:defRPr>
            </a:pPr>
            <a:r>
              <a:rPr sz="1200" b="0" i="0">
                <a:solidFill>
                  <a:srgbClr val="66645F"/>
                </a:solidFill>
              </a:rPr>
              <a:t>A controlled formula that produces a payroll value.</a:t>
            </a:r>
          </a:p>
        </p:txBody>
      </p:sp>
      <p:sp>
        <p:nvSpPr>
          <p:cNvPr id="7" name="">
            <a:extLst xmlns:a="http://schemas.openxmlformats.org/drawingml/2006/main">
              <a:ext uri="{FF2B5EF4-FFF2-40B4-BE49-F238E27FC236}">
                <a16:creationId xmlns:a16="http://schemas.microsoft.com/office/drawing/2014/main" id="{053B8DC7-BF5B-40CE-8432-F4D3D4AA2180}"/>
              </a:ext>
            </a:extLst>
          </p:cNvPr>
          <p:cNvSpPr>
            <a:spLocks xmlns:a="http://schemas.openxmlformats.org/drawingml/2006/main" noGrp="1"/>
          </p:cNvSpPr>
          <p:nvPr/>
        </p:nvSpPr>
        <p:spPr>
          <a:xfrm xmlns:a="http://schemas.openxmlformats.org/drawingml/2006/main">
            <a:off x="6096000" y="1562100"/>
            <a:ext cx="5181600" cy="1181100"/>
          </a:xfrm>
          <a:prstGeom xmlns:a="http://schemas.openxmlformats.org/drawingml/2006/main" prst="roundRect">
            <a:avLst>
              <a:gd name="adj" fmla="val 6452"/>
            </a:avLst>
          </a:prstGeom>
          <a:solidFill xmlns:a="http://schemas.openxmlformats.org/drawingml/2006/main">
            <a:srgbClr val="F2ECF8"/>
          </a:solidFill>
          <a:ln xmlns:a="http://schemas.openxmlformats.org/drawingml/2006/main" w="9525">
            <a:solidFill>
              <a:srgbClr val="5C2A91"/>
            </a:solidFill>
            <a:prstDash val="solid"/>
          </a:ln>
        </p:spPr>
      </p:sp>
      <p:sp>
        <p:nvSpPr>
          <p:cNvPr id="8" name="">
            <a:extLst xmlns:a="http://schemas.openxmlformats.org/drawingml/2006/main">
              <a:ext uri="{FF2B5EF4-FFF2-40B4-BE49-F238E27FC236}">
                <a16:creationId xmlns:a16="http://schemas.microsoft.com/office/drawing/2014/main" id="{7AD604AA-6E98-4733-A89E-93980960D72A}"/>
              </a:ext>
            </a:extLst>
          </p:cNvPr>
          <p:cNvSpPr>
            <a:spLocks xmlns:a="http://schemas.openxmlformats.org/drawingml/2006/main" noGrp="1"/>
          </p:cNvSpPr>
          <p:nvPr/>
        </p:nvSpPr>
        <p:spPr>
          <a:xfrm xmlns:a="http://schemas.openxmlformats.org/drawingml/2006/main">
            <a:off x="6305550" y="1752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5C2A91"/>
                </a:solidFill>
              </a:defRPr>
            </a:pPr>
            <a:r>
              <a:rPr sz="1650" b="1" i="0">
                <a:solidFill>
                  <a:srgbClr val="5C2A91"/>
                </a:solidFill>
              </a:rPr>
              <a:t>Policy code</a:t>
            </a:r>
          </a:p>
        </p:txBody>
      </p:sp>
      <p:sp>
        <p:nvSpPr>
          <p:cNvPr id="9" name="">
            <a:extLst xmlns:a="http://schemas.openxmlformats.org/drawingml/2006/main">
              <a:ext uri="{FF2B5EF4-FFF2-40B4-BE49-F238E27FC236}">
                <a16:creationId xmlns:a16="http://schemas.microsoft.com/office/drawing/2014/main" id="{1438AA1F-F245-4282-8011-A367063CE8B1}"/>
              </a:ext>
            </a:extLst>
          </p:cNvPr>
          <p:cNvSpPr>
            <a:spLocks xmlns:a="http://schemas.openxmlformats.org/drawingml/2006/main" noGrp="1"/>
          </p:cNvSpPr>
          <p:nvPr/>
        </p:nvSpPr>
        <p:spPr>
          <a:xfrm xmlns:a="http://schemas.openxmlformats.org/drawingml/2006/main">
            <a:off x="6305550" y="21526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66645F"/>
                </a:solidFill>
              </a:defRPr>
            </a:pPr>
            <a:r>
              <a:rPr sz="1200" b="0" i="0">
                <a:solidFill>
                  <a:srgbClr val="66645F"/>
                </a:solidFill>
              </a:rPr>
              <a:t>A reusable company configuration of an approved engine/template.</a:t>
            </a:r>
          </a:p>
        </p:txBody>
      </p:sp>
      <p:sp>
        <p:nvSpPr>
          <p:cNvPr id="10" name="">
            <a:extLst xmlns:a="http://schemas.openxmlformats.org/drawingml/2006/main">
              <a:ext uri="{FF2B5EF4-FFF2-40B4-BE49-F238E27FC236}">
                <a16:creationId xmlns:a16="http://schemas.microsoft.com/office/drawing/2014/main" id="{383BACDB-8863-4744-82A0-38473BF6F7CE}"/>
              </a:ext>
            </a:extLst>
          </p:cNvPr>
          <p:cNvSpPr>
            <a:spLocks xmlns:a="http://schemas.openxmlformats.org/drawingml/2006/main" noGrp="1"/>
          </p:cNvSpPr>
          <p:nvPr/>
        </p:nvSpPr>
        <p:spPr>
          <a:xfrm xmlns:a="http://schemas.openxmlformats.org/drawingml/2006/main">
            <a:off x="533400" y="3009900"/>
            <a:ext cx="51816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1CFCA"/>
            </a:solidFill>
            <a:prstDash val="solid"/>
          </a:ln>
        </p:spPr>
      </p:sp>
      <p:sp>
        <p:nvSpPr>
          <p:cNvPr id="11" name="">
            <a:extLst xmlns:a="http://schemas.openxmlformats.org/drawingml/2006/main">
              <a:ext uri="{FF2B5EF4-FFF2-40B4-BE49-F238E27FC236}">
                <a16:creationId xmlns:a16="http://schemas.microsoft.com/office/drawing/2014/main" id="{07F0E304-D28E-43B8-8BF1-94F360F6E130}"/>
              </a:ext>
            </a:extLst>
          </p:cNvPr>
          <p:cNvSpPr>
            <a:spLocks xmlns:a="http://schemas.openxmlformats.org/drawingml/2006/main" noGrp="1"/>
          </p:cNvSpPr>
          <p:nvPr/>
        </p:nvSpPr>
        <p:spPr>
          <a:xfrm xmlns:a="http://schemas.openxmlformats.org/drawingml/2006/main">
            <a:off x="742950" y="32004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111111"/>
                </a:solidFill>
              </a:defRPr>
            </a:pPr>
            <a:r>
              <a:rPr sz="1650" b="1" i="0">
                <a:solidFill>
                  <a:srgbClr val="111111"/>
                </a:solidFill>
              </a:rPr>
              <a:t>Company Rule</a:t>
            </a:r>
          </a:p>
        </p:txBody>
      </p:sp>
      <p:sp>
        <p:nvSpPr>
          <p:cNvPr id="12" name="">
            <a:extLst xmlns:a="http://schemas.openxmlformats.org/drawingml/2006/main">
              <a:ext uri="{FF2B5EF4-FFF2-40B4-BE49-F238E27FC236}">
                <a16:creationId xmlns:a16="http://schemas.microsoft.com/office/drawing/2014/main" id="{6ED034D5-46EC-4A9E-BAAF-3C7AA0EF7487}"/>
              </a:ext>
            </a:extLst>
          </p:cNvPr>
          <p:cNvSpPr>
            <a:spLocks xmlns:a="http://schemas.openxmlformats.org/drawingml/2006/main" noGrp="1"/>
          </p:cNvSpPr>
          <p:nvPr/>
        </p:nvSpPr>
        <p:spPr>
          <a:xfrm xmlns:a="http://schemas.openxmlformats.org/drawingml/2006/main">
            <a:off x="742950" y="36004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66645F"/>
                </a:solidFill>
              </a:defRPr>
            </a:pPr>
            <a:r>
              <a:rPr sz="1200" b="0" i="0">
                <a:solidFill>
                  <a:srgbClr val="66645F"/>
                </a:solidFill>
              </a:rPr>
              <a:t>The audience, business wording, category and activation link.</a:t>
            </a:r>
          </a:p>
        </p:txBody>
      </p:sp>
      <p:sp>
        <p:nvSpPr>
          <p:cNvPr id="13" name="">
            <a:extLst xmlns:a="http://schemas.openxmlformats.org/drawingml/2006/main">
              <a:ext uri="{FF2B5EF4-FFF2-40B4-BE49-F238E27FC236}">
                <a16:creationId xmlns:a16="http://schemas.microsoft.com/office/drawing/2014/main" id="{6FC821B3-7577-4CD8-BD12-52FDE1C0D594}"/>
              </a:ext>
            </a:extLst>
          </p:cNvPr>
          <p:cNvSpPr>
            <a:spLocks xmlns:a="http://schemas.openxmlformats.org/drawingml/2006/main" noGrp="1"/>
          </p:cNvSpPr>
          <p:nvPr/>
        </p:nvSpPr>
        <p:spPr>
          <a:xfrm xmlns:a="http://schemas.openxmlformats.org/drawingml/2006/main">
            <a:off x="6096000" y="3009900"/>
            <a:ext cx="51816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1CFCA"/>
            </a:solidFill>
            <a:prstDash val="solid"/>
          </a:ln>
        </p:spPr>
      </p:sp>
      <p:sp>
        <p:nvSpPr>
          <p:cNvPr id="14" name="">
            <a:extLst xmlns:a="http://schemas.openxmlformats.org/drawingml/2006/main">
              <a:ext uri="{FF2B5EF4-FFF2-40B4-BE49-F238E27FC236}">
                <a16:creationId xmlns:a16="http://schemas.microsoft.com/office/drawing/2014/main" id="{7C8B959B-EEA3-46D8-9A84-B5439746A985}"/>
              </a:ext>
            </a:extLst>
          </p:cNvPr>
          <p:cNvSpPr>
            <a:spLocks xmlns:a="http://schemas.openxmlformats.org/drawingml/2006/main" noGrp="1"/>
          </p:cNvSpPr>
          <p:nvPr/>
        </p:nvSpPr>
        <p:spPr>
          <a:xfrm xmlns:a="http://schemas.openxmlformats.org/drawingml/2006/main">
            <a:off x="6305550" y="32004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111111"/>
                </a:solidFill>
              </a:defRPr>
            </a:pPr>
            <a:r>
              <a:rPr sz="1650" b="1" i="0">
                <a:solidFill>
                  <a:srgbClr val="111111"/>
                </a:solidFill>
              </a:rPr>
              <a:t>Reference source</a:t>
            </a:r>
          </a:p>
        </p:txBody>
      </p:sp>
      <p:sp>
        <p:nvSpPr>
          <p:cNvPr id="15" name="">
            <a:extLst xmlns:a="http://schemas.openxmlformats.org/drawingml/2006/main">
              <a:ext uri="{FF2B5EF4-FFF2-40B4-BE49-F238E27FC236}">
                <a16:creationId xmlns:a16="http://schemas.microsoft.com/office/drawing/2014/main" id="{6A10E49D-ABE7-4041-9D96-3B1BD00301B7}"/>
              </a:ext>
            </a:extLst>
          </p:cNvPr>
          <p:cNvSpPr>
            <a:spLocks xmlns:a="http://schemas.openxmlformats.org/drawingml/2006/main" noGrp="1"/>
          </p:cNvSpPr>
          <p:nvPr/>
        </p:nvSpPr>
        <p:spPr>
          <a:xfrm xmlns:a="http://schemas.openxmlformats.org/drawingml/2006/main">
            <a:off x="6305550" y="36004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66645F"/>
                </a:solidFill>
              </a:defRPr>
            </a:pPr>
            <a:r>
              <a:rPr sz="1200" b="0" i="0">
                <a:solidFill>
                  <a:srgbClr val="66645F"/>
                </a:solidFill>
              </a:rPr>
              <a:t>Versioned data used by formulas: tax, contributions, ceilings, hierarchy.</a:t>
            </a:r>
          </a:p>
        </p:txBody>
      </p:sp>
      <p:sp>
        <p:nvSpPr>
          <p:cNvPr id="16" name="">
            <a:extLst xmlns:a="http://schemas.openxmlformats.org/drawingml/2006/main">
              <a:ext uri="{FF2B5EF4-FFF2-40B4-BE49-F238E27FC236}">
                <a16:creationId xmlns:a16="http://schemas.microsoft.com/office/drawing/2014/main" id="{6F6DCD32-13AE-412E-AE93-8C470B3929A2}"/>
              </a:ext>
            </a:extLst>
          </p:cNvPr>
          <p:cNvSpPr>
            <a:spLocks xmlns:a="http://schemas.openxmlformats.org/drawingml/2006/main" noGrp="1"/>
          </p:cNvSpPr>
          <p:nvPr/>
        </p:nvSpPr>
        <p:spPr>
          <a:xfrm xmlns:a="http://schemas.openxmlformats.org/drawingml/2006/main">
            <a:off x="533400" y="4457700"/>
            <a:ext cx="51816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1CFCA"/>
            </a:solidFill>
            <a:prstDash val="solid"/>
          </a:ln>
        </p:spPr>
      </p:sp>
      <p:sp>
        <p:nvSpPr>
          <p:cNvPr id="17" name="">
            <a:extLst xmlns:a="http://schemas.openxmlformats.org/drawingml/2006/main">
              <a:ext uri="{FF2B5EF4-FFF2-40B4-BE49-F238E27FC236}">
                <a16:creationId xmlns:a16="http://schemas.microsoft.com/office/drawing/2014/main" id="{640C9684-17D2-43C0-88AE-1713AEA67512}"/>
              </a:ext>
            </a:extLst>
          </p:cNvPr>
          <p:cNvSpPr>
            <a:spLocks xmlns:a="http://schemas.openxmlformats.org/drawingml/2006/main" noGrp="1"/>
          </p:cNvSpPr>
          <p:nvPr/>
        </p:nvSpPr>
        <p:spPr>
          <a:xfrm xmlns:a="http://schemas.openxmlformats.org/drawingml/2006/main">
            <a:off x="742950" y="46482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111111"/>
                </a:solidFill>
              </a:defRPr>
            </a:pPr>
            <a:r>
              <a:rPr sz="1650" b="1" i="0">
                <a:solidFill>
                  <a:srgbClr val="111111"/>
                </a:solidFill>
              </a:rPr>
              <a:t>Client assignment</a:t>
            </a:r>
          </a:p>
        </p:txBody>
      </p:sp>
      <p:sp>
        <p:nvSpPr>
          <p:cNvPr id="18" name="">
            <a:extLst xmlns:a="http://schemas.openxmlformats.org/drawingml/2006/main">
              <a:ext uri="{FF2B5EF4-FFF2-40B4-BE49-F238E27FC236}">
                <a16:creationId xmlns:a16="http://schemas.microsoft.com/office/drawing/2014/main" id="{B2B159F6-C925-4865-A4A8-FA7BECBD11D2}"/>
              </a:ext>
            </a:extLst>
          </p:cNvPr>
          <p:cNvSpPr>
            <a:spLocks xmlns:a="http://schemas.openxmlformats.org/drawingml/2006/main" noGrp="1"/>
          </p:cNvSpPr>
          <p:nvPr/>
        </p:nvSpPr>
        <p:spPr>
          <a:xfrm xmlns:a="http://schemas.openxmlformats.org/drawingml/2006/main">
            <a:off x="742950" y="5048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66645F"/>
                </a:solidFill>
              </a:defRPr>
            </a:pPr>
            <a:r>
              <a:rPr sz="1200" b="0" i="0">
                <a:solidFill>
                  <a:srgbClr val="66645F"/>
                </a:solidFill>
              </a:rPr>
              <a:t>The link between a computation, data source, group and frequency.</a:t>
            </a:r>
          </a:p>
        </p:txBody>
      </p:sp>
      <p:sp>
        <p:nvSpPr>
          <p:cNvPr id="19" name="">
            <a:extLst xmlns:a="http://schemas.openxmlformats.org/drawingml/2006/main">
              <a:ext uri="{FF2B5EF4-FFF2-40B4-BE49-F238E27FC236}">
                <a16:creationId xmlns:a16="http://schemas.microsoft.com/office/drawing/2014/main" id="{6DBAFA90-D2B6-4A75-9DC4-D7604D93BE0A}"/>
              </a:ext>
            </a:extLst>
          </p:cNvPr>
          <p:cNvSpPr>
            <a:spLocks xmlns:a="http://schemas.openxmlformats.org/drawingml/2006/main" noGrp="1"/>
          </p:cNvSpPr>
          <p:nvPr/>
        </p:nvSpPr>
        <p:spPr>
          <a:xfrm xmlns:a="http://schemas.openxmlformats.org/drawingml/2006/main">
            <a:off x="6096000" y="4457700"/>
            <a:ext cx="5181600" cy="11811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9525">
            <a:solidFill>
              <a:srgbClr val="D1CFCA"/>
            </a:solidFill>
            <a:prstDash val="solid"/>
          </a:ln>
        </p:spPr>
      </p:sp>
      <p:sp>
        <p:nvSpPr>
          <p:cNvPr id="20" name="">
            <a:extLst xmlns:a="http://schemas.openxmlformats.org/drawingml/2006/main">
              <a:ext uri="{FF2B5EF4-FFF2-40B4-BE49-F238E27FC236}">
                <a16:creationId xmlns:a16="http://schemas.microsoft.com/office/drawing/2014/main" id="{E2968EC5-82C9-45EA-A9B2-7A44DBB4AF16}"/>
              </a:ext>
            </a:extLst>
          </p:cNvPr>
          <p:cNvSpPr>
            <a:spLocks xmlns:a="http://schemas.openxmlformats.org/drawingml/2006/main" noGrp="1"/>
          </p:cNvSpPr>
          <p:nvPr/>
        </p:nvSpPr>
        <p:spPr>
          <a:xfrm xmlns:a="http://schemas.openxmlformats.org/drawingml/2006/main">
            <a:off x="6305550" y="46482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7273"/>
          </a:bodyPr>
          <a:lstStyle xmlns:a="http://schemas.openxmlformats.org/drawingml/2006/main"/>
          <a:p xmlns:a="http://schemas.openxmlformats.org/drawingml/2006/main">
            <a:pPr algn="l">
              <a:defRPr sz="1650" b="1" i="0">
                <a:solidFill>
                  <a:srgbClr val="111111"/>
                </a:solidFill>
              </a:defRPr>
            </a:pPr>
            <a:r>
              <a:rPr sz="1650" b="1" i="0">
                <a:solidFill>
                  <a:srgbClr val="111111"/>
                </a:solidFill>
              </a:rPr>
              <a:t>Scenario simulator</a:t>
            </a:r>
          </a:p>
        </p:txBody>
      </p:sp>
      <p:sp>
        <p:nvSpPr>
          <p:cNvPr id="21" name="">
            <a:extLst xmlns:a="http://schemas.openxmlformats.org/drawingml/2006/main">
              <a:ext uri="{FF2B5EF4-FFF2-40B4-BE49-F238E27FC236}">
                <a16:creationId xmlns:a16="http://schemas.microsoft.com/office/drawing/2014/main" id="{D82E89F7-80FF-4D47-B87E-B99F818C81AE}"/>
              </a:ext>
            </a:extLst>
          </p:cNvPr>
          <p:cNvSpPr>
            <a:spLocks xmlns:a="http://schemas.openxmlformats.org/drawingml/2006/main" noGrp="1"/>
          </p:cNvSpPr>
          <p:nvPr/>
        </p:nvSpPr>
        <p:spPr>
          <a:xfrm xmlns:a="http://schemas.openxmlformats.org/drawingml/2006/main">
            <a:off x="6305550" y="50482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200" b="0" i="0">
                <a:solidFill>
                  <a:srgbClr val="66645F"/>
                </a:solidFill>
              </a:defRPr>
            </a:pPr>
            <a:r>
              <a:rPr sz="1200" b="0" i="0">
                <a:solidFill>
                  <a:srgbClr val="66645F"/>
                </a:solidFill>
              </a:rPr>
              <a:t>A safe preview of the result and decision trace before payroll.</a:t>
            </a:r>
          </a:p>
        </p:txBody>
      </p:sp>
      <p:sp>
        <p:nvSpPr>
          <p:cNvPr id="22" name="">
            <a:extLst xmlns:a="http://schemas.openxmlformats.org/drawingml/2006/main">
              <a:ext uri="{FF2B5EF4-FFF2-40B4-BE49-F238E27FC236}">
                <a16:creationId xmlns:a16="http://schemas.microsoft.com/office/drawing/2014/main" id="{AE68B4A2-6901-42FE-8C04-3931FAA61496}"/>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3B86B53-EB89-47CC-8EBE-F43EBEF53497}"/>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50" name=""/>
          <p:cNvCxnSpPr>
            <a:stCxn xmlns:a="http://schemas.openxmlformats.org/drawingml/2006/main" id="22" idx="6"/>
            <a:endCxn xmlns:a="http://schemas.openxmlformats.org/drawingml/2006/main" id="23"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5" name="">
            <a:extLst xmlns:a="http://schemas.openxmlformats.org/drawingml/2006/main">
              <a:ext uri="{FF2B5EF4-FFF2-40B4-BE49-F238E27FC236}">
                <a16:creationId xmlns:a16="http://schemas.microsoft.com/office/drawing/2014/main" id="{B31BD664-6C07-47E7-B39B-D0429448558F}"/>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GLOSSARY</a:t>
            </a:r>
          </a:p>
        </p:txBody>
      </p:sp>
      <p:sp>
        <p:nvSpPr>
          <p:cNvPr id="26" name="">
            <a:extLst xmlns:a="http://schemas.openxmlformats.org/drawingml/2006/main">
              <a:ext uri="{FF2B5EF4-FFF2-40B4-BE49-F238E27FC236}">
                <a16:creationId xmlns:a16="http://schemas.microsoft.com/office/drawing/2014/main" id="{44F772CF-34B8-4F25-94A7-4EC664A018F2}"/>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17</a:t>
            </a:r>
          </a:p>
        </p:txBody>
      </p:sp>
    </p:spTree>
    <p:extLst>
      <p:ext uri="{BB962C8B-B14F-4D97-AF65-F5344CB8AC3E}">
        <p14:creationId xmlns:p14="http://schemas.microsoft.com/office/powerpoint/2010/main" val="179186750"/>
      </p:ext>
    </p:extLst>
  </p:cSld>
</p:sld>
</file>

<file path=ppt/slides/slide18.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D72D454-5EC0-4904-BEB3-07E7DDF3DD15}"/>
              </a:ext>
            </a:extLst>
          </p:cNvPr>
          <p:cNvSpPr>
            <a:spLocks xmlns:a="http://schemas.openxmlformats.org/drawingml/2006/main" noGrp="1"/>
          </p:cNvSpPr>
          <p:nvPr/>
        </p:nvSpPr>
        <p:spPr>
          <a:xfrm xmlns:a="http://schemas.openxmlformats.org/drawingml/2006/main">
            <a:off x="533400"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i="0">
                <a:solidFill>
                  <a:srgbClr val="5C2A91"/>
                </a:solidFill>
              </a:defRPr>
            </a:pPr>
            <a:r>
              <a:rPr sz="975" b="1" i="0">
                <a:solidFill>
                  <a:srgbClr val="5C2A91"/>
                </a:solidFill>
              </a:rPr>
              <a:t>SOURCES</a:t>
            </a:r>
          </a:p>
        </p:txBody>
      </p:sp>
      <p:sp>
        <p:nvSpPr>
          <p:cNvPr id="2" name="">
            <a:extLst xmlns:a="http://schemas.openxmlformats.org/drawingml/2006/main">
              <a:ext uri="{FF2B5EF4-FFF2-40B4-BE49-F238E27FC236}">
                <a16:creationId xmlns:a16="http://schemas.microsoft.com/office/drawing/2014/main" id="{621B419F-53B6-4227-B36A-7AABCA81E82E}"/>
              </a:ext>
            </a:extLst>
          </p:cNvPr>
          <p:cNvSpPr>
            <a:spLocks xmlns:a="http://schemas.openxmlformats.org/drawingml/2006/main" noGrp="1"/>
          </p:cNvSpPr>
          <p:nvPr/>
        </p:nvSpPr>
        <p:spPr>
          <a:xfrm xmlns:a="http://schemas.openxmlformats.org/drawingml/2006/main">
            <a:off x="8763000" y="2286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r">
              <a:defRPr sz="975" b="0" i="0">
                <a:solidFill>
                  <a:srgbClr val="66645F"/>
                </a:solidFill>
              </a:defRPr>
            </a:pPr>
            <a:r>
              <a:rPr sz="975" b="0" i="0">
                <a:solidFill>
                  <a:srgbClr val="66645F"/>
                </a:solidFill>
              </a:rPr>
              <a:t>SOURCE OF TRUTH</a:t>
            </a:r>
          </a:p>
        </p:txBody>
      </p:sp>
      <p:sp>
        <p:nvSpPr>
          <p:cNvPr id="3" name="">
            <a:extLst xmlns:a="http://schemas.openxmlformats.org/drawingml/2006/main">
              <a:ext uri="{FF2B5EF4-FFF2-40B4-BE49-F238E27FC236}">
                <a16:creationId xmlns:a16="http://schemas.microsoft.com/office/drawing/2014/main" id="{A11D53CD-4685-444C-AE88-CD370D78B74A}"/>
              </a:ext>
            </a:extLst>
          </p:cNvPr>
          <p:cNvSpPr>
            <a:spLocks xmlns:a="http://schemas.openxmlformats.org/drawingml/2006/main" noGrp="1"/>
          </p:cNvSpPr>
          <p:nvPr/>
        </p:nvSpPr>
        <p:spPr>
          <a:xfrm xmlns:a="http://schemas.openxmlformats.org/drawingml/2006/main">
            <a:off x="533400" y="552450"/>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92000"/>
              </a:lnSpc>
              <a:buNone/>
              <a:defRPr sz="2700" b="1" i="0">
                <a:solidFill>
                  <a:srgbClr val="111111"/>
                </a:solidFill>
              </a:defRPr>
            </a:pPr>
            <a:r>
              <a:rPr sz="2700" b="1" i="0">
                <a:solidFill>
                  <a:srgbClr val="111111"/>
                </a:solidFill>
              </a:rPr>
              <a:t>Files used to derive this wireframe story</a:t>
            </a:r>
          </a:p>
        </p:txBody>
      </p:sp>
      <p:sp>
        <p:nvSpPr>
          <p:cNvPr id="4" name="">
            <a:extLst xmlns:a="http://schemas.openxmlformats.org/drawingml/2006/main">
              <a:ext uri="{FF2B5EF4-FFF2-40B4-BE49-F238E27FC236}">
                <a16:creationId xmlns:a16="http://schemas.microsoft.com/office/drawing/2014/main" id="{96ABB82E-4D2A-4604-8188-4C0903672441}"/>
              </a:ext>
            </a:extLst>
          </p:cNvPr>
          <p:cNvSpPr>
            <a:spLocks xmlns:a="http://schemas.openxmlformats.org/drawingml/2006/main" noGrp="1"/>
          </p:cNvSpPr>
          <p:nvPr/>
        </p:nvSpPr>
        <p:spPr>
          <a:xfrm xmlns:a="http://schemas.openxmlformats.org/drawingml/2006/main">
            <a:off x="533400" y="1562100"/>
            <a:ext cx="51816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1CFCA"/>
            </a:solidFill>
            <a:prstDash val="solid"/>
          </a:ln>
        </p:spPr>
      </p:sp>
      <p:sp>
        <p:nvSpPr>
          <p:cNvPr id="5" name="">
            <a:extLst xmlns:a="http://schemas.openxmlformats.org/drawingml/2006/main">
              <a:ext uri="{FF2B5EF4-FFF2-40B4-BE49-F238E27FC236}">
                <a16:creationId xmlns:a16="http://schemas.microsoft.com/office/drawing/2014/main" id="{FB0F0572-F9F4-499A-B15B-CC0C9B95519C}"/>
              </a:ext>
            </a:extLst>
          </p:cNvPr>
          <p:cNvSpPr>
            <a:spLocks xmlns:a="http://schemas.openxmlformats.org/drawingml/2006/main" noGrp="1"/>
          </p:cNvSpPr>
          <p:nvPr/>
        </p:nvSpPr>
        <p:spPr>
          <a:xfrm xmlns:a="http://schemas.openxmlformats.org/drawingml/2006/main">
            <a:off x="723900" y="17145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487"/>
          </a:bodyPr>
          <a:lstStyle xmlns:a="http://schemas.openxmlformats.org/drawingml/2006/main"/>
          <a:p xmlns:a="http://schemas.openxmlformats.org/drawingml/2006/main">
            <a:pPr algn="l">
              <a:defRPr sz="975" b="1" i="0">
                <a:solidFill>
                  <a:srgbClr val="5C2A91"/>
                </a:solidFill>
              </a:defRPr>
            </a:pPr>
            <a:r>
              <a:rPr sz="975" b="1" i="0">
                <a:solidFill>
                  <a:srgbClr val="5C2A91"/>
                </a:solidFill>
              </a:rPr>
              <a:t>PRIMARY PAYROLL TABLES</a:t>
            </a:r>
          </a:p>
        </p:txBody>
      </p:sp>
      <p:sp>
        <p:nvSpPr>
          <p:cNvPr id="6" name="">
            <a:extLst xmlns:a="http://schemas.openxmlformats.org/drawingml/2006/main">
              <a:ext uri="{FF2B5EF4-FFF2-40B4-BE49-F238E27FC236}">
                <a16:creationId xmlns:a16="http://schemas.microsoft.com/office/drawing/2014/main" id="{12397F28-5D86-4CA0-9E3E-A0560E2C5CE6}"/>
              </a:ext>
            </a:extLst>
          </p:cNvPr>
          <p:cNvSpPr>
            <a:spLocks xmlns:a="http://schemas.openxmlformats.org/drawingml/2006/main" noGrp="1"/>
          </p:cNvSpPr>
          <p:nvPr/>
        </p:nvSpPr>
        <p:spPr>
          <a:xfrm xmlns:a="http://schemas.openxmlformats.org/drawingml/2006/main">
            <a:off x="723900" y="20002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970"/>
          </a:bodyPr>
          <a:lstStyle xmlns:a="http://schemas.openxmlformats.org/drawingml/2006/main"/>
          <a:p xmlns:a="http://schemas.openxmlformats.org/drawingml/2006/main">
            <a:pPr algn="l">
              <a:lnSpc>
                <a:spcPct val="100000"/>
              </a:lnSpc>
              <a:buNone/>
              <a:defRPr sz="1125" b="0" i="0">
                <a:solidFill>
                  <a:srgbClr val="111111"/>
                </a:solidFill>
              </a:defRPr>
            </a:pPr>
            <a:r>
              <a:rPr sz="1125" b="0" i="0">
                <a:solidFill>
                  <a:srgbClr val="111111"/>
                </a:solidFill>
              </a:rPr>
              <a:t>02Annex B_ Employee Masterfile Payroll Data Tables from Dorado.xlsx</a:t>
            </a:r>
          </a:p>
          <a:p xmlns:a="http://schemas.openxmlformats.org/drawingml/2006/main">
            <a:pPr algn="l">
              <a:lnSpc>
                <a:spcPct val="100000"/>
              </a:lnSpc>
              <a:buNone/>
              <a:defRPr sz="1125" b="0" i="0">
                <a:solidFill>
                  <a:srgbClr val="111111"/>
                </a:solidFill>
              </a:defRPr>
            </a:pPr>
            <a:r>
              <a:rPr sz="1125" b="0" i="0">
                <a:solidFill>
                  <a:srgbClr val="111111"/>
                </a:solidFill>
              </a:rPr>
              <a:t>Tabs: Gross Up, Take Home Pay, Retirement Pay, Final Pay, Pay Items, Deductions, Loans</a:t>
            </a:r>
          </a:p>
        </p:txBody>
      </p:sp>
      <p:sp>
        <p:nvSpPr>
          <p:cNvPr id="7" name="">
            <a:extLst xmlns:a="http://schemas.openxmlformats.org/drawingml/2006/main">
              <a:ext uri="{FF2B5EF4-FFF2-40B4-BE49-F238E27FC236}">
                <a16:creationId xmlns:a16="http://schemas.microsoft.com/office/drawing/2014/main" id="{74E1342F-D58F-48DB-8328-09346A212645}"/>
              </a:ext>
            </a:extLst>
          </p:cNvPr>
          <p:cNvSpPr>
            <a:spLocks xmlns:a="http://schemas.openxmlformats.org/drawingml/2006/main" noGrp="1"/>
          </p:cNvSpPr>
          <p:nvPr/>
        </p:nvSpPr>
        <p:spPr>
          <a:xfrm xmlns:a="http://schemas.openxmlformats.org/drawingml/2006/main">
            <a:off x="533400" y="2819400"/>
            <a:ext cx="51816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1CFCA"/>
            </a:solidFill>
            <a:prstDash val="solid"/>
          </a:ln>
        </p:spPr>
      </p:sp>
      <p:sp>
        <p:nvSpPr>
          <p:cNvPr id="8" name="">
            <a:extLst xmlns:a="http://schemas.openxmlformats.org/drawingml/2006/main">
              <a:ext uri="{FF2B5EF4-FFF2-40B4-BE49-F238E27FC236}">
                <a16:creationId xmlns:a16="http://schemas.microsoft.com/office/drawing/2014/main" id="{95D31D4C-EFEA-4972-A896-E3AE5690DDB8}"/>
              </a:ext>
            </a:extLst>
          </p:cNvPr>
          <p:cNvSpPr>
            <a:spLocks xmlns:a="http://schemas.openxmlformats.org/drawingml/2006/main" noGrp="1"/>
          </p:cNvSpPr>
          <p:nvPr/>
        </p:nvSpPr>
        <p:spPr>
          <a:xfrm xmlns:a="http://schemas.openxmlformats.org/drawingml/2006/main">
            <a:off x="723900" y="29718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487"/>
          </a:bodyPr>
          <a:lstStyle xmlns:a="http://schemas.openxmlformats.org/drawingml/2006/main"/>
          <a:p xmlns:a="http://schemas.openxmlformats.org/drawingml/2006/main">
            <a:pPr algn="l">
              <a:defRPr sz="975" b="1" i="0">
                <a:solidFill>
                  <a:srgbClr val="5C2A91"/>
                </a:solidFill>
              </a:defRPr>
            </a:pPr>
            <a:r>
              <a:rPr sz="975" b="1" i="0">
                <a:solidFill>
                  <a:srgbClr val="5C2A91"/>
                </a:solidFill>
              </a:rPr>
              <a:t>PROJECT / BRD ALIGNMENT</a:t>
            </a:r>
          </a:p>
        </p:txBody>
      </p:sp>
      <p:sp>
        <p:nvSpPr>
          <p:cNvPr id="9" name="">
            <a:extLst xmlns:a="http://schemas.openxmlformats.org/drawingml/2006/main">
              <a:ext uri="{FF2B5EF4-FFF2-40B4-BE49-F238E27FC236}">
                <a16:creationId xmlns:a16="http://schemas.microsoft.com/office/drawing/2014/main" id="{B0F8E64F-B77C-4BD4-9DE7-5C31A4073F41}"/>
              </a:ext>
            </a:extLst>
          </p:cNvPr>
          <p:cNvSpPr>
            <a:spLocks xmlns:a="http://schemas.openxmlformats.org/drawingml/2006/main" noGrp="1"/>
          </p:cNvSpPr>
          <p:nvPr/>
        </p:nvSpPr>
        <p:spPr>
          <a:xfrm xmlns:a="http://schemas.openxmlformats.org/drawingml/2006/main">
            <a:off x="723900" y="32575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18"/>
          </a:bodyPr>
          <a:lstStyle xmlns:a="http://schemas.openxmlformats.org/drawingml/2006/main"/>
          <a:p xmlns:a="http://schemas.openxmlformats.org/drawingml/2006/main">
            <a:pPr algn="l">
              <a:lnSpc>
                <a:spcPct val="100000"/>
              </a:lnSpc>
              <a:buNone/>
              <a:defRPr sz="1125" b="0" i="0">
                <a:solidFill>
                  <a:srgbClr val="111111"/>
                </a:solidFill>
              </a:defRPr>
            </a:pPr>
            <a:r>
              <a:rPr sz="1125" b="0" i="0">
                <a:solidFill>
                  <a:srgbClr val="111111"/>
                </a:solidFill>
              </a:rPr>
              <a:t>Phase 2 - Payroll - Project Plan.xlsx</a:t>
            </a:r>
          </a:p>
          <a:p xmlns:a="http://schemas.openxmlformats.org/drawingml/2006/main">
            <a:pPr algn="l">
              <a:lnSpc>
                <a:spcPct val="100000"/>
              </a:lnSpc>
              <a:buNone/>
              <a:defRPr sz="1125" b="0" i="0">
                <a:solidFill>
                  <a:srgbClr val="111111"/>
                </a:solidFill>
              </a:defRPr>
            </a:pPr>
            <a:r>
              <a:rPr sz="1125" b="0" i="0">
                <a:solidFill>
                  <a:srgbClr val="111111"/>
                </a:solidFill>
              </a:rPr>
              <a:t>Phase 2 BRD Audit Summary.xlsx</a:t>
            </a:r>
          </a:p>
          <a:p xmlns:a="http://schemas.openxmlformats.org/drawingml/2006/main">
            <a:pPr algn="l">
              <a:lnSpc>
                <a:spcPct val="100000"/>
              </a:lnSpc>
              <a:buNone/>
              <a:defRPr sz="1125" b="0" i="0">
                <a:solidFill>
                  <a:srgbClr val="111111"/>
                </a:solidFill>
              </a:defRPr>
            </a:pPr>
            <a:r>
              <a:rPr sz="1125" b="0" i="0">
                <a:solidFill>
                  <a:srgbClr val="111111"/>
                </a:solidFill>
              </a:rPr>
              <a:t>Tabs/rows: Modules and Features, HTP018/019/023, HTP073-075, H54-55, H61-64</a:t>
            </a:r>
          </a:p>
        </p:txBody>
      </p:sp>
      <p:sp>
        <p:nvSpPr>
          <p:cNvPr id="10" name="">
            <a:extLst xmlns:a="http://schemas.openxmlformats.org/drawingml/2006/main">
              <a:ext uri="{FF2B5EF4-FFF2-40B4-BE49-F238E27FC236}">
                <a16:creationId xmlns:a16="http://schemas.microsoft.com/office/drawing/2014/main" id="{CC1DECC3-0547-4ED2-999D-0EC0AC99AA0A}"/>
              </a:ext>
            </a:extLst>
          </p:cNvPr>
          <p:cNvSpPr>
            <a:spLocks xmlns:a="http://schemas.openxmlformats.org/drawingml/2006/main" noGrp="1"/>
          </p:cNvSpPr>
          <p:nvPr/>
        </p:nvSpPr>
        <p:spPr>
          <a:xfrm xmlns:a="http://schemas.openxmlformats.org/drawingml/2006/main">
            <a:off x="533400" y="4076700"/>
            <a:ext cx="51816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1CFCA"/>
            </a:solidFill>
            <a:prstDash val="solid"/>
          </a:ln>
        </p:spPr>
      </p:sp>
      <p:sp>
        <p:nvSpPr>
          <p:cNvPr id="11" name="">
            <a:extLst xmlns:a="http://schemas.openxmlformats.org/drawingml/2006/main">
              <a:ext uri="{FF2B5EF4-FFF2-40B4-BE49-F238E27FC236}">
                <a16:creationId xmlns:a16="http://schemas.microsoft.com/office/drawing/2014/main" id="{2F454997-50B2-4C8F-9956-2919BF64F649}"/>
              </a:ext>
            </a:extLst>
          </p:cNvPr>
          <p:cNvSpPr>
            <a:spLocks xmlns:a="http://schemas.openxmlformats.org/drawingml/2006/main" noGrp="1"/>
          </p:cNvSpPr>
          <p:nvPr/>
        </p:nvSpPr>
        <p:spPr>
          <a:xfrm xmlns:a="http://schemas.openxmlformats.org/drawingml/2006/main">
            <a:off x="723900" y="42291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487"/>
          </a:bodyPr>
          <a:lstStyle xmlns:a="http://schemas.openxmlformats.org/drawingml/2006/main"/>
          <a:p xmlns:a="http://schemas.openxmlformats.org/drawingml/2006/main">
            <a:pPr algn="l">
              <a:defRPr sz="975" b="1" i="0">
                <a:solidFill>
                  <a:srgbClr val="5C2A91"/>
                </a:solidFill>
              </a:defRPr>
            </a:pPr>
            <a:r>
              <a:rPr sz="975" b="1" i="0">
                <a:solidFill>
                  <a:srgbClr val="5C2A91"/>
                </a:solidFill>
              </a:rPr>
              <a:t>REFERENCE TABLES</a:t>
            </a:r>
          </a:p>
        </p:txBody>
      </p:sp>
      <p:sp>
        <p:nvSpPr>
          <p:cNvPr id="12" name="">
            <a:extLst xmlns:a="http://schemas.openxmlformats.org/drawingml/2006/main">
              <a:ext uri="{FF2B5EF4-FFF2-40B4-BE49-F238E27FC236}">
                <a16:creationId xmlns:a16="http://schemas.microsoft.com/office/drawing/2014/main" id="{BEC8A4F2-E0A8-44D7-8B4E-736C2892F0DA}"/>
              </a:ext>
            </a:extLst>
          </p:cNvPr>
          <p:cNvSpPr>
            <a:spLocks xmlns:a="http://schemas.openxmlformats.org/drawingml/2006/main" noGrp="1"/>
          </p:cNvSpPr>
          <p:nvPr/>
        </p:nvSpPr>
        <p:spPr>
          <a:xfrm xmlns:a="http://schemas.openxmlformats.org/drawingml/2006/main">
            <a:off x="723900" y="45148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0000"/>
              </a:lnSpc>
              <a:buNone/>
              <a:defRPr sz="1125" b="0" i="0">
                <a:solidFill>
                  <a:srgbClr val="111111"/>
                </a:solidFill>
              </a:defRPr>
            </a:pPr>
            <a:r>
              <a:rPr sz="1125" b="0" i="0">
                <a:solidFill>
                  <a:srgbClr val="111111"/>
                </a:solidFill>
              </a:rPr>
              <a:t>PHASE 2 - REFERENCE TABLE [CORE].xlsx</a:t>
            </a:r>
          </a:p>
          <a:p xmlns:a="http://schemas.openxmlformats.org/drawingml/2006/main">
            <a:pPr algn="l">
              <a:lnSpc>
                <a:spcPct val="100000"/>
              </a:lnSpc>
              <a:buNone/>
              <a:defRPr sz="1125" b="0" i="0">
                <a:solidFill>
                  <a:srgbClr val="111111"/>
                </a:solidFill>
              </a:defRPr>
            </a:pPr>
            <a:r>
              <a:rPr sz="1125" b="0" i="0">
                <a:solidFill>
                  <a:srgbClr val="111111"/>
                </a:solidFill>
              </a:rPr>
              <a:t>ATLAS-3001 Reference Tables.docx</a:t>
            </a:r>
          </a:p>
        </p:txBody>
      </p:sp>
      <p:sp>
        <p:nvSpPr>
          <p:cNvPr id="13" name="">
            <a:extLst xmlns:a="http://schemas.openxmlformats.org/drawingml/2006/main">
              <a:ext uri="{FF2B5EF4-FFF2-40B4-BE49-F238E27FC236}">
                <a16:creationId xmlns:a16="http://schemas.microsoft.com/office/drawing/2014/main" id="{08EFC2B1-F8FD-4176-A1C2-CB3DE6B94437}"/>
              </a:ext>
            </a:extLst>
          </p:cNvPr>
          <p:cNvSpPr>
            <a:spLocks xmlns:a="http://schemas.openxmlformats.org/drawingml/2006/main" noGrp="1"/>
          </p:cNvSpPr>
          <p:nvPr/>
        </p:nvSpPr>
        <p:spPr>
          <a:xfrm xmlns:a="http://schemas.openxmlformats.org/drawingml/2006/main">
            <a:off x="6096000" y="1562100"/>
            <a:ext cx="51816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1CFCA"/>
            </a:solidFill>
            <a:prstDash val="solid"/>
          </a:ln>
        </p:spPr>
      </p:sp>
      <p:sp>
        <p:nvSpPr>
          <p:cNvPr id="14" name="">
            <a:extLst xmlns:a="http://schemas.openxmlformats.org/drawingml/2006/main">
              <a:ext uri="{FF2B5EF4-FFF2-40B4-BE49-F238E27FC236}">
                <a16:creationId xmlns:a16="http://schemas.microsoft.com/office/drawing/2014/main" id="{1AEA34DC-450A-4594-8460-698D3C7191D6}"/>
              </a:ext>
            </a:extLst>
          </p:cNvPr>
          <p:cNvSpPr>
            <a:spLocks xmlns:a="http://schemas.openxmlformats.org/drawingml/2006/main" noGrp="1"/>
          </p:cNvSpPr>
          <p:nvPr/>
        </p:nvSpPr>
        <p:spPr>
          <a:xfrm xmlns:a="http://schemas.openxmlformats.org/drawingml/2006/main">
            <a:off x="6286500" y="17145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487"/>
          </a:bodyPr>
          <a:lstStyle xmlns:a="http://schemas.openxmlformats.org/drawingml/2006/main"/>
          <a:p xmlns:a="http://schemas.openxmlformats.org/drawingml/2006/main">
            <a:pPr algn="l">
              <a:defRPr sz="975" b="1" i="0">
                <a:solidFill>
                  <a:srgbClr val="5C2A91"/>
                </a:solidFill>
              </a:defRPr>
            </a:pPr>
            <a:r>
              <a:rPr sz="975" b="1" i="0">
                <a:solidFill>
                  <a:srgbClr val="5C2A91"/>
                </a:solidFill>
              </a:rPr>
              <a:t>COMPUTATION EXAMPLES</a:t>
            </a:r>
          </a:p>
        </p:txBody>
      </p:sp>
      <p:sp>
        <p:nvSpPr>
          <p:cNvPr id="15" name="">
            <a:extLst xmlns:a="http://schemas.openxmlformats.org/drawingml/2006/main">
              <a:ext uri="{FF2B5EF4-FFF2-40B4-BE49-F238E27FC236}">
                <a16:creationId xmlns:a16="http://schemas.microsoft.com/office/drawing/2014/main" id="{48E72A92-1EFC-46BC-ACE7-5B515A0FF02D}"/>
              </a:ext>
            </a:extLst>
          </p:cNvPr>
          <p:cNvSpPr>
            <a:spLocks xmlns:a="http://schemas.openxmlformats.org/drawingml/2006/main" noGrp="1"/>
          </p:cNvSpPr>
          <p:nvPr/>
        </p:nvSpPr>
        <p:spPr>
          <a:xfrm xmlns:a="http://schemas.openxmlformats.org/drawingml/2006/main">
            <a:off x="6286500" y="20002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18"/>
          </a:bodyPr>
          <a:lstStyle xmlns:a="http://schemas.openxmlformats.org/drawingml/2006/main"/>
          <a:p xmlns:a="http://schemas.openxmlformats.org/drawingml/2006/main">
            <a:pPr algn="l">
              <a:lnSpc>
                <a:spcPct val="100000"/>
              </a:lnSpc>
              <a:buNone/>
              <a:defRPr sz="1125" b="0" i="0">
                <a:solidFill>
                  <a:srgbClr val="111111"/>
                </a:solidFill>
              </a:defRPr>
            </a:pPr>
            <a:r>
              <a:rPr sz="1125" b="0" i="0">
                <a:solidFill>
                  <a:srgbClr val="111111"/>
                </a:solidFill>
              </a:rPr>
              <a:t>05Sample Computation - Retirement.xlsx</a:t>
            </a:r>
          </a:p>
          <a:p xmlns:a="http://schemas.openxmlformats.org/drawingml/2006/main">
            <a:pPr algn="l">
              <a:lnSpc>
                <a:spcPct val="100000"/>
              </a:lnSpc>
              <a:buNone/>
              <a:defRPr sz="1125" b="0" i="0">
                <a:solidFill>
                  <a:srgbClr val="111111"/>
                </a:solidFill>
              </a:defRPr>
            </a:pPr>
            <a:r>
              <a:rPr sz="1125" b="0" i="0">
                <a:solidFill>
                  <a:srgbClr val="111111"/>
                </a:solidFill>
              </a:rPr>
              <a:t>04Sample Gross Up of Earnings.xlsx</a:t>
            </a:r>
          </a:p>
          <a:p xmlns:a="http://schemas.openxmlformats.org/drawingml/2006/main">
            <a:pPr algn="l">
              <a:lnSpc>
                <a:spcPct val="100000"/>
              </a:lnSpc>
              <a:buNone/>
              <a:defRPr sz="1125" b="0" i="0">
                <a:solidFill>
                  <a:srgbClr val="111111"/>
                </a:solidFill>
              </a:defRPr>
            </a:pPr>
            <a:r>
              <a:rPr sz="1125" b="0" i="0">
                <a:solidFill>
                  <a:srgbClr val="111111"/>
                </a:solidFill>
              </a:rPr>
              <a:t>06Sample Computation and Gross Up_Final Tax.xlsx</a:t>
            </a:r>
          </a:p>
        </p:txBody>
      </p:sp>
      <p:sp>
        <p:nvSpPr>
          <p:cNvPr id="16" name="">
            <a:extLst xmlns:a="http://schemas.openxmlformats.org/drawingml/2006/main">
              <a:ext uri="{FF2B5EF4-FFF2-40B4-BE49-F238E27FC236}">
                <a16:creationId xmlns:a16="http://schemas.microsoft.com/office/drawing/2014/main" id="{600D2C9F-91D1-470C-8046-D2446A441A8A}"/>
              </a:ext>
            </a:extLst>
          </p:cNvPr>
          <p:cNvSpPr>
            <a:spLocks xmlns:a="http://schemas.openxmlformats.org/drawingml/2006/main" noGrp="1"/>
          </p:cNvSpPr>
          <p:nvPr/>
        </p:nvSpPr>
        <p:spPr>
          <a:xfrm xmlns:a="http://schemas.openxmlformats.org/drawingml/2006/main">
            <a:off x="6096000" y="2819400"/>
            <a:ext cx="51816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1CFCA"/>
            </a:solidFill>
            <a:prstDash val="solid"/>
          </a:ln>
        </p:spPr>
      </p:sp>
      <p:sp>
        <p:nvSpPr>
          <p:cNvPr id="17" name="">
            <a:extLst xmlns:a="http://schemas.openxmlformats.org/drawingml/2006/main">
              <a:ext uri="{FF2B5EF4-FFF2-40B4-BE49-F238E27FC236}">
                <a16:creationId xmlns:a16="http://schemas.microsoft.com/office/drawing/2014/main" id="{9B2B457A-3DCD-4953-A030-86855E7A6D23}"/>
              </a:ext>
            </a:extLst>
          </p:cNvPr>
          <p:cNvSpPr>
            <a:spLocks xmlns:a="http://schemas.openxmlformats.org/drawingml/2006/main" noGrp="1"/>
          </p:cNvSpPr>
          <p:nvPr/>
        </p:nvSpPr>
        <p:spPr>
          <a:xfrm xmlns:a="http://schemas.openxmlformats.org/drawingml/2006/main">
            <a:off x="6286500" y="29718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487"/>
          </a:bodyPr>
          <a:lstStyle xmlns:a="http://schemas.openxmlformats.org/drawingml/2006/main"/>
          <a:p xmlns:a="http://schemas.openxmlformats.org/drawingml/2006/main">
            <a:pPr algn="l">
              <a:defRPr sz="975" b="1" i="0">
                <a:solidFill>
                  <a:srgbClr val="5C2A91"/>
                </a:solidFill>
              </a:defRPr>
            </a:pPr>
            <a:r>
              <a:rPr sz="975" b="1" i="0">
                <a:solidFill>
                  <a:srgbClr val="5C2A91"/>
                </a:solidFill>
              </a:rPr>
              <a:t>CONSOLIDATED REQUIREMENTS</a:t>
            </a:r>
          </a:p>
        </p:txBody>
      </p:sp>
      <p:sp>
        <p:nvSpPr>
          <p:cNvPr id="18" name="">
            <a:extLst xmlns:a="http://schemas.openxmlformats.org/drawingml/2006/main">
              <a:ext uri="{FF2B5EF4-FFF2-40B4-BE49-F238E27FC236}">
                <a16:creationId xmlns:a16="http://schemas.microsoft.com/office/drawing/2014/main" id="{959B4D90-0201-45BF-968E-60D51D98EB32}"/>
              </a:ext>
            </a:extLst>
          </p:cNvPr>
          <p:cNvSpPr>
            <a:spLocks xmlns:a="http://schemas.openxmlformats.org/drawingml/2006/main" noGrp="1"/>
          </p:cNvSpPr>
          <p:nvPr/>
        </p:nvSpPr>
        <p:spPr>
          <a:xfrm xmlns:a="http://schemas.openxmlformats.org/drawingml/2006/main">
            <a:off x="6286500" y="32575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lnSpc>
                <a:spcPct val="100000"/>
              </a:lnSpc>
              <a:buNone/>
              <a:defRPr sz="1125" b="0" i="0">
                <a:solidFill>
                  <a:srgbClr val="111111"/>
                </a:solidFill>
              </a:defRPr>
            </a:pPr>
            <a:r>
              <a:rPr sz="1125" b="0" i="0">
                <a:solidFill>
                  <a:srgbClr val="111111"/>
                </a:solidFill>
              </a:rPr>
              <a:t>ATLAS_Phase2_Master_Requirements_for_Codex_Claude.md</a:t>
            </a:r>
          </a:p>
          <a:p xmlns:a="http://schemas.openxmlformats.org/drawingml/2006/main">
            <a:pPr algn="l">
              <a:lnSpc>
                <a:spcPct val="100000"/>
              </a:lnSpc>
              <a:buNone/>
              <a:defRPr sz="1125" b="0" i="0">
                <a:solidFill>
                  <a:srgbClr val="111111"/>
                </a:solidFill>
              </a:defRPr>
            </a:pPr>
            <a:r>
              <a:rPr sz="1125" b="0" i="0">
                <a:solidFill>
                  <a:srgbClr val="111111"/>
                </a:solidFill>
              </a:rPr>
              <a:t>Sections 8, 11, 12 and source inventory</a:t>
            </a:r>
          </a:p>
        </p:txBody>
      </p:sp>
      <p:sp>
        <p:nvSpPr>
          <p:cNvPr id="19" name="">
            <a:extLst xmlns:a="http://schemas.openxmlformats.org/drawingml/2006/main">
              <a:ext uri="{FF2B5EF4-FFF2-40B4-BE49-F238E27FC236}">
                <a16:creationId xmlns:a16="http://schemas.microsoft.com/office/drawing/2014/main" id="{68C1D032-FECD-4BC8-AFC3-CA83D29D9AE8}"/>
              </a:ext>
            </a:extLst>
          </p:cNvPr>
          <p:cNvSpPr>
            <a:spLocks xmlns:a="http://schemas.openxmlformats.org/drawingml/2006/main" noGrp="1"/>
          </p:cNvSpPr>
          <p:nvPr/>
        </p:nvSpPr>
        <p:spPr>
          <a:xfrm xmlns:a="http://schemas.openxmlformats.org/drawingml/2006/main">
            <a:off x="6096000" y="4076700"/>
            <a:ext cx="51816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1CFCA"/>
            </a:solidFill>
            <a:prstDash val="solid"/>
          </a:ln>
        </p:spPr>
      </p:sp>
      <p:sp>
        <p:nvSpPr>
          <p:cNvPr id="20" name="">
            <a:extLst xmlns:a="http://schemas.openxmlformats.org/drawingml/2006/main">
              <a:ext uri="{FF2B5EF4-FFF2-40B4-BE49-F238E27FC236}">
                <a16:creationId xmlns:a16="http://schemas.microsoft.com/office/drawing/2014/main" id="{E2374E07-4CA4-4309-A196-54601AF18F5E}"/>
              </a:ext>
            </a:extLst>
          </p:cNvPr>
          <p:cNvSpPr>
            <a:spLocks xmlns:a="http://schemas.openxmlformats.org/drawingml/2006/main" noGrp="1"/>
          </p:cNvSpPr>
          <p:nvPr/>
        </p:nvSpPr>
        <p:spPr>
          <a:xfrm xmlns:a="http://schemas.openxmlformats.org/drawingml/2006/main">
            <a:off x="6286500" y="42291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487"/>
          </a:bodyPr>
          <a:lstStyle xmlns:a="http://schemas.openxmlformats.org/drawingml/2006/main"/>
          <a:p xmlns:a="http://schemas.openxmlformats.org/drawingml/2006/main">
            <a:pPr algn="l">
              <a:defRPr sz="975" b="1" i="0">
                <a:solidFill>
                  <a:srgbClr val="5C2A91"/>
                </a:solidFill>
              </a:defRPr>
            </a:pPr>
            <a:r>
              <a:rPr sz="975" b="1" i="0">
                <a:solidFill>
                  <a:srgbClr val="5C2A91"/>
                </a:solidFill>
              </a:rPr>
              <a:t>WIREFRAME EVIDENCE</a:t>
            </a:r>
          </a:p>
        </p:txBody>
      </p:sp>
      <p:sp>
        <p:nvSpPr>
          <p:cNvPr id="21" name="">
            <a:extLst xmlns:a="http://schemas.openxmlformats.org/drawingml/2006/main">
              <a:ext uri="{FF2B5EF4-FFF2-40B4-BE49-F238E27FC236}">
                <a16:creationId xmlns:a16="http://schemas.microsoft.com/office/drawing/2014/main" id="{8EE8068B-FFCB-4056-B2E9-0FFE4835E19F}"/>
              </a:ext>
            </a:extLst>
          </p:cNvPr>
          <p:cNvSpPr>
            <a:spLocks xmlns:a="http://schemas.openxmlformats.org/drawingml/2006/main" noGrp="1"/>
          </p:cNvSpPr>
          <p:nvPr/>
        </p:nvSpPr>
        <p:spPr>
          <a:xfrm xmlns:a="http://schemas.openxmlformats.org/drawingml/2006/main">
            <a:off x="6286500" y="45148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518"/>
          </a:bodyPr>
          <a:lstStyle xmlns:a="http://schemas.openxmlformats.org/drawingml/2006/main"/>
          <a:p xmlns:a="http://schemas.openxmlformats.org/drawingml/2006/main">
            <a:pPr algn="l">
              <a:lnSpc>
                <a:spcPct val="100000"/>
              </a:lnSpc>
              <a:buNone/>
              <a:defRPr sz="1125" b="0" i="0">
                <a:solidFill>
                  <a:srgbClr val="111111"/>
                </a:solidFill>
              </a:defRPr>
            </a:pPr>
            <a:r>
              <a:rPr sz="1125" b="0" i="0">
                <a:solidFill>
                  <a:srgbClr val="111111"/>
                </a:solidFill>
              </a:rPr>
              <a:t>ATLAS local prototype</a:t>
            </a:r>
          </a:p>
          <a:p xmlns:a="http://schemas.openxmlformats.org/drawingml/2006/main">
            <a:pPr algn="l">
              <a:lnSpc>
                <a:spcPct val="100000"/>
              </a:lnSpc>
              <a:buNone/>
              <a:defRPr sz="1125" b="0" i="0">
                <a:solidFill>
                  <a:srgbClr val="111111"/>
                </a:solidFill>
              </a:defRPr>
            </a:pPr>
            <a:r>
              <a:rPr sz="1125" b="0" i="0">
                <a:solidFill>
                  <a:srgbClr val="111111"/>
                </a:solidFill>
              </a:rPr>
              <a:t>http://localhost:5173/wireframe</a:t>
            </a:r>
          </a:p>
          <a:p xmlns:a="http://schemas.openxmlformats.org/drawingml/2006/main">
            <a:pPr algn="l">
              <a:lnSpc>
                <a:spcPct val="100000"/>
              </a:lnSpc>
              <a:buNone/>
              <a:defRPr sz="1125" b="0" i="0">
                <a:solidFill>
                  <a:srgbClr val="111111"/>
                </a:solidFill>
              </a:defRPr>
            </a:pPr>
            <a:r>
              <a:rPr sz="1125" b="0" i="0">
                <a:solidFill>
                  <a:srgbClr val="111111"/>
                </a:solidFill>
              </a:rPr>
              <a:t>Client view captured 10 Aug 2026</a:t>
            </a:r>
          </a:p>
        </p:txBody>
      </p:sp>
      <p:sp>
        <p:nvSpPr>
          <p:cNvPr id="22" name="">
            <a:extLst xmlns:a="http://schemas.openxmlformats.org/drawingml/2006/main">
              <a:ext uri="{FF2B5EF4-FFF2-40B4-BE49-F238E27FC236}">
                <a16:creationId xmlns:a16="http://schemas.microsoft.com/office/drawing/2014/main" id="{610DC859-DA7C-43BC-982E-E19B2B303AA3}"/>
              </a:ext>
            </a:extLst>
          </p:cNvPr>
          <p:cNvSpPr>
            <a:spLocks xmlns:a="http://schemas.openxmlformats.org/drawingml/2006/main" noGrp="1"/>
          </p:cNvSpPr>
          <p:nvPr/>
        </p:nvSpPr>
        <p:spPr>
          <a:xfrm xmlns:a="http://schemas.openxmlformats.org/drawingml/2006/main">
            <a:off x="533400" y="5486400"/>
            <a:ext cx="10744200" cy="704850"/>
          </a:xfrm>
          <a:prstGeom xmlns:a="http://schemas.openxmlformats.org/drawingml/2006/main" prst="roundRect">
            <a:avLst>
              <a:gd name="adj" fmla="val 10811"/>
            </a:avLst>
          </a:prstGeom>
          <a:solidFill xmlns:a="http://schemas.openxmlformats.org/drawingml/2006/main">
            <a:srgbClr val="FAF0DE"/>
          </a:solidFill>
          <a:ln xmlns:a="http://schemas.openxmlformats.org/drawingml/2006/main" w="9525">
            <a:solidFill>
              <a:srgbClr val="A46509"/>
            </a:solidFill>
            <a:prstDash val="solid"/>
          </a:ln>
        </p:spPr>
      </p:sp>
      <p:sp>
        <p:nvSpPr>
          <p:cNvPr id="23" name="">
            <a:extLst xmlns:a="http://schemas.openxmlformats.org/drawingml/2006/main">
              <a:ext uri="{FF2B5EF4-FFF2-40B4-BE49-F238E27FC236}">
                <a16:creationId xmlns:a16="http://schemas.microsoft.com/office/drawing/2014/main" id="{BC3A25F3-ACBD-4B5E-940F-E5407370F5F5}"/>
              </a:ext>
            </a:extLst>
          </p:cNvPr>
          <p:cNvSpPr>
            <a:spLocks xmlns:a="http://schemas.openxmlformats.org/drawingml/2006/main" noGrp="1"/>
          </p:cNvSpPr>
          <p:nvPr/>
        </p:nvSpPr>
        <p:spPr>
          <a:xfrm xmlns:a="http://schemas.openxmlformats.org/drawingml/2006/main">
            <a:off x="723900" y="56197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3809"/>
          </a:bodyPr>
          <a:lstStyle xmlns:a="http://schemas.openxmlformats.org/drawingml/2006/main"/>
          <a:p xmlns:a="http://schemas.openxmlformats.org/drawingml/2006/main">
            <a:pPr algn="l">
              <a:defRPr sz="1050" b="1" i="0">
                <a:solidFill>
                  <a:srgbClr val="A46509"/>
                </a:solidFill>
              </a:defRPr>
            </a:pPr>
            <a:r>
              <a:rPr sz="1050" b="1" i="0">
                <a:solidFill>
                  <a:srgbClr val="A46509"/>
                </a:solidFill>
              </a:rPr>
              <a:t>Interpretation notes</a:t>
            </a:r>
          </a:p>
        </p:txBody>
      </p:sp>
      <p:sp>
        <p:nvSpPr>
          <p:cNvPr id="24" name="">
            <a:extLst xmlns:a="http://schemas.openxmlformats.org/drawingml/2006/main">
              <a:ext uri="{FF2B5EF4-FFF2-40B4-BE49-F238E27FC236}">
                <a16:creationId xmlns:a16="http://schemas.microsoft.com/office/drawing/2014/main" id="{7BB68136-6A00-4E15-8941-59E4C929F2CD}"/>
              </a:ext>
            </a:extLst>
          </p:cNvPr>
          <p:cNvSpPr>
            <a:spLocks xmlns:a="http://schemas.openxmlformats.org/drawingml/2006/main" noGrp="1"/>
          </p:cNvSpPr>
          <p:nvPr/>
        </p:nvSpPr>
        <p:spPr>
          <a:xfrm xmlns:a="http://schemas.openxmlformats.org/drawingml/2006/main">
            <a:off x="2533650" y="5600700"/>
            <a:ext cx="849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050" b="0" i="0">
                <a:solidFill>
                  <a:srgbClr val="111111"/>
                </a:solidFill>
              </a:defRPr>
            </a:pPr>
            <a:r>
              <a:rPr sz="1050" b="0" i="0">
                <a:solidFill>
                  <a:srgbClr val="111111"/>
                </a:solidFill>
              </a:rPr>
              <a:t>Source samples are treated as configurable alternatives. Built-in formulas remain controlled; company-owned calculations use approved fields/operators. Inventory targets (219 vs ~300 computations; 18 vs 30 reference tables) require business reconciliation before production sign-off.</a:t>
            </a:r>
          </a:p>
        </p:txBody>
      </p:sp>
      <p:sp>
        <p:nvSpPr>
          <p:cNvPr id="25" name="">
            <a:extLst xmlns:a="http://schemas.openxmlformats.org/drawingml/2006/main">
              <a:ext uri="{FF2B5EF4-FFF2-40B4-BE49-F238E27FC236}">
                <a16:creationId xmlns:a16="http://schemas.microsoft.com/office/drawing/2014/main" id="{31EE769E-359E-49E2-9A12-F13F07A9CB4B}"/>
              </a:ext>
            </a:extLst>
          </p:cNvPr>
          <p:cNvSpPr>
            <a:spLocks xmlns:a="http://schemas.openxmlformats.org/drawingml/2006/main" noGrp="1"/>
          </p:cNvSpPr>
          <p:nvPr/>
        </p:nvSpPr>
        <p:spPr>
          <a:xfrm xmlns:a="http://schemas.openxmlformats.org/drawingml/2006/main">
            <a:off x="5334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D781962-BF77-406D-9FA4-32FA562F490B}"/>
              </a:ext>
            </a:extLst>
          </p:cNvPr>
          <p:cNvSpPr>
            <a:spLocks xmlns:a="http://schemas.openxmlformats.org/drawingml/2006/main" noGrp="1"/>
          </p:cNvSpPr>
          <p:nvPr/>
        </p:nvSpPr>
        <p:spPr>
          <a:xfrm xmlns:a="http://schemas.openxmlformats.org/drawingml/2006/main">
            <a:off x="11658600" y="6515100"/>
            <a:ext cx="9525" cy="9525"/>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56" name=""/>
          <p:cNvCxnSpPr>
            <a:stCxn xmlns:a="http://schemas.openxmlformats.org/drawingml/2006/main" id="25" idx="6"/>
            <a:endCxn xmlns:a="http://schemas.openxmlformats.org/drawingml/2006/main" id="26" idx="2"/>
          </p:cNvCxnSpPr>
          <p:nvPr/>
        </p:nvCxnSpPr>
        <p:spPr>
          <a:xfrm xmlns:a="http://schemas.openxmlformats.org/drawingml/2006/main">
            <a:off x="542925" y="6519863"/>
            <a:ext cx="11115675" cy="0"/>
          </a:xfrm>
          <a:prstGeom xmlns:a="http://schemas.openxmlformats.org/drawingml/2006/main" prst="straightConnector1">
            <a:avLst/>
          </a:prstGeom>
          <a:ln xmlns:a="http://schemas.openxmlformats.org/drawingml/2006/main" w="9525">
            <a:solidFill>
              <a:srgbClr val="D1CFCA"/>
            </a:solidFill>
            <a:prstDash val="solid"/>
          </a:ln>
        </p:spPr>
      </p:cxnSp>
      <p:sp>
        <p:nvSpPr>
          <p:cNvPr id="28" name="">
            <a:extLst xmlns:a="http://schemas.openxmlformats.org/drawingml/2006/main">
              <a:ext uri="{FF2B5EF4-FFF2-40B4-BE49-F238E27FC236}">
                <a16:creationId xmlns:a16="http://schemas.microsoft.com/office/drawing/2014/main" id="{8D37A96B-3AC8-4211-8C9F-AA43D837E616}"/>
              </a:ext>
            </a:extLst>
          </p:cNvPr>
          <p:cNvSpPr>
            <a:spLocks xmlns:a="http://schemas.openxmlformats.org/drawingml/2006/main" noGrp="1"/>
          </p:cNvSpPr>
          <p:nvPr/>
        </p:nvSpPr>
        <p:spPr>
          <a:xfrm xmlns:a="http://schemas.openxmlformats.org/drawingml/2006/main">
            <a:off x="533400" y="65722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l">
              <a:defRPr sz="825" b="1" i="0">
                <a:solidFill>
                  <a:srgbClr val="66645F"/>
                </a:solidFill>
              </a:defRPr>
            </a:pPr>
            <a:r>
              <a:rPr sz="825" b="1" i="0">
                <a:solidFill>
                  <a:srgbClr val="66645F"/>
                </a:solidFill>
              </a:rPr>
              <a:t>ATLAS  /  SOURCES</a:t>
            </a:r>
          </a:p>
        </p:txBody>
      </p:sp>
      <p:sp>
        <p:nvSpPr>
          <p:cNvPr id="29" name="">
            <a:extLst xmlns:a="http://schemas.openxmlformats.org/drawingml/2006/main">
              <a:ext uri="{FF2B5EF4-FFF2-40B4-BE49-F238E27FC236}">
                <a16:creationId xmlns:a16="http://schemas.microsoft.com/office/drawing/2014/main" id="{0A749322-4931-47BE-85DF-012E2F257107}"/>
              </a:ext>
            </a:extLst>
          </p:cNvPr>
          <p:cNvSpPr>
            <a:spLocks xmlns:a="http://schemas.openxmlformats.org/drawingml/2006/main" noGrp="1"/>
          </p:cNvSpPr>
          <p:nvPr/>
        </p:nvSpPr>
        <p:spPr>
          <a:xfrm xmlns:a="http://schemas.openxmlformats.org/drawingml/2006/main">
            <a:off x="11049000" y="6572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8788"/>
          </a:bodyPr>
          <a:lstStyle xmlns:a="http://schemas.openxmlformats.org/drawingml/2006/main"/>
          <a:p xmlns:a="http://schemas.openxmlformats.org/drawingml/2006/main">
            <a:pPr algn="r">
              <a:defRPr sz="825" b="1" i="0">
                <a:solidFill>
                  <a:srgbClr val="66645F"/>
                </a:solidFill>
              </a:defRPr>
            </a:pPr>
            <a:r>
              <a:rPr sz="825" b="1" i="0">
                <a:solidFill>
                  <a:srgbClr val="66645F"/>
                </a:solidFill>
              </a:rPr>
              <a:t>18</a:t>
            </a:r>
          </a:p>
        </p:txBody>
      </p:sp>
    </p:spTree>
    <p:extLst>
      <p:ext uri="{BB962C8B-B14F-4D97-AF65-F5344CB8AC3E}">
        <p14:creationId xmlns:p14="http://schemas.microsoft.com/office/powerpoint/2010/main" val="17051872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2026-08-10T12:08:35.6400000Z</dcterms:created>
  <dcterms:modified xsi:type="dcterms:W3CDTF">2026-08-10T12:08:35.6410000Z</dcterms:modified>
</coreProperties>
</file>