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df222898ea4cee" /><Relationship Type="http://schemas.openxmlformats.org/officeDocument/2006/relationships/extended-properties" Target="/docProps/app.xml" Id="Rf7564b5c54f942c0" /><Relationship Type="http://schemas.openxmlformats.org/officeDocument/2006/relationships/officeDocument" Target="/ppt/presentation.xml" Id="Rbf441dba2a5b4c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6228bb887e48e3"/>
  </p:sldMasterIdLst>
  <p:notesMasterIdLst>
    <p:notesMasterId xmlns:r="http://schemas.openxmlformats.org/officeDocument/2006/relationships" r:id="Rd8dcd6543663418f"/>
  </p:notesMasterIdLst>
  <p:sldIdLst>
    <p:sldId xmlns:r="http://schemas.openxmlformats.org/officeDocument/2006/relationships" id="256" r:id="R110de4be90d54d82"/>
    <p:sldId xmlns:r="http://schemas.openxmlformats.org/officeDocument/2006/relationships" id="257" r:id="Rfa8a90c4aa3f4f98"/>
    <p:sldId xmlns:r="http://schemas.openxmlformats.org/officeDocument/2006/relationships" id="258" r:id="Re71a037239c240b4"/>
    <p:sldId xmlns:r="http://schemas.openxmlformats.org/officeDocument/2006/relationships" id="259" r:id="R7d3984ff73944abe"/>
    <p:sldId xmlns:r="http://schemas.openxmlformats.org/officeDocument/2006/relationships" id="260" r:id="R31a7905a71b249dc"/>
    <p:sldId xmlns:r="http://schemas.openxmlformats.org/officeDocument/2006/relationships" id="261" r:id="R2d7620a348e64892"/>
    <p:sldId xmlns:r="http://schemas.openxmlformats.org/officeDocument/2006/relationships" id="262" r:id="R41f3db61e4ea472e"/>
    <p:sldId xmlns:r="http://schemas.openxmlformats.org/officeDocument/2006/relationships" id="263" r:id="R32b6c4536150449f"/>
    <p:sldId xmlns:r="http://schemas.openxmlformats.org/officeDocument/2006/relationships" id="264" r:id="Rf937172f1ccc4b03"/>
    <p:sldId xmlns:r="http://schemas.openxmlformats.org/officeDocument/2006/relationships" id="265" r:id="Red0d9249a285445b"/>
    <p:sldId xmlns:r="http://schemas.openxmlformats.org/officeDocument/2006/relationships" id="266" r:id="R8bf7eb6691fe4b68"/>
    <p:sldId xmlns:r="http://schemas.openxmlformats.org/officeDocument/2006/relationships" id="267" r:id="R00873001a06e495d"/>
    <p:sldId xmlns:r="http://schemas.openxmlformats.org/officeDocument/2006/relationships" id="268" r:id="R0fd908c6203242bd"/>
    <p:sldId xmlns:r="http://schemas.openxmlformats.org/officeDocument/2006/relationships" id="269" r:id="R5cd25f235a1643de"/>
    <p:sldId xmlns:r="http://schemas.openxmlformats.org/officeDocument/2006/relationships" id="270" r:id="R69ed4a1da5254a98"/>
    <p:sldId xmlns:r="http://schemas.openxmlformats.org/officeDocument/2006/relationships" id="271" r:id="R4ad6f47860704437"/>
    <p:sldId xmlns:r="http://schemas.openxmlformats.org/officeDocument/2006/relationships" id="272" r:id="R309da99fb2054835"/>
    <p:sldId xmlns:r="http://schemas.openxmlformats.org/officeDocument/2006/relationships" id="273" r:id="Re0496ba9881c4eed"/>
    <p:sldId xmlns:r="http://schemas.openxmlformats.org/officeDocument/2006/relationships" id="274" r:id="R8442545373dd485a"/>
    <p:sldId xmlns:r="http://schemas.openxmlformats.org/officeDocument/2006/relationships" id="275" r:id="Rb9447aca30c44a35"/>
    <p:sldId xmlns:r="http://schemas.openxmlformats.org/officeDocument/2006/relationships" id="276" r:id="R5efc6256646a4e66"/>
    <p:sldId xmlns:r="http://schemas.openxmlformats.org/officeDocument/2006/relationships" id="277" r:id="R89f47f1d8e674abf"/>
    <p:sldId xmlns:r="http://schemas.openxmlformats.org/officeDocument/2006/relationships" id="278" r:id="R1f934ba6c45e497c"/>
    <p:sldId xmlns:r="http://schemas.openxmlformats.org/officeDocument/2006/relationships" id="279" r:id="R1db46e9f767049fe"/>
    <p:sldId xmlns:r="http://schemas.openxmlformats.org/officeDocument/2006/relationships" id="280" r:id="R8ed9ad5aca954995"/>
    <p:sldId xmlns:r="http://schemas.openxmlformats.org/officeDocument/2006/relationships" id="281" r:id="R5d4ea6758c094eb5"/>
    <p:sldId xmlns:r="http://schemas.openxmlformats.org/officeDocument/2006/relationships" id="282" r:id="Re8383c84da6d4957"/>
    <p:sldId xmlns:r="http://schemas.openxmlformats.org/officeDocument/2006/relationships" id="283" r:id="R65db5d7bb2e943b7"/>
    <p:sldId xmlns:r="http://schemas.openxmlformats.org/officeDocument/2006/relationships" id="284" r:id="R31b2f1c969c54b58"/>
    <p:sldId xmlns:r="http://schemas.openxmlformats.org/officeDocument/2006/relationships" id="285" r:id="R08eb6868588648ef"/>
    <p:sldId xmlns:r="http://schemas.openxmlformats.org/officeDocument/2006/relationships" id="286" r:id="R08ade29c509c46e6"/>
    <p:sldId xmlns:r="http://schemas.openxmlformats.org/officeDocument/2006/relationships" id="287" r:id="R2e1744386fa5464a"/>
    <p:sldId xmlns:r="http://schemas.openxmlformats.org/officeDocument/2006/relationships" id="288" r:id="Rba07d210e3374163"/>
    <p:sldId xmlns:r="http://schemas.openxmlformats.org/officeDocument/2006/relationships" id="289" r:id="R0bdf40bfc5b34515"/>
    <p:sldId xmlns:r="http://schemas.openxmlformats.org/officeDocument/2006/relationships" id="290" r:id="R49240c9b7b9d4f39"/>
    <p:sldId xmlns:r="http://schemas.openxmlformats.org/officeDocument/2006/relationships" id="291" r:id="R6748c30043034184"/>
    <p:sldId xmlns:r="http://schemas.openxmlformats.org/officeDocument/2006/relationships" id="292" r:id="Rc62aa06c0ad04721"/>
    <p:sldId xmlns:r="http://schemas.openxmlformats.org/officeDocument/2006/relationships" id="293" r:id="Rc6621dbbaad749b5"/>
    <p:sldId xmlns:r="http://schemas.openxmlformats.org/officeDocument/2006/relationships" id="294" r:id="R5ee30f77021a4e1b"/>
    <p:sldId xmlns:r="http://schemas.openxmlformats.org/officeDocument/2006/relationships" id="295" r:id="R26af2b02a719424f"/>
    <p:sldId xmlns:r="http://schemas.openxmlformats.org/officeDocument/2006/relationships" id="296" r:id="R9c898cb6aa0948d7"/>
    <p:sldId xmlns:r="http://schemas.openxmlformats.org/officeDocument/2006/relationships" id="297" r:id="Rbb63c058df8148b2"/>
    <p:sldId xmlns:r="http://schemas.openxmlformats.org/officeDocument/2006/relationships" id="298" r:id="Rf98ed53001024851"/>
    <p:sldId xmlns:r="http://schemas.openxmlformats.org/officeDocument/2006/relationships" id="299" r:id="Rfd9cf22aaafc46c5"/>
    <p:sldId xmlns:r="http://schemas.openxmlformats.org/officeDocument/2006/relationships" id="300" r:id="R136f7d18bd174936"/>
    <p:sldId xmlns:r="http://schemas.openxmlformats.org/officeDocument/2006/relationships" id="301" r:id="Ra277f34f4dfa4d2f"/>
    <p:sldId xmlns:r="http://schemas.openxmlformats.org/officeDocument/2006/relationships" id="302" r:id="R171b56d38466410d"/>
    <p:sldId xmlns:r="http://schemas.openxmlformats.org/officeDocument/2006/relationships" id="303" r:id="Rcfa8bf2b62c440c4"/>
    <p:sldId xmlns:r="http://schemas.openxmlformats.org/officeDocument/2006/relationships" id="304" r:id="R0eb31a5469ca43da"/>
    <p:sldId xmlns:r="http://schemas.openxmlformats.org/officeDocument/2006/relationships" id="305" r:id="R508dae62a9c54838"/>
    <p:sldId xmlns:r="http://schemas.openxmlformats.org/officeDocument/2006/relationships" id="306" r:id="Rddb9de244b074cf8"/>
    <p:sldId xmlns:r="http://schemas.openxmlformats.org/officeDocument/2006/relationships" id="307" r:id="R9557d5d6a3a14322"/>
    <p:sldId xmlns:r="http://schemas.openxmlformats.org/officeDocument/2006/relationships" id="308" r:id="Rbfaf714afa4a45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28ace0d7974b50" /><Relationship Type="http://schemas.openxmlformats.org/officeDocument/2006/relationships/slideMaster" Target="/ppt/slideMasters/slideMaster1.xml" Id="R806228bb887e48e3" /><Relationship Type="http://schemas.openxmlformats.org/officeDocument/2006/relationships/notesMaster" Target="/ppt/notesMasters/notesMaster1.xml" Id="Rd8dcd6543663418f" /><Relationship Type="http://schemas.openxmlformats.org/officeDocument/2006/relationships/presProps" Target="/ppt/presProps.xml" Id="R5b4bc25bdf6b4e7b" /><Relationship Type="http://schemas.openxmlformats.org/officeDocument/2006/relationships/viewProps" Target="/ppt/viewProps.xml" Id="R99545f8f4aff4b54" /><Relationship Type="http://schemas.openxmlformats.org/officeDocument/2006/relationships/tableStyles" Target="/ppt/tableStyles.xml" Id="R28075a8be5ab4174" /><Relationship Type="http://schemas.openxmlformats.org/officeDocument/2006/relationships/slide" Target="/ppt/slides/slide1.xml" Id="R110de4be90d54d82" /><Relationship Type="http://schemas.openxmlformats.org/officeDocument/2006/relationships/slide" Target="/ppt/slides/slide2.xml" Id="Rfa8a90c4aa3f4f98" /><Relationship Type="http://schemas.openxmlformats.org/officeDocument/2006/relationships/slide" Target="/ppt/slides/slide3.xml" Id="Re71a037239c240b4" /><Relationship Type="http://schemas.openxmlformats.org/officeDocument/2006/relationships/slide" Target="/ppt/slides/slide4.xml" Id="R7d3984ff73944abe" /><Relationship Type="http://schemas.openxmlformats.org/officeDocument/2006/relationships/slide" Target="/ppt/slides/slide5.xml" Id="R31a7905a71b249dc" /><Relationship Type="http://schemas.openxmlformats.org/officeDocument/2006/relationships/slide" Target="/ppt/slides/slide6.xml" Id="R2d7620a348e64892" /><Relationship Type="http://schemas.openxmlformats.org/officeDocument/2006/relationships/slide" Target="/ppt/slides/slide7.xml" Id="R41f3db61e4ea472e" /><Relationship Type="http://schemas.openxmlformats.org/officeDocument/2006/relationships/slide" Target="/ppt/slides/slide8.xml" Id="R32b6c4536150449f" /><Relationship Type="http://schemas.openxmlformats.org/officeDocument/2006/relationships/slide" Target="/ppt/slides/slide9.xml" Id="Rf937172f1ccc4b03" /><Relationship Type="http://schemas.openxmlformats.org/officeDocument/2006/relationships/slide" Target="/ppt/slides/slide10.xml" Id="Red0d9249a285445b" /><Relationship Type="http://schemas.openxmlformats.org/officeDocument/2006/relationships/slide" Target="/ppt/slides/slide11.xml" Id="R8bf7eb6691fe4b68" /><Relationship Type="http://schemas.openxmlformats.org/officeDocument/2006/relationships/slide" Target="/ppt/slides/slide12.xml" Id="R00873001a06e495d" /><Relationship Type="http://schemas.openxmlformats.org/officeDocument/2006/relationships/slide" Target="/ppt/slides/slide13.xml" Id="R0fd908c6203242bd" /><Relationship Type="http://schemas.openxmlformats.org/officeDocument/2006/relationships/slide" Target="/ppt/slides/slide14.xml" Id="R5cd25f235a1643de" /><Relationship Type="http://schemas.openxmlformats.org/officeDocument/2006/relationships/slide" Target="/ppt/slides/slide15.xml" Id="R69ed4a1da5254a98" /><Relationship Type="http://schemas.openxmlformats.org/officeDocument/2006/relationships/slide" Target="/ppt/slides/slide16.xml" Id="R4ad6f47860704437" /><Relationship Type="http://schemas.openxmlformats.org/officeDocument/2006/relationships/slide" Target="/ppt/slides/slide17.xml" Id="R309da99fb2054835" /><Relationship Type="http://schemas.openxmlformats.org/officeDocument/2006/relationships/slide" Target="/ppt/slides/slide18.xml" Id="Re0496ba9881c4eed" /><Relationship Type="http://schemas.openxmlformats.org/officeDocument/2006/relationships/slide" Target="/ppt/slides/slide19.xml" Id="R8442545373dd485a" /><Relationship Type="http://schemas.openxmlformats.org/officeDocument/2006/relationships/slide" Target="/ppt/slides/slide20.xml" Id="Rb9447aca30c44a35" /><Relationship Type="http://schemas.openxmlformats.org/officeDocument/2006/relationships/slide" Target="/ppt/slides/slide21.xml" Id="R5efc6256646a4e66" /><Relationship Type="http://schemas.openxmlformats.org/officeDocument/2006/relationships/slide" Target="/ppt/slides/slide22.xml" Id="R89f47f1d8e674abf" /><Relationship Type="http://schemas.openxmlformats.org/officeDocument/2006/relationships/slide" Target="/ppt/slides/slide23.xml" Id="R1f934ba6c45e497c" /><Relationship Type="http://schemas.openxmlformats.org/officeDocument/2006/relationships/slide" Target="/ppt/slides/slide24.xml" Id="R1db46e9f767049fe" /><Relationship Type="http://schemas.openxmlformats.org/officeDocument/2006/relationships/slide" Target="/ppt/slides/slide25.xml" Id="R8ed9ad5aca954995" /><Relationship Type="http://schemas.openxmlformats.org/officeDocument/2006/relationships/slide" Target="/ppt/slides/slide26.xml" Id="R5d4ea6758c094eb5" /><Relationship Type="http://schemas.openxmlformats.org/officeDocument/2006/relationships/slide" Target="/ppt/slides/slide27.xml" Id="Re8383c84da6d4957" /><Relationship Type="http://schemas.openxmlformats.org/officeDocument/2006/relationships/slide" Target="/ppt/slides/slide28.xml" Id="R65db5d7bb2e943b7" /><Relationship Type="http://schemas.openxmlformats.org/officeDocument/2006/relationships/slide" Target="/ppt/slides/slide29.xml" Id="R31b2f1c969c54b58" /><Relationship Type="http://schemas.openxmlformats.org/officeDocument/2006/relationships/slide" Target="/ppt/slides/slide30.xml" Id="R08eb6868588648ef" /><Relationship Type="http://schemas.openxmlformats.org/officeDocument/2006/relationships/slide" Target="/ppt/slides/slide31.xml" Id="R08ade29c509c46e6" /><Relationship Type="http://schemas.openxmlformats.org/officeDocument/2006/relationships/slide" Target="/ppt/slides/slide32.xml" Id="R2e1744386fa5464a" /><Relationship Type="http://schemas.openxmlformats.org/officeDocument/2006/relationships/slide" Target="/ppt/slides/slide33.xml" Id="Rba07d210e3374163" /><Relationship Type="http://schemas.openxmlformats.org/officeDocument/2006/relationships/slide" Target="/ppt/slides/slide34.xml" Id="R0bdf40bfc5b34515" /><Relationship Type="http://schemas.openxmlformats.org/officeDocument/2006/relationships/slide" Target="/ppt/slides/slide35.xml" Id="R49240c9b7b9d4f39" /><Relationship Type="http://schemas.openxmlformats.org/officeDocument/2006/relationships/slide" Target="/ppt/slides/slide36.xml" Id="R6748c30043034184" /><Relationship Type="http://schemas.openxmlformats.org/officeDocument/2006/relationships/slide" Target="/ppt/slides/slide37.xml" Id="Rc62aa06c0ad04721" /><Relationship Type="http://schemas.openxmlformats.org/officeDocument/2006/relationships/slide" Target="/ppt/slides/slide38.xml" Id="Rc6621dbbaad749b5" /><Relationship Type="http://schemas.openxmlformats.org/officeDocument/2006/relationships/slide" Target="/ppt/slides/slide39.xml" Id="R5ee30f77021a4e1b" /><Relationship Type="http://schemas.openxmlformats.org/officeDocument/2006/relationships/slide" Target="/ppt/slides/slide40.xml" Id="R26af2b02a719424f" /><Relationship Type="http://schemas.openxmlformats.org/officeDocument/2006/relationships/slide" Target="/ppt/slides/slide41.xml" Id="R9c898cb6aa0948d7" /><Relationship Type="http://schemas.openxmlformats.org/officeDocument/2006/relationships/slide" Target="/ppt/slides/slide42.xml" Id="Rbb63c058df8148b2" /><Relationship Type="http://schemas.openxmlformats.org/officeDocument/2006/relationships/slide" Target="/ppt/slides/slide43.xml" Id="Rf98ed53001024851" /><Relationship Type="http://schemas.openxmlformats.org/officeDocument/2006/relationships/slide" Target="/ppt/slides/slide44.xml" Id="Rfd9cf22aaafc46c5" /><Relationship Type="http://schemas.openxmlformats.org/officeDocument/2006/relationships/slide" Target="/ppt/slides/slide45.xml" Id="R136f7d18bd174936" /><Relationship Type="http://schemas.openxmlformats.org/officeDocument/2006/relationships/slide" Target="/ppt/slides/slide46.xml" Id="Ra277f34f4dfa4d2f" /><Relationship Type="http://schemas.openxmlformats.org/officeDocument/2006/relationships/slide" Target="/ppt/slides/slide47.xml" Id="R171b56d38466410d" /><Relationship Type="http://schemas.openxmlformats.org/officeDocument/2006/relationships/slide" Target="/ppt/slides/slide48.xml" Id="Rcfa8bf2b62c440c4" /><Relationship Type="http://schemas.openxmlformats.org/officeDocument/2006/relationships/slide" Target="/ppt/slides/slide49.xml" Id="R0eb31a5469ca43da" /><Relationship Type="http://schemas.openxmlformats.org/officeDocument/2006/relationships/slide" Target="/ppt/slides/slide50.xml" Id="R508dae62a9c54838" /><Relationship Type="http://schemas.openxmlformats.org/officeDocument/2006/relationships/slide" Target="/ppt/slides/slide51.xml" Id="Rddb9de244b074cf8" /><Relationship Type="http://schemas.openxmlformats.org/officeDocument/2006/relationships/slide" Target="/ppt/slides/slide52.xml" Id="R9557d5d6a3a14322" /><Relationship Type="http://schemas.openxmlformats.org/officeDocument/2006/relationships/slide" Target="/ppt/slides/slide53.xml" Id="Rbfaf714afa4a45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90560e16f14a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7d3f5a81a44dba" /><Relationship Type="http://schemas.openxmlformats.org/officeDocument/2006/relationships/notesMaster" Target="/ppt/notesMasters/notesMaster1.xml" Id="Rf60f2348053b47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ca0830285a4265" /><Relationship Type="http://schemas.openxmlformats.org/officeDocument/2006/relationships/notesMaster" Target="/ppt/notesMasters/notesMaster1.xml" Id="R93770112409246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57f7d55c854068" /><Relationship Type="http://schemas.openxmlformats.org/officeDocument/2006/relationships/notesMaster" Target="/ppt/notesMasters/notesMaster1.xml" Id="Ree42d7907c634b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25d497e2eb4630" /><Relationship Type="http://schemas.openxmlformats.org/officeDocument/2006/relationships/notesMaster" Target="/ppt/notesMasters/notesMaster1.xml" Id="Rb993be774cdf4b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b6954a7a9a4db4" /><Relationship Type="http://schemas.openxmlformats.org/officeDocument/2006/relationships/notesMaster" Target="/ppt/notesMasters/notesMaster1.xml" Id="R2e830acb1b4b4c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0f0f61dc35440e" /><Relationship Type="http://schemas.openxmlformats.org/officeDocument/2006/relationships/notesMaster" Target="/ppt/notesMasters/notesMaster1.xml" Id="R2757d7cab08c41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c638eb1f444cc6" /><Relationship Type="http://schemas.openxmlformats.org/officeDocument/2006/relationships/notesMaster" Target="/ppt/notesMasters/notesMaster1.xml" Id="R93a6aab2d77544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8912ad9c284ffc" /><Relationship Type="http://schemas.openxmlformats.org/officeDocument/2006/relationships/notesMaster" Target="/ppt/notesMasters/notesMaster1.xml" Id="R3a79af9ac28445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561224b26049aa" /><Relationship Type="http://schemas.openxmlformats.org/officeDocument/2006/relationships/notesMaster" Target="/ppt/notesMasters/notesMaster1.xml" Id="R9924398b2dca4c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081e7874f5431a" /><Relationship Type="http://schemas.openxmlformats.org/officeDocument/2006/relationships/notesMaster" Target="/ppt/notesMasters/notesMaster1.xml" Id="R6a98018155c34c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96ef45d9184e9a" /><Relationship Type="http://schemas.openxmlformats.org/officeDocument/2006/relationships/notesMaster" Target="/ppt/notesMasters/notesMaster1.xml" Id="R93fe346b31e147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3c0ab9400d40f0" /><Relationship Type="http://schemas.openxmlformats.org/officeDocument/2006/relationships/notesMaster" Target="/ppt/notesMasters/notesMaster1.xml" Id="R0ad705900e7c43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352d8a4d964f39" /><Relationship Type="http://schemas.openxmlformats.org/officeDocument/2006/relationships/notesMaster" Target="/ppt/notesMasters/notesMaster1.xml" Id="Rf1cf5e6c8c3043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747c32ac774777" /><Relationship Type="http://schemas.openxmlformats.org/officeDocument/2006/relationships/notesMaster" Target="/ppt/notesMasters/notesMaster1.xml" Id="R7c3b741635b549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e34009c9804b71" /><Relationship Type="http://schemas.openxmlformats.org/officeDocument/2006/relationships/notesMaster" Target="/ppt/notesMasters/notesMaster1.xml" Id="R24dcdf89a24248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ef7cae2c0b74fdc" /><Relationship Type="http://schemas.openxmlformats.org/officeDocument/2006/relationships/notesMaster" Target="/ppt/notesMasters/notesMaster1.xml" Id="Rccb6a8aa250c41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2847d6f9bc467f" /><Relationship Type="http://schemas.openxmlformats.org/officeDocument/2006/relationships/notesMaster" Target="/ppt/notesMasters/notesMaster1.xml" Id="R5e2c3e5c9dd14a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84c538f46874798" /><Relationship Type="http://schemas.openxmlformats.org/officeDocument/2006/relationships/notesMaster" Target="/ppt/notesMasters/notesMaster1.xml" Id="R26d2489d893043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ae8e2fc6d94f90" /><Relationship Type="http://schemas.openxmlformats.org/officeDocument/2006/relationships/notesMaster" Target="/ppt/notesMasters/notesMaster1.xml" Id="Rde6ee5193b8c4a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ed5f058ebe14c29" /><Relationship Type="http://schemas.openxmlformats.org/officeDocument/2006/relationships/notesMaster" Target="/ppt/notesMasters/notesMaster1.xml" Id="R2d1f485fb31b491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1d761b1ff5540cc" /><Relationship Type="http://schemas.openxmlformats.org/officeDocument/2006/relationships/notesMaster" Target="/ppt/notesMasters/notesMaster1.xml" Id="Re23d356f5e60473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0715b7d1885443d" /><Relationship Type="http://schemas.openxmlformats.org/officeDocument/2006/relationships/notesMaster" Target="/ppt/notesMasters/notesMaster1.xml" Id="R5f15fdbde9694c1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88121de64d450c" /><Relationship Type="http://schemas.openxmlformats.org/officeDocument/2006/relationships/notesMaster" Target="/ppt/notesMasters/notesMaster1.xml" Id="Rccd07e6e7aed40c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c72a3b64d2947d4" /><Relationship Type="http://schemas.openxmlformats.org/officeDocument/2006/relationships/notesMaster" Target="/ppt/notesMasters/notesMaster1.xml" Id="R5efa9aeeead441f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17d539f45114f96" /><Relationship Type="http://schemas.openxmlformats.org/officeDocument/2006/relationships/notesMaster" Target="/ppt/notesMasters/notesMaster1.xml" Id="R257061786b174f1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a567fda57324de0" /><Relationship Type="http://schemas.openxmlformats.org/officeDocument/2006/relationships/notesMaster" Target="/ppt/notesMasters/notesMaster1.xml" Id="R45b77294cbd447b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b6c411ba4da46bf" /><Relationship Type="http://schemas.openxmlformats.org/officeDocument/2006/relationships/notesMaster" Target="/ppt/notesMasters/notesMaster1.xml" Id="R5b9a6ffb5881477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54ae1d825004497" /><Relationship Type="http://schemas.openxmlformats.org/officeDocument/2006/relationships/notesMaster" Target="/ppt/notesMasters/notesMaster1.xml" Id="R78f81e9865a9420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8ead053d0784923" /><Relationship Type="http://schemas.openxmlformats.org/officeDocument/2006/relationships/notesMaster" Target="/ppt/notesMasters/notesMaster1.xml" Id="Rcc85079b9fcb4f5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1d0fe959d4c4610" /><Relationship Type="http://schemas.openxmlformats.org/officeDocument/2006/relationships/notesMaster" Target="/ppt/notesMasters/notesMaster1.xml" Id="R875ef907e4fd454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47dfdd7864a4c2a" /><Relationship Type="http://schemas.openxmlformats.org/officeDocument/2006/relationships/notesMaster" Target="/ppt/notesMasters/notesMaster1.xml" Id="R1854b88b775f49f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055d4789ceb43c5" /><Relationship Type="http://schemas.openxmlformats.org/officeDocument/2006/relationships/notesMaster" Target="/ppt/notesMasters/notesMaster1.xml" Id="R6e99dfa9e0c9411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f77dbaa5f964477" /><Relationship Type="http://schemas.openxmlformats.org/officeDocument/2006/relationships/notesMaster" Target="/ppt/notesMasters/notesMaster1.xml" Id="R48ee8480d5bb4c5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b75057cd2e94e0b" /><Relationship Type="http://schemas.openxmlformats.org/officeDocument/2006/relationships/notesMaster" Target="/ppt/notesMasters/notesMaster1.xml" Id="R67b2dbbecc67416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eb8c09fe8a64eb0" /><Relationship Type="http://schemas.openxmlformats.org/officeDocument/2006/relationships/notesMaster" Target="/ppt/notesMasters/notesMaster1.xml" Id="R4818523b0c8c4c0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3f064bfd2dd482d" /><Relationship Type="http://schemas.openxmlformats.org/officeDocument/2006/relationships/notesMaster" Target="/ppt/notesMasters/notesMaster1.xml" Id="R89f9214ad1f847e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ced5641b87343b4" /><Relationship Type="http://schemas.openxmlformats.org/officeDocument/2006/relationships/notesMaster" Target="/ppt/notesMasters/notesMaster1.xml" Id="R89041794e32a4fb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557419d75324958" /><Relationship Type="http://schemas.openxmlformats.org/officeDocument/2006/relationships/notesMaster" Target="/ppt/notesMasters/notesMaster1.xml" Id="R5c677cb8015b476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5857571a6844d49" /><Relationship Type="http://schemas.openxmlformats.org/officeDocument/2006/relationships/notesMaster" Target="/ppt/notesMasters/notesMaster1.xml" Id="R30e156c3e8f8495e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baf549fad0449d5" /><Relationship Type="http://schemas.openxmlformats.org/officeDocument/2006/relationships/notesMaster" Target="/ppt/notesMasters/notesMaster1.xml" Id="Ra094e66d905244e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996bd4f02e248e0" /><Relationship Type="http://schemas.openxmlformats.org/officeDocument/2006/relationships/notesMaster" Target="/ppt/notesMasters/notesMaster1.xml" Id="R6ec6797991d442a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d8830895c3a4541" /><Relationship Type="http://schemas.openxmlformats.org/officeDocument/2006/relationships/notesMaster" Target="/ppt/notesMasters/notesMaster1.xml" Id="R182f3943dd0d44c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ee7e9a0268e4e89" /><Relationship Type="http://schemas.openxmlformats.org/officeDocument/2006/relationships/notesMaster" Target="/ppt/notesMasters/notesMaster1.xml" Id="R40e21460a10940f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d3095fd42894eb3" /><Relationship Type="http://schemas.openxmlformats.org/officeDocument/2006/relationships/notesMaster" Target="/ppt/notesMasters/notesMaster1.xml" Id="R95d96480fb034e64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c131f5d8abc4a70" /><Relationship Type="http://schemas.openxmlformats.org/officeDocument/2006/relationships/notesMaster" Target="/ppt/notesMasters/notesMaster1.xml" Id="R924cd86a6a85485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506851182e34612" /><Relationship Type="http://schemas.openxmlformats.org/officeDocument/2006/relationships/notesMaster" Target="/ppt/notesMasters/notesMaster1.xml" Id="R9b9a6c029e29429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1c54ab00a264225" /><Relationship Type="http://schemas.openxmlformats.org/officeDocument/2006/relationships/notesMaster" Target="/ppt/notesMasters/notesMaster1.xml" Id="R6a28b24811f342a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dbdfe5dc18a1464e" /><Relationship Type="http://schemas.openxmlformats.org/officeDocument/2006/relationships/notesMaster" Target="/ppt/notesMasters/notesMaster1.xml" Id="R4e6207918d894564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057e7fdf97cf45c6" /><Relationship Type="http://schemas.openxmlformats.org/officeDocument/2006/relationships/notesMaster" Target="/ppt/notesMasters/notesMaster1.xml" Id="R59f8a819b17e4508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38da8ec9cec4970" /><Relationship Type="http://schemas.openxmlformats.org/officeDocument/2006/relationships/notesMaster" Target="/ppt/notesMasters/notesMaster1.xml" Id="R404baa87abd74e8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08c07d9d79134913" /><Relationship Type="http://schemas.openxmlformats.org/officeDocument/2006/relationships/notesMaster" Target="/ppt/notesMasters/notesMaster1.xml" Id="R1b761933b8cc4444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2adff52c792401b" /><Relationship Type="http://schemas.openxmlformats.org/officeDocument/2006/relationships/notesMaster" Target="/ppt/notesMasters/notesMaster1.xml" Id="R2b82d4690ede49e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5cb858be0e54768" /><Relationship Type="http://schemas.openxmlformats.org/officeDocument/2006/relationships/notesMaster" Target="/ppt/notesMasters/notesMaster1.xml" Id="Ra78406c934284c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the payroll team that their written policies in Annex B are now configurable, computable and traceable in the application. Every screenshot is taken from the running prototype in wireframe 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session: this is about traceability from their Excel to a working screen, not about software internals.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nobody edits a formula. They pick an approved code and set its values for a group of employees.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engine has its own tab. The code beside the tab name is the governed policy code you assign in Company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wording from their own sample policy 3, typed straight into the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codes on one engine: one governs the protected minimum, the other the caps. Both are assignable to their own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reuse: the schema is governed centrally, the values are the client decision.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room through the ledger: due, deducted, deferred, accumulated. This is their row 143-152 payslip requirement made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is the point: the system computes both and uses the better one, and records why it is tax exempt.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link: retirement pay forms part of final pay, exactly as row 48 requires.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Bracket used: from ₱33,333 with fixed tax ₱1,875 plus 20% on the excess. The trace shows the iteration and the gap closing to zero.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Nothing is re-keyed between engines. This is the answer to "does it connect".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open during Q&amp;A so anyone can challenge a screen and be shown the row it came from.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open during Q&amp;A so anyone can challenge a screen and be shown the row it came from.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four are the source of truth. Anything on screen that is not in one of these is flagged on the last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statutory numbers on screen are sample data pending confirmation.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them to challenge any screen — the appendix has the row reference for each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49839ea6634cd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dce5ff58904b04" /><Relationship Type="http://schemas.openxmlformats.org/officeDocument/2006/relationships/slideLayout" Target="/ppt/slideLayouts/slideLayout1.xml" Id="Re504c765693b489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04c765693b489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b928da05a4cbf" /><Relationship Type="http://schemas.openxmlformats.org/officeDocument/2006/relationships/notesSlide" Target="/ppt/notesSlides/notesSlide1.xml" Id="R22f877cdea7647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7ca17694e48c0" /><Relationship Type="http://schemas.openxmlformats.org/officeDocument/2006/relationships/notesSlide" Target="/ppt/notesSlides/notesSlide2.xml" Id="R7f820c59831c40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8176cdb6b4c64" /><Relationship Type="http://schemas.openxmlformats.org/officeDocument/2006/relationships/notesSlide" Target="/ppt/notesSlides/notesSlide3.xml" Id="R2ba71d9ba84c44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de391d26b4136" /><Relationship Type="http://schemas.openxmlformats.org/officeDocument/2006/relationships/image" Target="/ppt/media/image.png" Id="R0684a0537e364c21" /><Relationship Type="http://schemas.openxmlformats.org/officeDocument/2006/relationships/notesSlide" Target="/ppt/notesSlides/notesSlide4.xml" Id="R2604ec7d5f9541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50e593bf54433" /><Relationship Type="http://schemas.openxmlformats.org/officeDocument/2006/relationships/image" Target="/ppt/media/image2.png" Id="Rf1552f7b07aa4945" /><Relationship Type="http://schemas.openxmlformats.org/officeDocument/2006/relationships/notesSlide" Target="/ppt/notesSlides/notesSlide5.xml" Id="R737980578a1c47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258858fdf4987" /><Relationship Type="http://schemas.openxmlformats.org/officeDocument/2006/relationships/image" Target="/ppt/media/image3.png" Id="R0fb2b6eeec6e461f" /><Relationship Type="http://schemas.openxmlformats.org/officeDocument/2006/relationships/notesSlide" Target="/ppt/notesSlides/notesSlide6.xml" Id="R52e54b5a912640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6ffd667cf4e7c" /><Relationship Type="http://schemas.openxmlformats.org/officeDocument/2006/relationships/image" Target="/ppt/media/image4.png" Id="R85ef7012f97e4e6c" /><Relationship Type="http://schemas.openxmlformats.org/officeDocument/2006/relationships/notesSlide" Target="/ppt/notesSlides/notesSlide7.xml" Id="Rae19bea9a95d47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3b01d25ee493c" /><Relationship Type="http://schemas.openxmlformats.org/officeDocument/2006/relationships/image" Target="/ppt/media/image5.png" Id="Ra7b821c3533f42f2" /><Relationship Type="http://schemas.openxmlformats.org/officeDocument/2006/relationships/notesSlide" Target="/ppt/notesSlides/notesSlide8.xml" Id="R8d97ff4096f74b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5b4a0a9a6497e" /><Relationship Type="http://schemas.openxmlformats.org/officeDocument/2006/relationships/image" Target="/ppt/media/image6.png" Id="R7ea39cda782a4fbb" /><Relationship Type="http://schemas.openxmlformats.org/officeDocument/2006/relationships/notesSlide" Target="/ppt/notesSlides/notesSlide9.xml" Id="R72266c7d298f48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c5dbf90084ad0" /><Relationship Type="http://schemas.openxmlformats.org/officeDocument/2006/relationships/image" Target="/ppt/media/image7.png" Id="Rbfe5231e488149b5" /><Relationship Type="http://schemas.openxmlformats.org/officeDocument/2006/relationships/notesSlide" Target="/ppt/notesSlides/notesSlide10.xml" Id="R1cc8b3aa6bba47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7abff1a3e4a29" /><Relationship Type="http://schemas.openxmlformats.org/officeDocument/2006/relationships/notesSlide" Target="/ppt/notesSlides/notesSlide11.xml" Id="R9fe87370eb9748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e9e7064104b63" /><Relationship Type="http://schemas.openxmlformats.org/officeDocument/2006/relationships/image" Target="/ppt/media/image8.png" Id="R5cce652a6d8748de" /><Relationship Type="http://schemas.openxmlformats.org/officeDocument/2006/relationships/notesSlide" Target="/ppt/notesSlides/notesSlide12.xml" Id="R1eab471cdcc742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9d7f751b14d3a" /><Relationship Type="http://schemas.openxmlformats.org/officeDocument/2006/relationships/image" Target="/ppt/media/image9.png" Id="Ra51eb96f9aa8417e" /><Relationship Type="http://schemas.openxmlformats.org/officeDocument/2006/relationships/notesSlide" Target="/ppt/notesSlides/notesSlide13.xml" Id="R187dac0cfc164e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fb29477ce4927" /><Relationship Type="http://schemas.openxmlformats.org/officeDocument/2006/relationships/image" Target="/ppt/media/image10.png" Id="R198923c3e5694ed0" /><Relationship Type="http://schemas.openxmlformats.org/officeDocument/2006/relationships/notesSlide" Target="/ppt/notesSlides/notesSlide14.xml" Id="R107c0a69a3f9404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1919f1f17488c" /><Relationship Type="http://schemas.openxmlformats.org/officeDocument/2006/relationships/image" Target="/ppt/media/image11.png" Id="Rb259d3de550d4ea8" /><Relationship Type="http://schemas.openxmlformats.org/officeDocument/2006/relationships/image" Target="/ppt/media/image12.png" Id="R7749cf05ffd44876" /><Relationship Type="http://schemas.openxmlformats.org/officeDocument/2006/relationships/notesSlide" Target="/ppt/notesSlides/notesSlide15.xml" Id="Rb149e1293ee34f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1861a4b0ff4902" /><Relationship Type="http://schemas.openxmlformats.org/officeDocument/2006/relationships/image" Target="/ppt/media/image13.png" Id="R3072f99eb17d4c85" /><Relationship Type="http://schemas.openxmlformats.org/officeDocument/2006/relationships/notesSlide" Target="/ppt/notesSlides/notesSlide16.xml" Id="R960e8faa8263474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5d4466e444397" /><Relationship Type="http://schemas.openxmlformats.org/officeDocument/2006/relationships/image" Target="/ppt/media/image14.png" Id="R742b7b973b684164" /><Relationship Type="http://schemas.openxmlformats.org/officeDocument/2006/relationships/notesSlide" Target="/ppt/notesSlides/notesSlide17.xml" Id="Rdacc5387f30740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7f463d91ca4202" /><Relationship Type="http://schemas.openxmlformats.org/officeDocument/2006/relationships/notesSlide" Target="/ppt/notesSlides/notesSlide18.xml" Id="Rd73b9bc64028481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75fcb79374de8" /><Relationship Type="http://schemas.openxmlformats.org/officeDocument/2006/relationships/image" Target="/ppt/media/image15.png" Id="Ra4c8100960634f40" /><Relationship Type="http://schemas.openxmlformats.org/officeDocument/2006/relationships/notesSlide" Target="/ppt/notesSlides/notesSlide19.xml" Id="R563f2ebb1bb3458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648c971ff4f74" /><Relationship Type="http://schemas.openxmlformats.org/officeDocument/2006/relationships/image" Target="/ppt/media/image16.png" Id="R291b8d39b813430f" /><Relationship Type="http://schemas.openxmlformats.org/officeDocument/2006/relationships/notesSlide" Target="/ppt/notesSlides/notesSlide20.xml" Id="Rdbb59a0188204f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9eb6a35d2437c" /><Relationship Type="http://schemas.openxmlformats.org/officeDocument/2006/relationships/notesSlide" Target="/ppt/notesSlides/notesSlide21.xml" Id="Rc109deb9bec4473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82b39edb34fb6" /><Relationship Type="http://schemas.openxmlformats.org/officeDocument/2006/relationships/image" Target="/ppt/media/image17.png" Id="Ra114ccf59587487b" /><Relationship Type="http://schemas.openxmlformats.org/officeDocument/2006/relationships/notesSlide" Target="/ppt/notesSlides/notesSlide22.xml" Id="R6824a18d9097413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218ab7ce7486d" /><Relationship Type="http://schemas.openxmlformats.org/officeDocument/2006/relationships/image" Target="/ppt/media/image18.png" Id="Re136189957c745d2" /><Relationship Type="http://schemas.openxmlformats.org/officeDocument/2006/relationships/notesSlide" Target="/ppt/notesSlides/notesSlide23.xml" Id="R093d85945ded4c5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f9ef80a0240bd" /><Relationship Type="http://schemas.openxmlformats.org/officeDocument/2006/relationships/notesSlide" Target="/ppt/notesSlides/notesSlide24.xml" Id="R6b7d474d9b20497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c560fc9a8479a" /><Relationship Type="http://schemas.openxmlformats.org/officeDocument/2006/relationships/image" Target="/ppt/media/image19.png" Id="R8858a952bad14c36" /><Relationship Type="http://schemas.openxmlformats.org/officeDocument/2006/relationships/notesSlide" Target="/ppt/notesSlides/notesSlide25.xml" Id="R8a455fd286394e5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b4576096c4053" /><Relationship Type="http://schemas.openxmlformats.org/officeDocument/2006/relationships/image" Target="/ppt/media/image20.png" Id="Re2f040090804415d" /><Relationship Type="http://schemas.openxmlformats.org/officeDocument/2006/relationships/image" Target="/ppt/media/image21.png" Id="R6e533348bf614875" /><Relationship Type="http://schemas.openxmlformats.org/officeDocument/2006/relationships/notesSlide" Target="/ppt/notesSlides/notesSlide26.xml" Id="R1d9b3e5ba75f478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cf52c7c934ddb" /><Relationship Type="http://schemas.openxmlformats.org/officeDocument/2006/relationships/notesSlide" Target="/ppt/notesSlides/notesSlide27.xml" Id="R49377e2dc7b144e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b6bbbfcec480d" /><Relationship Type="http://schemas.openxmlformats.org/officeDocument/2006/relationships/image" Target="/ppt/media/image22.png" Id="R6c76939cef434055" /><Relationship Type="http://schemas.openxmlformats.org/officeDocument/2006/relationships/notesSlide" Target="/ppt/notesSlides/notesSlide28.xml" Id="R65a8840c5b9f47a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a7146946bd4e93" /><Relationship Type="http://schemas.openxmlformats.org/officeDocument/2006/relationships/image" Target="/ppt/media/image23.png" Id="R4992ac798da340f4" /><Relationship Type="http://schemas.openxmlformats.org/officeDocument/2006/relationships/notesSlide" Target="/ppt/notesSlides/notesSlide29.xml" Id="Ra3a94365cc1942e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04b17c7c5644b2" /><Relationship Type="http://schemas.openxmlformats.org/officeDocument/2006/relationships/image" Target="/ppt/media/image24.png" Id="Rd7bdcd45538f4d45" /><Relationship Type="http://schemas.openxmlformats.org/officeDocument/2006/relationships/notesSlide" Target="/ppt/notesSlides/notesSlide30.xml" Id="Rd2b6b1902b6746a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872905a524050" /><Relationship Type="http://schemas.openxmlformats.org/officeDocument/2006/relationships/notesSlide" Target="/ppt/notesSlides/notesSlide31.xml" Id="R88874914b8dc400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dc0ba3bcd4292" /><Relationship Type="http://schemas.openxmlformats.org/officeDocument/2006/relationships/image" Target="/ppt/media/image8.png" Id="Rd17c901083a74d3e" /><Relationship Type="http://schemas.openxmlformats.org/officeDocument/2006/relationships/notesSlide" Target="/ppt/notesSlides/notesSlide32.xml" Id="R8a127173fe7247c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8d65edeb947cf" /><Relationship Type="http://schemas.openxmlformats.org/officeDocument/2006/relationships/image" Target="/ppt/media/image8.png" Id="R020322f1706d4dd6" /><Relationship Type="http://schemas.openxmlformats.org/officeDocument/2006/relationships/notesSlide" Target="/ppt/notesSlides/notesSlide33.xml" Id="R0b80840cfe544cb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6148b54be44ccb" /><Relationship Type="http://schemas.openxmlformats.org/officeDocument/2006/relationships/image" Target="/ppt/media/image8.png" Id="Raa78f13db616404c" /><Relationship Type="http://schemas.openxmlformats.org/officeDocument/2006/relationships/notesSlide" Target="/ppt/notesSlides/notesSlide34.xml" Id="Rb8b5265857f74bb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ca19561844e5c" /><Relationship Type="http://schemas.openxmlformats.org/officeDocument/2006/relationships/image" Target="/ppt/media/image8.png" Id="Ra61794e71f0c4a9f" /><Relationship Type="http://schemas.openxmlformats.org/officeDocument/2006/relationships/notesSlide" Target="/ppt/notesSlides/notesSlide35.xml" Id="R1631ca98c83d45a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5622ac0e84203" /><Relationship Type="http://schemas.openxmlformats.org/officeDocument/2006/relationships/image" Target="/ppt/media/image8.png" Id="Rd610ed29c1d7488d" /><Relationship Type="http://schemas.openxmlformats.org/officeDocument/2006/relationships/notesSlide" Target="/ppt/notesSlides/notesSlide36.xml" Id="Rffd44db4f9f74f9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b39af52ac4d96" /><Relationship Type="http://schemas.openxmlformats.org/officeDocument/2006/relationships/image" Target="/ppt/media/image8.png" Id="R813d130df9fb4f46" /><Relationship Type="http://schemas.openxmlformats.org/officeDocument/2006/relationships/notesSlide" Target="/ppt/notesSlides/notesSlide37.xml" Id="Ra83bc01059ed4f6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2e2f6c1c54c72" /><Relationship Type="http://schemas.openxmlformats.org/officeDocument/2006/relationships/image" Target="/ppt/media/image8.png" Id="Rd0c407542d0842e0" /><Relationship Type="http://schemas.openxmlformats.org/officeDocument/2006/relationships/notesSlide" Target="/ppt/notesSlides/notesSlide38.xml" Id="R07a6afce0d7c479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b6210a8734c55" /><Relationship Type="http://schemas.openxmlformats.org/officeDocument/2006/relationships/image" Target="/ppt/media/image8.png" Id="R379ff3c43497476f" /><Relationship Type="http://schemas.openxmlformats.org/officeDocument/2006/relationships/notesSlide" Target="/ppt/notesSlides/notesSlide39.xml" Id="R07d8011463bd409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fe4d6085dd442f" /><Relationship Type="http://schemas.openxmlformats.org/officeDocument/2006/relationships/image" Target="/ppt/media/image8.png" Id="R60084dbe0e534097" /><Relationship Type="http://schemas.openxmlformats.org/officeDocument/2006/relationships/notesSlide" Target="/ppt/notesSlides/notesSlide40.xml" Id="Rfeb562a6b2c7405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903a2f54d42cb" /><Relationship Type="http://schemas.openxmlformats.org/officeDocument/2006/relationships/image" Target="/ppt/media/image8.png" Id="R030c1f88f5d841a8" /><Relationship Type="http://schemas.openxmlformats.org/officeDocument/2006/relationships/notesSlide" Target="/ppt/notesSlides/notesSlide41.xml" Id="Rff3e04025d0647f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8dca5a6684fe4" /><Relationship Type="http://schemas.openxmlformats.org/officeDocument/2006/relationships/image" Target="/ppt/media/image8.png" Id="R214ebaf414404319" /><Relationship Type="http://schemas.openxmlformats.org/officeDocument/2006/relationships/notesSlide" Target="/ppt/notesSlides/notesSlide42.xml" Id="R9a7f3243600340c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0a8ac81dd4336" /><Relationship Type="http://schemas.openxmlformats.org/officeDocument/2006/relationships/image" Target="/ppt/media/image8.png" Id="Rde27a74f78d64c34" /><Relationship Type="http://schemas.openxmlformats.org/officeDocument/2006/relationships/notesSlide" Target="/ppt/notesSlides/notesSlide43.xml" Id="Rdf92ec5962304e54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1781f12ac4edc" /><Relationship Type="http://schemas.openxmlformats.org/officeDocument/2006/relationships/image" Target="/ppt/media/image8.png" Id="R6b4026b3a32a45f9" /><Relationship Type="http://schemas.openxmlformats.org/officeDocument/2006/relationships/notesSlide" Target="/ppt/notesSlides/notesSlide44.xml" Id="Rba32a31c82184ed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bce85521a44ea" /><Relationship Type="http://schemas.openxmlformats.org/officeDocument/2006/relationships/notesSlide" Target="/ppt/notesSlides/notesSlide45.xml" Id="Rc1d9a87253264eb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f5e86fefb4345" /><Relationship Type="http://schemas.openxmlformats.org/officeDocument/2006/relationships/notesSlide" Target="/ppt/notesSlides/notesSlide46.xml" Id="R8ceba2a75c6141d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5a76713374e68" /><Relationship Type="http://schemas.openxmlformats.org/officeDocument/2006/relationships/notesSlide" Target="/ppt/notesSlides/notesSlide47.xml" Id="Rd6732bd27a5644a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c064f5a6b4f51" /><Relationship Type="http://schemas.openxmlformats.org/officeDocument/2006/relationships/notesSlide" Target="/ppt/notesSlides/notesSlide48.xml" Id="Raf7d8ed40955497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a87c3adee4d99" /><Relationship Type="http://schemas.openxmlformats.org/officeDocument/2006/relationships/notesSlide" Target="/ppt/notesSlides/notesSlide49.xml" Id="R6b07718c3ac14e9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870d186ee4fdf" /><Relationship Type="http://schemas.openxmlformats.org/officeDocument/2006/relationships/notesSlide" Target="/ppt/notesSlides/notesSlide50.xml" Id="R1e2ddba5728e482a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cc965aa4641a8" /><Relationship Type="http://schemas.openxmlformats.org/officeDocument/2006/relationships/notesSlide" Target="/ppt/notesSlides/notesSlide51.xml" Id="Ra98e4fed806846f1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1e4335dd8496c" /><Relationship Type="http://schemas.openxmlformats.org/officeDocument/2006/relationships/notesSlide" Target="/ppt/notesSlides/notesSlide52.xml" Id="Rfac72ece414f4575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ce4745d664a39" /><Relationship Type="http://schemas.openxmlformats.org/officeDocument/2006/relationships/notesSlide" Target="/ppt/notesSlides/notesSlide53.xml" Id="R735a890113304c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FD5A3AE-66D6-4340-A7B5-1234A537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ATLAS PHASE 2 · PAYROLL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E93EC8-FAE2-4B88-BF46-6584536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0"/>
            <a:ext cx="8229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Computational Basis Demo</a:t>
            </a:r>
            <a:endParaRPr sz="5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DE446E-9C7C-41A0-A3C5-90C97D1A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7680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the setup drives take-home pay, retirement pay, final pay, and gross-up calculations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EE0874-9A1B-40BB-B803-53249FC5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1024749-4154-4E1F-B276-8D47864B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9F61821-D874-4A33-AB75-5857B522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7F53CD5-D08F-46D7-A975-D35C247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72C3267-5467-4ADC-8065-C21E1AC0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04BA5EF-B4A6-45F8-B7EE-E2533B5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3059E4A-980E-40DA-B894-90AE8D3A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A93A2F-F256-4BA1-BBD5-A5A6AF30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ABB1114-D931-45DD-A350-6FB0B68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57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/>
                <a:ea typeface="Calibri"/>
                <a:cs typeface="Calibri"/>
              </a:rPr>
              <a:t>Demo build · wireframe screenshots · sample values for walkthrough only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200361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CE1925-7090-46C6-8F02-31CCB93C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AGENDA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80EE5BB-FCEA-4D71-980F-FFAFBD6D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Demo walkthrough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43F2819-5CF0-425C-B42C-46065694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2BD392-B48D-4324-BCB7-7A4E55AC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C15599-2A50-45E9-B849-C8CB60D1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362456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Start with the policy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A96473E-C31F-42AA-B73F-CBCDD81F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1362456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We start from the written rule, turn it into an approved code, then apply it as a Company Rule.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19D9CA0-E941-4D4C-8962-F092431F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22CA60-7DE7-4037-8B8D-26A1AF59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A615570-F7A2-43D9-9854-928A098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331720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Show the four setups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832F81-A32C-43B8-AA14-E9A39DCD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33172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Take-Home Pay, Retirement Pay, Final Pay, and Gross Up — each with its own setup and sample run.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55227F8-C6A1-410A-B8AC-71911591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2C08AC5-186D-47FA-BC22-7B07CDCA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655075D-660F-40CF-9448-43A9751A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300984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Use real sample numbers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3E7D27A-A505-4D60-9473-11F1FEA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300984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examples follow the Annex B samples so the calculation can be checked on screen.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591B6F0-02E2-4193-B491-5BEACBAA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528C78B-3FAE-47BA-9344-6045CBD3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2A946C4-D716-4A50-8DA9-1F989E28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270248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Connect the pieces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679DB6D-6DC5-4A7C-BDA3-7AA4114A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270248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Rules, reference tables, statutory tables, and employee payroll records all feed the result.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AD29F81-3BA3-433F-AF10-61625696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952B8EE-0242-458E-96DD-2D824418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ED21CCD-3934-4C52-B414-B5F20679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239512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End with traceability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0616500-8EF0-44A9-8F15-976472CB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5239512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appendix shows where each screen and rule came from, plus the items still needing confirmation.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2738203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ABF4CD1-4709-46FB-90DE-5AF197AE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FLOW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15EDDD-015D-4E36-AE5D-576E0104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From policy to payroll result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2D60A4E-4FAB-4387-BFA4-17A79B0E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A61D5DE-581F-454E-9B30-4572B4F3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98A5C0-6F45-43BA-85B6-140AE233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5F8ABD6-DF18-44C7-B794-D52EABA4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Written policy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47E1D50-4484-471E-9348-46390906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rule, written in</a:t>
            </a:r>
            <a:endParaRPr sz="1050"/>
          </a:p>
          <a:p xmlns:a="http://schemas.openxmlformats.org/drawingml/2006/main">
            <a:pPr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business terms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1DB539F-B4EC-4801-9009-0CDC171C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476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53CB72-F06B-4AE4-AA38-B2B055A5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295CA62-871A-45F0-8907-D33F6D20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90A51D9-E6CC-4F13-8A48-DDBA7DAB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5025C14-E7C5-40B2-917E-88749A69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Approved code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EC073B-3552-495D-BE2B-01F2F5D2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Reusable calculation code,</a:t>
            </a:r>
            <a:endParaRPr sz="1050"/>
          </a:p>
          <a:p xmlns:a="http://schemas.openxmlformats.org/drawingml/2006/main">
            <a:pPr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 example THP-001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AFA7AC6-0854-41E5-8B18-2108271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0DE204C-AE43-4FF2-BF4F-1654CD5B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06025E4-CE23-4A4D-A3CF-37130D0D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FB71ABF-500A-4EA4-BA55-8D541DF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E31524E-FA0E-42CE-87C4-FE426A4D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6F1F97A-4ABA-4F6B-8E61-5F8E099F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Applied to an employee</a:t>
            </a:r>
            <a:endParaRPr sz="1050"/>
          </a:p>
          <a:p xmlns:a="http://schemas.openxmlformats.org/drawingml/2006/main">
            <a:pPr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group with its own values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781B8CD-ECEA-4BD8-A5BA-F5540585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96715D1-4218-4C43-B213-EDF5FD26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3251B88-058E-4F72-B63D-8AB5D395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18F40AC-B6D1-4F84-8AAC-FBE26666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97BCABB-F09A-40C1-A2D4-EE8807FC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6F3CA0E-FA2A-488A-ABD1-C78E897F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Runs the calculation and</a:t>
            </a:r>
            <a:endParaRPr sz="1050"/>
          </a:p>
          <a:p xmlns:a="http://schemas.openxmlformats.org/drawingml/2006/main">
            <a:pPr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shows the working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D8F52B1-8F7A-40C9-B4E1-68CF17C1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068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53AC9E2-FF1D-4271-B3B0-60DBBD04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DAD87AF-73D6-4FE4-83BF-4AAF5CFA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EADEA98-7724-4281-AC08-4B93F08E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9CD53D3-FCC8-4ED7-AE68-82D747CA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Payroll result</a:t>
            </a:r>
            <a:endParaRPr sz="13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AC0E63B-46AE-433E-8EA0-25DFABF9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Deduction changes, deferrals,</a:t>
            </a:r>
            <a:endParaRPr sz="1050"/>
          </a:p>
          <a:p xmlns:a="http://schemas.openxmlformats.org/drawingml/2006/main">
            <a:pPr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ledger, and payslip tags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7DADBE9-B5BC-4770-92C9-072E2CAC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formula stays controlled. The values can change per company rule or employee group.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781E2B0-C761-489F-A2E9-0BA2B8B8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92040"/>
            <a:ext cx="859536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D5A39E3-2BAC-4FFC-851F-936EF5D6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8321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“Rules Set Up — Client-defined Rules”; Annex B Take Home Pay rows 113–156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440112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25B0C62-A8A8-459A-88F1-939919FB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ORIENTATION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2F891A-F04B-49A5-B08B-FF37AAE9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Where to find Computational Basis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4a0537e364c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FFD9B2A-58BA-43F2-AA37-8ABB2792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Computational Basis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C7FC3F2-FBC7-461B-A96D-C8694313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place for the logic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DD5433-FFCC-42FC-9D57-14769B5B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This is the controlled area for standard formulas, client assignments, policy engines, and the reference sources they use.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A1E3AF4-5457-4519-A5A5-8374CC1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No hidden numbers inside formulas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1E45B39-762B-4469-8D6A-93232A73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Rates, brackets, and ceilings are maintained in versioned tables instead of being typed directly into a formula.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A8354B1-45A6-4F78-A80C-CFE028C8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Navigation path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266B67B-282C-4D5A-B139-0C8A07B2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Configuration → Services Information → Computational Basis.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02604FE-2A3B-48E8-85CB-178D0676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45F2CB6-D858-4BCA-8D1A-0B3EFD80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Computational Basis Module (feature points 73–82)</a:t>
            </a:r>
            <a:endParaRPr sz="1000"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78D3DD3-2408-4F45-A9AD-A3E72192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" y="2286000"/>
            <a:ext cx="877570" cy="23749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58F3F6C-9443-44F5-A333-2C390997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445" y="1905000"/>
            <a:ext cx="1769745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30434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7D9592-14E5-457C-9592-400CA83D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TODAY’S SCOPE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19D80E-87CF-40D8-A165-769F5B40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four calculation areas in this demo</a:t>
            </a:r>
            <a:endParaRPr sz="3000"/>
          </a:p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52f7b07aa4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5608" y="1280160"/>
            <a:ext cx="9290304" cy="56692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77029F3-A341-41C2-9909-362B3CF4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B14E9A4-F4A5-4313-A057-43FB1E91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5D06148-2C0A-4295-A384-579DA4CE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A735118-07F2-4D01-A2ED-F49D16C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Take-Home Pay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AEE4F87-92C8-47F1-B674-DDDFD252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· THP-002</a:t>
            </a:r>
            <a:endParaRPr sz="1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0B93548-B8FA-4C46-922F-6154DF42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Protects the employee’s minimum net pay, caps controllable deductions, and defers the rest in the set order.</a:t>
            </a:r>
            <a:endParaRPr sz="1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58B9472-344F-46F2-A8DA-CC54C40F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3823185-0B28-404D-AFA7-67B22070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A143653-BEA7-491F-9E12-63497174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098297D-47F9-48FE-A919-D61A7830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C40FD2F-6B51-432C-AEAA-CC5F7909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RET-001 · RET-002</a:t>
            </a:r>
            <a:endParaRPr sz="1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DC9B004-C110-4380-83D3-39D71997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Checks the statutory formula against the company plan and uses the more beneficial result.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047D11-5888-4F9F-BF06-F3235639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5CDB85E-5B18-4E15-B167-76466183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4455BD2-92DA-48F4-8A17-221DB9B3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4BC2412-317E-4BB9-932C-3AD4ECCC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Final Pay</a:t>
            </a:r>
            <a:endParaRPr sz="14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44D6519-1566-42CE-A970-ABDA3F34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FIN-001</a:t>
            </a:r>
            <a:endParaRPr sz="1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1DDB793-2161-4C67-93E9-9DD790AE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Builds the final pay breakdown, applies authorized offsets, and returns the net amount for release.</a:t>
            </a:r>
            <a:endParaRPr sz="1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FAF90BC2-EA65-4A38-A674-A6FAEDB9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2FA12D1-09FF-4C3F-835C-215D00D9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B805C95-0F99-448B-9C62-8393B3DA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A34291E-F379-4A04-9AFD-94376C2A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 Up</a:t>
            </a:r>
            <a:endParaRPr sz="14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9F9BBF3-2494-407A-9F56-405FEC47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GUP-001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C5841B0-F429-4576-89BB-190B539A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Finds the gross amount needed to release a guaranteed net amount to the employee.</a:t>
            </a:r>
            <a:endParaRPr sz="11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73A5E032-88F8-43C1-8838-5DF9C893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23560"/>
            <a:ext cx="8778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679509B-2630-48E5-B7FE-A4A731D1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23560"/>
            <a:ext cx="8503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sheets: Take Home Pay · Retirement Pay · Final Pay · Gross 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996440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83110F-C8D8-4A2C-B63C-CA338CDE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HOW IT CONNECTS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0ACE2D-C514-4D03-88A7-504958EC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Company Rules is where the setup is applied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2b6eeec6e46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E14C75-8B3E-4CF7-8464-34239D7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 register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B3C2A8-6995-4651-86A7-09BE952E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rule register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08639B8-073E-4935-8F06-93DC0405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All company rules sit in one place, even when different engines calculate them.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0C6EDCA-2C90-4682-B9DF-1D8A33DB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Engine-owned rows stay locked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D20090E-7C15-46A0-9B0C-338D8FFB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If a rule is backed by a policy engine, the calculation details are changed inside that engine only.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0D887EF-B396-489F-B74C-7C60C14A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 New Rule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81B07AD-2086-487C-B024-927B7212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Three steps: choose who it applies to, select the approved code, then enter the rule values.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36AB6CF-FAD3-4497-BCDC-579FF32C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4EE2362-152D-4B71-9D96-C136648A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 60, “Rules Set Up — Client-defined Rules”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941218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5DE14F-5C25-485B-AAD8-6F45E601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B31565-006B-417F-A0AE-0D948565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1 — define who the rule applies to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f7012f97e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546" y="1325880"/>
            <a:ext cx="5977563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1D9BFC8-C2EB-475A-B6E8-FF097F67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Plain-language rule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27B7F2E-8A4B-4512-8EA9-49EFA479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“Employees must receive at least 30% of gross pay after reimbursements / receivables are removed.”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53F8CAF-8491-4930-9323-86452F86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880360"/>
            <a:ext cx="43068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employee group is selected first, so the same rule can still have different values by group.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7BFB134-16FD-4EF6-A881-B8D04AA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11480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674E65E-21EE-45E2-AEA5-DCA5E382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11480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21–27 (policy 3)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154048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5DBD786-5618-49CD-A003-6D6C4428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98F3847-D5D3-441F-9147-97AED400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2 — choose an approved computation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821c3533f42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99408"/>
            <a:ext cx="6400800" cy="440782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911A79B-7941-4B8A-8291-EA75713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Only approved codes are available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DDC1726-3786-4F3B-8FF5-AB2390E4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list is filtered by the selected sub-category. Users pick from approved templates instead of creating a formula from scratch.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8F05ED4-9ACA-4CA9-AD6B-549ABB7F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154680"/>
            <a:ext cx="43068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 Minimum Take-Home Pay</a:t>
            </a:r>
            <a:endParaRPr sz="1200"/>
          </a:p>
          <a:p xmlns:a="http://schemas.openxmlformats.org/drawingml/2006/main">
            <a:pPr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THP-002  Maximum Controllable Deductions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A950886-82FB-481E-9A39-7154AC16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20624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214059C-18BC-4BC4-B463-E6ED2523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20624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4–5 (policy 1) and 45–51 (loan cap)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136572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0369E2-CD3E-4E77-9E1C-B7581F28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875D8C-54EF-4704-B3F1-8451AD68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3 — enter the values for this rule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39cda782a4f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1325880"/>
            <a:ext cx="4754880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A4193D7-AF55-482F-A843-27C076DE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463040"/>
            <a:ext cx="50383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Same structure, different values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C2B96FA-7E49-4EBE-8C30-9326CD84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10512"/>
            <a:ext cx="503834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approved code defines the fields. This rule supplies its own base, threshold type, and threshold value.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0C23D0-6E50-4359-9F86-529D1F6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91840"/>
            <a:ext cx="503834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That is how one policy library can support different companies and employee groups without copying formulas.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81F25AB-57E6-4BF9-B90C-C692305C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00"/>
            <a:ext cx="50383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1A95E12-2746-4317-A100-5B66F1FB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572000"/>
            <a:ext cx="47640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113–124, “Possible Company Set Up” 1–5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938750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F4BB79-175A-44C7-B410-E411A891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LIBRARY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4F4138-2F0F-4F03-8A45-31311D73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library keeps the formulas controlled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5231e4881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30820"/>
            <a:ext cx="7680960" cy="436212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A2BD157-E382-461E-A57B-EB128104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9592"/>
            <a:ext cx="768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Policy engine code library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50A17BF-3D2E-4770-B498-05A50C1F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716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Coverage is visible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4DD6F57-6FC7-43BE-94E1-82FFDC58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093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header shows how many Company Rules sub-categories already have an approved template.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C3856C9-B610-47D9-8553-B3D99CEB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2860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Standard vs client variant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7A3476B-1034-4365-9BAF-AC26B216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5237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Standard codes stay locked. A client variant starts from the standard code and only changes the allowed values.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BDC07BC-2AD7-47F1-88D1-CA82F30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2004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 the engine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2B7EF78-E52E-4B6D-9EE5-13EEE17E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381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This opens the screen that calculates the selected code.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ECC4B3E-D490-4679-B778-4B7E17C7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053328"/>
            <a:ext cx="29352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AFEE53C-B5DF-4AF3-96E2-400CE556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6053328"/>
            <a:ext cx="2660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points 19–20, Computational Basis set-up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997558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B3542D0-9D21-403E-9BBF-B2ECEAB9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1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D01726-3E9D-41E1-B34A-0429ED7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Take-Home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345FF5-068C-41CE-BCF9-68336573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Protect minimum net pay, cap selected deductions, and carry forward what cannot be deducted this cutoff.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A263669-33BF-4F6D-BA33-996B8478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1194D2-31B9-4CC4-8571-6A95B70E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09833B1-9CF6-40F1-A5FB-252D443F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FD3D2AF-0193-455E-8CDA-40220C56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A25F48-4D07-414F-A53C-25F05C6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6AD475C-D82C-466C-9705-F135EA1E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Deduction and loan caps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82C6E28-F18A-4175-9372-FC83D3F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CF80FF1-68E4-4ECC-A436-6F7D0021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AE4C4E9-7F53-4E35-BDF7-B78DE06F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Adjustment order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2ECA531-763C-4139-B860-85949B32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2CF8DD2-DE76-4523-AF97-B658DFFD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B4D3CD5-2FB2-4BCD-B8D2-9ED4F725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Deferral and carry-forward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6360512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e652a6d8748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09EFF9-D208-4DD8-9672-0CBB86E0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A871E4-DCEE-440A-B4D6-D915180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caps for deductions, loans, and attendance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261AAF6-ED93-4BC9-B928-A45E3B15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Cap configuration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6E80688-D1C8-47DA-B2AF-4B06604E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3716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 cap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542EEA9-6BD9-4AAE-B768-8D0AF7AB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6093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Loan repayments can be capped by percentage of gross pay or by a fixed amount, such as ₱10,000.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00B920F-B415-4C2A-A53B-934D43CE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2860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LAABS cap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1BD4F84-9F57-451A-889C-C96EFCBA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5237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Lates, absences, and undertime can be capped by percentage, fixed amount, or number of days.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029D80D-A86B-46E8-B261-870C5251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2004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Conflict priority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26737D6-3AEC-4EFF-94F5-9289FB15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4381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more than one rule applies, the company decides which rule takes priority.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DBF2AC9-5F34-4376-9E57-8BCC39D7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6053328"/>
            <a:ext cx="56784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0D346D9-B4BD-4A34-8C04-BC732E43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6053328"/>
            <a:ext cx="5404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45–84 (caps) and 106–109 (conflict priority)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1eb96f9aa841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8130" y="1437640"/>
            <a:ext cx="5397500" cy="43922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8478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E37589-DA15-4075-A43D-96F76150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77249A-2E8F-40E9-AC55-AA19F183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adjustment order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923c3e5694e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6162" y="1371600"/>
            <a:ext cx="2393453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A034CA7-5643-4E1D-B09C-533A881D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and loan hierarchy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29A5D12-AFB6-432D-9B41-9C01AF92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3716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Ranked order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175437C-5ADE-4C01-966A-8F3727EE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6093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Statutory deductions stay at rank 0 and are always deducted in full. The other items follow the agreed order.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C399B19-2120-4017-A007-92833A79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2860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Only adjust what is needed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9C4D258-CD3E-4646-B366-B2BE62BA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5237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engine trims just enough to meet the protected minimum. If rank 1 is enough, it stops there.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28F33BC-321D-4BD6-8E01-E7C68C86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2004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Maintained as a table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DB10DB1-6154-4293-B633-F3400ADD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4381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order is data. It can be updated without changing the calculation code.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16D4D9A-AD77-4605-9299-B8478E2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6053328"/>
            <a:ext cx="668426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F853E21-CD89-4E19-A215-C4CFC9D4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6053328"/>
            <a:ext cx="6409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85–103, hierarchy table and note at row 87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7167771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3D909C-B8CC-47DE-B938-2DFA3C87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962AAA-D41D-44D2-BF8C-8A55261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Sample payroll run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9d3de550d4e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308" y="1325880"/>
            <a:ext cx="3659160" cy="42062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9cf05ffd448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0600" y="1360230"/>
            <a:ext cx="4206240" cy="294881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70CEBAB1-F5CB-4659-8660-B8A6FEF0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37160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pay</a:t>
            </a:r>
            <a:endParaRPr sz="1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6E0D5C9-1741-42DC-816F-F8638798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9105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₱36,500</a:t>
            </a:r>
            <a:endParaRPr sz="17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29CDD5B-1610-44A7-AE21-6795F054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30552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Less reimbursements</a:t>
            </a:r>
            <a:endParaRPr sz="10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D0955FF-D406-4772-8CC2-7500D9C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50008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₱2,000</a:t>
            </a:r>
            <a:endParaRPr sz="17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3F3C1996-4FC4-489E-A7CB-102F26D2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889504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base</a:t>
            </a:r>
            <a:endParaRPr sz="10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E78E808-EBA7-4EF6-8E49-04A7A5C0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108960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₱34,500</a:t>
            </a:r>
            <a:endParaRPr sz="17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C117B02-4F29-4797-9511-98FF906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648456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minimum (30%)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2A57B36-D277-4BE2-BB52-59A19CCE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67912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₱10,350</a:t>
            </a:r>
            <a:endParaRPr sz="17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D3D8279-7875-463F-8D63-28598A25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407408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take-home</a:t>
            </a:r>
            <a:endParaRPr sz="1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C3AE0DB-B2C4-4E20-B983-2D8DC905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626864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₱15,500</a:t>
            </a:r>
            <a:endParaRPr sz="17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EAC1F79-9A1A-48F7-8FFD-3189DD96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16636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Deferred this cutoff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18B05B59-C24D-43C8-B61C-B94C279B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38581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₱750</a:t>
            </a:r>
            <a:endParaRPr sz="17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439BB2C-05AA-470F-8EFC-7E38326D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628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deductions stayed whole at ₱6,500. Only the ranked controllable items were adjusted.</a:t>
            </a:r>
            <a:endParaRPr sz="11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B226DA79-23D6-49D0-83F4-75397436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20640"/>
            <a:ext cx="4206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D6238CB-82D2-45E6-91BB-6D495E6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5120640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8–11 (statutory in full, defer, carry over, notify)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16499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7B5A6D-BD4D-4820-91A7-5F13E51B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D3898A-2FDA-47A1-B9CA-9733C28B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Deferred amounts carry forward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2f99eb17d4c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471" y="1371600"/>
            <a:ext cx="642459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12A0C32-F048-42C4-8057-05A22B6D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6583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Carry-forward and payslip tagging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686D246-A70E-4D07-84FA-0A895EF8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3716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Carried forward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5AD90A-45D1-4A29-9CB3-6D38F175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6093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Outstanding amount, rescheduled deduction date, and new balance are shown for each deferred item.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6F608E6-8F1F-4235-8545-7595009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2860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Payslip tag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5C6355F-FA4B-4640-8B65-2C146C74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5237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payslip can show the original due amount, amount deducted, deferred amount, accumulated amount, remaining balance, and reason.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01E27A5-4342-4412-ABDC-4A2E31C6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2004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Why it matters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10F38A5-766D-46CD-B618-CC23A751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4381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This gives the employee a clear trail across cutoffs, and keeps the loan or deduction balance accurate.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9505B01-AE69-44CA-9B23-F2288307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6053328"/>
            <a:ext cx="40325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8B21CAE-A7D8-4586-8937-4291F343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6053328"/>
            <a:ext cx="37581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138–155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4381335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DF3AA09-CA0F-4697-A8D7-34738F9A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GOVERNANCE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BF27375-5361-4B4E-B394-7F03AB43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Two codes support one take-home policy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b7b973b6841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90" y="1371600"/>
            <a:ext cx="48449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D7E657A-1308-4FE8-90AE-CF1C7B13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Opened from THP-002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6149B2-D240-4164-8520-5B5AA388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3716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THP-001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FC3C2A6-E8A7-46DA-97F0-8BABCDDB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6093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Handles the protected minimum: base, threshold, and deferral behavior.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8AB4DB1-57C1-473E-A428-02B70783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2860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THP-002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81A06E-C31E-4B20-AFC4-C70F32DE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5237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Handles the caps: deductions, loans, attendance, and conflict priority.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CF4CEB6-F4F2-470C-A138-24B048BC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2004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Why it is split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106161E-C928-4808-8FDF-D1684280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4381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company still has one policy. The two codes just let the setup stay cleaner and easier to maintain.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40FE9DC-4412-4D55-B499-2D726344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6053328"/>
            <a:ext cx="49469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C77C99-7B3C-4EAE-BC4D-1B04162A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6053328"/>
            <a:ext cx="4672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113–130, set-up items 1–6b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149403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6355A5E-E343-4C1A-A0BA-F6330FC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2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E0F894-0EEA-4D81-94EE-A004E32F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Retirement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8F3A4A-2FAB-4E53-94E9-9CE8522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Calculate statutory retirement pay, compare it with the company plan, and use the better amount.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180C1EB-5504-4D43-BC09-92B9FA8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CABC836-7433-4336-BB09-CAD5FFE8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484D432-C239-4A49-B971-CD21E550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 type and formula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48ADE99-F9B3-4F32-AB93-5D47E91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EB5C81-5B75-481A-9586-9A1C8C24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856981A-A487-452E-A7AE-80A4D49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Eligibility rules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2EFFC74-A731-455D-A871-BDFF2F17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6808BA2-05E3-4031-BDBE-B83E9861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081A06A-B8CA-4375-8D64-0C22A315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Service-year rounding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082D850-752D-4611-8C97-9FC05D3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E3E030C-7E7C-4663-986D-9440E81D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2BB54F5-C5D3-4576-9954-CFF3974B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Tax treatment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404165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49C7F70-6B4F-4012-B626-C26754FC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E25333-D3E1-4F5D-8CCF-5091692A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plan and eligibility rules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8100960634f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3534" y="1371600"/>
            <a:ext cx="297582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0BC59EC-3C57-455E-869D-F78F11F2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0609EC7-6FA2-4D8B-80BE-C189F82D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3716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Plan type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2A912F1-C95A-40A1-A7A4-8AEE45F7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6093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Use statutory RA 7641, a company plan, or the “best of both” option.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452FCA4-2921-4931-9B52-4FC48A66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2860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Inputs are editable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166BD51-149A-4327-B8FB-7B997921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5237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Daily-rate divisor, days per service year, salary basis, additional benefits, minimum guarantee, and maximum cap can be configured.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DEFAA18-A722-4297-9ABB-0E30D942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2004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Eligibility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CE59261-3609-4260-91F6-8CBD7BFA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4381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Age 60, compulsory age 65, five years of service, and optional company early-retirement age are part of the rule.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F85D766-390B-4340-9D71-07B9543A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6053328"/>
            <a:ext cx="68671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AD79ACB-61BA-45D4-A8F4-14F04B40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6053328"/>
            <a:ext cx="6592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11–37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154955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68C8EA-516C-4762-A093-F4743C20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2AE2A7-7DD0-43E2-83A9-D353D0C6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Sample retirement calculation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1b8d39b81343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160" y="1371600"/>
            <a:ext cx="32554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738DCC1-34DB-4B1E-9091-E2D3EEFE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63040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Service 12 years 6 months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38584BE-B0F1-4283-955A-04FA961D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810512"/>
            <a:ext cx="6309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rounds to 13 qualifying years because six months or more counts as a full year.</a:t>
            </a:r>
            <a:endParaRPr sz="12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7B3C901-13D8-45AE-9067-1A5D971A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69748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C655844-AB0E-4956-B487-CC95A655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80720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value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429FA95-346A-4951-96A9-0527ECCC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11810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₱60,000 ÷ 30 × 22.5 × 13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CD5BFE5-FC5C-4646-A195-9FF6A95B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803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₱585,000</a:t>
            </a:r>
            <a:endParaRPr sz="1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07AA3BA-29D6-4380-A3AF-005B9A66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5760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D786353-683F-4486-91D0-C8CA0803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76732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Company-plan value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CE4F06D-C155-4C11-A98D-EF0F4B6C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07822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using the company divisor, days, and benefits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E264D40-93E8-484C-B67C-BBC48D80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04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90F4B7D-7C9D-4E4C-8D5F-445E9FC7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61772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0DFF6F6-CDD1-4D5E-A0AF-C1B4B873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72744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Retirement pay used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ABF859D-F94F-4B2A-8CFF-30A3C2D5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503834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better amount between statutory and company plan</a:t>
            </a:r>
            <a:endParaRPr sz="10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C4DE5A7-F847-46CF-8CFA-542FF961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63E4E94-DC96-41D4-9D56-945DDF3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5623560"/>
            <a:ext cx="6656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The result is stored as tax exempt under RA 4917 when the company-plan conditions are met.</a:t>
            </a:r>
            <a:endParaRPr sz="11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21D8B99-9227-46F8-8BE2-D6FD3E39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6035040"/>
            <a:ext cx="665683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7136746-538A-4E08-8305-D97442E2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6035040"/>
            <a:ext cx="6382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3–6, 30, 38–41, 67–72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597926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0E17B0-A342-4C5D-8F1C-C20233A0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3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B7BE66-77AF-49D8-A8D1-3B8A0091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Final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74BBC2-AF0C-45C9-AE62-C4F88EED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Build the final pay breakdown, apply authorized offsets, and show the net amount for release.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E09F285-F4A0-4AEF-A836-F094A92F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7830DAB-FA73-4505-8686-F5F6EB01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1933A5-443B-4770-8DD3-C851BC91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Mandatory components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A166EF7-FFC3-4BAF-AB15-E9E37B64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1FAC5F7-B4A7-4966-A53A-39FDDCB6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F41FE7-C233-4F0B-88DE-92E3882F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Optional components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3F0FB7A-4831-4808-A912-0029130C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95C6B2E-A1A8-4570-BD81-005B26C2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3CA25A0-DF04-46DB-A8B6-4C709AB3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Authorized offsets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878D560-3242-4F19-9619-9B0F9896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DD2A6B2-8887-4FF7-BBE1-19616CCD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A59578E-97AE-4EA8-9AEE-BC3C6ADD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Negative net rule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578122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174B9B-3D64-4FEB-899C-61056C39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82D9F0-2224-4068-9D08-49D91202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Final pay components are switched on or off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4ccf5958748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7850" y="1371600"/>
            <a:ext cx="2355756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7345D19-FB65-4743-9256-8C408228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CA6EFCB-303D-4B0B-8AFD-753C8066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3716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Mandatory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7EEC130-6F20-43AC-8BDD-55986325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093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Unpaid salary, prorated 13th month, SIL conversion, separation pay, retirement pay, and final tax.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A56B285-6DBB-4931-A544-0F116222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2860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Optional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AB44BFC-1F33-4E3C-B25F-150AA493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5237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Convertible VL/SL beyond SIL, allowances, commissions, cash bond return, and gratuity.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4D009A6-C1C6-4231-947E-EC83E375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2004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7C14415-9BD6-42B4-A14B-93B0B768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4381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Leave conversion, divisor, rounding, advance 13th month recovery, loan balance treatment, and negative-net handling.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76E3B55-D50C-4B81-AC7B-2634ADFC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6053328"/>
            <a:ext cx="695858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B97BE7F-8BD0-44E7-B015-C36B6094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6053328"/>
            <a:ext cx="6684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“Final Pay” rows 5–18 (components) and 19–29 (rules)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2603397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A3A114-43A8-4A1B-BD9D-C1CEF754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1648C6-A2BB-4CC0-AD1E-FE9FB49C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flows into final pay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6189957c745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0777" y="1371600"/>
            <a:ext cx="3912942" cy="27432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0D7E964-23E0-4ED5-B5C8-F8549806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63040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final pay</a:t>
            </a:r>
            <a:endParaRPr sz="11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30C91B9-157C-4C77-B0EF-76AF8BF3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00784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₱856,500</a:t>
            </a:r>
            <a:endParaRPr sz="2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D2AF3AB-42F5-46BB-9B88-FEF6764D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87168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included</a:t>
            </a:r>
            <a:endParaRPr sz="1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EC9DB92-50D9-457B-938F-A5817326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24912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2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32B900-6A2D-41CA-9FA0-E9D293F6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11296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offsets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9D2956E-1DEA-49E5-A0B3-B127C0B6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49040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−₱47,800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E9E95A0-2F4B-44F1-A1B3-04B8B545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535424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final pay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CA99EC0-54F9-40E0-A0F9-961FB60F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773168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₱808,700</a:t>
            </a:r>
            <a:endParaRPr sz="2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BD1AF9B-7413-440B-B32A-80BE0D75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3484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₱795,000 comes from the Retirement Pay engine. It is pulled into Final Pay instead of being re-entered.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F95430A-D24D-408E-90A4-8D26E8B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0"/>
            <a:ext cx="51206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F2B2BCD-CCAC-4AF5-BA2A-4A897991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8640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46–49; “Final Pay” rows 30–34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831056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85DF41D-6C9C-4C90-866F-FDC70D93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4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F3BA0D-1353-4EF8-9AA3-B331EDC7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Gross Up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88658A-D796-4ABA-AF22-C4A753C3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Calculate the gross amount needed so the employee receives the guaranteed net amount.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8001812-E3BA-4FCF-994C-826C815D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4F49C8-D6EA-47B3-B027-51E3F44F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659754F-A224-4999-9ACE-174D0444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Guaranteed net target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D83468C-A1D2-44A5-A8D9-B8FF3675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F197450-A5EA-4DED-B961-FA46D5D0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635CB5D-083D-4545-AF28-D36FD82D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BIR withholding table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C859CF-982D-4172-B5A0-C7BCFB04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7F7BCA8-7FC5-4C28-89AB-8203A655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2D78694-F356-40F7-AC63-C338B3A7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Repeat until matched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88A808E-F841-4188-8614-04B926F6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F1F444-027D-46E7-8E6F-2AA91DD9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90F3C3C-EF9A-4D9C-BE79-B69F4202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Employer cost shown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3442700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396217-54AE-45DC-818F-9CF6FFD0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0AEF92-C9B7-4312-933F-94890931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target, method, and tax share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8a952bad14c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409" y="1371600"/>
            <a:ext cx="373727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FAB10CF-BAE8-4323-A941-34C0A167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A1AFABC-0AB8-4487-A493-F620B510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716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Target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31C9EDF-7728-4E4A-914F-16AA4315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093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guaranteed net pay or net benefit can be entered or uploaded.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06CFB00-56CD-420E-AE9D-5EC375F8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2860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Method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DC1D3E6-DFDF-4EE1-9297-50EAD01E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5237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Use the graduated BIR withholding table, or a flat rate for final and expanded tax cases.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79F80E3-9AF6-466F-812E-47A6E30F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2004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Employer share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77291E0-582E-4167-AE64-DFFA2159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381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to 100% for a classic gross-up, or use a split such as 50/50.</a:t>
            </a:r>
            <a:endParaRPr sz="12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B35F9DF-3A57-44EC-9847-B9312FED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1148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Controls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E5C7283-029C-463F-BA6C-4A267654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3525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Tolerance, iteration limit, and rounding stage are configurable by company.</a:t>
            </a:r>
            <a:endParaRPr sz="1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467C078-978E-47D9-952A-0651BC1F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053328"/>
            <a:ext cx="64099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A134B90-4891-4EFF-A3F4-4F181C38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6053328"/>
            <a:ext cx="6135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6–18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9677776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8962DA9-1C49-4904-A08D-98A52268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8DF7B9-701D-41B3-981F-D0180E8E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Sample gross-up calculation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04009080441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92" y="1371600"/>
            <a:ext cx="3324432" cy="32918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33348bf614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214" y="4800600"/>
            <a:ext cx="3110789" cy="12344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F420854-8AAE-4948-9AF8-3BA6559C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17320"/>
            <a:ext cx="65653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Why it is not just net ÷ (1 − rate)</a:t>
            </a:r>
            <a:endParaRPr sz="15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8403A2E-E07E-4C3C-BC9B-AD5DDA2F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83080"/>
            <a:ext cx="656539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That shortcut only works with one flat rate. For compensation tax, the engine tests a gross amount, reads the bracket, recomputes the net, and repeats until the target is reached.</a:t>
            </a:r>
            <a:endParaRPr sz="12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A13EEB9-ECA5-4B5F-A1AE-36315FEB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71800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taxable pay</a:t>
            </a:r>
            <a:endParaRPr sz="11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D65C568-C629-44B0-8A3F-4CE3BF8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97180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₱51,875.00</a:t>
            </a:r>
            <a:endParaRPr sz="15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13163D5-A1E5-4E8F-BE5D-6F96D18E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55848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ED424EA-2019-4656-9530-4586112F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21608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Withholding tax absorbed by employer</a:t>
            </a:r>
            <a:endParaRPr sz="115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C4EBFD8-EB7B-4B80-95A8-CD7851CB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721608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₱5,208.40</a:t>
            </a:r>
            <a:endParaRPr sz="15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1AC560E-2DF3-4D85-83B6-8CB0211B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05656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1FDF483-F6AA-45F5-8EF4-4D5A4FD8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71416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released to employee</a:t>
            </a:r>
            <a:endParaRPr sz="11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14E985DC-F2B7-4385-A8A5-C7838AD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471416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₱50,000.00</a:t>
            </a:r>
            <a:endParaRPr sz="15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9DBB9A1-EE45-4468-BDC4-B8C18EA3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55464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A60F6EB-67D5-4550-8BF0-71241CB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21224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employer cost</a:t>
            </a:r>
            <a:endParaRPr sz="11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9E15E244-14DF-43E0-B66B-6CE8D237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5221224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₱57,083.40</a:t>
            </a:r>
            <a:endParaRPr sz="15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CAF80CB-4021-4056-8E18-18A89FD1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35040"/>
            <a:ext cx="656539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AC4CFD8-0FED-49D5-8C4E-B5A8C261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6035040"/>
            <a:ext cx="62910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2–4 and steps 4–12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7504500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3658BA-52FD-4B9F-B9F4-63AE1AD2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CONNECTIONS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A161F55-39D9-4D05-A326-3E93299C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each engine reads and produces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EFFB6C-C28B-454C-8B64-6BC4CBDC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298448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Reads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2B1889-E91D-4E73-9F03-D4BEDA02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9844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Produces</a:t>
            </a:r>
            <a:endParaRPr sz="10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264EF8D-B3B8-43CA-9531-1E36C86B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DE124F6-B0DF-41BA-9F0E-48EAF9BB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27632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3D1E2AC-7F58-48F7-952C-8473C8EE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4C4DF7-28AD-4F10-B80E-5239628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627632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Deduction hierarchy table · employee loan and deduction balances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0CE8BE0-6613-4DC8-8641-7342F875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DCB459-4465-494B-9CC4-048EA262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27632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Deferred amounts, carry-forward schedule, and payslip tags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A48779B-37F8-4877-BF4E-A75AD025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0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66F996B-A691-4BCE-BF96-0C8CCD3A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43200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A0C9202-B272-4AD6-B96A-73781DFD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3B8D3BA-E28F-4681-AAD9-7744F25B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Birth date, hire date, retirement date, plan membership, and salary basis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5C513B6-6591-423F-B0F1-659CD06A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9F5A1B0-8E3D-45E0-86E7-BBC0A2B3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43200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Retirement pay amount and tax status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F7750DA-5EE1-47E9-88D4-1570F0A7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EBBF0A9-D046-44DD-B03F-53851B21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58768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984CC69-9694-4623-8344-E4794787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202E813-8814-448B-9A4A-17D55DE4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858768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Retirement result, leave balances, and outstanding loan/deduction balances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815D355-436C-4FC9-AFE4-5CACB362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D2CD522-451D-40AC-BD70-8F0E3996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858768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Net final pay breakdown for release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98680C7-5525-453D-AB12-DECF9FED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74336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3720725-E8F1-457A-B7E2-ED6773EA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74336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3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ED32981-0364-48FB-8386-EBA50BE4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67D3962-1976-4AFF-9142-91F70087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74336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Effective BIR withholding table and employee statutory share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AD62D52-A558-4D75-ADFC-2EBE00F5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475CD01-8E30-43AC-B351-AE3A1907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974336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Gross amount to pay and tax absorbed by employer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5367981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F8363AC-8C2B-404A-865D-BC42B749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1E7AFD-2A2A-428D-9B97-592120AD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Rates and ceilings are versioned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6939cef4340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22E8903-6846-42C6-94B2-B69A167A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BIR withholding table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5D386F5-3462-4E78-B79A-1399CBBF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Effective date matters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ADBC3B-3F1C-490D-9C0C-7E27203C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uses the table version active for that run, so old payroll results can still be reproduced.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CC5B5C-EB40-4121-9661-BC56BABB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Used tables are locked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AB3E1-8195-40DD-A4BB-C80A91B9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Once a payroll has used a table, it cannot be edited. A new version must be published instead.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FAEDF45-F588-4DC6-B840-AB8D2E0A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Feeds Gross Up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00AD429-6190-4950-993A-99563072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gross-up trace reads the bracket from this table instead of hard-coding it.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5918368-EA69-4327-9F9D-99C3B557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A127238-787C-4AE8-AA5C-092A784E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Tax Tables Flow v2 (14 May 2026); BRD Statutory Requirements 180–184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1279296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DCA7F7-FEF6-4D16-8F4B-343962F9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0E50BC-4661-4428-A068-84FDDAFE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Reference sources sit behind the formulas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2ac798da340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32C4007-E9A6-47AD-B158-7B6891E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Formula reference sources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06EB362-D60A-44BA-869E-0D41775C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Named sources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E69C21C-7949-4B90-A763-F8A5947C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Formula inputs point to maintained reference sources instead of numbers typed directly into a rule.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DE67BC5-1C1F-4E48-A4E6-A887430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hierarchy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F05BEC-E1E9-446F-9DF2-63515354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take-home adjustment order is one of these sources, so the business can maintain it.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EFF7F1C-B8CA-4B68-AF11-E5D8A067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Update once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C6607FE-44C6-4008-A5FA-823BCCD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the source is updated, every rule that reads it follows the new version.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9F561A6-1978-4834-A812-AD21A7D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D0509DD-D90A-4B07-96FE-30CB1B2A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Reference Table Module (feature points 62–63, 97–98)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1431315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406918-B660-425A-BB92-DAF81713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092D1B-059A-48BA-A51B-6DC266FF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Employee payroll records feed the engines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dcd45538f4d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CA4811-8E1F-4FDB-B21F-62C4EBFC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— payroll data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B4FA50-6F6C-4BF8-9C49-DECAFEA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Loans and deductions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4ED87E8-CB57-458C-A0B2-A02EA039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Balances, amortization, holds, and remarks are the values adjusted by the take-home engine.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D405E9C-E9DD-47C7-86E8-42EC702C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Dates and plan type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9AD03E8-EBF4-43C1-8647-CB05465B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Hire date, birth date, and plan membership drive retirement eligibility.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9383781-B9CF-418A-8D98-910EAD94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Ceilings are applied here too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F90626A-61C4-4990-B241-BBD8C984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Bonus and De Minimis ceilings split taxable and non-taxable amounts on the employee record.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E26DB62-07AE-4B15-A2E6-324DE0D5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9428555-1E16-4540-9307-F1EFB14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Dorado sheets: Loans, Deduction, Cost Allocation, Previous Employer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9378243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FFC66F-5FDD-4F30-8638-3EFBAB5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APPENDIX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04F557-6013-4CC6-8C2A-EBEEBC79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99232"/>
            <a:ext cx="8229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Reference section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E22D62-7A09-4FC1-978F-5A43C056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Source documents, row-level mapping, glossary, and open decisions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79946612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c901083a74d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0322f1706d4d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8f13db61640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794e71f0c4a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0ed29c1d748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d130df9fb4f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c407542d0842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ff3c4349747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84dbe0e5340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c1f88f5d841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ebaf4144043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7a74f78d64c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026b3a32a45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FFC66F-5FDD-4F30-8638-3EFBAB5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APPENDIX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04F557-6013-4CC6-8C2A-EBEEBC79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99232"/>
            <a:ext cx="8229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Reference section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E22D62-7A09-4FC1-978F-5A43C056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Source documents, row-level mapping, glossary, and open decisions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799466124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EC1A2D-7F49-47CE-B2E7-45C4D7BE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D7D74C-395D-4781-AC09-4B72FC26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Source documents used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6CE692-54C2-4B5D-B905-CF00B59A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A47FE52-9256-4F20-8647-0B3A67F6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B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6D4B4AB-31C2-4674-8515-23931CFA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83664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Payroll Data Tables from Dorado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ED9713-6DC9-496C-B93B-D37607D3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371600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06466D3-00D3-4491-BF57-0BB0AF7F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78608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26D6D7-34B5-4CAE-BBB9-D541C5EA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8833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C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2CBBFE-C6B5-4F08-81EF-CFE7ED4B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27248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Sub Module 3 — Payroll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45E10C3-4F84-4EDC-B321-35A88F4A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615184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transaction preparation, inputs, calculation, and approval lifecycle. Used to show how a computed policy is consumed in payroll.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F7B5848-CCF3-4572-BAF6-43D32BA4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C8557AF-8669-405A-BA16-8FAC0434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Phase 2 BRD Audit Summary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191B0BA-E6F0-410C-8480-B057F1C2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70832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331 requirement rows reviewed</a:t>
            </a:r>
            <a:endParaRPr sz="8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A9711F-39E4-4C09-9B30-671EA537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858768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Computational Basis module (feature points 73–82), Settings module set-up rows 18–20 and 50–55, Statutory Requirements 180–184.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0D057FD-57B3-4648-B79D-B7F79DCE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65776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FFBD3B7-E017-40E1-82D2-D0EBCFD5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 Tables Flow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DBA4488-5D30-4887-87A8-5C67F30C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14416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v2 dated 14 May 2026 (supersedes v1)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3A89332-2A0F-47E8-BB24-D03FDC2A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5102352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Table structure, effectivity selection, and the rule that a table used by a payroll transaction may not be edited.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62027390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FA4126-8923-4166-B576-E1ECE666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B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472E95-30E4-4FCD-970F-5D8C8191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Take-Home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59A9871-F9E8-4D62-88CA-9C37A554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“Take Home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42245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4–5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Minimum take-home based on basic salary, 40%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Basic Pay; threshold type Percentage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pay, 30%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21–22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less reimbursements, 30%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 less reimbursements — used in the demo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29–30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minimum peso net pay, ₱8,000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Threshold type = Fixed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in full; loans may be deferred; carry over; notify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rank 0; auto-defer, carry-forward and notification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45–59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repayment cap, 25% of gross or a fixed ₱10,000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61–83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LAABS and undertime cap by %, days, or protected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Attendance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85–103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Hierarchy table, statutory rank 0, optional last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Deduction and loan hierarchy, maintained as a reference source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106–109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Loans at cap but net still short — choose what wins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Conflict priority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138–155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Deferred tracking, payslip tag fields,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Carry-forward table, payslip tag block and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338603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C2834F-A990-4BE1-98A4-0AEBCC07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C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DE4221-A2FA-4902-9884-1375DFD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15B9D4-D190-48A7-9001-9AF7EAD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“Retirement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3–6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Daily rate × 22.5 × years of service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value shown in the scenario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Fractions of six months or more count as one year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Service rounding rule; 12y 6m → 13 years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 7641, company plan, or override if more beneficial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plan type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24–29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Divisor, days per year, salary basis, benefits, rounding, cap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Formula inputs, all configurable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RetirementPay = MAX(statutory, company plan)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“Best of” option; both values displayed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31–37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Age 60, compulsory 65, five years service, early retirement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Eligibility rules and the eligibility strip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38–41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RA 7641 and RA 4917 tax exemption conditions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Taxation rule; the result records why it is exempt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46–49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pay forms part of final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Result feeds the Final Pay engine automatically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948856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DDEC8C4-B6CF-478C-9A1A-FE8AF6C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D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1A0728-3489-4184-AB38-9584B0B7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Final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05DE09-373A-4146-BB54-86937ACC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“Final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268833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5–11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Mandatory: unpaid salary, 13th month, SIL, separation, retirement, final tax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Optional: convertible leave, allowances, commissions, cash bond, gratuity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19–29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rules: conversion, divisor, rounding, advance 13th, loan balances, negative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 selectors on the settings card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30–31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Pull last days worked, leave balances, unpaid OT and LAABS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Scenario inputs drawn from the employee record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32–34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Only authorised deductions; auto-offset before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Offsets shown as negative lines in the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Output — final pay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Component-by-component breakdown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265044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8D05462-FA37-4768-A4FA-B5544CB3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8A7475-E2AA-4321-91E6-FD245A72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Gross Up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528ADE-209E-4A89-AF59-D247B16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“Gross Up”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 shoulders the tax so the employee receives a guaranteed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Employer-absorbed share, default 100%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Divide the intended net by (1 − rate)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Available as the flat / final tax method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Use BIR tables: taxable income, correct bracket, base tax + excess 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Graduated method, reading the effective BIR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7–8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Choose the income and enable gross-up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target selector and engine switch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Add grossed-up income; subtract mandatory contributions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Taxable compensation line in the calculation trace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Identify bracket; apply base tax + excess × rate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Bracket named in the trace, e.g. from ₱33,333, ₱1,875 + 20%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Recompute gross until net equals the required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Iteration table with the gap closing to zero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16–18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Show gross, employer-absorbed tax, and net released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The four result tiles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242546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AE8198-1B7A-47DD-8591-E7A998A5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F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5F3D80-F8E3-48B7-AE5D-1726CD06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Glossary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7BEE867-AB9E-4518-A14B-EFF64350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Computational Basis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822160F-FF70-4579-86AB-7BC052FC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controlled area for approved formulas, policy engines, and the reference sources they read.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516136-FC92-4C75-90E6-E897E718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EF8FC0-699A-450F-97FA-8D929215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screen for one payroll policy area that runs the calculation and shows the working.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DCA646F-A366-4707-B412-22A4E4B7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code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F927F35-E36C-4129-BF2B-C227C38C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reusable approved code, such as THP-001, that can be assigned to Company Rules.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1ABA0A7-786D-4935-A9AD-52AF91AF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25B3A09-97A0-427D-9743-70259C37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policy applied to a company or employee group, with its own values.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6DCE51-7B77-4C87-B782-2E146C3D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48656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EE93C2-995E-4D66-9560-8BB11F08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22976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minimum net pay guaranteed by a rule, either as a percentage of a base or a fixed amount.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2ED9DB9-6310-4D50-8443-9013D433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Hierarchy / rank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5C46700-DB77-4419-9898-529F952A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order for trimming controllable deductions. Statutory items stay rank 0 and are not adjusted.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BDF221A-DFC3-4A65-88BC-B6B60998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Deferral / carry-forward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0EA942C-10A1-483A-8A6C-D0758FD3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 amount not collected in the current cutoff and moved to a later deduction schedule.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B86FEA5-E6AA-49B5-BC72-46C30202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Effective-dated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2E7E70A-4AAC-4F01-A9A6-54CE5608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version with a start date. Payroll uses the version active during the payroll run.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0E06069-BFA8-4AF8-A823-F5C3C921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Convergence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F818906-0796-47AB-8C09-4535FB00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 gross-up: repeating the calculation until the computed net matches the target within tolerance.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19570501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4AC6AA-33F8-493C-8023-6B988F02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G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AE1BC9-A440-41D7-A246-8C593B2A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Items to confirm before sign-off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E2B4B4-61E9-4142-A7D0-E165A1F2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These are the items where the workbook gives options or leaves the value open. The demo keeps them configurable instead of assuming the answer.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22565FD-BF3D-4339-A8FD-DF29BA08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9925F5-D8E5-44B2-ADDD-DF9A8BC8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5364932-DAEA-4107-A4D6-73CE0870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591056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Active take-home policy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A1AB3E8-BFEB-4A14-934B-D528FD8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91056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Annex B lists several minimum-net options and cap rules. Confirm which set should be active per company or group.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AA94605-E911-4002-8E76-E559E421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591056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 Home Pay rows 4–43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B45FB38-42E3-4008-AB2E-FC4C9A1D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2E4DB95-EE4E-4309-972C-C71D019A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04AF2A7-330F-4F5C-9640-0787CDA2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03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Bonus threshold priority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4310719-4A64-42D0-A750-4B435BDD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0320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If multiple bonus types share one non-taxable ceiling, confirm the consuming order.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3316725-77EA-440F-82E3-F0EF9D0E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5603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BRD 13th month / bonus ceiling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AF9EEAA-C685-44CF-867E-3BC13C14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08159FB-0EC8-43BC-880A-D4FDE1A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DD51F30-34D1-4AA6-B58A-F22EA12E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529584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Negative final pay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7AEE5BD-D64B-48E0-BFF8-4B6B5F01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529584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Confirm how any remaining balance should be handled when final pay becomes negative.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5A2335-E785-44F9-BA86-BC83C36B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529584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row 29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C50599C-9394-433C-A1EF-6A0C815A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C277C13-DE46-4883-90A3-9727DA51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10B92B8-9985-41A3-970E-DAA0BA39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98848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Gross-up tolerance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F5F426F-3B59-4355-A885-CD1623B5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98848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Confirm tolerance, iteration limit, and rounding stage. The current screen uses demo defaults.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FDF40BC-7426-43C9-AFDC-A9182F84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498848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rows 15–16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03AA222-D82D-4E58-91AD-2A2665E9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56C9B15-7992-408E-8394-D129BC19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F45CEC2-8109-4FDA-B1FB-CC8EE4D9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468112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values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2E8EB22-F364-4037-9FF9-477CB2B8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468112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Rates, brackets, and ceilings shown here are sample values. They need confirmation against the effective official tables.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00BC878-332D-4999-A868-F6BF8D1A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5468112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tables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88523943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AD9A8CF-3C7E-4DF8-A7A4-671C784A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Close-out message</a:t>
            </a:r>
            <a:endParaRPr sz="3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EE39753-73E8-43A7-A650-2CC5F7EF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F7EBCF-EB64-4336-B848-BDA3BAF3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7A8B13F-77AD-475C-8021-F14F7D80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72384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Policies are handled as configurable settings, not one-off code changes.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87F03D2-3320-4FFB-8498-1565E57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672368-BF3D-40E5-8CBE-B5316C2F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E36B5C-4719-4C7E-888F-81203021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Each result shows the working: base, threshold, ranks, brackets, and iterations.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77E6585-135D-4229-8EF9-A825759F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70213D-558C-4E23-9F09-43E82AC4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FAE246E-D519-4959-B8B3-B1D7B28C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8912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engines pass results to each other, so values are not re-keyed.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008F18E-B9D3-4527-B122-34BDAF4B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857054-6084-42FF-BAD2-609F8D0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15D2B61-93E0-4761-BE87-A20D17D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047488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appendix maps the screens back to the source workbook rows for review and sign-off.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266680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2026-08-10T13:37:22.3030000Z</dcterms:created>
  <dcterms:modified xsi:type="dcterms:W3CDTF">2026-08-10T13:37:22.3030000Z</dcterms:modified>
</coreProperties>
</file>