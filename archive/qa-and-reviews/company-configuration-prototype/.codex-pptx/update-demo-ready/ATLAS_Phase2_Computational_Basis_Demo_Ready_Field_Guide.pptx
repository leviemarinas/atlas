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fc8b98d7184c59" /><Relationship Type="http://schemas.openxmlformats.org/officeDocument/2006/relationships/extended-properties" Target="/docProps/app.xml" Id="R6ad8a5ef6bca4424" /><Relationship Type="http://schemas.openxmlformats.org/officeDocument/2006/relationships/officeDocument" Target="/ppt/presentation.xml" Id="R6114572cb5d44d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87fc6b6e694330"/>
  </p:sldMasterIdLst>
  <p:notesMasterIdLst>
    <p:notesMasterId xmlns:r="http://schemas.openxmlformats.org/officeDocument/2006/relationships" r:id="R6498ffc102f7425a"/>
  </p:notesMasterIdLst>
  <p:sldIdLst>
    <p:sldId xmlns:r="http://schemas.openxmlformats.org/officeDocument/2006/relationships" id="256" r:id="R4d50763703514252"/>
    <p:sldId xmlns:r="http://schemas.openxmlformats.org/officeDocument/2006/relationships" id="257" r:id="R51eda60892364274"/>
    <p:sldId xmlns:r="http://schemas.openxmlformats.org/officeDocument/2006/relationships" id="258" r:id="Rfa99064c020f4569"/>
    <p:sldId xmlns:r="http://schemas.openxmlformats.org/officeDocument/2006/relationships" id="259" r:id="R3b63476d6e46474d"/>
    <p:sldId xmlns:r="http://schemas.openxmlformats.org/officeDocument/2006/relationships" id="260" r:id="R397fdb99c255409a"/>
    <p:sldId xmlns:r="http://schemas.openxmlformats.org/officeDocument/2006/relationships" id="261" r:id="R87f02f82a7c54df2"/>
    <p:sldId xmlns:r="http://schemas.openxmlformats.org/officeDocument/2006/relationships" id="262" r:id="R8e341403f9144e05"/>
    <p:sldId xmlns:r="http://schemas.openxmlformats.org/officeDocument/2006/relationships" id="263" r:id="R7b07274f4f954f46"/>
    <p:sldId xmlns:r="http://schemas.openxmlformats.org/officeDocument/2006/relationships" id="264" r:id="R6ced7334b27e413d"/>
    <p:sldId xmlns:r="http://schemas.openxmlformats.org/officeDocument/2006/relationships" id="265" r:id="R0c2de6fcddfd4fff"/>
    <p:sldId xmlns:r="http://schemas.openxmlformats.org/officeDocument/2006/relationships" id="266" r:id="R5f340a9bf65a4d2a"/>
    <p:sldId xmlns:r="http://schemas.openxmlformats.org/officeDocument/2006/relationships" id="267" r:id="Rfb475c1de8284e54"/>
    <p:sldId xmlns:r="http://schemas.openxmlformats.org/officeDocument/2006/relationships" id="268" r:id="Rd4a707654c574c9c"/>
    <p:sldId xmlns:r="http://schemas.openxmlformats.org/officeDocument/2006/relationships" id="269" r:id="Rf742278bd51f4351"/>
    <p:sldId xmlns:r="http://schemas.openxmlformats.org/officeDocument/2006/relationships" id="270" r:id="R9ec17b9d758f4e0e"/>
    <p:sldId xmlns:r="http://schemas.openxmlformats.org/officeDocument/2006/relationships" id="271" r:id="Rd6844852c0834504"/>
    <p:sldId xmlns:r="http://schemas.openxmlformats.org/officeDocument/2006/relationships" id="272" r:id="R33c63415a893450d"/>
    <p:sldId xmlns:r="http://schemas.openxmlformats.org/officeDocument/2006/relationships" id="273" r:id="Racf51b1ca3904168"/>
    <p:sldId xmlns:r="http://schemas.openxmlformats.org/officeDocument/2006/relationships" id="274" r:id="Red9846d7e18c4101"/>
    <p:sldId xmlns:r="http://schemas.openxmlformats.org/officeDocument/2006/relationships" id="275" r:id="Rb26e78e70b854366"/>
    <p:sldId xmlns:r="http://schemas.openxmlformats.org/officeDocument/2006/relationships" id="276" r:id="Rc5be464b5f444345"/>
    <p:sldId xmlns:r="http://schemas.openxmlformats.org/officeDocument/2006/relationships" id="277" r:id="R1c73c4bf42ad44da"/>
    <p:sldId xmlns:r="http://schemas.openxmlformats.org/officeDocument/2006/relationships" id="278" r:id="Rb5a8966eda3a45d4"/>
    <p:sldId xmlns:r="http://schemas.openxmlformats.org/officeDocument/2006/relationships" id="279" r:id="R42a9842503274669"/>
    <p:sldId xmlns:r="http://schemas.openxmlformats.org/officeDocument/2006/relationships" id="280" r:id="R9c87e49c6e09471f"/>
    <p:sldId xmlns:r="http://schemas.openxmlformats.org/officeDocument/2006/relationships" id="281" r:id="Rd56e2ae4779747a9"/>
    <p:sldId xmlns:r="http://schemas.openxmlformats.org/officeDocument/2006/relationships" id="282" r:id="R3d403c6eb73a4a01"/>
    <p:sldId xmlns:r="http://schemas.openxmlformats.org/officeDocument/2006/relationships" id="283" r:id="R624325a0523840f6"/>
    <p:sldId xmlns:r="http://schemas.openxmlformats.org/officeDocument/2006/relationships" id="284" r:id="R8d9e257cebd04dc0"/>
    <p:sldId xmlns:r="http://schemas.openxmlformats.org/officeDocument/2006/relationships" id="285" r:id="Rbd985dbb9ddf41b7"/>
    <p:sldId xmlns:r="http://schemas.openxmlformats.org/officeDocument/2006/relationships" id="286" r:id="R6d16be9db2e645df"/>
    <p:sldId xmlns:r="http://schemas.openxmlformats.org/officeDocument/2006/relationships" id="287" r:id="R3a69e568e8524264"/>
    <p:sldId xmlns:r="http://schemas.openxmlformats.org/officeDocument/2006/relationships" id="288" r:id="Raefd7c59f52346e2"/>
    <p:sldId xmlns:r="http://schemas.openxmlformats.org/officeDocument/2006/relationships" id="289" r:id="Re25754e48f114aa9"/>
    <p:sldId xmlns:r="http://schemas.openxmlformats.org/officeDocument/2006/relationships" id="290" r:id="R85ad158c6f904cb6"/>
    <p:sldId xmlns:r="http://schemas.openxmlformats.org/officeDocument/2006/relationships" id="291" r:id="Rbba0f07f103e4d21"/>
    <p:sldId xmlns:r="http://schemas.openxmlformats.org/officeDocument/2006/relationships" id="292" r:id="R0ffefec45e81409f"/>
    <p:sldId xmlns:r="http://schemas.openxmlformats.org/officeDocument/2006/relationships" id="293" r:id="Ra740fb5848a2416f"/>
    <p:sldId xmlns:r="http://schemas.openxmlformats.org/officeDocument/2006/relationships" id="294" r:id="Rfd319bad42ec4ee2"/>
    <p:sldId xmlns:r="http://schemas.openxmlformats.org/officeDocument/2006/relationships" id="295" r:id="Rfa87d88edb354b97"/>
    <p:sldId xmlns:r="http://schemas.openxmlformats.org/officeDocument/2006/relationships" id="296" r:id="Rbd184e5c8905489d"/>
    <p:sldId xmlns:r="http://schemas.openxmlformats.org/officeDocument/2006/relationships" id="297" r:id="R33e8754f743b4e82"/>
    <p:sldId xmlns:r="http://schemas.openxmlformats.org/officeDocument/2006/relationships" id="298" r:id="R401c1df0e43447e8"/>
    <p:sldId xmlns:r="http://schemas.openxmlformats.org/officeDocument/2006/relationships" id="299" r:id="R0d3683b6a60e45a6"/>
    <p:sldId xmlns:r="http://schemas.openxmlformats.org/officeDocument/2006/relationships" id="300" r:id="Rf7eec2e92a744ec3"/>
    <p:sldId xmlns:r="http://schemas.openxmlformats.org/officeDocument/2006/relationships" id="301" r:id="R082a0417ecb64938"/>
    <p:sldId xmlns:r="http://schemas.openxmlformats.org/officeDocument/2006/relationships" id="302" r:id="Rbaf8c0c5ddd94e2d"/>
    <p:sldId xmlns:r="http://schemas.openxmlformats.org/officeDocument/2006/relationships" id="303" r:id="R46e45021e55543d5"/>
    <p:sldId xmlns:r="http://schemas.openxmlformats.org/officeDocument/2006/relationships" id="304" r:id="R76b37d1610bb47c7"/>
    <p:sldId xmlns:r="http://schemas.openxmlformats.org/officeDocument/2006/relationships" id="305" r:id="R0a7b71e616154c20"/>
    <p:sldId xmlns:r="http://schemas.openxmlformats.org/officeDocument/2006/relationships" id="306" r:id="Recd7cbbf13b34dd1"/>
    <p:sldId xmlns:r="http://schemas.openxmlformats.org/officeDocument/2006/relationships" id="307" r:id="Rdc92164a63f64b4a"/>
    <p:sldId xmlns:r="http://schemas.openxmlformats.org/officeDocument/2006/relationships" id="308" r:id="R2f8e3103c15d474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97a235a74b4786" /><Relationship Type="http://schemas.openxmlformats.org/officeDocument/2006/relationships/slideMaster" Target="/ppt/slideMasters/slideMaster1.xml" Id="Rf187fc6b6e694330" /><Relationship Type="http://schemas.openxmlformats.org/officeDocument/2006/relationships/notesMaster" Target="/ppt/notesMasters/notesMaster1.xml" Id="R6498ffc102f7425a" /><Relationship Type="http://schemas.openxmlformats.org/officeDocument/2006/relationships/presProps" Target="/ppt/presProps.xml" Id="R3b2c394a806f421c" /><Relationship Type="http://schemas.openxmlformats.org/officeDocument/2006/relationships/viewProps" Target="/ppt/viewProps.xml" Id="R84589457322c409d" /><Relationship Type="http://schemas.openxmlformats.org/officeDocument/2006/relationships/tableStyles" Target="/ppt/tableStyles.xml" Id="R51dede2226cc4607" /><Relationship Type="http://schemas.openxmlformats.org/officeDocument/2006/relationships/slide" Target="/ppt/slides/slide1.xml" Id="R4d50763703514252" /><Relationship Type="http://schemas.openxmlformats.org/officeDocument/2006/relationships/slide" Target="/ppt/slides/slide2.xml" Id="R51eda60892364274" /><Relationship Type="http://schemas.openxmlformats.org/officeDocument/2006/relationships/slide" Target="/ppt/slides/slide3.xml" Id="Rfa99064c020f4569" /><Relationship Type="http://schemas.openxmlformats.org/officeDocument/2006/relationships/slide" Target="/ppt/slides/slide4.xml" Id="R3b63476d6e46474d" /><Relationship Type="http://schemas.openxmlformats.org/officeDocument/2006/relationships/slide" Target="/ppt/slides/slide5.xml" Id="R397fdb99c255409a" /><Relationship Type="http://schemas.openxmlformats.org/officeDocument/2006/relationships/slide" Target="/ppt/slides/slide6.xml" Id="R87f02f82a7c54df2" /><Relationship Type="http://schemas.openxmlformats.org/officeDocument/2006/relationships/slide" Target="/ppt/slides/slide7.xml" Id="R8e341403f9144e05" /><Relationship Type="http://schemas.openxmlformats.org/officeDocument/2006/relationships/slide" Target="/ppt/slides/slide8.xml" Id="R7b07274f4f954f46" /><Relationship Type="http://schemas.openxmlformats.org/officeDocument/2006/relationships/slide" Target="/ppt/slides/slide9.xml" Id="R6ced7334b27e413d" /><Relationship Type="http://schemas.openxmlformats.org/officeDocument/2006/relationships/slide" Target="/ppt/slides/slide10.xml" Id="R0c2de6fcddfd4fff" /><Relationship Type="http://schemas.openxmlformats.org/officeDocument/2006/relationships/slide" Target="/ppt/slides/slide11.xml" Id="R5f340a9bf65a4d2a" /><Relationship Type="http://schemas.openxmlformats.org/officeDocument/2006/relationships/slide" Target="/ppt/slides/slide12.xml" Id="Rfb475c1de8284e54" /><Relationship Type="http://schemas.openxmlformats.org/officeDocument/2006/relationships/slide" Target="/ppt/slides/slide13.xml" Id="Rd4a707654c574c9c" /><Relationship Type="http://schemas.openxmlformats.org/officeDocument/2006/relationships/slide" Target="/ppt/slides/slide14.xml" Id="Rf742278bd51f4351" /><Relationship Type="http://schemas.openxmlformats.org/officeDocument/2006/relationships/slide" Target="/ppt/slides/slide15.xml" Id="R9ec17b9d758f4e0e" /><Relationship Type="http://schemas.openxmlformats.org/officeDocument/2006/relationships/slide" Target="/ppt/slides/slide16.xml" Id="Rd6844852c0834504" /><Relationship Type="http://schemas.openxmlformats.org/officeDocument/2006/relationships/slide" Target="/ppt/slides/slide17.xml" Id="R33c63415a893450d" /><Relationship Type="http://schemas.openxmlformats.org/officeDocument/2006/relationships/slide" Target="/ppt/slides/slide18.xml" Id="Racf51b1ca3904168" /><Relationship Type="http://schemas.openxmlformats.org/officeDocument/2006/relationships/slide" Target="/ppt/slides/slide19.xml" Id="Red9846d7e18c4101" /><Relationship Type="http://schemas.openxmlformats.org/officeDocument/2006/relationships/slide" Target="/ppt/slides/slide20.xml" Id="Rb26e78e70b854366" /><Relationship Type="http://schemas.openxmlformats.org/officeDocument/2006/relationships/slide" Target="/ppt/slides/slide21.xml" Id="Rc5be464b5f444345" /><Relationship Type="http://schemas.openxmlformats.org/officeDocument/2006/relationships/slide" Target="/ppt/slides/slide22.xml" Id="R1c73c4bf42ad44da" /><Relationship Type="http://schemas.openxmlformats.org/officeDocument/2006/relationships/slide" Target="/ppt/slides/slide23.xml" Id="Rb5a8966eda3a45d4" /><Relationship Type="http://schemas.openxmlformats.org/officeDocument/2006/relationships/slide" Target="/ppt/slides/slide24.xml" Id="R42a9842503274669" /><Relationship Type="http://schemas.openxmlformats.org/officeDocument/2006/relationships/slide" Target="/ppt/slides/slide25.xml" Id="R9c87e49c6e09471f" /><Relationship Type="http://schemas.openxmlformats.org/officeDocument/2006/relationships/slide" Target="/ppt/slides/slide26.xml" Id="Rd56e2ae4779747a9" /><Relationship Type="http://schemas.openxmlformats.org/officeDocument/2006/relationships/slide" Target="/ppt/slides/slide27.xml" Id="R3d403c6eb73a4a01" /><Relationship Type="http://schemas.openxmlformats.org/officeDocument/2006/relationships/slide" Target="/ppt/slides/slide28.xml" Id="R624325a0523840f6" /><Relationship Type="http://schemas.openxmlformats.org/officeDocument/2006/relationships/slide" Target="/ppt/slides/slide29.xml" Id="R8d9e257cebd04dc0" /><Relationship Type="http://schemas.openxmlformats.org/officeDocument/2006/relationships/slide" Target="/ppt/slides/slide30.xml" Id="Rbd985dbb9ddf41b7" /><Relationship Type="http://schemas.openxmlformats.org/officeDocument/2006/relationships/slide" Target="/ppt/slides/slide31.xml" Id="R6d16be9db2e645df" /><Relationship Type="http://schemas.openxmlformats.org/officeDocument/2006/relationships/slide" Target="/ppt/slides/slide32.xml" Id="R3a69e568e8524264" /><Relationship Type="http://schemas.openxmlformats.org/officeDocument/2006/relationships/slide" Target="/ppt/slides/slide33.xml" Id="Raefd7c59f52346e2" /><Relationship Type="http://schemas.openxmlformats.org/officeDocument/2006/relationships/slide" Target="/ppt/slides/slide34.xml" Id="Re25754e48f114aa9" /><Relationship Type="http://schemas.openxmlformats.org/officeDocument/2006/relationships/slide" Target="/ppt/slides/slide35.xml" Id="R85ad158c6f904cb6" /><Relationship Type="http://schemas.openxmlformats.org/officeDocument/2006/relationships/slide" Target="/ppt/slides/slide36.xml" Id="Rbba0f07f103e4d21" /><Relationship Type="http://schemas.openxmlformats.org/officeDocument/2006/relationships/slide" Target="/ppt/slides/slide37.xml" Id="R0ffefec45e81409f" /><Relationship Type="http://schemas.openxmlformats.org/officeDocument/2006/relationships/slide" Target="/ppt/slides/slide38.xml" Id="Ra740fb5848a2416f" /><Relationship Type="http://schemas.openxmlformats.org/officeDocument/2006/relationships/slide" Target="/ppt/slides/slide39.xml" Id="Rfd319bad42ec4ee2" /><Relationship Type="http://schemas.openxmlformats.org/officeDocument/2006/relationships/slide" Target="/ppt/slides/slide40.xml" Id="Rfa87d88edb354b97" /><Relationship Type="http://schemas.openxmlformats.org/officeDocument/2006/relationships/slide" Target="/ppt/slides/slide41.xml" Id="Rbd184e5c8905489d" /><Relationship Type="http://schemas.openxmlformats.org/officeDocument/2006/relationships/slide" Target="/ppt/slides/slide42.xml" Id="R33e8754f743b4e82" /><Relationship Type="http://schemas.openxmlformats.org/officeDocument/2006/relationships/slide" Target="/ppt/slides/slide43.xml" Id="R401c1df0e43447e8" /><Relationship Type="http://schemas.openxmlformats.org/officeDocument/2006/relationships/slide" Target="/ppt/slides/slide44.xml" Id="R0d3683b6a60e45a6" /><Relationship Type="http://schemas.openxmlformats.org/officeDocument/2006/relationships/slide" Target="/ppt/slides/slide45.xml" Id="Rf7eec2e92a744ec3" /><Relationship Type="http://schemas.openxmlformats.org/officeDocument/2006/relationships/slide" Target="/ppt/slides/slide46.xml" Id="R082a0417ecb64938" /><Relationship Type="http://schemas.openxmlformats.org/officeDocument/2006/relationships/slide" Target="/ppt/slides/slide47.xml" Id="Rbaf8c0c5ddd94e2d" /><Relationship Type="http://schemas.openxmlformats.org/officeDocument/2006/relationships/slide" Target="/ppt/slides/slide48.xml" Id="R46e45021e55543d5" /><Relationship Type="http://schemas.openxmlformats.org/officeDocument/2006/relationships/slide" Target="/ppt/slides/slide49.xml" Id="R76b37d1610bb47c7" /><Relationship Type="http://schemas.openxmlformats.org/officeDocument/2006/relationships/slide" Target="/ppt/slides/slide50.xml" Id="R0a7b71e616154c20" /><Relationship Type="http://schemas.openxmlformats.org/officeDocument/2006/relationships/slide" Target="/ppt/slides/slide51.xml" Id="Recd7cbbf13b34dd1" /><Relationship Type="http://schemas.openxmlformats.org/officeDocument/2006/relationships/slide" Target="/ppt/slides/slide52.xml" Id="Rdc92164a63f64b4a" /><Relationship Type="http://schemas.openxmlformats.org/officeDocument/2006/relationships/slide" Target="/ppt/slides/slide53.xml" Id="R2f8e3103c15d474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f451e421b446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5bbff87eee4ec7" /><Relationship Type="http://schemas.openxmlformats.org/officeDocument/2006/relationships/notesMaster" Target="/ppt/notesMasters/notesMaster1.xml" Id="Rfaea8bef0cd845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a14adc6f8546da" /><Relationship Type="http://schemas.openxmlformats.org/officeDocument/2006/relationships/notesMaster" Target="/ppt/notesMasters/notesMaster1.xml" Id="R535278072c154b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06107131ad748fb" /><Relationship Type="http://schemas.openxmlformats.org/officeDocument/2006/relationships/notesMaster" Target="/ppt/notesMasters/notesMaster1.xml" Id="Rf4e96ee7a85e41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3f9cdab7614649" /><Relationship Type="http://schemas.openxmlformats.org/officeDocument/2006/relationships/notesMaster" Target="/ppt/notesMasters/notesMaster1.xml" Id="Re7615c383d204b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9093090bc3429d" /><Relationship Type="http://schemas.openxmlformats.org/officeDocument/2006/relationships/notesMaster" Target="/ppt/notesMasters/notesMaster1.xml" Id="R1c27770a915040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e42f35e24dd4cd2" /><Relationship Type="http://schemas.openxmlformats.org/officeDocument/2006/relationships/notesMaster" Target="/ppt/notesMasters/notesMaster1.xml" Id="R75aa7b09226546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d148fae673d4335" /><Relationship Type="http://schemas.openxmlformats.org/officeDocument/2006/relationships/notesMaster" Target="/ppt/notesMasters/notesMaster1.xml" Id="R7dee6fe27d7d48a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665e55882c4950" /><Relationship Type="http://schemas.openxmlformats.org/officeDocument/2006/relationships/notesMaster" Target="/ppt/notesMasters/notesMaster1.xml" Id="R8ea345d8a14b4d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63959c682f14efa" /><Relationship Type="http://schemas.openxmlformats.org/officeDocument/2006/relationships/notesMaster" Target="/ppt/notesMasters/notesMaster1.xml" Id="Ra37239423e30413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cd2038d7cf4922" /><Relationship Type="http://schemas.openxmlformats.org/officeDocument/2006/relationships/notesMaster" Target="/ppt/notesMasters/notesMaster1.xml" Id="R502c46b4ae7744a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90bfdb4f8d14caf" /><Relationship Type="http://schemas.openxmlformats.org/officeDocument/2006/relationships/notesMaster" Target="/ppt/notesMasters/notesMaster1.xml" Id="R91f8e9aa99674da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86445402343487b" /><Relationship Type="http://schemas.openxmlformats.org/officeDocument/2006/relationships/notesMaster" Target="/ppt/notesMasters/notesMaster1.xml" Id="R4057562854d6421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a2242767aa44138" /><Relationship Type="http://schemas.openxmlformats.org/officeDocument/2006/relationships/notesMaster" Target="/ppt/notesMasters/notesMaster1.xml" Id="Rf6323068924b474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26e07a6e9714190" /><Relationship Type="http://schemas.openxmlformats.org/officeDocument/2006/relationships/notesMaster" Target="/ppt/notesMasters/notesMaster1.xml" Id="R0e7eb01070ce496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068bff8c0fc468c" /><Relationship Type="http://schemas.openxmlformats.org/officeDocument/2006/relationships/notesMaster" Target="/ppt/notesMasters/notesMaster1.xml" Id="Ra3973821f55e4ef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4474faa5ade418f" /><Relationship Type="http://schemas.openxmlformats.org/officeDocument/2006/relationships/notesMaster" Target="/ppt/notesMasters/notesMaster1.xml" Id="Ra85091e0633a4a6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5fce90282344e26" /><Relationship Type="http://schemas.openxmlformats.org/officeDocument/2006/relationships/notesMaster" Target="/ppt/notesMasters/notesMaster1.xml" Id="Red512516d041424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c3632138ab44e04" /><Relationship Type="http://schemas.openxmlformats.org/officeDocument/2006/relationships/notesMaster" Target="/ppt/notesMasters/notesMaster1.xml" Id="Rcb06d0524f8d4ce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6be243618944dc4" /><Relationship Type="http://schemas.openxmlformats.org/officeDocument/2006/relationships/notesMaster" Target="/ppt/notesMasters/notesMaster1.xml" Id="R726963e6600b492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a2b2343434642df" /><Relationship Type="http://schemas.openxmlformats.org/officeDocument/2006/relationships/notesMaster" Target="/ppt/notesMasters/notesMaster1.xml" Id="Rec79493c9bfc49a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bbd8809446a4306" /><Relationship Type="http://schemas.openxmlformats.org/officeDocument/2006/relationships/notesMaster" Target="/ppt/notesMasters/notesMaster1.xml" Id="Rc9cffb73c772436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000c7ba2286433e" /><Relationship Type="http://schemas.openxmlformats.org/officeDocument/2006/relationships/notesMaster" Target="/ppt/notesMasters/notesMaster1.xml" Id="R08d983362e74486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04f56837ace4ca2" /><Relationship Type="http://schemas.openxmlformats.org/officeDocument/2006/relationships/notesMaster" Target="/ppt/notesMasters/notesMaster1.xml" Id="R87a26cac31074ff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903956d98e84756" /><Relationship Type="http://schemas.openxmlformats.org/officeDocument/2006/relationships/notesMaster" Target="/ppt/notesMasters/notesMaster1.xml" Id="R54722c90edcc433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8b5fea491aa425e" /><Relationship Type="http://schemas.openxmlformats.org/officeDocument/2006/relationships/notesMaster" Target="/ppt/notesMasters/notesMaster1.xml" Id="R5c3e71a0919d482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438659726ba64c10" /><Relationship Type="http://schemas.openxmlformats.org/officeDocument/2006/relationships/notesMaster" Target="/ppt/notesMasters/notesMaster1.xml" Id="R34248f4fb21b454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2357201a98c4096" /><Relationship Type="http://schemas.openxmlformats.org/officeDocument/2006/relationships/notesMaster" Target="/ppt/notesMasters/notesMaster1.xml" Id="R7045e2203999478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3969e7d863a47b9" /><Relationship Type="http://schemas.openxmlformats.org/officeDocument/2006/relationships/notesMaster" Target="/ppt/notesMasters/notesMaster1.xml" Id="R81e0a87379d24f6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5553cb7e425d4ed2" /><Relationship Type="http://schemas.openxmlformats.org/officeDocument/2006/relationships/notesMaster" Target="/ppt/notesMasters/notesMaster1.xml" Id="R461e62973839411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c2d573ef8f54830" /><Relationship Type="http://schemas.openxmlformats.org/officeDocument/2006/relationships/notesMaster" Target="/ppt/notesMasters/notesMaster1.xml" Id="R9d23c6eb64664e1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bd04c60785b421e" /><Relationship Type="http://schemas.openxmlformats.org/officeDocument/2006/relationships/notesMaster" Target="/ppt/notesMasters/notesMaster1.xml" Id="R6cfeaabc7e234cd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3316384f73f4195" /><Relationship Type="http://schemas.openxmlformats.org/officeDocument/2006/relationships/notesMaster" Target="/ppt/notesMasters/notesMaster1.xml" Id="R679232180eb84a2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9b9d5b2b38b44a9" /><Relationship Type="http://schemas.openxmlformats.org/officeDocument/2006/relationships/notesMaster" Target="/ppt/notesMasters/notesMaster1.xml" Id="R8f9517d1c6c0408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5f548b3f1bba4550" /><Relationship Type="http://schemas.openxmlformats.org/officeDocument/2006/relationships/notesMaster" Target="/ppt/notesMasters/notesMaster1.xml" Id="Rb77c7408f2bc416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ca59a5e9252444e9" /><Relationship Type="http://schemas.openxmlformats.org/officeDocument/2006/relationships/notesMaster" Target="/ppt/notesMasters/notesMaster1.xml" Id="Rb781f57a0781477c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c8e2b2e4b23f4d4c" /><Relationship Type="http://schemas.openxmlformats.org/officeDocument/2006/relationships/notesMaster" Target="/ppt/notesMasters/notesMaster1.xml" Id="R074c258dcc744cfe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0f3e4852809f4908" /><Relationship Type="http://schemas.openxmlformats.org/officeDocument/2006/relationships/notesMaster" Target="/ppt/notesMasters/notesMaster1.xml" Id="Rbee2c438872e4f9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343d1349d714a6e" /><Relationship Type="http://schemas.openxmlformats.org/officeDocument/2006/relationships/notesMaster" Target="/ppt/notesMasters/notesMaster1.xml" Id="Rf75af1b6eb1f4ca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e0dc810f485f4fc1" /><Relationship Type="http://schemas.openxmlformats.org/officeDocument/2006/relationships/notesMaster" Target="/ppt/notesMasters/notesMaster1.xml" Id="R50bd37bbc34a47b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fdedec1e3994e80" /><Relationship Type="http://schemas.openxmlformats.org/officeDocument/2006/relationships/notesMaster" Target="/ppt/notesMasters/notesMaster1.xml" Id="R838c896d041a4267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bcf624633d2a49be" /><Relationship Type="http://schemas.openxmlformats.org/officeDocument/2006/relationships/notesMaster" Target="/ppt/notesMasters/notesMaster1.xml" Id="R540c5d4177914089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e64772a5c32247be" /><Relationship Type="http://schemas.openxmlformats.org/officeDocument/2006/relationships/notesMaster" Target="/ppt/notesMasters/notesMaster1.xml" Id="Re6b5a0e2bf5945aa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4a9e4c3474647c6" /><Relationship Type="http://schemas.openxmlformats.org/officeDocument/2006/relationships/notesMaster" Target="/ppt/notesMasters/notesMaster1.xml" Id="Red70bdd3a7654003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77ab394f2d8c478d" /><Relationship Type="http://schemas.openxmlformats.org/officeDocument/2006/relationships/notesMaster" Target="/ppt/notesMasters/notesMaster1.xml" Id="Rf722d1a060544aee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0b6dcd35750f4805" /><Relationship Type="http://schemas.openxmlformats.org/officeDocument/2006/relationships/notesMaster" Target="/ppt/notesMasters/notesMaster1.xml" Id="R991153d5086e4c1b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65dae14985cc48e6" /><Relationship Type="http://schemas.openxmlformats.org/officeDocument/2006/relationships/notesMaster" Target="/ppt/notesMasters/notesMaster1.xml" Id="Rcb8e66ee95194864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705f0bfeb86d4550" /><Relationship Type="http://schemas.openxmlformats.org/officeDocument/2006/relationships/notesMaster" Target="/ppt/notesMasters/notesMaster1.xml" Id="R64c73a0379ad45a4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acf31079db634a6c" /><Relationship Type="http://schemas.openxmlformats.org/officeDocument/2006/relationships/notesMaster" Target="/ppt/notesMasters/notesMaster1.xml" Id="Rd4f0752388884c39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9c82331e076b4ddd" /><Relationship Type="http://schemas.openxmlformats.org/officeDocument/2006/relationships/notesMaster" Target="/ppt/notesMasters/notesMaster1.xml" Id="R5c0d634d1bc144f3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7c6f89074a3b4881" /><Relationship Type="http://schemas.openxmlformats.org/officeDocument/2006/relationships/notesMaster" Target="/ppt/notesMasters/notesMaster1.xml" Id="R49006da553894496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ef82ea9f46df472c" /><Relationship Type="http://schemas.openxmlformats.org/officeDocument/2006/relationships/notesMaster" Target="/ppt/notesMasters/notesMaster1.xml" Id="R70cd0534c86443f8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7b1d50e756b044c6" /><Relationship Type="http://schemas.openxmlformats.org/officeDocument/2006/relationships/notesMaster" Target="/ppt/notesMasters/notesMaster1.xml" Id="R73461a2237994eb4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dd1b61d30c494731" /><Relationship Type="http://schemas.openxmlformats.org/officeDocument/2006/relationships/notesMaster" Target="/ppt/notesMasters/notesMaster1.xml" Id="Rfd1945f20a9f49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Purpose: show the payroll team that their written policies in Annex B are now configurable, computable and traceable in the application. Every screenshot is taken from the running prototype in wireframe view.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session: this is about traceability from their Excel to a working screen, not about software internals.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Key message: nobody edits a formula. They pick an approved code and set its values for a group of employees.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engine has its own tab. The code beside the tab name is the governed policy code you assign in Company Rules.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wording from their own sample policy 3, typed straight into the rule.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Two codes on one engine: one governs the protected minimum, the other the caps. Both are assignable to their own rule.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Emphasise reuse: the schema is governed centrally, the values are the client decision.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the room through the ledger: due, deducted, deferred, accumulated. This is their row 143-152 payslip requirement made real.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comparison is the point: the system computes both and uses the better one, and records why it is tax exempt.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Call out the link: retirement pay forms part of final pay, exactly as row 48 requires.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Bracket used: from ₱33,333 with fixed tax ₱1,875 plus 20% on the excess. The trace shows the iteration and the gap closing to zero.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Nothing is re-keyed between engines. This is the answer to "does it connect".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cue: Introduce the next section as a practical field-by-field guide for payroll reviewers.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ATLAS wireframe, http://localhost:5173/wireframe, client view captured 2026-08-10.</a:t>
            </a:r>
            <a:endParaRPr/>
          </a:p>
          <a:p xmlns:a="http://schemas.openxmlformats.org/drawingml/2006/main">
            <a:r>
              <a:t>- Policy engine field counts shown in Computational Basis: Take-Home Pay 30, Retirement Pay 22, Final Pay 31, Gross Up 11.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cue: Use the numbered arrows to explain Scope and protected minimum from top to bottom.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ATLAS wireframe, http://localhost:5173/wireframe, thp-core.png, client view captured 2026-08-10.</a:t>
            </a:r>
            <a:endParaRPr/>
          </a:p>
          <a:p xmlns:a="http://schemas.openxmlformats.org/drawingml/2006/main">
            <a:r>
              <a:t>- Field inventory shown on this slide: Enable engine; Employee group; Protected base; Threshold type + Threshold; Conflict priority.</a:t>
            </a:r>
            <a:endParaRPr/>
          </a:p>
          <a:p xmlns:a="http://schemas.openxmlformats.org/drawingml/2006/main">
            <a:r>
              <a:t>- 02Annex B_ Employee Masterfile Payroll Data Tables from Dorado.xlsx, corresponding Take Home Pay, Retirement Pay, Final Pay, or Gross Up tab.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cue: Use the numbered arrows to explain Deduction and loan caps from top to bottom.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ATLAS wireframe, http://localhost:5173/wireframe, thp-caps.png, client view captured 2026-08-10.</a:t>
            </a:r>
            <a:endParaRPr/>
          </a:p>
          <a:p xmlns:a="http://schemas.openxmlformats.org/drawingml/2006/main">
            <a:r>
              <a:t>- Field inventory shown on this slide: Apply total deductions cap; Deductions cap base; Deductions cap type + cap; Loan cap base; Loan cap type + cap.</a:t>
            </a:r>
            <a:endParaRPr/>
          </a:p>
          <a:p xmlns:a="http://schemas.openxmlformats.org/drawingml/2006/main">
            <a:r>
              <a:t>- 02Annex B_ Employee Masterfile Payroll Data Tables from Dorado.xlsx, corresponding Take Home Pay, Retirement Pay, Final Pay, or Gross Up tab.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cue: Use the numbered arrows to explain Deferral, disclosure, and ownership from top to bottom.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ATLAS wireframe, http://localhost:5173/wireframe, thp-deferral.png, client view captured 2026-08-10.</a:t>
            </a:r>
            <a:endParaRPr/>
          </a:p>
          <a:p xmlns:a="http://schemas.openxmlformats.org/drawingml/2006/main">
            <a:r>
              <a:t>- Field inventory shown on this slide: Attendance cap base/type/cap; Auto-defer or stagger deductions; Carry forward to next payroll; Payslip tagging; Admin and employee notification; REF-011 + module links.</a:t>
            </a:r>
            <a:endParaRPr/>
          </a:p>
          <a:p xmlns:a="http://schemas.openxmlformats.org/drawingml/2006/main">
            <a:r>
              <a:t>- 02Annex B_ Employee Masterfile Payroll Data Tables from Dorado.xlsx, corresponding Take Home Pay, Retirement Pay, Final Pay, or Gross Up tab.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cue: Use the numbered arrows to explain Hierarchy rows and carry-forward balances from top to bottom.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ATLAS wireframe, http://localhost:5173/wireframe, thp-hierarchy.png, client view captured 2026-08-10.</a:t>
            </a:r>
            <a:endParaRPr/>
          </a:p>
          <a:p xmlns:a="http://schemas.openxmlformats.org/drawingml/2006/main">
            <a:r>
              <a:t>- Field inventory shown on this slide: Priority; Collection; Amount due; Deferred; Outstanding / carry-forward; Deduction and loan sections.</a:t>
            </a:r>
            <a:endParaRPr/>
          </a:p>
          <a:p xmlns:a="http://schemas.openxmlformats.org/drawingml/2006/main">
            <a:r>
              <a:t>- 02Annex B_ Employee Masterfile Payroll Data Tables from Dorado.xlsx, corresponding Take Home Pay, Retirement Pay, Final Pay, or Gross Up tab.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cue: Use the numbered arrows to explain Plan choice and formula inputs from top to bottom.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ATLAS wireframe, http://localhost:5173/wireframe, ret-formula.png, client view captured 2026-08-10.</a:t>
            </a:r>
            <a:endParaRPr/>
          </a:p>
          <a:p xmlns:a="http://schemas.openxmlformats.org/drawingml/2006/main">
            <a:r>
              <a:t>- Field inventory shown on this slide: Employee group; Retirement plan type; Company salary basis + daily divisor; Statutory + company-plan days/year; Additional benefits; More-beneficial comparison.</a:t>
            </a:r>
            <a:endParaRPr/>
          </a:p>
          <a:p xmlns:a="http://schemas.openxmlformats.org/drawingml/2006/main">
            <a:r>
              <a:t>- 02Annex B_ Employee Masterfile Payroll Data Tables from Dorado.xlsx, corresponding Take Home Pay, Retirement Pay, Final Pay, or Gross Up tab.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cue: Use the numbered arrows to explain Eligibility, limits, rounding, and tax from top to bottom.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ATLAS wireframe, http://localhost:5173/wireframe, ret-eligibility.png, client view captured 2026-08-10.</a:t>
            </a:r>
            <a:endParaRPr/>
          </a:p>
          <a:p xmlns:a="http://schemas.openxmlformats.org/drawingml/2006/main">
            <a:r>
              <a:t>- Field inventory shown on this slide: Minimum retirement age; Compulsory retirement age; Minimum service + early-retirement age; Minimum guarantee + maximum cap; Service rounding; Taxation rule + BIR-approved plan.</a:t>
            </a:r>
            <a:endParaRPr/>
          </a:p>
          <a:p xmlns:a="http://schemas.openxmlformats.org/drawingml/2006/main">
            <a:r>
              <a:t>- 02Annex B_ Employee Masterfile Payroll Data Tables from Dorado.xlsx, corresponding Take Home Pay, Retirement Pay, Final Pay, or Gross Up tab.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cue: Use the numbered arrows to explain Scenario inputs and calculated result from top to bottom.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ATLAS wireframe, http://localhost:5173/wireframe, ret-scenario.png, client view captured 2026-08-10.</a:t>
            </a:r>
            <a:endParaRPr/>
          </a:p>
          <a:p xmlns:a="http://schemas.openxmlformats.org/drawingml/2006/main">
            <a:r>
              <a:t>- Field inventory shown on this slide: Date of birth / hired / retirement; Reason; Plan membership; Monthly basic pay + average salary; Age / service / eligible; Rounded years + values + tax trace.</a:t>
            </a:r>
            <a:endParaRPr/>
          </a:p>
          <a:p xmlns:a="http://schemas.openxmlformats.org/drawingml/2006/main">
            <a:r>
              <a:t>- 02Annex B_ Employee Masterfile Payroll Data Tables from Dorado.xlsx, corresponding Take Home Pay, Retirement Pay, Final Pay, or Gross Up tab.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cue: Use the numbered arrows to explain Included earnings and company components from top to bottom.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ATLAS wireframe, http://localhost:5173/wireframe, final-components.png, client view captured 2026-08-10.</a:t>
            </a:r>
            <a:endParaRPr/>
          </a:p>
          <a:p xmlns:a="http://schemas.openxmlformats.org/drawingml/2006/main">
            <a:r>
              <a:t>- Field inventory shown on this slide: Enable engine; Employee group; Mandatory components; Optional company components; Retirement Pay linkage; Component checkboxes.</a:t>
            </a:r>
            <a:endParaRPr/>
          </a:p>
          <a:p xmlns:a="http://schemas.openxmlformats.org/drawingml/2006/main">
            <a:r>
              <a:t>- 02Annex B_ Employee Masterfile Payroll Data Tables from Dorado.xlsx, corresponding Take Home Pay, Retirement Pay, Final Pay, or Gross Up tab.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cue: Use the numbered arrows to explain Company rules for conversion and offsets from top to bottom.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ATLAS wireframe, http://localhost:5173/wireframe, final-rules.png, client view captured 2026-08-10.</a:t>
            </a:r>
            <a:endParaRPr/>
          </a:p>
          <a:p xmlns:a="http://schemas.openxmlformats.org/drawingml/2006/main">
            <a:r>
              <a:t>- Field inventory shown on this slide: Leave conversion rule; Separation pay rule by cause; Daily divisor + service rounding; Advance 13th + last cutoff; Government + company loan balances; Negative net + auto-offset + notice.</a:t>
            </a:r>
            <a:endParaRPr/>
          </a:p>
          <a:p xmlns:a="http://schemas.openxmlformats.org/drawingml/2006/main">
            <a:r>
              <a:t>- 02Annex B_ Employee Masterfile Payroll Data Tables from Dorado.xlsx, corresponding Take Home Pay, Retirement Pay, Final Pay, or Gross Up tab.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cue: Use the numbered arrows to explain Scenario inputs from top to bottom.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ATLAS wireframe, http://localhost:5173/wireframe, final-inputs.png, client view captured 2026-08-10.</a:t>
            </a:r>
            <a:endParaRPr/>
          </a:p>
          <a:p xmlns:a="http://schemas.openxmlformats.org/drawingml/2006/main">
            <a:r>
              <a:t>- Field inventory shown on this slide: Unpaid salary + prorated 13th; SIL conversion + separation pay; Convertible VL/SL + allowances; Cash bond + advance 13th; Government + company loan balances; Property accountability + final tax.</a:t>
            </a:r>
            <a:endParaRPr/>
          </a:p>
          <a:p xmlns:a="http://schemas.openxmlformats.org/drawingml/2006/main">
            <a:r>
              <a:t>- 02Annex B_ Employee Masterfile Payroll Data Tables from Dorado.xlsx, corresponding Take Home Pay, Retirement Pay, Final Pay, or Gross Up tab.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cue: Use the numbered arrows to explain Result, readiness, and breakdown from top to bottom.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ATLAS wireframe, http://localhost:5173/wireframe, final-results.png, client view captured 2026-08-10.</a:t>
            </a:r>
            <a:endParaRPr/>
          </a:p>
          <a:p xmlns:a="http://schemas.openxmlformats.org/drawingml/2006/main">
            <a:r>
              <a:t>- Field inventory shown on this slide: Gross final pay; Total offsets; Retirement pay included; Net final pay; Release readiness; Breakdown table.</a:t>
            </a:r>
            <a:endParaRPr/>
          </a:p>
          <a:p xmlns:a="http://schemas.openxmlformats.org/drawingml/2006/main">
            <a:r>
              <a:t>- 02Annex B_ Employee Masterfile Payroll Data Tables from Dorado.xlsx, corresponding Take Home Pay, Retirement Pay, Final Pay, or Gross Up tab.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cue: Use the numbered arrows to explain Policy settings for a guaranteed net from top to bottom.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ATLAS wireframe, http://localhost:5173/wireframe, gup-config.png, client view captured 2026-08-10.</a:t>
            </a:r>
            <a:endParaRPr/>
          </a:p>
          <a:p xmlns:a="http://schemas.openxmlformats.org/drawingml/2006/main">
            <a:r>
              <a:t>- Field inventory shown on this slide: Enable engine + employee group; Guaranteed target; Tax method + table date; Payroll frequency + flat rate; Employer-absorbed share; Tolerance / iterations / rounding / statutory-first.</a:t>
            </a:r>
            <a:endParaRPr/>
          </a:p>
          <a:p xmlns:a="http://schemas.openxmlformats.org/drawingml/2006/main">
            <a:r>
              <a:t>- 02Annex B_ Employee Masterfile Payroll Data Tables from Dorado.xlsx, corresponding Take Home Pay, Retirement Pay, Final Pay, or Gross Up tab.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cue: Use the numbered arrows to explain Scenario inputs and convergence result from top to bottom.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ATLAS wireframe, http://localhost:5173/wireframe, gup-scenario.png, client view captured 2026-08-10.</a:t>
            </a:r>
            <a:endParaRPr/>
          </a:p>
          <a:p xmlns:a="http://schemas.openxmlformats.org/drawingml/2006/main">
            <a:r>
              <a:t>- Field inventory shown on this slide: Target net; Employee statutory share; Non-taxable allowance; YTD taxable income; Gross / tax / employer / net outputs; Convergence + calculation trace.</a:t>
            </a:r>
            <a:endParaRPr/>
          </a:p>
          <a:p xmlns:a="http://schemas.openxmlformats.org/drawingml/2006/main">
            <a:r>
              <a:t>- 02Annex B_ Employee Masterfile Payroll Data Tables from Dorado.xlsx, corresponding Take Home Pay, Retirement Pay, Final Pay, or Gross Up tab.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Leave this open during Q&amp;A so anyone can challenge a screen and be shown the row it came from.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four are the source of truth. Anything on screen that is not in one of these is flagged on the last slide.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explicit that statutory numbers on screen are sample data pending confirmation.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inviting them to challenge any screen — the appendix has the row reference for each one.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b79433eb3e4035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07e61368b641bf" /><Relationship Type="http://schemas.openxmlformats.org/officeDocument/2006/relationships/slideLayout" Target="/ppt/slideLayouts/slideLayout1.xml" Id="R1a54cd6324144d1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54cd6324144d19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2e122ad694ac6" /><Relationship Type="http://schemas.openxmlformats.org/officeDocument/2006/relationships/notesSlide" Target="/ppt/notesSlides/notesSlide1.xml" Id="Rbe04402368fa4e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4c61063ca4b16" /><Relationship Type="http://schemas.openxmlformats.org/officeDocument/2006/relationships/notesSlide" Target="/ppt/notesSlides/notesSlide2.xml" Id="R6e6d0ee7685146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d6a80888024375" /><Relationship Type="http://schemas.openxmlformats.org/officeDocument/2006/relationships/notesSlide" Target="/ppt/notesSlides/notesSlide3.xml" Id="R25d06594e3a4438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4f0bb43b5492c" /><Relationship Type="http://schemas.openxmlformats.org/officeDocument/2006/relationships/image" Target="/ppt/media/image.png" Id="R603ff98db4ea43a7" /><Relationship Type="http://schemas.openxmlformats.org/officeDocument/2006/relationships/notesSlide" Target="/ppt/notesSlides/notesSlide4.xml" Id="R643c280fe9f0454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7259a4b3854a33" /><Relationship Type="http://schemas.openxmlformats.org/officeDocument/2006/relationships/image" Target="/ppt/media/image2.png" Id="Rfcd3326d05b44524" /><Relationship Type="http://schemas.openxmlformats.org/officeDocument/2006/relationships/notesSlide" Target="/ppt/notesSlides/notesSlide5.xml" Id="R78fb700b9aa443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cb661b509143aa" /><Relationship Type="http://schemas.openxmlformats.org/officeDocument/2006/relationships/image" Target="/ppt/media/image3.png" Id="R4421f6b53bd343aa" /><Relationship Type="http://schemas.openxmlformats.org/officeDocument/2006/relationships/notesSlide" Target="/ppt/notesSlides/notesSlide6.xml" Id="R33dccec9cfb64c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9713fadef4bca" /><Relationship Type="http://schemas.openxmlformats.org/officeDocument/2006/relationships/image" Target="/ppt/media/image4.png" Id="R400d0e32d74a4d85" /><Relationship Type="http://schemas.openxmlformats.org/officeDocument/2006/relationships/notesSlide" Target="/ppt/notesSlides/notesSlide7.xml" Id="R1bd26f98536341b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b91bd32454bce" /><Relationship Type="http://schemas.openxmlformats.org/officeDocument/2006/relationships/image" Target="/ppt/media/image5.png" Id="R1e4042287a83467e" /><Relationship Type="http://schemas.openxmlformats.org/officeDocument/2006/relationships/notesSlide" Target="/ppt/notesSlides/notesSlide8.xml" Id="R7dbc72ed6eea45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79c0e2f063457c" /><Relationship Type="http://schemas.openxmlformats.org/officeDocument/2006/relationships/image" Target="/ppt/media/image6.png" Id="Rba6b349baeed42cd" /><Relationship Type="http://schemas.openxmlformats.org/officeDocument/2006/relationships/notesSlide" Target="/ppt/notesSlides/notesSlide9.xml" Id="R43d00a8c762342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d5087405884dbe" /><Relationship Type="http://schemas.openxmlformats.org/officeDocument/2006/relationships/image" Target="/ppt/media/image7.png" Id="R3ef899449d1b4120" /><Relationship Type="http://schemas.openxmlformats.org/officeDocument/2006/relationships/notesSlide" Target="/ppt/notesSlides/notesSlide10.xml" Id="Ra92e6f4f760d4c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8c4c9c72344d19" /><Relationship Type="http://schemas.openxmlformats.org/officeDocument/2006/relationships/notesSlide" Target="/ppt/notesSlides/notesSlide11.xml" Id="R010dec39249842c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eeabe875804dd6" /><Relationship Type="http://schemas.openxmlformats.org/officeDocument/2006/relationships/image" Target="/ppt/media/image8.png" Id="Rd583974e8eb44055" /><Relationship Type="http://schemas.openxmlformats.org/officeDocument/2006/relationships/notesSlide" Target="/ppt/notesSlides/notesSlide12.xml" Id="R1607f1fed240492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8c4d8332bf480f" /><Relationship Type="http://schemas.openxmlformats.org/officeDocument/2006/relationships/image" Target="/ppt/media/image9.png" Id="Rb766045708ef4a94" /><Relationship Type="http://schemas.openxmlformats.org/officeDocument/2006/relationships/notesSlide" Target="/ppt/notesSlides/notesSlide13.xml" Id="Rae5ae9514f5a427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59147fd41a4b2a" /><Relationship Type="http://schemas.openxmlformats.org/officeDocument/2006/relationships/image" Target="/ppt/media/image10.png" Id="R646724c5aec24502" /><Relationship Type="http://schemas.openxmlformats.org/officeDocument/2006/relationships/notesSlide" Target="/ppt/notesSlides/notesSlide14.xml" Id="Re74b264f4436434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e1e11152df4539" /><Relationship Type="http://schemas.openxmlformats.org/officeDocument/2006/relationships/image" Target="/ppt/media/image11.png" Id="R1ca1ed54b9564fa1" /><Relationship Type="http://schemas.openxmlformats.org/officeDocument/2006/relationships/image" Target="/ppt/media/image12.png" Id="R3066f58d22d84215" /><Relationship Type="http://schemas.openxmlformats.org/officeDocument/2006/relationships/notesSlide" Target="/ppt/notesSlides/notesSlide15.xml" Id="R03910bfc911143d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2ab017adf43d7" /><Relationship Type="http://schemas.openxmlformats.org/officeDocument/2006/relationships/image" Target="/ppt/media/image13.png" Id="R800fcd0718ca4345" /><Relationship Type="http://schemas.openxmlformats.org/officeDocument/2006/relationships/notesSlide" Target="/ppt/notesSlides/notesSlide16.xml" Id="Rbc82d9a7f45245f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c7405f875c4359" /><Relationship Type="http://schemas.openxmlformats.org/officeDocument/2006/relationships/image" Target="/ppt/media/image14.png" Id="R8288fb1652104d63" /><Relationship Type="http://schemas.openxmlformats.org/officeDocument/2006/relationships/notesSlide" Target="/ppt/notesSlides/notesSlide17.xml" Id="R50828f8cd01f438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deb429a67d4a8c" /><Relationship Type="http://schemas.openxmlformats.org/officeDocument/2006/relationships/notesSlide" Target="/ppt/notesSlides/notesSlide18.xml" Id="R3fa79bb1a10944d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77429722c4133" /><Relationship Type="http://schemas.openxmlformats.org/officeDocument/2006/relationships/image" Target="/ppt/media/image15.png" Id="R9c8f99f611484ad6" /><Relationship Type="http://schemas.openxmlformats.org/officeDocument/2006/relationships/notesSlide" Target="/ppt/notesSlides/notesSlide19.xml" Id="R46a24b7452bb485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e3b4770a84895" /><Relationship Type="http://schemas.openxmlformats.org/officeDocument/2006/relationships/image" Target="/ppt/media/image16.png" Id="R2ee8b845918a435e" /><Relationship Type="http://schemas.openxmlformats.org/officeDocument/2006/relationships/notesSlide" Target="/ppt/notesSlides/notesSlide20.xml" Id="Rb411f5694c0c439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89f86227a648a1" /><Relationship Type="http://schemas.openxmlformats.org/officeDocument/2006/relationships/notesSlide" Target="/ppt/notesSlides/notesSlide21.xml" Id="R1da8eac46c7e439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7a9678dca4aba" /><Relationship Type="http://schemas.openxmlformats.org/officeDocument/2006/relationships/image" Target="/ppt/media/image17.png" Id="R36c9c7efd9474c33" /><Relationship Type="http://schemas.openxmlformats.org/officeDocument/2006/relationships/notesSlide" Target="/ppt/notesSlides/notesSlide22.xml" Id="R083eb1c4da5d4b18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5832afa29048aa" /><Relationship Type="http://schemas.openxmlformats.org/officeDocument/2006/relationships/image" Target="/ppt/media/image18.png" Id="R9134bd6e6af74e40" /><Relationship Type="http://schemas.openxmlformats.org/officeDocument/2006/relationships/notesSlide" Target="/ppt/notesSlides/notesSlide23.xml" Id="Rfbdf2cbd3a184fe6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c08febcdfe47f6" /><Relationship Type="http://schemas.openxmlformats.org/officeDocument/2006/relationships/notesSlide" Target="/ppt/notesSlides/notesSlide24.xml" Id="Ra78601d9bdfe49c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4ffc80bdb4c2d" /><Relationship Type="http://schemas.openxmlformats.org/officeDocument/2006/relationships/image" Target="/ppt/media/image19.png" Id="R1906b140286f41ec" /><Relationship Type="http://schemas.openxmlformats.org/officeDocument/2006/relationships/notesSlide" Target="/ppt/notesSlides/notesSlide25.xml" Id="R7d5d696649a24a4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54a4e76a04962" /><Relationship Type="http://schemas.openxmlformats.org/officeDocument/2006/relationships/image" Target="/ppt/media/image20.png" Id="R6d498428d88e410a" /><Relationship Type="http://schemas.openxmlformats.org/officeDocument/2006/relationships/image" Target="/ppt/media/image21.png" Id="Rd64be9489deb4974" /><Relationship Type="http://schemas.openxmlformats.org/officeDocument/2006/relationships/notesSlide" Target="/ppt/notesSlides/notesSlide26.xml" Id="Rb98f26e80f67460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818a4bcf94678" /><Relationship Type="http://schemas.openxmlformats.org/officeDocument/2006/relationships/notesSlide" Target="/ppt/notesSlides/notesSlide27.xml" Id="Re3aee47b12934128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15532a73743be" /><Relationship Type="http://schemas.openxmlformats.org/officeDocument/2006/relationships/image" Target="/ppt/media/image22.png" Id="R3f4410305df44c93" /><Relationship Type="http://schemas.openxmlformats.org/officeDocument/2006/relationships/notesSlide" Target="/ppt/notesSlides/notesSlide28.xml" Id="R92059f38e0b942d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92fb3e1914a53" /><Relationship Type="http://schemas.openxmlformats.org/officeDocument/2006/relationships/image" Target="/ppt/media/image23.png" Id="R46ffdd2de2dc481f" /><Relationship Type="http://schemas.openxmlformats.org/officeDocument/2006/relationships/notesSlide" Target="/ppt/notesSlides/notesSlide29.xml" Id="Rb8662b8d47e94a9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f046b61e64f2e" /><Relationship Type="http://schemas.openxmlformats.org/officeDocument/2006/relationships/image" Target="/ppt/media/image24.png" Id="Rdbcfd7f876fc4e24" /><Relationship Type="http://schemas.openxmlformats.org/officeDocument/2006/relationships/notesSlide" Target="/ppt/notesSlides/notesSlide30.xml" Id="Ree2bb1c44c78464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d95e9a0d114f2e" /><Relationship Type="http://schemas.openxmlformats.org/officeDocument/2006/relationships/notesSlide" Target="/ppt/notesSlides/notesSlide31.xml" Id="Rcc45e43904934293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8438256d4642b0" /><Relationship Type="http://schemas.openxmlformats.org/officeDocument/2006/relationships/image" Target="/ppt/media/image25.png" Id="Rb6d1ddf2d64b4a70" /><Relationship Type="http://schemas.openxmlformats.org/officeDocument/2006/relationships/notesSlide" Target="/ppt/notesSlides/notesSlide32.xml" Id="Rb64bf508e4a04f9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dd1e1286834a47" /><Relationship Type="http://schemas.openxmlformats.org/officeDocument/2006/relationships/image" Target="/ppt/media/image26.png" Id="Rf8fb217876dd4e16" /><Relationship Type="http://schemas.openxmlformats.org/officeDocument/2006/relationships/notesSlide" Target="/ppt/notesSlides/notesSlide33.xml" Id="R5fd0ce0cabdb498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c8c9be01f4076" /><Relationship Type="http://schemas.openxmlformats.org/officeDocument/2006/relationships/image" Target="/ppt/media/image27.png" Id="Rf7d5ba95a9ab4442" /><Relationship Type="http://schemas.openxmlformats.org/officeDocument/2006/relationships/notesSlide" Target="/ppt/notesSlides/notesSlide34.xml" Id="R8a5df1855e6446af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9dce54be84a8e" /><Relationship Type="http://schemas.openxmlformats.org/officeDocument/2006/relationships/image" Target="/ppt/media/image28.png" Id="Rbf1a643afdee4d92" /><Relationship Type="http://schemas.openxmlformats.org/officeDocument/2006/relationships/notesSlide" Target="/ppt/notesSlides/notesSlide35.xml" Id="R7a07896254a8417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0c572861c4d33" /><Relationship Type="http://schemas.openxmlformats.org/officeDocument/2006/relationships/image" Target="/ppt/media/image29.png" Id="R08cc86dd785e49bd" /><Relationship Type="http://schemas.openxmlformats.org/officeDocument/2006/relationships/notesSlide" Target="/ppt/notesSlides/notesSlide36.xml" Id="R784c56c7f2144d9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4c023c52f04a94" /><Relationship Type="http://schemas.openxmlformats.org/officeDocument/2006/relationships/image" Target="/ppt/media/image30.png" Id="Rdc8255f786cc4636" /><Relationship Type="http://schemas.openxmlformats.org/officeDocument/2006/relationships/notesSlide" Target="/ppt/notesSlides/notesSlide37.xml" Id="R7b37e4b9a3164d8c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10dec7c5d4914" /><Relationship Type="http://schemas.openxmlformats.org/officeDocument/2006/relationships/image" Target="/ppt/media/image31.png" Id="Raceb822149004ff6" /><Relationship Type="http://schemas.openxmlformats.org/officeDocument/2006/relationships/notesSlide" Target="/ppt/notesSlides/notesSlide38.xml" Id="Rdfbea05839614b80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bd92691c5452d" /><Relationship Type="http://schemas.openxmlformats.org/officeDocument/2006/relationships/image" Target="/ppt/media/image32.png" Id="Rf17c30af33604652" /><Relationship Type="http://schemas.openxmlformats.org/officeDocument/2006/relationships/notesSlide" Target="/ppt/notesSlides/notesSlide39.xml" Id="Rc8e9cdb479c343a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2e7b6c3fe4d79" /><Relationship Type="http://schemas.openxmlformats.org/officeDocument/2006/relationships/image" Target="/ppt/media/image33.png" Id="R26223ed7b0ab47e9" /><Relationship Type="http://schemas.openxmlformats.org/officeDocument/2006/relationships/notesSlide" Target="/ppt/notesSlides/notesSlide40.xml" Id="R1c9f2858e5554723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45d7350b844b0" /><Relationship Type="http://schemas.openxmlformats.org/officeDocument/2006/relationships/image" Target="/ppt/media/image34.png" Id="Re9e89351b22a4dc7" /><Relationship Type="http://schemas.openxmlformats.org/officeDocument/2006/relationships/notesSlide" Target="/ppt/notesSlides/notesSlide41.xml" Id="Rfa9d99f5a75048e7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a27f2074a04b18" /><Relationship Type="http://schemas.openxmlformats.org/officeDocument/2006/relationships/image" Target="/ppt/media/image35.png" Id="R2fb1bfafc1814370" /><Relationship Type="http://schemas.openxmlformats.org/officeDocument/2006/relationships/notesSlide" Target="/ppt/notesSlides/notesSlide42.xml" Id="Rc4a7c865c46f4bec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dc5ad22d204dae" /><Relationship Type="http://schemas.openxmlformats.org/officeDocument/2006/relationships/image" Target="/ppt/media/image36.png" Id="Rda48b95245c142b4" /><Relationship Type="http://schemas.openxmlformats.org/officeDocument/2006/relationships/notesSlide" Target="/ppt/notesSlides/notesSlide43.xml" Id="R672f7305fa0141dd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0f26e3173b4647" /><Relationship Type="http://schemas.openxmlformats.org/officeDocument/2006/relationships/image" Target="/ppt/media/image37.png" Id="R24a78b2d397d4235" /><Relationship Type="http://schemas.openxmlformats.org/officeDocument/2006/relationships/notesSlide" Target="/ppt/notesSlides/notesSlide44.xml" Id="R91f67b5c4ac145c7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74e7aa7b91431f" /><Relationship Type="http://schemas.openxmlformats.org/officeDocument/2006/relationships/notesSlide" Target="/ppt/notesSlides/notesSlide45.xml" Id="R32f9af24a84d4bcd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8d80cc4a34f52" /><Relationship Type="http://schemas.openxmlformats.org/officeDocument/2006/relationships/notesSlide" Target="/ppt/notesSlides/notesSlide46.xml" Id="R87c86a14df3d479b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537953cebb4fd7" /><Relationship Type="http://schemas.openxmlformats.org/officeDocument/2006/relationships/notesSlide" Target="/ppt/notesSlides/notesSlide47.xml" Id="R827518b5a3c84b64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b2c69cc6784cdd" /><Relationship Type="http://schemas.openxmlformats.org/officeDocument/2006/relationships/notesSlide" Target="/ppt/notesSlides/notesSlide48.xml" Id="R0819125851b64f83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89a65ea9847bf" /><Relationship Type="http://schemas.openxmlformats.org/officeDocument/2006/relationships/notesSlide" Target="/ppt/notesSlides/notesSlide49.xml" Id="R12e72175baa94a43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e4ebe04d0b40a1" /><Relationship Type="http://schemas.openxmlformats.org/officeDocument/2006/relationships/notesSlide" Target="/ppt/notesSlides/notesSlide50.xml" Id="Rd8be432d7e9a4a03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4ca536c5f74625" /><Relationship Type="http://schemas.openxmlformats.org/officeDocument/2006/relationships/notesSlide" Target="/ppt/notesSlides/notesSlide51.xml" Id="Rfbc9ada7d3d8424d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30d5b360c44fd6" /><Relationship Type="http://schemas.openxmlformats.org/officeDocument/2006/relationships/notesSlide" Target="/ppt/notesSlides/notesSlide52.xml" Id="Rfff425eb1c93494b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b6009123b446cf" /><Relationship Type="http://schemas.openxmlformats.org/officeDocument/2006/relationships/notesSlide" Target="/ppt/notesSlides/notesSlide53.xml" Id="R1f9604a4d74e4fa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6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FD5A3AE-66D6-4340-A7B5-1234A537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737360"/>
            <a:ext cx="7315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ATLAS PHASE 2 · PAYROLL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7E93EC8-FAE2-4B88-BF46-65845361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03120"/>
            <a:ext cx="822960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Computational Basis Demo</a:t>
            </a:r>
            <a:endParaRPr sz="5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8DE446E-9C7C-41A0-A3C5-90C97D1A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063240"/>
            <a:ext cx="768096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700"/>
              </a:lnSpc>
              <a:buNone/>
            </a:pPr>
            <a:r>
              <a:rPr sz="17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How the setup drives take-home pay, retirement pay, final pay, and gross-up calculations</a:t>
            </a:r>
            <a:endParaRPr sz="17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DEE0874-9A1B-40BB-B803-53249FC5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43400"/>
            <a:ext cx="2212848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B2246"/>
          </a:solidFill>
          <a:ln xmlns:a="http://schemas.openxmlformats.org/drawingml/2006/main" w="12700">
            <a:solidFill>
              <a:srgbClr val="313C6B"/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1024749-4154-4E1F-B276-8D47864BD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43400"/>
            <a:ext cx="221284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Take-Home Pay</a:t>
            </a:r>
            <a:endParaRPr sz="12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9F61821-D874-4A33-AB75-5857B522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656" y="4343400"/>
            <a:ext cx="2212848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B2246"/>
          </a:solidFill>
          <a:ln xmlns:a="http://schemas.openxmlformats.org/drawingml/2006/main" w="12700">
            <a:solidFill>
              <a:srgbClr val="313C6B"/>
            </a:solidFill>
            <a:prstDash val="solid"/>
          </a:ln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7F53CD5-D08F-46D7-A975-D35C247A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656" y="4343400"/>
            <a:ext cx="221284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Retirement Pay</a:t>
            </a:r>
            <a:endParaRPr sz="12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72C3267-5467-4ADC-8065-C21E1AC0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4343400"/>
            <a:ext cx="2212848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B2246"/>
          </a:solidFill>
          <a:ln xmlns:a="http://schemas.openxmlformats.org/drawingml/2006/main" w="12700">
            <a:solidFill>
              <a:srgbClr val="313C6B"/>
            </a:solidFill>
            <a:prstDash val="solid"/>
          </a:ln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804BA5EF-B4A6-45F8-B7EE-E2533B5B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8384" y="4343400"/>
            <a:ext cx="221284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Pay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3059E4A-980E-40DA-B894-90AE8D3A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4343400"/>
            <a:ext cx="2212848" cy="566928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B2246"/>
          </a:solidFill>
          <a:ln xmlns:a="http://schemas.openxmlformats.org/drawingml/2006/main" w="12700">
            <a:solidFill>
              <a:srgbClr val="313C6B"/>
            </a:solidFill>
            <a:prstDash val="solid"/>
          </a:ln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DA93A2F-F256-4BA1-BBD5-A5A6AF30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4112" y="4343400"/>
            <a:ext cx="2212848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Gross Up</a:t>
            </a:r>
            <a:endParaRPr sz="12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ABB1114-D931-45DD-A350-6FB0B68F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5780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8DA0C9"/>
                </a:solidFill>
                <a:latin typeface="Calibri"/>
                <a:ea typeface="Calibri"/>
                <a:cs typeface="Calibri"/>
              </a:rPr>
              <a:t>Demo build · wireframe screenshots · sample values for walkthrough only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21200361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BCE1925-7090-46C6-8F02-31CCB93C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AGENDA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80EE5BB-FCEA-4D71-980F-FFAFBD6D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Demo walkthrough</a:t>
            </a:r>
            <a:endParaRPr sz="3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43F2819-5CF0-425C-B42C-46065694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1732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22BD392-B48D-4324-BCB7-7A4E55AC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417320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DC15599-2A50-45E9-B849-C8CB60D1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1362456"/>
            <a:ext cx="2834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Start with the policy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A96473E-C31F-42AA-B73F-CBCDD81F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1362456"/>
            <a:ext cx="7498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We start from the written rule, turn it into an approved code, then apply it as a Company Rule.</a:t>
            </a:r>
            <a:endParaRPr sz="13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419D9CA0-E941-4D4C-8962-F092431F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86584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022CA60-7DE7-4037-8B8D-26A1AF598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86584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A615570-F7A2-43D9-9854-928A098EE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2331720"/>
            <a:ext cx="2834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Show the four setups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2832F81-A32C-43B8-AA14-E9A39DCD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2331720"/>
            <a:ext cx="7498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Take-Home Pay, Retirement Pay, Final Pay, and Gross Up — each with its own setup and sample run.</a:t>
            </a:r>
            <a:endParaRPr sz="13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355227F8-C6A1-410A-B8AC-71911591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584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2C08AC5-186D-47FA-BC22-7B07CDCA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55848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655075D-660F-40CF-9448-43A9751A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3300984"/>
            <a:ext cx="2834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Use real sample numbers</a:t>
            </a:r>
            <a:endParaRPr sz="14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3E7D27A-A505-4D60-9473-11F1FEAE9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3300984"/>
            <a:ext cx="7498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examples follow the Annex B samples so the calculation can be checked on screen.</a:t>
            </a:r>
            <a:endParaRPr sz="13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591B6F0-02E2-4193-B491-5BEACBAA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25112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8528C78B-3FAE-47BA-9344-6045CBD3D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25112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2A946C4-D716-4A50-8DA9-1F989E28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4270248"/>
            <a:ext cx="2834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Connect the pieces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679DB6D-6DC5-4A7C-BDA3-7AA4114A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4270248"/>
            <a:ext cx="7498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Company Rules, reference tables, statutory tables, and employee payroll records all feed the result.</a:t>
            </a:r>
            <a:endParaRPr sz="13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0AD29F81-3BA3-433F-AF10-61625696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9437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2952B8EE-0242-458E-96DD-2D824418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94376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3ED21CCD-3934-4C52-B414-B5F20679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296" y="5239512"/>
            <a:ext cx="2834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End with traceability</a:t>
            </a:r>
            <a:endParaRPr sz="14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0616500-8EF0-44A9-8F15-976472CB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088" y="5239512"/>
            <a:ext cx="74980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appendix shows where each screen and rule came from, plus the items still needing confirmation.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127382031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ABF4CD1-4709-46FB-90DE-5AF197AE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FLOW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F15EDDD-015D-4E36-AE5D-576E0104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From policy to payroll result</a:t>
            </a:r>
            <a:endParaRPr sz="3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B2D60A4E-4FAB-4387-BFA4-17A79B0E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00200"/>
            <a:ext cx="2057400" cy="23774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A61D5DE-581F-454E-9B30-4572B4F3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82880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698A5C0-6F45-43BA-85B6-140AE2338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182880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15F8ABD6-DF18-44C7-B794-D52EABA47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377440"/>
            <a:ext cx="16550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Written policy</a:t>
            </a:r>
            <a:endParaRPr sz="13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47E1D50-4484-471E-9348-463909060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761488"/>
            <a:ext cx="16550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Annex B rule, written in</a:t>
            </a:r>
            <a:endParaRPr sz="1050"/>
          </a:p>
          <a:p xmlns:a="http://schemas.openxmlformats.org/drawingml/2006/main">
            <a:pPr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business terms</a:t>
            </a:r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21DB539F-B4EC-4801-9009-0CDC171C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5476" y="2697480"/>
            <a:ext cx="201168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9AA6C4"/>
            </a:solidFill>
            <a:prstDash val="solid"/>
          </a:ln>
        </p:spPr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353CB72-F06B-4AE4-AA38-B2B055A5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600200"/>
            <a:ext cx="2057400" cy="23774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295CA62-871A-45F0-8907-D33F6D20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182880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90A51D9-E6CC-4F13-8A48-DDBA7DABF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182880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5025C14-E7C5-40B2-917E-88749A69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377440"/>
            <a:ext cx="16550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Approved code</a:t>
            </a:r>
            <a:endParaRPr sz="13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EDEC073B-3552-495D-BE2B-01F2F5D2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960" y="2761488"/>
            <a:ext cx="16550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Reusable calculation code,</a:t>
            </a:r>
            <a:endParaRPr sz="1050"/>
          </a:p>
          <a:p xmlns:a="http://schemas.openxmlformats.org/drawingml/2006/main">
            <a:pPr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for example THP-001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4AFA7AC6-0854-41E5-8B18-21082719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340" y="2697480"/>
            <a:ext cx="201168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9AA6C4"/>
            </a:solidFill>
            <a:prstDash val="solid"/>
          </a:ln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60DE204C-AE43-4FF2-BF4F-1654CD5B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56" y="1600200"/>
            <a:ext cx="2057400" cy="23774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F06025E4-CE23-4A4D-A3CF-37130D0D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112" y="182880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FB71ABF-500A-4EA4-BA55-8D541DF2C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8112" y="182880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BE31524E-FA0E-42CE-87C4-FE426A4D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2377440"/>
            <a:ext cx="16550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Company Rule</a:t>
            </a:r>
            <a:endParaRPr sz="13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6F1F97A-4ABA-4F6B-8E61-5F8E099F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2761488"/>
            <a:ext cx="16550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Applied to an employee</a:t>
            </a:r>
            <a:endParaRPr sz="1050"/>
          </a:p>
          <a:p xmlns:a="http://schemas.openxmlformats.org/drawingml/2006/main">
            <a:pPr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group with its own values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E781B8CD-ECEA-4BD8-A5BA-F55405856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7204" y="2697480"/>
            <a:ext cx="201168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9AA6C4"/>
            </a:solidFill>
            <a:prstDash val="solid"/>
          </a:ln>
        </p:spPr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96715D1-4218-4C43-B213-EDF5FD26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0" y="1600200"/>
            <a:ext cx="2057400" cy="23774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13251B88-058E-4F72-B63D-8AB5D395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976" y="182880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18F40AC-B6D1-4F84-8AAC-FBE26666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8976" y="182880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97BCABB-F09A-40C1-A2D4-EE8807FC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377440"/>
            <a:ext cx="16550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Policy engine</a:t>
            </a:r>
            <a:endParaRPr sz="13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16F3CA0E-FA2A-488A-ABD1-C78E897F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761488"/>
            <a:ext cx="16550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Runs the calculation and</a:t>
            </a:r>
            <a:endParaRPr sz="1050"/>
          </a:p>
          <a:p xmlns:a="http://schemas.openxmlformats.org/drawingml/2006/main">
            <a:pPr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shows the working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D8F52B1-8F7A-40C9-B4E1-68CF17C1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8068" y="2697480"/>
            <a:ext cx="201168" cy="18288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9AA6C4"/>
            </a:solidFill>
            <a:prstDash val="solid"/>
          </a:ln>
        </p:spPr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753AC9E2-FF1D-4271-B3B0-60DBBD04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1600200"/>
            <a:ext cx="2057400" cy="237744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1E2761"/>
            </a:solidFill>
            <a:prstDash val="solid"/>
          </a:ln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4DAD87AF-73D6-4FE4-83BF-4AAF5CFA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182880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4EADEA98-7724-4281-AC08-4B93F08E4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9840" y="182880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5</a:t>
            </a:r>
            <a:endParaRPr sz="14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49CD53D3-FCC8-4ED7-AE68-82D747CA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2377440"/>
            <a:ext cx="16550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Payroll result</a:t>
            </a:r>
            <a:endParaRPr sz="135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AC0E63B-46AE-433E-8EA0-25DFABF9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2761488"/>
            <a:ext cx="165506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Deduction changes, deferrals,</a:t>
            </a:r>
            <a:endParaRPr sz="1050"/>
          </a:p>
          <a:p xmlns:a="http://schemas.openxmlformats.org/drawingml/2006/main">
            <a:pPr>
              <a:buNone/>
            </a:pPr>
            <a:r>
              <a:rPr sz="10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ledger, and payslip tags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F7DADBE9-B5BC-4770-92C9-072E2CAC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343400"/>
            <a:ext cx="110276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The formula stays controlled. The values can change per company rule or employee group.</a:t>
            </a:r>
            <a:endParaRPr sz="130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7781E2B0-C761-489F-A2E9-0BA2B8B8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892040"/>
            <a:ext cx="8595360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0D5A39E3-2BAC-4FFC-851F-936EF5D6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892040"/>
            <a:ext cx="83210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BRD “Rules Set Up — Client-defined Rules”; Annex B Take Home Pay rows 113–156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84401127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25B0C62-A8A8-459A-88F1-939919FB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ORIENTATION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02F891A-F04B-49A5-B08B-FF37AAE9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Where to find Computational Basis</a:t>
            </a:r>
            <a:endParaRPr sz="3000"/>
          </a:p>
        </p:txBody>
      </p:sp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3ff98db4ea43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1371600"/>
            <a:ext cx="7315200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FFD9B2A-58BA-43F2-AA37-8ABB27928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7406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Computational Basis — wireframe view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C7FC3F2-FBC7-461B-A96D-C86943135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3716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One place for the logic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ADD5433-FFCC-42FC-9D57-14769B5BC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6093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This is the controlled area for standard formulas, client assignments, policy engines, and the reference sources they use.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A1E3AF4-5457-4519-A5A5-8374CC1C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2860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No hidden numbers inside formulas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1E45B39-762B-4469-8D6A-93232A73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5237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Rates, brackets, and ceilings are maintained in versioned tables instead of being typed directly into a formula.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A8354B1-45A6-4F78-A80C-CFE028C89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2004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Navigation path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4266B67B-282C-4D5A-B139-0C8A07B2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4381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Company Configuration → Services Information → Computational Basis.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702604FE-2A3B-48E8-85CB-178D0676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6053328"/>
            <a:ext cx="32095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45F2CB6-D858-4BCA-8D1A-0B3EFD80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6053328"/>
            <a:ext cx="29352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BRD Computational Basis Module (feature points 73–82)</a:t>
            </a:r>
            <a:endParaRPr sz="1000"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78D3DD3-2408-4F45-A9AD-A3E72192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" y="2286000"/>
            <a:ext cx="877570" cy="23749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58F3F6C-9443-44F5-A333-2C390997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1445" y="1905000"/>
            <a:ext cx="1769745" cy="342900"/>
          </a:xfrm>
          <a:prstGeom xmlns:a="http://schemas.openxmlformats.org/drawingml/2006/main" prst="rect">
            <a:avLst/>
          </a:prstGeom>
          <a:ln xmlns:a="http://schemas.openxmlformats.org/drawingml/2006/main">
            <a:solidFill>
              <a:srgbClr val="C00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304346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E7D9592-14E5-457C-9592-400CA83D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TODAY’S SCOPE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B19D80E-87CF-40D8-A165-769F5B409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The four calculation areas in this demo</a:t>
            </a:r>
            <a:endParaRPr sz="3000"/>
          </a:p>
        </p:txBody>
      </p:sp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d3326d05b445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35608" y="1280160"/>
            <a:ext cx="9290304" cy="566928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C77029F3-A341-41C2-9909-362B3CF4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286000"/>
            <a:ext cx="2670048" cy="2971800"/>
          </a:xfrm>
          <a:prstGeom xmlns:a="http://schemas.openxmlformats.org/drawingml/2006/main" prst="roundRect">
            <a:avLst>
              <a:gd name="adj" fmla="val 3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3B14E9A4-F4A5-4313-A057-43FB1E91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52374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5D06148-2C0A-4295-A384-579DA4CE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52374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A735118-07F2-4D01-A2ED-F49D16CC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054096"/>
            <a:ext cx="2194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Take-Home Pay</a:t>
            </a:r>
            <a:endParaRPr sz="14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AEE4F87-92C8-47F1-B674-DDDFD252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383280"/>
            <a:ext cx="21945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THP-001 · THP-002</a:t>
            </a:r>
            <a:endParaRPr sz="10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A0B93548-B8FA-4C46-922F-6154DF42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694176"/>
            <a:ext cx="21945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Protects the employee’s minimum net pay, caps controllable deductions, and defers the rest in the set order.</a:t>
            </a:r>
            <a:endParaRPr sz="11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F58B9472-344F-46F2-A8DA-CC54C40F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286000"/>
            <a:ext cx="2670048" cy="2971800"/>
          </a:xfrm>
          <a:prstGeom xmlns:a="http://schemas.openxmlformats.org/drawingml/2006/main" prst="roundRect">
            <a:avLst>
              <a:gd name="adj" fmla="val 3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3823185-0B28-404D-AFA7-67B22070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252374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A143653-BEA7-491F-9E12-63497174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252374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098297D-47F9-48FE-A919-D61A7830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3054096"/>
            <a:ext cx="2194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Retirement Pay</a:t>
            </a:r>
            <a:endParaRPr sz="14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C40FD2F-6B51-432C-AEAA-CC5F7909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3383280"/>
            <a:ext cx="21945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RET-001 · RET-002</a:t>
            </a:r>
            <a:endParaRPr sz="10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9DC9B004-C110-4380-83D3-39D71997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4176" y="3694176"/>
            <a:ext cx="21945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Checks the statutory formula against the company plan and uses the more beneficial result.</a:t>
            </a:r>
            <a:endParaRPr sz="1100"/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6047D11-5888-4F9F-BF06-F3235639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2286000"/>
            <a:ext cx="2670048" cy="2971800"/>
          </a:xfrm>
          <a:prstGeom xmlns:a="http://schemas.openxmlformats.org/drawingml/2006/main" prst="roundRect">
            <a:avLst>
              <a:gd name="adj" fmla="val 3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85CDB85E-5B18-4E15-B167-76466183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52374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94455BD2-92DA-48F4-8A17-221DB9B3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52374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4BC2412-317E-4BB9-932C-3AD4ECCCE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054096"/>
            <a:ext cx="2194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Final Pay</a:t>
            </a:r>
            <a:endParaRPr sz="14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244D6519-1566-42CE-A970-ABDA3F34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383280"/>
            <a:ext cx="21945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FIN-001</a:t>
            </a:r>
            <a:endParaRPr sz="10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31DDB793-2161-4C67-93E9-9DD790AE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694176"/>
            <a:ext cx="21945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Builds the final pay breakdown, applies authorized offsets, and returns the net amount for release.</a:t>
            </a:r>
            <a:endParaRPr sz="1100"/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FAF90BC2-EA65-4A38-A674-A6FAEDB9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2286000"/>
            <a:ext cx="2670048" cy="2971800"/>
          </a:xfrm>
          <a:prstGeom xmlns:a="http://schemas.openxmlformats.org/drawingml/2006/main" prst="roundRect">
            <a:avLst>
              <a:gd name="adj" fmla="val 30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2FA12D1-09FF-4C3F-835C-215D00D9A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84" y="252374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EB805C95-0F99-448B-9C62-8393B3DA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84" y="252374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EA34291E-F379-4A04-9AFD-94376C2AE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84" y="3054096"/>
            <a:ext cx="21945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Gross Up</a:t>
            </a:r>
            <a:endParaRPr sz="1400"/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19F9BBF3-2494-407A-9F56-405FEC47C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84" y="3383280"/>
            <a:ext cx="21945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GUP-001</a:t>
            </a:r>
            <a:endParaRPr sz="1000"/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5C5841B0-F429-4576-89BB-190B539A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3184" y="3694176"/>
            <a:ext cx="21945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Finds the gross amount needed to release a guaranteed net amount to the employee.</a:t>
            </a:r>
            <a:endParaRPr sz="1100"/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73A5E032-88F8-43C1-8838-5DF9C893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623560"/>
            <a:ext cx="8778240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8679509B-2630-48E5-B7FE-A4A731D1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623560"/>
            <a:ext cx="8503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sheets: Take Home Pay · Retirement Pay · Final Pay · Gross Up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59964406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F83110F-C8D8-4A2C-B63C-CA338CDE3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HOW IT CONNECTS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30ACE2D-C514-4D03-88A7-504958EC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Company Rules is where the setup is applied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21f6b53bd343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1371600"/>
            <a:ext cx="7315200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2E14C75-8B3E-4CF7-8464-34239D70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7406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Company Rules register — wireframe view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BB3C2A8-6995-4651-86A7-09BE952E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3716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One rule register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08639B8-073E-4935-8F06-93DC0405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6093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All company rules sit in one place, even when different engines calculate them.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0C6EDCA-2C90-4682-B9DF-1D8A33DB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2860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Engine-owned rows stay locked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D20090E-7C15-46A0-9B0C-338D8FFB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5237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If a rule is backed by a policy engine, the calculation details are changed inside that engine only.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0D887EF-B396-489F-B74C-7C60C14A0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2004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Apply New Rule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781B07AD-2086-487C-B024-927B7212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4381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Three steps: choose who it applies to, select the approved code, then enter the rule values.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B36AB6CF-FAD3-4497-BCDC-579FF32C8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6053328"/>
            <a:ext cx="32095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64EE2362-152D-4B71-9D96-C136648A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6053328"/>
            <a:ext cx="29352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BRD feature point 60, “Rules Set Up — Client-defined Rules”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79412188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45DE14F-5C25-485B-AAD8-6F45E601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APPLYING A RULE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6B31565-006B-417F-A0AE-0D948565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Step 1 — define who the rule applies to</a:t>
            </a:r>
            <a:endParaRPr sz="3000"/>
          </a:p>
        </p:txBody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0d0e32d74a4d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8546" y="1325880"/>
            <a:ext cx="5977563" cy="475488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1D9BFC8-C2EB-475A-B6E8-FF097F676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1463040"/>
            <a:ext cx="43068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Plain-language rule</a:t>
            </a:r>
            <a:endParaRPr sz="14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27B7F2E-8A4B-4512-8EA9-49EFA479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1810512"/>
            <a:ext cx="4306824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300" i="1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“Employees must receive at least 30% of gross pay after reimbursements / receivables are removed.”</a:t>
            </a:r>
            <a:endParaRPr sz="13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453F8CAF-8491-4930-9323-86452F86F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2880360"/>
            <a:ext cx="430682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employee group is selected first, so the same rule can still have different values by group.</a:t>
            </a:r>
            <a:endParaRPr sz="12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47BFB134-16FD-4EF6-A881-B8D04AA49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4114800"/>
            <a:ext cx="43068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674E65E-21EE-45E2-AEA5-DCA5E382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4114800"/>
            <a:ext cx="40325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“Take Home Pay” rows 21–27 (policy 3)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61540483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5DBD786-5618-49CD-A003-6D6C4428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APPLYING A RULE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98F3847-D5D3-441F-9147-97AED400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Step 2 — choose an approved computation</a:t>
            </a:r>
            <a:endParaRPr sz="3000"/>
          </a:p>
        </p:txBody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4042287a8346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1499408"/>
            <a:ext cx="6400800" cy="4407824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911A79B-7941-4B8A-8291-EA757131A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1463040"/>
            <a:ext cx="430682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Only approved codes are available</a:t>
            </a:r>
            <a:endParaRPr sz="14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DDC1726-3786-4F3B-8FF5-AB2390E4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1810512"/>
            <a:ext cx="430682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list is filtered by the selected sub-category. Users pick from approved templates instead of creating a formula from scratch.</a:t>
            </a:r>
            <a:endParaRPr sz="125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8F05ED4-9ACA-4CA9-AD6B-549ABB7F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3154680"/>
            <a:ext cx="4306824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900"/>
              </a:lnSpc>
              <a:buNone/>
            </a:pPr>
            <a:r>
              <a:rPr sz="12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THP-001  Minimum Take-Home Pay</a:t>
            </a:r>
            <a:endParaRPr sz="1200"/>
          </a:p>
          <a:p xmlns:a="http://schemas.openxmlformats.org/drawingml/2006/main">
            <a:pPr>
              <a:buNone/>
            </a:pPr>
            <a:r>
              <a:rPr sz="12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THP-002  Maximum Controllable Deductions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A950886-82FB-481E-9A39-7154AC16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7768" y="4206240"/>
            <a:ext cx="43068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214059C-18BC-4BC4-B463-E6ED2523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2" y="4206240"/>
            <a:ext cx="40325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rows 4–5 (policy 1) and 45–51 (loan cap)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91365720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A0369E2-CD3E-4E77-9E1C-B7581F28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APPLYING A RULE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D875D8C-54EF-4704-B3F1-8451AD68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Step 3 — enter the values for this rule</a:t>
            </a:r>
            <a:endParaRPr sz="3000"/>
          </a:p>
        </p:txBody>
      </p:sp>
      <p:pic>
        <p:nvPicPr>
          <p:cNvPr id="1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6b349baeed42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4128" y="1325880"/>
            <a:ext cx="4754880" cy="475488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A4193D7-AF55-482F-A843-27C076DE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463040"/>
            <a:ext cx="5038344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Same structure, different values</a:t>
            </a:r>
            <a:endParaRPr sz="14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C2B96FA-7E49-4EBE-8C30-9326CD84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1810512"/>
            <a:ext cx="5038344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approved code defines the fields. This rule supplies its own base, threshold type, and threshold value.</a:t>
            </a:r>
            <a:endParaRPr sz="125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10C23D0-6E50-4359-9F86-529D1F60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3291840"/>
            <a:ext cx="5038344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0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That is how one policy library can support different companies and employee groups without copying formulas.</a:t>
            </a:r>
            <a:endParaRPr sz="1200"/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81F25AB-57E6-4BF9-B90C-C692305C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6248" y="4572000"/>
            <a:ext cx="50383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1A95E12-2746-4317-A100-5B66F1FB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52" y="4572000"/>
            <a:ext cx="47640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rows 113–124, “Possible Company Set Up” 1–5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59387504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DF4BB79-175A-44C7-B410-E411A8912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LIBRARY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F4F4138-2F0F-4F03-8A45-31311D73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The library keeps the formulas controlled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f899449d1b41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1430820"/>
            <a:ext cx="7680960" cy="436212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A2BD157-E382-461E-A57B-EB128104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879592"/>
            <a:ext cx="76809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Policy engine code library — wireframe view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50A17BF-3D2E-4770-B498-05A50C1F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371600"/>
            <a:ext cx="29352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Coverage is visible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24DD6F57-6FC7-43BE-94E1-82FFDC58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1609344"/>
            <a:ext cx="29352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header shows how many Company Rules sub-categories already have an approved template.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AC3856C9-B610-47D9-8553-B3D99CEB7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286000"/>
            <a:ext cx="29352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Standard vs client variant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7A3476B-1034-4365-9BAF-AC26B216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2523744"/>
            <a:ext cx="29352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Standard codes stay locked. A client variant starts from the standard code and only changes the allowed values.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BDC07BC-2AD7-47F1-88D1-CA82F30A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200400"/>
            <a:ext cx="29352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Open the engine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2B7EF78-E52E-4B6D-9EE5-13EEE17E6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3438144"/>
            <a:ext cx="29352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This opens the screen that calculates the selected code.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BECC4B3E-D490-4679-B778-4B7E17C7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9368" y="6053328"/>
            <a:ext cx="29352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AFEE53C-B5DF-4AF3-96E2-400CE556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6053328"/>
            <a:ext cx="26609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BRD feature points 19–20, Computational Basis set-up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6997558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6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B3542D0-9D21-403E-9BBF-B2ECEAB9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0"/>
            <a:ext cx="5852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ENGINE 1 OF 4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CD01726-3E9D-41E1-B34A-0429ED78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31720"/>
            <a:ext cx="65836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Take-Home Pay</a:t>
            </a:r>
            <a:endParaRPr sz="4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2345FF5-068C-41CE-BCF9-68336573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10128"/>
            <a:ext cx="6309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400"/>
              </a:lnSpc>
              <a:buNone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Protect minimum net pay, cap selected deductions, and carry forward what cannot be deducted this cutoff.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A263669-33BF-4F6D-BA33-996B8478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3172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31194D2-31B9-4CC4-8571-6A95B70E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3172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09833B1-9CF6-40F1-A5FB-252D443F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2295144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Protected minimum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FD3D2AF-0193-455E-8CDA-40220C56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810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BA25F48-4D07-414F-A53C-25F05C6E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810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6AD475C-D82C-466C-9705-F135EA1E9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081528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Deduction and loan caps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182C6E28-F18A-4175-9372-FC83D3F7A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448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CF80FF1-68E4-4ECC-A436-6F7D00213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448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AE4C4E9-7F53-4E35-BDF7-B78DE06FA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867912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Adjustment order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2ECA531-763C-4139-B860-85949B32C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087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2CF8DD2-DE76-4523-AF97-B658DFFD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087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CB4D3CD5-2FB2-4BCD-B8D2-9ED4F7258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4654296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Deferral and carry-forward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163605127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4B2BF85-0BF5-4382-B7D5-53AC14CD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2576D19-5577-4E5B-B56E-29A1CF15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Set the protected minimum</a:t>
            </a:r>
            <a:endParaRPr sz="3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8BC8BEE-B1AA-491C-9B94-35DF745D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99432"/>
            <a:ext cx="6766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Minimum Take-Home Pay settings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B3120DF-6AB8-4F7C-9457-69EA6986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13716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Base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6FDB5AC-ACF9-405B-93CA-447BE984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16093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Basic Pay, Gross Pay, or Gross Pay less reimbursements — these match the sample bases in Annex B.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A486993-08D4-4CE6-83BF-47E286ED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2860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Threshold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F527EB4-40CF-4974-B5E5-290CE661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25237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minimum can be a percentage or a fixed peso amount, including zero.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12CAB97-78FB-4B8F-B4F1-9DE84889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3200400"/>
            <a:ext cx="38496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Result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4A9A322-42C2-402F-84B8-4E048A3E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3438144"/>
            <a:ext cx="38496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For this sample, 30% of ₱34,500 gives a protected minimum of ₱10,350.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B88E967-BAE5-41BD-B55A-B3BF924D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4968" y="6053328"/>
            <a:ext cx="38496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1D3F8BD-A1AB-4B4A-8D41-D735C1B7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2" y="6053328"/>
            <a:ext cx="35753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“Take Home Pay” rows 4, 13, 21, 29, 37</a:t>
            </a:r>
            <a:endParaRPr sz="1000"/>
          </a:p>
        </p:txBody>
      </p:sp>
      <p:pic>
        <p:nvPicPr>
          <p:cNvPr id="26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83974e8eb440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125" y="1371600"/>
            <a:ext cx="7431405" cy="27482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83044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709EFF9-D208-4DD8-9672-0CBB86E0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DA871E4-DCEE-440A-B4D6-D915180C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Set caps for deductions, loans, and attendance</a:t>
            </a:r>
            <a:endParaRPr sz="3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3261AAF6-ED93-4BC9-B928-A45E3B15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4937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Cap configuration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6E80688-D1C8-47DA-B2AF-4B06604E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1371600"/>
            <a:ext cx="56784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Loan cap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542EEA9-6BD9-4AAE-B768-8D0AF7AB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1609344"/>
            <a:ext cx="56784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Loan repayments can be capped by percentage of gross pay or by a fixed amount, such as ₱10,000.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00B920F-B415-4C2A-A53B-934D43CE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2286000"/>
            <a:ext cx="56784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LAABS cap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1BD4F84-9F57-451A-889C-C96EFCBAF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2523744"/>
            <a:ext cx="56784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Lates, absences, and undertime can be capped by percentage, fixed amount, or number of days.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029D80D-A86B-46E8-B261-870C5251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3200400"/>
            <a:ext cx="56784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Conflict priority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626737D6-3AEC-4EFF-94F5-9289FB15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3438144"/>
            <a:ext cx="567842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When more than one rule applies, the company decides which rule takes priority.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DBF2AC9-5F34-4376-9E57-8BCC39D7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168" y="6053328"/>
            <a:ext cx="567842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0D346D9-B4BD-4A34-8C04-BC732E437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6053328"/>
            <a:ext cx="540410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rows 45–84 (caps) and 106–109 (conflict priority)</a:t>
            </a:r>
            <a:endParaRPr sz="1000"/>
          </a:p>
        </p:txBody>
      </p:sp>
      <p:pic>
        <p:nvPicPr>
          <p:cNvPr id="26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66045708ef4a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8130" y="1437640"/>
            <a:ext cx="5397500" cy="439229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08478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3E37589-DA15-4075-A43D-96F76150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777249A-2E8F-40E9-AC55-AA19F183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Set the adjustment order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6724c5aec245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6162" y="1371600"/>
            <a:ext cx="2393453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A034CA7-5643-4E1D-B09C-533A881D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39319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Deduction and loan hierarchy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29A5D12-AFB6-432D-9B41-9C01AF925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1371600"/>
            <a:ext cx="668426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Ranked order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175437C-5ADE-4C01-966A-8F3727EE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1609344"/>
            <a:ext cx="66842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Statutory deductions stay at rank 0 and are always deducted in full. The other items follow the agreed order.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2C399B19-2120-4017-A007-92833A79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2286000"/>
            <a:ext cx="668426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Only adjust what is needed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9C4D258-CD3E-4646-B366-B2BE62BA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2523744"/>
            <a:ext cx="66842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engine trims just enough to meet the protected minimum. If rank 1 is enough, it stops there.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28F33BC-321D-4BD6-8E01-E7C68C86B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3200400"/>
            <a:ext cx="668426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Maintained as a table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5DB10DB1-6154-4293-B633-F3400ADD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3438144"/>
            <a:ext cx="66842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order is data. It can be updated without changing the calculation code.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C16D4D9A-AD77-4605-9299-B8478E20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0328" y="6053328"/>
            <a:ext cx="668426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F853E21-CD89-4E19-A215-C4CFC9D4F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6053328"/>
            <a:ext cx="640994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rows 85–103, hierarchy table and note at row 87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7167771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D3D909C-B8CC-47DE-B938-2DFA3C87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WORKED EXAMPLE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9962AAA-D41D-44D2-BF8C-8A55261B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Sample payroll run</a:t>
            </a:r>
            <a:endParaRPr sz="3000"/>
          </a:p>
        </p:txBody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1ed54b9564f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3308" y="1325880"/>
            <a:ext cx="3659160" cy="420624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pic>
        <p:nvPicPr>
          <p:cNvPr id="2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66f58d22d842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00600" y="1360230"/>
            <a:ext cx="4206240" cy="2948819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70CEBAB1-F5CB-4659-8660-B8A6FEF0B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1371600"/>
            <a:ext cx="23134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pay</a:t>
            </a:r>
            <a:endParaRPr sz="10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16E0D5C9-1741-42DC-816F-F8638798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1591056"/>
            <a:ext cx="23134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₱36,500</a:t>
            </a:r>
            <a:endParaRPr sz="17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29CDD5B-1610-44A7-AE21-6795F054E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130552"/>
            <a:ext cx="23134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Less reimbursements</a:t>
            </a:r>
            <a:endParaRPr sz="100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DD0955FF-D406-4772-8CC2-7500D9CC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350008"/>
            <a:ext cx="23134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₱2,000</a:t>
            </a:r>
            <a:endParaRPr sz="17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3F3C1996-4FC4-489E-A7CB-102F26D2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889504"/>
            <a:ext cx="23134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Protected base</a:t>
            </a:r>
            <a:endParaRPr sz="10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1E78E808-EBA7-4EF6-8E49-04A7A5C0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3108960"/>
            <a:ext cx="23134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₱34,500</a:t>
            </a:r>
            <a:endParaRPr sz="17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3C117B02-4F29-4797-9511-98FF906D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3648456"/>
            <a:ext cx="23134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Protected minimum (30%)</a:t>
            </a:r>
            <a:endParaRPr sz="10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02A57B36-D277-4BE2-BB52-59A19CCE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3867912"/>
            <a:ext cx="23134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₱10,350</a:t>
            </a:r>
            <a:endParaRPr sz="1700"/>
          </a:p>
        </p:txBody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FD3D8279-7875-463F-8D63-28598A25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4407408"/>
            <a:ext cx="23134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take-home</a:t>
            </a:r>
            <a:endParaRPr sz="10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FC3AE0DB-B2C4-4E20-B983-2D8DC905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4626864"/>
            <a:ext cx="23134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₱15,500</a:t>
            </a:r>
            <a:endParaRPr sz="17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CEAC1F79-9A1A-48F7-8FFD-3189DD96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5166360"/>
            <a:ext cx="231343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Deferred this cutoff</a:t>
            </a:r>
            <a:endParaRPr sz="10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18B05B59-C24D-43C8-B61C-B94C279B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5385816"/>
            <a:ext cx="231343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₱750</a:t>
            </a:r>
            <a:endParaRPr sz="17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7439BB2C-05AA-470F-8EFC-7E38326D9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526280"/>
            <a:ext cx="4206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50" i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Statutory deductions stayed whole at ₱6,500. Only the ranked controllable items were adjusted.</a:t>
            </a:r>
            <a:endParaRPr sz="115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B226DA79-23D6-49D0-83F4-75397436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120640"/>
            <a:ext cx="4206240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3D6238CB-82D2-45E6-91BB-6D495E6A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6904" y="5120640"/>
            <a:ext cx="39319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rows 8–11 (statutory in full, defer, carry over, notify)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1164996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B7B5A6D-BD4D-4820-91A7-5F13E51B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WORKED EXAMPLE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7D3898A-2FDA-47A1-B9CA-9733C28B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Deferred amounts carry forward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0fcd0718ca43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6471" y="1371600"/>
            <a:ext cx="6424595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12A0C32-F048-42C4-8057-05A22B6D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6583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Carry-forward and payslip tagging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686D246-A70E-4D07-84FA-0A895EF8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1371600"/>
            <a:ext cx="4032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Carried forward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E5AD90A-45D1-4A29-9CB3-6D38F175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1609344"/>
            <a:ext cx="40325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Outstanding amount, rescheduled deduction date, and new balance are shown for each deferred item.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6F608E6-8F1F-4235-8545-7595009E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2286000"/>
            <a:ext cx="4032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Payslip tag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5C6355F-FA4B-4640-8B65-2C146C74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2523744"/>
            <a:ext cx="40325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payslip can show the original due amount, amount deducted, deferred amount, accumulated amount, remaining balance, and reason.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01E27A5-4342-4412-ABDC-4A2E31C6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3200400"/>
            <a:ext cx="40325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Why it matters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B10F38A5-766D-46CD-B618-CC23A751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3438144"/>
            <a:ext cx="40325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This gives the employee a clear trail across cutoffs, and keeps the loan or deduction balance accurate.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9505B01-AE69-44CA-9B23-F2288307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088" y="6053328"/>
            <a:ext cx="403250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8B21CAE-A7D8-4586-8937-4291F343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6053328"/>
            <a:ext cx="37581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rows 138–155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14381335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DF3AA09-CA0F-4697-A8D7-34738F9A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TAKE-HOME PAY · GOVERNANCE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BF27375-5361-4B4E-B394-7F03AB43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Two codes support one take-home policy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88fb1652104d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9090" y="1371600"/>
            <a:ext cx="4844955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D7E657A-1308-4FE8-90AE-CF1C7B13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56692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Opened from THP-002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E6149B2-D240-4164-8520-5B5AA388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1371600"/>
            <a:ext cx="49469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THP-001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FC3C2A6-E8A7-46DA-97F0-8BABCDDB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1609344"/>
            <a:ext cx="49469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Handles the protected minimum: base, threshold, and deferral behavior.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8AB4DB1-57C1-473E-A428-02B70783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2286000"/>
            <a:ext cx="49469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THP-002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681A06E-C31E-4B20-AFC4-C70F32DE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2523744"/>
            <a:ext cx="49469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Handles the caps: deductions, loans, attendance, and conflict priority.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CF4CEB6-F4F2-470C-A138-24B048BCB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3200400"/>
            <a:ext cx="494690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Why it is split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0106161E-C928-4808-8FDF-D1684280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3438144"/>
            <a:ext cx="494690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company still has one policy. The two codes just let the setup stay cleaner and easier to maintain.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040FE9DC-4412-4D55-B499-2D726344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6053328"/>
            <a:ext cx="494690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1C77C99-7B3C-4EAE-BC4D-1B04162A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6053328"/>
            <a:ext cx="467258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rows 113–130, set-up items 1–6b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61494030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1116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6355A5E-E343-4C1A-A0BA-F6330FC8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0"/>
            <a:ext cx="5852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ENGINE 2 OF 4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9E0F894-0EEA-4D81-94EE-A004E32F4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31720"/>
            <a:ext cx="65836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Retirement Pay</a:t>
            </a:r>
            <a:endParaRPr sz="4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78F3A4A-2FAB-4E53-94E9-9CE85221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10128"/>
            <a:ext cx="6309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400"/>
              </a:lnSpc>
              <a:buNone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Calculate statutory retirement pay, compare it with the company plan, and use the better amount.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180C1EB-5504-4D43-BC09-92B9FA842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3172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CABC836-7433-4336-BB09-CAD5FFE8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3172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484D432-C239-4A49-B971-CD21E5506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2295144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Plan type and formula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48ADE99-F9B3-4F32-AB93-5D47E917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810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EB5C81-5B75-481A-9586-9A1C8C244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810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856981A-A487-452E-A7AE-80A4D496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081528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Eligibility rules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02EFFC74-A731-455D-A871-BDFF2F174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448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6808BA2-05E3-4031-BDBE-B83E9861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448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081A06A-B8CA-4375-8D64-0C22A315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867912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Service-year rounding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082D850-752D-4611-8C97-9FC05D3B2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087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E3E030C-7E7C-4663-986D-9440E81D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087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2BB54F5-C5D3-4576-9954-CFF3974BE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4654296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Tax treatment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4404165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49C7F70-6B4F-4012-B626-C26754FC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RETIREMENT PAY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EE25333-D3E1-4F5D-8CCF-5091692A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Set the plan and eligibility rules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8f99f611484a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3534" y="1371600"/>
            <a:ext cx="2975828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0BC59EC-3C57-455E-869D-F78F11F2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37490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Retirement Pay settings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0609EC7-6FA2-4D8B-80BE-C189F82DC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1371600"/>
            <a:ext cx="68671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Plan type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2A912F1-C95A-40A1-A7A4-8AEE45F77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1609344"/>
            <a:ext cx="68671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Use statutory RA 7641, a company plan, or the “best of both” option.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452FCA4-2921-4931-9B52-4FC48A66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2286000"/>
            <a:ext cx="68671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Inputs are editable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166BD51-149A-4327-B8FB-7B997921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2523744"/>
            <a:ext cx="68671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Daily-rate divisor, days per service year, salary basis, additional benefits, minimum guarantee, and maximum cap can be configured.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DDEFAA18-A722-4297-9ABB-0E30D942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3200400"/>
            <a:ext cx="68671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Eligibility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DCE59261-3609-4260-91F6-8CBD7BFA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3438144"/>
            <a:ext cx="68671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Age 60, compulsory age 65, five years of service, and optional company early-retirement age are part of the rule.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AF85D766-390B-4340-9D71-07B9543A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6053328"/>
            <a:ext cx="68671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AD79ACB-61BA-45D4-A8F4-14F04B40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6053328"/>
            <a:ext cx="65928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“Retirement Pay” rows 11–37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61549556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A68C8EA-516C-4762-A093-F4743C20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RETIREMENT PAY · WORKED EXAMPLE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F2AE2A7-7DD0-43E2-83A9-D353D0C6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Sample retirement calculation</a:t>
            </a:r>
            <a:endParaRPr sz="3000"/>
          </a:p>
        </p:txBody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e8b845918a43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5160" y="1371600"/>
            <a:ext cx="3255455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738DCC1-34DB-4B1E-9091-E2D3EEFEC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463040"/>
            <a:ext cx="6400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Service 12 years 6 months</a:t>
            </a:r>
            <a:endParaRPr sz="15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38584BE-B0F1-4283-955A-04FA961D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810512"/>
            <a:ext cx="6309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rounds to 13 qualifying years because six months or more counts as a full year.</a:t>
            </a:r>
            <a:endParaRPr sz="1250"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47B3C901-13D8-45AE-9067-1A5D971A2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697480"/>
            <a:ext cx="6656832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0C655844-AB0E-4956-B487-CC95A655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2807208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Statutory value</a:t>
            </a:r>
            <a:endParaRPr sz="12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429FA95-346A-4951-96A9-0527ECCC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3118104"/>
            <a:ext cx="3840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₱60,000 ÷ 30 × 22.5 × 13</a:t>
            </a:r>
            <a:endParaRPr sz="10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CD5BFE5-FC5C-4646-A195-9FF6A95B2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8036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9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₱585,000</a:t>
            </a:r>
            <a:endParaRPr sz="1900"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07AA3BA-29D6-4380-A3AF-005B9A66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3657600"/>
            <a:ext cx="6656832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CD786353-683F-4486-91D0-C8CA08036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3767328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Company-plan value</a:t>
            </a:r>
            <a:endParaRPr sz="12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CE4F06D-C155-4C11-A98D-EF0F4B6C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4078224"/>
            <a:ext cx="3840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using the company divisor, days, and benefits</a:t>
            </a:r>
            <a:endParaRPr sz="105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E264D40-93E8-484C-B67C-BBC48D80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4048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9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₱795,000</a:t>
            </a:r>
            <a:endParaRPr sz="1900"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890F4B7D-7C9D-4E4C-8D5F-445E9FC7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4617720"/>
            <a:ext cx="6656832" cy="82296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1E2761"/>
          </a:solidFill>
          <a:ln xmlns:a="http://schemas.openxmlformats.org/drawingml/2006/main" w="12700">
            <a:solidFill>
              <a:srgbClr val="1E2761"/>
            </a:solidFill>
            <a:prstDash val="solid"/>
          </a:ln>
        </p:spPr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10DFF6F6-CDD1-4D5E-A0AF-C1B4B873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4727448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Retirement pay used</a:t>
            </a:r>
            <a:endParaRPr sz="12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BABF859D-F94F-4B2A-8CFF-30A3C2D5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5038344"/>
            <a:ext cx="38404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the better amount between statutory and company plan</a:t>
            </a:r>
            <a:endParaRPr sz="105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DC4DE5A7-F847-46CF-8CFA-542FF961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0060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9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₱795,000</a:t>
            </a:r>
            <a:endParaRPr sz="19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463E4E94-DC96-41D4-9D56-945DDF3B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5623560"/>
            <a:ext cx="6656832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The result is stored as tax exempt under RA 4917 when the company-plan conditions are met.</a:t>
            </a:r>
            <a:endParaRPr sz="115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621D8B99-9227-46F8-8BE2-D6FD3E39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6035040"/>
            <a:ext cx="6656832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7136746-538A-4E08-8305-D97442E2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064" y="6035040"/>
            <a:ext cx="638251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“Retirement Pay” rows 3–6, 30, 38–41, 67–72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95979268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1116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60E17B0-A342-4C5D-8F1C-C20233A0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0"/>
            <a:ext cx="5852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ENGINE 3 OF 4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7B7BE66-77AF-49D8-A8D1-3B8A0091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31720"/>
            <a:ext cx="65836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Final Pay</a:t>
            </a:r>
            <a:endParaRPr sz="4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074BBC2-AF0C-45C9-AE62-C4F88EED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10128"/>
            <a:ext cx="6309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400"/>
              </a:lnSpc>
              <a:buNone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Build the final pay breakdown, apply authorized offsets, and show the net amount for release.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5E09F285-F4A0-4AEF-A836-F094A92F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3172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7830DAB-FA73-4505-8686-F5F6EB01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3172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41933A5-443B-4770-8DD3-C851BC916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2295144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Mandatory components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8A166EF7-FFC3-4BAF-AB15-E9E37B64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810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81FAC5F7-B4A7-4966-A53A-39FDDCB6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810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0F41FE7-C233-4F0B-88DE-92E3882FF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081528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Optional components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3F0FB7A-4831-4808-A912-0029130CF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448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95C6B2E-A1A8-4570-BD81-005B26C2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448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3CA25A0-DF04-46DB-A8B6-4C709AB3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867912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Authorized offsets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878D560-3242-4F19-9619-9B0F9896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087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DD2A6B2-8887-4FF7-BBE1-19616CCD3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087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A59578E-97AE-4EA8-9AEE-BC3C6ADD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4654296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Negative net rule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457812255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7174B9B-3D64-4FEB-899C-61056C39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PAY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D82D9F0-2224-4068-9D08-49D91202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Final pay components are switched on or off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c9c7efd9474c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17850" y="1371600"/>
            <a:ext cx="2355756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7345D19-FB65-4743-9256-8C408228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Pay settings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CA6EFCB-303D-4B0B-8AFD-753C8066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1371600"/>
            <a:ext cx="69585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Mandatory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7EEC130-6F20-43AC-8BDD-55986325B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1609344"/>
            <a:ext cx="695858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Unpaid salary, prorated 13th month, SIL conversion, separation pay, retirement pay, and final tax.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4A56B285-6DBB-4931-A544-0F116222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2286000"/>
            <a:ext cx="69585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Optional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AB44BFC-1F33-4E3C-B25F-150AA493A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2523744"/>
            <a:ext cx="695858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Convertible VL/SL beyond SIL, allowances, commissions, cash bond return, and gratuity.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4D009A6-C1C6-4231-947E-EC83E375A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3200400"/>
            <a:ext cx="695858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Company rules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47C14415-9BD6-42B4-A14B-93B0B768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3438144"/>
            <a:ext cx="695858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Leave conversion, divisor, rounding, advance 13th month recovery, loan balance treatment, and negative-net handling.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76E3B55-D50C-4B81-AC7B-2634ADFC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6053328"/>
            <a:ext cx="695858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2B97BE7F-8BD0-44E7-B015-C36B6094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6053328"/>
            <a:ext cx="668426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“Final Pay” rows 5–18 (components) and 19–29 (rules)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926033977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3A3A114-43A8-4A1B-BD9D-C1CEF754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PAY · WORKED EXAMPLE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51648C6-A2BB-4CC0-AD1E-FE9FB49C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Retirement pay flows into final pay</a:t>
            </a:r>
            <a:endParaRPr sz="3000"/>
          </a:p>
        </p:txBody>
      </p:sp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34bd6e6af74e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70777" y="1371600"/>
            <a:ext cx="3912942" cy="27432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60D7E964-23E0-4ED5-B5C8-F8549806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463040"/>
            <a:ext cx="55595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final pay</a:t>
            </a:r>
            <a:endParaRPr sz="110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30C91B9-157C-4C77-B0EF-76AF8BF3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700784"/>
            <a:ext cx="55595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₱856,500</a:t>
            </a:r>
            <a:endParaRPr sz="26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D2AF3AB-42F5-46BB-9B88-FEF6764D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487168"/>
            <a:ext cx="55595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Retirement pay included</a:t>
            </a:r>
            <a:endParaRPr sz="11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EC9DB92-50D9-457B-938F-A5817326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724912"/>
            <a:ext cx="55595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₱795,000</a:t>
            </a:r>
            <a:endParaRPr sz="26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F32B900-6A2D-41CA-9FA0-E9D293F6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511296"/>
            <a:ext cx="55595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Total offsets</a:t>
            </a:r>
            <a:endParaRPr sz="11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59D2956E-1DEA-49E5-A0B3-B127C0B61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749040"/>
            <a:ext cx="55595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−₱47,800</a:t>
            </a:r>
            <a:endParaRPr sz="26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9E9E95A0-2F4B-44F1-A1B3-04B8B545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535424"/>
            <a:ext cx="555955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Net final pay</a:t>
            </a:r>
            <a:endParaRPr sz="110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FCA99EC0-54F9-40E0-A0F9-961FB60F3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773168"/>
            <a:ext cx="5559552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₱808,700</a:t>
            </a:r>
            <a:endParaRPr sz="26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8BD1AF9B-7413-440B-B32A-80BE0D755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34840"/>
            <a:ext cx="512064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700"/>
              </a:lnSpc>
              <a:buNone/>
            </a:pPr>
            <a:r>
              <a:rPr sz="1200" i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The ₱795,000 comes from the Retirement Pay engine. It is pulled into Final Pay instead of being re-entered.</a:t>
            </a:r>
            <a:endParaRPr sz="12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F95430A-D24D-408E-90A4-8D26E8B7A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0"/>
            <a:ext cx="5120640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3F2B2BCD-CCAC-4AF5-BA2A-4A897991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486400"/>
            <a:ext cx="48463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“Retirement Pay” rows 46–49; “Final Pay” rows 30–34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8310561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116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85DF41D-6C9C-4C90-866F-FDC70D93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011680"/>
            <a:ext cx="5852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ENGINE 4 OF 4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5F3BA0D-1353-4EF8-9AA3-B331EDC7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31720"/>
            <a:ext cx="658368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Gross Up</a:t>
            </a:r>
            <a:endParaRPr sz="4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988658A-D796-4ABA-AF22-C4A753C3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10128"/>
            <a:ext cx="63093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400"/>
              </a:lnSpc>
              <a:buNone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Calculate the gross amount needed so the employee receives the guaranteed net amount.</a:t>
            </a:r>
            <a:endParaRPr sz="15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8001812-E3BA-4FCF-994C-826C815D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31720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D4F49C8-D6EA-47B3-B027-51E3F44F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31720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659754F-A224-4999-9ACE-174D0444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2295144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Guaranteed net target</a:t>
            </a:r>
            <a:endParaRPr sz="12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D83468C-A1D2-44A5-A8D9-B8FF3675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8104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F197450-A5EA-4DED-B961-FA46D5D0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18104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635CB5D-083D-4545-AF28-D36FD82D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081528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BIR withholding table</a:t>
            </a:r>
            <a:endParaRPr sz="12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3C859CF-982D-4172-B5A0-C7BCFB045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4488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7F7BCA8-7FC5-4C28-89AB-8203A6552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4488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2D78694-F356-40F7-AC63-C338B3A7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3867912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Repeat until matched</a:t>
            </a:r>
            <a:endParaRPr sz="12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88A808E-F841-4188-8614-04B926F6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0872"/>
            <a:ext cx="402336" cy="40233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8F1F444-027D-46E7-8E6F-2AA91DD9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690872"/>
            <a:ext cx="402336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90F3C3C-EF9A-4D9C-BE79-B69F42023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8" y="4654296"/>
            <a:ext cx="32004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Employer cost shown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234427007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1396217-54AE-45DC-818F-9CF6FFD02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UP · SETUP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A0AEF92-C9B7-4312-933F-94890931F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Set the target, method, and tax share</a:t>
            </a:r>
            <a:endParaRPr sz="3000"/>
          </a:p>
        </p:txBody>
      </p:sp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06b140286f41e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409" y="1371600"/>
            <a:ext cx="3737278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FAB10CF-BAE8-4323-A941-34C0A167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Up settings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AA1AFABC-0AB8-4487-A493-F620B5102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371600"/>
            <a:ext cx="64099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Target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31C9EDF-7728-4E4A-914F-16AA4315C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1609344"/>
            <a:ext cx="64099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A guaranteed net pay or net benefit can be entered or uploaded.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06CFB00-56CD-420E-AE9D-5EC375F8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286000"/>
            <a:ext cx="64099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Method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DC1D3E6-DFDF-4EE1-9297-50EAD01E3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2523744"/>
            <a:ext cx="64099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Use the graduated BIR withholding table, or a flat rate for final and expanded tax cases.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79F80E3-9AF6-466F-812E-47A6E30FD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200400"/>
            <a:ext cx="64099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Employer share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277291E0-582E-4167-AE64-DFFA2159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3438144"/>
            <a:ext cx="64099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Set to 100% for a classic gross-up, or use a split such as 50/50.</a:t>
            </a:r>
            <a:endParaRPr sz="1250"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B35F9DF-3A57-44EC-9847-B9312FED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114800"/>
            <a:ext cx="64099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Controls</a:t>
            </a:r>
            <a:endParaRPr sz="10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E5C7283-029C-463F-BA6C-4A267654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352544"/>
            <a:ext cx="64099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Tolerance, iteration limit, and rounding stage are configurable by company.</a:t>
            </a:r>
            <a:endParaRPr sz="125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467C078-978E-47D9-952A-0651BC1F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6053328"/>
            <a:ext cx="64099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A134B90-4891-4EFF-A3F4-4F181C38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0952" y="6053328"/>
            <a:ext cx="61356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“Gross Up” rows 6–18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496777767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8962DA9-1C49-4904-A08D-98A52268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UP · WORKED EXAMPLE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58DF7B9-701D-41B3-981F-D0180E8EF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Sample gross-up calculation</a:t>
            </a:r>
            <a:endParaRPr sz="3000"/>
          </a:p>
        </p:txBody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498428d88e41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6392" y="1371600"/>
            <a:ext cx="3324432" cy="329184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pic>
        <p:nvPicPr>
          <p:cNvPr id="2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4be9489deb49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3214" y="4800600"/>
            <a:ext cx="3110789" cy="123444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DF420854-8AAE-4948-9AF8-3BA6559C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417320"/>
            <a:ext cx="656539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Why it is not just net ÷ (1 − rate)</a:t>
            </a:r>
            <a:endParaRPr sz="15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78403A2E-E07E-4C3C-BC9B-AD5DDA2F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783080"/>
            <a:ext cx="6565392" cy="1051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That shortcut only works with one flat rate. For compensation tax, the engine tests a gross amount, reads the bracket, recomputes the net, and repeats until the target is reached.</a:t>
            </a:r>
            <a:endParaRPr sz="125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4A13EEB9-ECA5-4B5F-A1AE-36315FEB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71800"/>
            <a:ext cx="42793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taxable pay</a:t>
            </a:r>
            <a:endParaRPr sz="115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CD65C568-C629-44B0-8A3F-4CE3BF85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2971800"/>
            <a:ext cx="2377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₱51,875.00</a:t>
            </a:r>
            <a:endParaRPr sz="15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513163D5-A1E5-4E8F-BE5D-6F96D18E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55848"/>
            <a:ext cx="6565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4ED424EA-2019-4656-9530-4586112F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21608"/>
            <a:ext cx="42793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Withholding tax absorbed by employer</a:t>
            </a:r>
            <a:endParaRPr sz="115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AC4EBFD8-EB7B-4B80-95A8-CD7851CB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3721608"/>
            <a:ext cx="2377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₱5,208.40</a:t>
            </a:r>
            <a:endParaRPr sz="150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01AC560E-2DF3-4D85-83B6-8CB0211B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105656"/>
            <a:ext cx="6565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11FDF483-F6AA-45F5-8EF4-4D5A4FD84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71416"/>
            <a:ext cx="42793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Net released to employee</a:t>
            </a:r>
            <a:endParaRPr sz="115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14E985DC-F2B7-4385-A8A5-C7838AD3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4471416"/>
            <a:ext cx="2377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₱50,000.00</a:t>
            </a:r>
            <a:endParaRPr sz="150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49DBB9A1-EE45-4468-BDC4-B8C18EA3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855464"/>
            <a:ext cx="6565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FA60F6EB-67D5-4550-8BF0-71241CBE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221224"/>
            <a:ext cx="4279392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Total employer cost</a:t>
            </a:r>
            <a:endParaRPr sz="115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9E15E244-14DF-43E0-B66B-6CE8D237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5221224"/>
            <a:ext cx="23774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500" b="1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₱57,083.40</a:t>
            </a:r>
            <a:endParaRPr sz="150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CCAF80CB-4021-4056-8E18-18A89FD14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035040"/>
            <a:ext cx="6565392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AC4CFD8-0FED-49D5-8C4E-B5A8C261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504" y="6035040"/>
            <a:ext cx="629107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“Gross Up” rows 2–4 and steps 4–12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475045009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693658BA-52FD-4B9F-B9F4-63AE1AD2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CONNECTIONS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A161F55-39D9-4D05-A326-3E93299C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What each engine reads and produces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BEFFB6C-C28B-454C-8B64-6BC4CBDC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1298448"/>
            <a:ext cx="4023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Reads</a:t>
            </a:r>
            <a:endParaRPr sz="10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D02B1889-E91D-4E73-9F03-D4BEDA020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298448"/>
            <a:ext cx="3566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Produces</a:t>
            </a:r>
            <a:endParaRPr sz="10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264EF8D-B3B8-43CA-9531-1E36C86B0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27632"/>
            <a:ext cx="2926080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DE124F6-B0DF-41BA-9F0E-48EAF9BB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627632"/>
            <a:ext cx="256032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Take-Home Pay</a:t>
            </a:r>
            <a:endParaRPr sz="135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3D1E2AC-7F58-48F7-952C-8473C8EE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2029968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04C4DF7-28AD-4F10-B80E-5239628E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1627632"/>
            <a:ext cx="397764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Deduction hierarchy table · employee loan and deduction balances</a:t>
            </a:r>
            <a:endParaRPr sz="11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0CE8BE0-6613-4DC8-8641-7342F875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2029968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1DCB459-4465-494B-9CC4-048EA262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1627632"/>
            <a:ext cx="338328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Deferred amounts, carry-forward schedule, and payslip tags</a:t>
            </a:r>
            <a:endParaRPr sz="11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FA48779B-37F8-4877-BF4E-A75AD025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43200"/>
            <a:ext cx="2926080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66F996B-A691-4BCE-BF96-0C8CCD3A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743200"/>
            <a:ext cx="256032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Retirement Pay</a:t>
            </a:r>
            <a:endParaRPr sz="13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0A0C9202-B272-4AD6-B96A-73781DFD4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3145536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3B8D3BA-E28F-4681-AAD9-7744F25B9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2743200"/>
            <a:ext cx="397764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Birth date, hire date, retirement date, plan membership, and salary basis</a:t>
            </a:r>
            <a:endParaRPr sz="11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5C513B6-6591-423F-B0F1-659CD06A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3145536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9F5A1B0-8E3D-45E0-86E7-BBC0A2B3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2743200"/>
            <a:ext cx="338328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Retirement pay amount and tax status</a:t>
            </a:r>
            <a:endParaRPr sz="11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F7750DA-5EE1-47E9-88D4-1570F0A78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58768"/>
            <a:ext cx="2926080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EBBF0A9-D046-44DD-B03F-53851B21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858768"/>
            <a:ext cx="256032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Final Pay</a:t>
            </a:r>
            <a:endParaRPr sz="13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0984CC69-9694-4623-8344-E47947870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4261104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5202E813-8814-448B-9A4A-17D55DE4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3858768"/>
            <a:ext cx="397764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Retirement result, leave balances, and outstanding loan/deduction balances</a:t>
            </a:r>
            <a:endParaRPr sz="11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5815D355-436C-4FC9-AFE4-5CACB362E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4261104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D2CD522-451D-40AC-BD70-8F0E3996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3858768"/>
            <a:ext cx="338328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Net final pay breakdown for release</a:t>
            </a:r>
            <a:endParaRPr sz="110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B98680C7-5525-453D-AB12-DECF9FED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974336"/>
            <a:ext cx="2926080" cy="969264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E2761"/>
          </a:solidFill>
        </p:spPr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B3720725-E8F1-457A-B7E2-ED6773EA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974336"/>
            <a:ext cx="256032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Gross Up</a:t>
            </a:r>
            <a:endParaRPr sz="135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7ED32981-0364-48FB-8386-EBA50BE4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6160" y="5376672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467D3962-1976-4AFF-9142-91F70087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0" y="4974336"/>
            <a:ext cx="397764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Effective BIR withholding table and employee statutory share</a:t>
            </a:r>
            <a:endParaRPr sz="11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2AD62D52-A558-4D75-ADFC-2EBE00F5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8" y="5376672"/>
            <a:ext cx="164592" cy="164592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AA6C4"/>
          </a:solidFill>
          <a:ln xmlns:a="http://schemas.openxmlformats.org/drawingml/2006/main" w="12700">
            <a:solidFill>
              <a:srgbClr val="333333"/>
            </a:solidFill>
            <a:prstDash val="solid"/>
          </a:ln>
        </p:spPr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0475CD01-8E30-43AC-B351-AE3A1907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4974336"/>
            <a:ext cx="3383280" cy="969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1F7A5C"/>
                </a:solidFill>
                <a:latin typeface="Calibri"/>
                <a:ea typeface="Calibri"/>
                <a:cs typeface="Calibri"/>
              </a:rPr>
              <a:t>Gross amount to pay and tax absorbed by employer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553679816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F8363AC-8C2B-404A-865D-BC42B749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CONNECTED DATA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81E7AFD-2A2A-428D-9B97-592120AD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Rates and ceilings are versioned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410305df44c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1371600"/>
            <a:ext cx="7315200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22E8903-6846-42C6-94B2-B69A167A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7406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BIR withholding table — wireframe view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5D386F5-3462-4E78-B79A-1399CBBF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3716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Effective date matters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2ADBC3B-3F1C-490D-9C0C-7E27203C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6093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Payroll uses the table version active for that run, so old payroll results can still be reproduced.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E0CC5B5C-EB40-4121-9661-BC56BABB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2860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Used tables are locked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A8AB3E1-8195-40DD-A4BB-C80A91B9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5237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Once a payroll has used a table, it cannot be edited. A new version must be published instead.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FAEDF45-F588-4DC6-B840-AB8D2E0A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2004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Feeds Gross Up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500AD429-6190-4950-993A-99563072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4381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gross-up trace reads the bracket from this table instead of hard-coding it.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55918368-EA69-4327-9F9D-99C3B557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6053328"/>
            <a:ext cx="32095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A127238-787C-4AE8-AA5C-092A784E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6053328"/>
            <a:ext cx="29352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Tax Tables Flow v2 (14 May 2026); BRD Statutory Requirements 180–184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112792960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EDCA7F7-FEF6-4D16-8F4B-343962F9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CONNECTED DATA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30E50BC-4661-4428-A068-84FDDAFED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Reference sources sit behind the formulas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ffdd2de2dc48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1371600"/>
            <a:ext cx="7315200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532C4007-E9A6-47AD-B158-7B6891E2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7406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Formula reference sources — wireframe view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06EB362-D60A-44BA-869E-0D41775C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3716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Named sources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E69C21C-7949-4B90-A763-F8A5947C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6093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Formula inputs point to maintained reference sources instead of numbers typed directly into a rule.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BDE67BC5-1C1F-4E48-A4E6-A8874304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2860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Deduction hierarchy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F05BEC-E1E9-446F-9DF2-63515354E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5237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The take-home adjustment order is one of these sources, so the business can maintain it.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EFF7F1C-B8CA-4B68-AF11-E5D8A067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2004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Update once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6C6607FE-44C6-4008-A5FA-823BCCDB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4381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When the source is updated, every rule that reads it follows the new version.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9F561A6-1978-4834-A812-AD21A7D6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6053328"/>
            <a:ext cx="32095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D0509DD-D90A-4B07-96FE-30CB1B2A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6053328"/>
            <a:ext cx="29352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BRD Reference Table Module (feature points 62–63, 97–98)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14313152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9406918-B660-425A-BB92-DAF81713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CONNECTED DATA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6092D1B-059A-48BA-A51B-6DC266FF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Employee payroll records feed the engines</a:t>
            </a:r>
            <a:endParaRPr sz="3000"/>
          </a:p>
        </p:txBody>
      </p:sp>
      <p:pic>
        <p:nvPicPr>
          <p:cNvPr id="1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cfd7f876fc4e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" y="1371600"/>
            <a:ext cx="7315200" cy="4572000"/>
          </a:xfrm>
          <a:prstGeom xmlns:a="http://schemas.openxmlformats.org/drawingml/2006/main" prst="rect">
            <a:avLst/>
          </a:prstGeom>
          <a:effectLst xmlns:a="http://schemas.openxmlformats.org/drawingml/2006/main">
            <a:outerShdw blurRad="127000" dist="25400" dir="5400000" algn="bl" rotWithShape="0">
              <a:srgbClr val="8892B0">
                <a:alpha val="28000"/>
              </a:srgbClr>
            </a:outerShdw>
          </a:effectLst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8CA4811-8E1F-4FDB-B21F-62C4EBFC1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971032"/>
            <a:ext cx="7406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Employee Masterfile — payroll data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7B4FA50-6F6C-4BF8-9C49-DECAFEA2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3716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Loans and deductions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4ED87E8-CB57-458C-A0B2-A02EA039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6093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Balances, amortization, holds, and remarks are the values adjusted by the take-home engine.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9D405E9C-E9DD-47C7-86E8-42EC702C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2860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Dates and plan type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9AD03E8-EBF4-43C1-8647-CB05465B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25237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Hire date, birth date, and plan membership drive retirement eligibility.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9383781-B9CF-418A-8D98-910EAD94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200400"/>
            <a:ext cx="32095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Ceilings are applied here too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F90626A-61C4-4990-B241-BBD8C984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3438144"/>
            <a:ext cx="320954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600"/>
              </a:lnSpc>
              <a:buNone/>
            </a:pPr>
            <a:r>
              <a:rPr sz="12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Bonus and De Minimis ceilings split taxable and non-taxable amounts on the employee record.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6E26DB62-07AE-4B15-A2E6-324DE0D5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6053328"/>
            <a:ext cx="3209544" cy="384048"/>
          </a:xfrm>
          <a:prstGeom xmlns:a="http://schemas.openxmlformats.org/drawingml/2006/main" prst="roundRect">
            <a:avLst>
              <a:gd name="adj" fmla="val 47619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B9428555-1E16-4540-9307-F1EFB14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1352" y="6053328"/>
            <a:ext cx="2935224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Source · Annex B Dorado sheets: Loans, Deduction, Cost Allocation, Previous Employer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93782432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1116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AFFC66F-5FDD-4F30-8638-3EFBAB56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51760"/>
            <a:ext cx="5486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9777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350" b="1">
                <a:solidFill>
                  <a:srgbClr val="5C2A91"/>
                </a:solidFill>
              </a:defRPr>
            </a:pPr>
            <a:r>
              <a:rPr sz="1350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POLICY ENGINE FIELD GUIDE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C04F557-6013-4CC6-8C2A-EBEEBC79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99232"/>
            <a:ext cx="8229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Every field, explained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EE22D62-7A09-4FC1-978F-5A43C056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620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500" b="0">
                <a:solidFill>
                  <a:srgbClr val="C8C9D4"/>
                </a:solidFill>
              </a:defRPr>
            </a:pPr>
            <a:r>
              <a:rPr sz="1500" b="0">
                <a:solidFill>
                  <a:srgbClr val="C8C9D4"/>
                </a:solidFill>
                <a:latin typeface="Calibri"/>
                <a:ea typeface="Calibri"/>
                <a:cs typeface="Calibri"/>
              </a:rPr>
              <a:t>Focused wireframe crops · numbered arrows · plain-language payroll purpose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799466124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4B2BF85-0BF5-4382-B7D5-53AC14CD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86154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75" b="1">
                <a:solidFill>
                  <a:srgbClr val="5C2A91"/>
                </a:solidFill>
              </a:defRPr>
            </a:pPr>
            <a:r>
              <a:rPr sz="975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TAKE-HOME PAY · FIELD GUIDE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2576D19-5577-4E5B-B56E-29A1CF15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Scope and protected minimum</a:t>
            </a:r>
            <a:endParaRPr sz="3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8BC8BEE-B1AA-491C-9B94-35DF745D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34150"/>
            <a:ext cx="676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7531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63" b="0">
                <a:solidFill>
                  <a:srgbClr val="66645F"/>
                </a:solidFill>
              </a:defRPr>
            </a:pPr>
            <a:r>
              <a:rPr sz="863" b="0" i="1">
                <a:solidFill>
                  <a:srgbClr val="66645F"/>
                </a:solidFill>
                <a:latin typeface="Calibri"/>
                <a:ea typeface="Calibri"/>
                <a:cs typeface="Calibri"/>
              </a:rPr>
              <a:t>Numbered arrows point to the live wireframe control; values shown are demo data.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B3120DF-6AB8-4F7C-9457-69EA6986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4287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Enable engine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6FDB5AC-ACF9-405B-93CA-447BE984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47825"/>
            <a:ext cx="346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Turns the Take-Home policy on or off without deleting its approved configuration.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A486993-08D4-4CE6-83BF-47E286ED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812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Employee group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F527EB4-40CF-4974-B5E5-290CE661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00325"/>
            <a:ext cx="346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Defines which assigned population receives this configuration; the Company Rule carries the same scope.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12CAB97-78FB-4B8F-B4F1-9DE84889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337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Protected base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4A9A322-42C2-402F-84B8-4E048A3E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52825"/>
            <a:ext cx="346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Chooses the pay amount protected by the rule: Basic Pay, Gross Pay, or Gross less reimbursements/receivables.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B88E967-BAE5-41BD-B55A-B3BF924D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33500"/>
            <a:ext cx="3790950" cy="895350"/>
          </a:xfrm>
          <a:prstGeom xmlns:a="http://schemas.openxmlformats.org/drawingml/2006/main" prst="roundRect">
            <a:avLst>
              <a:gd name="adj" fmla="val 1276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1D3F8BD-A1AB-4B4A-8D41-D735C1B7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534150"/>
            <a:ext cx="37909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788" b="0">
                <a:solidFill>
                  <a:srgbClr val="66645F"/>
                </a:solidFill>
              </a:defRPr>
            </a:pPr>
            <a:r>
              <a:rPr sz="788" b="0">
                <a:solidFill>
                  <a:srgbClr val="66645F"/>
                </a:solidFill>
                <a:latin typeface="Calibri"/>
                <a:ea typeface="Calibri"/>
                <a:cs typeface="Calibri"/>
              </a:rPr>
              <a:t>Source · ATLAS local wireframe · Client view</a:t>
            </a:r>
            <a:endParaRPr sz="1000"/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d1ddf2d64b4a70"/>
          <a:stretch xmlns:a="http://schemas.openxmlformats.org/drawingml/2006/main"/>
        </p:blipFill>
        <p:spPr>
          <a:xfrm xmlns:a="http://schemas.openxmlformats.org/drawingml/2006/main">
            <a:off x="726734" y="1695450"/>
            <a:ext cx="6471331" cy="3638550"/>
          </a:xfrm>
          <a:prstGeom xmlns:a="http://schemas.openxmlformats.org/drawingml/2006/main" prst="rect">
            <a:avLst/>
          </a:prstGeom>
        </p:spPr>
      </p:pic>
      <p:sp>
        <p:nvSpPr>
          <p:cNvPr id="15" name="callout-anchor-1">
            <a:extLst xmlns:a="http://schemas.openxmlformats.org/drawingml/2006/main">
              <a:ext uri="{FF2B5EF4-FFF2-40B4-BE49-F238E27FC236}">
                <a16:creationId xmlns:a16="http://schemas.microsoft.com/office/drawing/2014/main" id="{5958063E-4E55-4D2D-BFE2-9BC73DFE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7811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field-anchor-1">
            <a:extLst xmlns:a="http://schemas.openxmlformats.org/drawingml/2006/main">
              <a:ext uri="{FF2B5EF4-FFF2-40B4-BE49-F238E27FC236}">
                <a16:creationId xmlns:a16="http://schemas.microsoft.com/office/drawing/2014/main" id="{70D48F27-A265-4AD5-AB95-50998E77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00025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2" name=""/>
          <p:cNvCxnSpPr>
            <a:stCxn xmlns:a="http://schemas.openxmlformats.org/drawingml/2006/main" id="15" idx="2"/>
            <a:endCxn xmlns:a="http://schemas.openxmlformats.org/drawingml/2006/main" id="16" idx="6"/>
          </p:cNvCxnSpPr>
          <p:nvPr/>
        </p:nvCxnSpPr>
        <p:spPr>
          <a:xfrm xmlns:a="http://schemas.openxmlformats.org/drawingml/2006/main" flipH="1">
            <a:off x="7162800" y="1785938"/>
            <a:ext cx="638175" cy="2190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18" name="callout-anchor-2">
            <a:extLst xmlns:a="http://schemas.openxmlformats.org/drawingml/2006/main">
              <a:ext uri="{FF2B5EF4-FFF2-40B4-BE49-F238E27FC236}">
                <a16:creationId xmlns:a16="http://schemas.microsoft.com/office/drawing/2014/main" id="{7DC915AF-AC21-4FBE-90FB-6BE216114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7336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field-anchor-2">
            <a:extLst xmlns:a="http://schemas.openxmlformats.org/drawingml/2006/main">
              <a:ext uri="{FF2B5EF4-FFF2-40B4-BE49-F238E27FC236}">
                <a16:creationId xmlns:a16="http://schemas.microsoft.com/office/drawing/2014/main" id="{7808147A-5B4A-4063-95F7-ADFECEAF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245745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5" name=""/>
          <p:cNvCxnSpPr>
            <a:stCxn xmlns:a="http://schemas.openxmlformats.org/drawingml/2006/main" id="18" idx="2"/>
            <a:endCxn xmlns:a="http://schemas.openxmlformats.org/drawingml/2006/main" id="19" idx="6"/>
          </p:cNvCxnSpPr>
          <p:nvPr/>
        </p:nvCxnSpPr>
        <p:spPr>
          <a:xfrm xmlns:a="http://schemas.openxmlformats.org/drawingml/2006/main" flipH="1" flipV="1">
            <a:off x="7162800" y="2462213"/>
            <a:ext cx="638175" cy="2762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21" name="callout-anchor-3">
            <a:extLst xmlns:a="http://schemas.openxmlformats.org/drawingml/2006/main">
              <a:ext uri="{FF2B5EF4-FFF2-40B4-BE49-F238E27FC236}">
                <a16:creationId xmlns:a16="http://schemas.microsoft.com/office/drawing/2014/main" id="{BF64F7B9-844B-4BEC-9ABF-C4A4B160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6861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field-anchor-3">
            <a:extLst xmlns:a="http://schemas.openxmlformats.org/drawingml/2006/main">
              <a:ext uri="{FF2B5EF4-FFF2-40B4-BE49-F238E27FC236}">
                <a16:creationId xmlns:a16="http://schemas.microsoft.com/office/drawing/2014/main" id="{25C52FA6-E535-4B47-9EE6-A7B8975DA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14325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8" name=""/>
          <p:cNvCxnSpPr>
            <a:stCxn xmlns:a="http://schemas.openxmlformats.org/drawingml/2006/main" id="21" idx="2"/>
            <a:endCxn xmlns:a="http://schemas.openxmlformats.org/drawingml/2006/main" id="22" idx="6"/>
          </p:cNvCxnSpPr>
          <p:nvPr/>
        </p:nvCxnSpPr>
        <p:spPr>
          <a:xfrm xmlns:a="http://schemas.openxmlformats.org/drawingml/2006/main" flipH="1" flipV="1">
            <a:off x="7162800" y="3148013"/>
            <a:ext cx="638175" cy="542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24" name="callout-anchor-4">
            <a:extLst xmlns:a="http://schemas.openxmlformats.org/drawingml/2006/main">
              <a:ext uri="{FF2B5EF4-FFF2-40B4-BE49-F238E27FC236}">
                <a16:creationId xmlns:a16="http://schemas.microsoft.com/office/drawing/2014/main" id="{882CAF52-9E50-42BF-93D2-F927B83B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6386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field-anchor-4">
            <a:extLst xmlns:a="http://schemas.openxmlformats.org/drawingml/2006/main">
              <a:ext uri="{FF2B5EF4-FFF2-40B4-BE49-F238E27FC236}">
                <a16:creationId xmlns:a16="http://schemas.microsoft.com/office/drawing/2014/main" id="{53A9C768-849B-48D2-996C-0F53EAD5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85762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1" name=""/>
          <p:cNvCxnSpPr>
            <a:stCxn xmlns:a="http://schemas.openxmlformats.org/drawingml/2006/main" id="24" idx="2"/>
            <a:endCxn xmlns:a="http://schemas.openxmlformats.org/drawingml/2006/main" id="25" idx="6"/>
          </p:cNvCxnSpPr>
          <p:nvPr/>
        </p:nvCxnSpPr>
        <p:spPr>
          <a:xfrm xmlns:a="http://schemas.openxmlformats.org/drawingml/2006/main" flipH="1" flipV="1">
            <a:off x="7162800" y="3862388"/>
            <a:ext cx="638175" cy="781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27" name="callout-anchor-5">
            <a:extLst xmlns:a="http://schemas.openxmlformats.org/drawingml/2006/main">
              <a:ext uri="{FF2B5EF4-FFF2-40B4-BE49-F238E27FC236}">
                <a16:creationId xmlns:a16="http://schemas.microsoft.com/office/drawing/2014/main" id="{D1C6B569-8A83-4017-A516-AF0B2A62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911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field-anchor-5">
            <a:extLst xmlns:a="http://schemas.openxmlformats.org/drawingml/2006/main">
              <a:ext uri="{FF2B5EF4-FFF2-40B4-BE49-F238E27FC236}">
                <a16:creationId xmlns:a16="http://schemas.microsoft.com/office/drawing/2014/main" id="{E69856E8-3597-4200-B591-8731514E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68630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4" name=""/>
          <p:cNvCxnSpPr>
            <a:stCxn xmlns:a="http://schemas.openxmlformats.org/drawingml/2006/main" id="27" idx="2"/>
            <a:endCxn xmlns:a="http://schemas.openxmlformats.org/drawingml/2006/main" id="28" idx="6"/>
          </p:cNvCxnSpPr>
          <p:nvPr/>
        </p:nvCxnSpPr>
        <p:spPr>
          <a:xfrm xmlns:a="http://schemas.openxmlformats.org/drawingml/2006/main" flipH="1" flipV="1">
            <a:off x="7162800" y="4691063"/>
            <a:ext cx="638175" cy="904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30" name="field-badge-1">
            <a:extLst xmlns:a="http://schemas.openxmlformats.org/drawingml/2006/main">
              <a:ext uri="{FF2B5EF4-FFF2-40B4-BE49-F238E27FC236}">
                <a16:creationId xmlns:a16="http://schemas.microsoft.com/office/drawing/2014/main" id="{6F5BA1CA-82C9-408E-BB31-717A89A50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76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1" name="field-number-1">
            <a:extLst xmlns:a="http://schemas.openxmlformats.org/drawingml/2006/main">
              <a:ext uri="{FF2B5EF4-FFF2-40B4-BE49-F238E27FC236}">
                <a16:creationId xmlns:a16="http://schemas.microsoft.com/office/drawing/2014/main" id="{4744D3D0-61F1-49AA-944A-901B986E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764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2" name="callout-box-2">
            <a:extLst xmlns:a="http://schemas.openxmlformats.org/drawingml/2006/main">
              <a:ext uri="{FF2B5EF4-FFF2-40B4-BE49-F238E27FC236}">
                <a16:creationId xmlns:a16="http://schemas.microsoft.com/office/drawing/2014/main" id="{78EFAD63-42C5-4EAC-9459-4FBB21F5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0"/>
            <a:ext cx="3790950" cy="895350"/>
          </a:xfrm>
          <a:prstGeom xmlns:a="http://schemas.openxmlformats.org/drawingml/2006/main" prst="roundRect">
            <a:avLst>
              <a:gd name="adj" fmla="val 851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AFE0"/>
            </a:solidFill>
            <a:prstDash val="solid"/>
          </a:ln>
        </p:spPr>
      </p:sp>
      <p:sp>
        <p:nvSpPr>
          <p:cNvPr id="33" name="field-badge-2">
            <a:extLst xmlns:a="http://schemas.openxmlformats.org/drawingml/2006/main">
              <a:ext uri="{FF2B5EF4-FFF2-40B4-BE49-F238E27FC236}">
                <a16:creationId xmlns:a16="http://schemas.microsoft.com/office/drawing/2014/main" id="{EA193D54-4431-4A69-A580-5E808DC2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336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4" name="field-number-2">
            <a:extLst xmlns:a="http://schemas.openxmlformats.org/drawingml/2006/main">
              <a:ext uri="{FF2B5EF4-FFF2-40B4-BE49-F238E27FC236}">
                <a16:creationId xmlns:a16="http://schemas.microsoft.com/office/drawing/2014/main" id="{3C2A1E44-804E-4824-85D0-4CAD08FF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33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5" name="callout-box-3">
            <a:extLst xmlns:a="http://schemas.openxmlformats.org/drawingml/2006/main">
              <a:ext uri="{FF2B5EF4-FFF2-40B4-BE49-F238E27FC236}">
                <a16:creationId xmlns:a16="http://schemas.microsoft.com/office/drawing/2014/main" id="{7884C37E-3DBD-4067-97FF-E54D9142B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38500"/>
            <a:ext cx="3790950" cy="895350"/>
          </a:xfrm>
          <a:prstGeom xmlns:a="http://schemas.openxmlformats.org/drawingml/2006/main" prst="roundRect">
            <a:avLst>
              <a:gd name="adj" fmla="val 851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DEEC"/>
            </a:solidFill>
            <a:prstDash val="solid"/>
          </a:ln>
        </p:spPr>
      </p:sp>
      <p:sp>
        <p:nvSpPr>
          <p:cNvPr id="36" name="field-badge-3">
            <a:extLst xmlns:a="http://schemas.openxmlformats.org/drawingml/2006/main">
              <a:ext uri="{FF2B5EF4-FFF2-40B4-BE49-F238E27FC236}">
                <a16:creationId xmlns:a16="http://schemas.microsoft.com/office/drawing/2014/main" id="{6593898F-AF11-440F-82F6-8C7834BA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19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7" name="field-number-3">
            <a:extLst xmlns:a="http://schemas.openxmlformats.org/drawingml/2006/main">
              <a:ext uri="{FF2B5EF4-FFF2-40B4-BE49-F238E27FC236}">
                <a16:creationId xmlns:a16="http://schemas.microsoft.com/office/drawing/2014/main" id="{333552ED-4229-448D-B01A-A3A23304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194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8" name="callout-box-4">
            <a:extLst xmlns:a="http://schemas.openxmlformats.org/drawingml/2006/main">
              <a:ext uri="{FF2B5EF4-FFF2-40B4-BE49-F238E27FC236}">
                <a16:creationId xmlns:a16="http://schemas.microsoft.com/office/drawing/2014/main" id="{173A60DE-5B44-409B-9FC1-1B1B993D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91000"/>
            <a:ext cx="3790950" cy="895350"/>
          </a:xfrm>
          <a:prstGeom xmlns:a="http://schemas.openxmlformats.org/drawingml/2006/main" prst="roundRect">
            <a:avLst>
              <a:gd name="adj" fmla="val 851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AFE0"/>
            </a:solidFill>
            <a:prstDash val="solid"/>
          </a:ln>
        </p:spPr>
      </p:sp>
      <p:sp>
        <p:nvSpPr>
          <p:cNvPr id="39" name="callout-title-4">
            <a:extLst xmlns:a="http://schemas.openxmlformats.org/drawingml/2006/main">
              <a:ext uri="{FF2B5EF4-FFF2-40B4-BE49-F238E27FC236}">
                <a16:creationId xmlns:a16="http://schemas.microsoft.com/office/drawing/2014/main" id="{F71480B5-1951-4D48-8693-BDD9860E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862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</a:rPr>
              <a:t>Threshold type + Threshold</a:t>
            </a:r>
          </a:p>
        </p:txBody>
      </p:sp>
      <p:sp>
        <p:nvSpPr>
          <p:cNvPr id="40" name="callout-copy-4">
            <a:extLst xmlns:a="http://schemas.openxmlformats.org/drawingml/2006/main">
              <a:ext uri="{FF2B5EF4-FFF2-40B4-BE49-F238E27FC236}">
                <a16:creationId xmlns:a16="http://schemas.microsoft.com/office/drawing/2014/main" id="{5AA05022-FF94-43F3-A482-27A78E5C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05325"/>
            <a:ext cx="346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Selects percentage or fixed PHP and stores the protected-minimum value used in the cutoff.</a:t>
            </a:r>
          </a:p>
        </p:txBody>
      </p:sp>
      <p:sp>
        <p:nvSpPr>
          <p:cNvPr id="41" name="field-badge-4">
            <a:extLst xmlns:a="http://schemas.openxmlformats.org/drawingml/2006/main">
              <a:ext uri="{FF2B5EF4-FFF2-40B4-BE49-F238E27FC236}">
                <a16:creationId xmlns:a16="http://schemas.microsoft.com/office/drawing/2014/main" id="{11A12D24-2088-4BF0-A738-124266E7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33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2" name="field-number-4">
            <a:extLst xmlns:a="http://schemas.openxmlformats.org/drawingml/2006/main">
              <a:ext uri="{FF2B5EF4-FFF2-40B4-BE49-F238E27FC236}">
                <a16:creationId xmlns:a16="http://schemas.microsoft.com/office/drawing/2014/main" id="{B7BB5E3F-3B34-49C0-BB58-CBEE7A1E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33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3" name="callout-box-5">
            <a:extLst xmlns:a="http://schemas.openxmlformats.org/drawingml/2006/main">
              <a:ext uri="{FF2B5EF4-FFF2-40B4-BE49-F238E27FC236}">
                <a16:creationId xmlns:a16="http://schemas.microsoft.com/office/drawing/2014/main" id="{AC77DC30-2EFC-4B97-953F-54BADF8F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43500"/>
            <a:ext cx="3790950" cy="895350"/>
          </a:xfrm>
          <a:prstGeom xmlns:a="http://schemas.openxmlformats.org/drawingml/2006/main" prst="roundRect">
            <a:avLst>
              <a:gd name="adj" fmla="val 851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DEEC"/>
            </a:solidFill>
            <a:prstDash val="solid"/>
          </a:ln>
        </p:spPr>
      </p:sp>
      <p:sp>
        <p:nvSpPr>
          <p:cNvPr id="44" name="callout-title-5">
            <a:extLst xmlns:a="http://schemas.openxmlformats.org/drawingml/2006/main">
              <a:ext uri="{FF2B5EF4-FFF2-40B4-BE49-F238E27FC236}">
                <a16:creationId xmlns:a16="http://schemas.microsoft.com/office/drawing/2014/main" id="{8BEC5443-0DCA-4CB8-A31E-FA6CCB12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387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</a:rPr>
              <a:t>Conflict priority</a:t>
            </a:r>
          </a:p>
        </p:txBody>
      </p:sp>
      <p:sp>
        <p:nvSpPr>
          <p:cNvPr id="45" name="callout-copy-5">
            <a:extLst xmlns:a="http://schemas.openxmlformats.org/drawingml/2006/main">
              <a:ext uri="{FF2B5EF4-FFF2-40B4-BE49-F238E27FC236}">
                <a16:creationId xmlns:a16="http://schemas.microsoft.com/office/drawing/2014/main" id="{0D0493E6-3D09-45E4-B805-F6BBAF298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457825"/>
            <a:ext cx="346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Resolves overlapping assignments so payroll applies one authoritative protection policy.</a:t>
            </a:r>
          </a:p>
        </p:txBody>
      </p:sp>
      <p:sp>
        <p:nvSpPr>
          <p:cNvPr id="46" name="field-badge-5">
            <a:extLst xmlns:a="http://schemas.openxmlformats.org/drawingml/2006/main">
              <a:ext uri="{FF2B5EF4-FFF2-40B4-BE49-F238E27FC236}">
                <a16:creationId xmlns:a16="http://schemas.microsoft.com/office/drawing/2014/main" id="{284B14CA-CA05-45C6-A755-271CF393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624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7" name="field-number-5">
            <a:extLst xmlns:a="http://schemas.openxmlformats.org/drawingml/2006/main">
              <a:ext uri="{FF2B5EF4-FFF2-40B4-BE49-F238E27FC236}">
                <a16:creationId xmlns:a16="http://schemas.microsoft.com/office/drawing/2014/main" id="{01E66E62-5EF1-46B4-A60E-764B09044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624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43830440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4B2BF85-0BF5-4382-B7D5-53AC14CD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86154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75" b="1">
                <a:solidFill>
                  <a:srgbClr val="5C2A91"/>
                </a:solidFill>
              </a:defRPr>
            </a:pPr>
            <a:r>
              <a:rPr sz="975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TAKE-HOME PAY · FIELD GUIDE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2576D19-5577-4E5B-B56E-29A1CF15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Deduction and loan caps</a:t>
            </a:r>
            <a:endParaRPr sz="3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8BC8BEE-B1AA-491C-9B94-35DF745D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34150"/>
            <a:ext cx="676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7531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63" b="0">
                <a:solidFill>
                  <a:srgbClr val="66645F"/>
                </a:solidFill>
              </a:defRPr>
            </a:pPr>
            <a:r>
              <a:rPr sz="863" b="0" i="1">
                <a:solidFill>
                  <a:srgbClr val="66645F"/>
                </a:solidFill>
                <a:latin typeface="Calibri"/>
                <a:ea typeface="Calibri"/>
                <a:cs typeface="Calibri"/>
              </a:rPr>
              <a:t>Numbered arrows point to the live wireframe control; values shown are demo data.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B3120DF-6AB8-4F7C-9457-69EA6986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4287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Apply total deductions cap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6FDB5AC-ACF9-405B-93CA-447BE984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47825"/>
            <a:ext cx="346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Enables one overall ceiling for controllable non-loan deductions in the payroll period.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A486993-08D4-4CE6-83BF-47E286ED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812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Deductions cap base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F527EB4-40CF-4974-B5E5-290CE661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00325"/>
            <a:ext cx="346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Selects the pay amount used to calculate the deduction ceiling.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12CAB97-78FB-4B8F-B4F1-9DE84889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3337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Deductions cap type + cap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4A9A322-42C2-402F-84B8-4E048A3E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52825"/>
            <a:ext cx="346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Defines whether the ceiling is a percentage or fixed amount and stores the limit.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B88E967-BAE5-41BD-B55A-B3BF924D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33500"/>
            <a:ext cx="3790950" cy="895350"/>
          </a:xfrm>
          <a:prstGeom xmlns:a="http://schemas.openxmlformats.org/drawingml/2006/main" prst="roundRect">
            <a:avLst>
              <a:gd name="adj" fmla="val 1276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1D3F8BD-A1AB-4B4A-8D41-D735C1B7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534150"/>
            <a:ext cx="37909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788" b="0">
                <a:solidFill>
                  <a:srgbClr val="66645F"/>
                </a:solidFill>
              </a:defRPr>
            </a:pPr>
            <a:r>
              <a:rPr sz="788" b="0">
                <a:solidFill>
                  <a:srgbClr val="66645F"/>
                </a:solidFill>
                <a:latin typeface="Calibri"/>
                <a:ea typeface="Calibri"/>
                <a:cs typeface="Calibri"/>
              </a:rPr>
              <a:t>Source · ATLAS local wireframe · Client view</a:t>
            </a:r>
            <a:endParaRPr sz="1000"/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fb217876dd4e16"/>
          <a:stretch xmlns:a="http://schemas.openxmlformats.org/drawingml/2006/main"/>
        </p:blipFill>
        <p:spPr>
          <a:xfrm xmlns:a="http://schemas.openxmlformats.org/drawingml/2006/main">
            <a:off x="2381250" y="1260561"/>
            <a:ext cx="3790950" cy="5251277"/>
          </a:xfrm>
          <a:prstGeom xmlns:a="http://schemas.openxmlformats.org/drawingml/2006/main" prst="rect">
            <a:avLst/>
          </a:prstGeom>
        </p:spPr>
      </p:pic>
      <p:sp>
        <p:nvSpPr>
          <p:cNvPr id="15" name="callout-anchor-1">
            <a:extLst xmlns:a="http://schemas.openxmlformats.org/drawingml/2006/main">
              <a:ext uri="{FF2B5EF4-FFF2-40B4-BE49-F238E27FC236}">
                <a16:creationId xmlns:a16="http://schemas.microsoft.com/office/drawing/2014/main" id="{D222CE2E-0D32-4F5C-961C-9FA2BDB8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7811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field-anchor-1">
            <a:extLst xmlns:a="http://schemas.openxmlformats.org/drawingml/2006/main">
              <a:ext uri="{FF2B5EF4-FFF2-40B4-BE49-F238E27FC236}">
                <a16:creationId xmlns:a16="http://schemas.microsoft.com/office/drawing/2014/main" id="{D900F917-D412-43FA-BBF9-FE30ADDB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33375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2" name=""/>
          <p:cNvCxnSpPr>
            <a:stCxn xmlns:a="http://schemas.openxmlformats.org/drawingml/2006/main" id="15" idx="2"/>
            <a:endCxn xmlns:a="http://schemas.openxmlformats.org/drawingml/2006/main" id="16" idx="6"/>
          </p:cNvCxnSpPr>
          <p:nvPr/>
        </p:nvCxnSpPr>
        <p:spPr>
          <a:xfrm xmlns:a="http://schemas.openxmlformats.org/drawingml/2006/main" flipH="1">
            <a:off x="6134100" y="1785938"/>
            <a:ext cx="1666875" cy="1552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18" name="callout-anchor-2">
            <a:extLst xmlns:a="http://schemas.openxmlformats.org/drawingml/2006/main">
              <a:ext uri="{FF2B5EF4-FFF2-40B4-BE49-F238E27FC236}">
                <a16:creationId xmlns:a16="http://schemas.microsoft.com/office/drawing/2014/main" id="{1B37CAE3-21B4-4912-94A1-1B0C164EE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7336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field-anchor-2">
            <a:extLst xmlns:a="http://schemas.openxmlformats.org/drawingml/2006/main">
              <a:ext uri="{FF2B5EF4-FFF2-40B4-BE49-F238E27FC236}">
                <a16:creationId xmlns:a16="http://schemas.microsoft.com/office/drawing/2014/main" id="{851C7EE1-F825-405A-A78E-DE298707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90525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5" name=""/>
          <p:cNvCxnSpPr>
            <a:stCxn xmlns:a="http://schemas.openxmlformats.org/drawingml/2006/main" id="18" idx="2"/>
            <a:endCxn xmlns:a="http://schemas.openxmlformats.org/drawingml/2006/main" id="19" idx="6"/>
          </p:cNvCxnSpPr>
          <p:nvPr/>
        </p:nvCxnSpPr>
        <p:spPr>
          <a:xfrm xmlns:a="http://schemas.openxmlformats.org/drawingml/2006/main" flipH="1">
            <a:off x="6134100" y="2738438"/>
            <a:ext cx="1666875" cy="1171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21" name="callout-anchor-3">
            <a:extLst xmlns:a="http://schemas.openxmlformats.org/drawingml/2006/main">
              <a:ext uri="{FF2B5EF4-FFF2-40B4-BE49-F238E27FC236}">
                <a16:creationId xmlns:a16="http://schemas.microsoft.com/office/drawing/2014/main" id="{78C33AB5-2FF8-4988-8410-577701F5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6861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field-anchor-3">
            <a:extLst xmlns:a="http://schemas.openxmlformats.org/drawingml/2006/main">
              <a:ext uri="{FF2B5EF4-FFF2-40B4-BE49-F238E27FC236}">
                <a16:creationId xmlns:a16="http://schemas.microsoft.com/office/drawing/2014/main" id="{3026C722-D6F4-4780-9FA0-7F57793E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3338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8" name=""/>
          <p:cNvCxnSpPr>
            <a:stCxn xmlns:a="http://schemas.openxmlformats.org/drawingml/2006/main" id="21" idx="2"/>
            <a:endCxn xmlns:a="http://schemas.openxmlformats.org/drawingml/2006/main" id="22" idx="6"/>
          </p:cNvCxnSpPr>
          <p:nvPr/>
        </p:nvCxnSpPr>
        <p:spPr>
          <a:xfrm xmlns:a="http://schemas.openxmlformats.org/drawingml/2006/main" flipH="1">
            <a:off x="6134100" y="3690938"/>
            <a:ext cx="1666875" cy="6477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24" name="callout-anchor-4">
            <a:extLst xmlns:a="http://schemas.openxmlformats.org/drawingml/2006/main">
              <a:ext uri="{FF2B5EF4-FFF2-40B4-BE49-F238E27FC236}">
                <a16:creationId xmlns:a16="http://schemas.microsoft.com/office/drawing/2014/main" id="{9A971AB7-A385-4C8F-B370-CA9A0611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6386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field-anchor-4">
            <a:extLst xmlns:a="http://schemas.openxmlformats.org/drawingml/2006/main">
              <a:ext uri="{FF2B5EF4-FFF2-40B4-BE49-F238E27FC236}">
                <a16:creationId xmlns:a16="http://schemas.microsoft.com/office/drawing/2014/main" id="{C1720E24-DE43-41E0-A4BA-68AA92B1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23875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1" name=""/>
          <p:cNvCxnSpPr>
            <a:stCxn xmlns:a="http://schemas.openxmlformats.org/drawingml/2006/main" id="24" idx="2"/>
            <a:endCxn xmlns:a="http://schemas.openxmlformats.org/drawingml/2006/main" id="25" idx="6"/>
          </p:cNvCxnSpPr>
          <p:nvPr/>
        </p:nvCxnSpPr>
        <p:spPr>
          <a:xfrm xmlns:a="http://schemas.openxmlformats.org/drawingml/2006/main" flipH="1">
            <a:off x="6134100" y="4643438"/>
            <a:ext cx="1666875" cy="6000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27" name="callout-anchor-5">
            <a:extLst xmlns:a="http://schemas.openxmlformats.org/drawingml/2006/main">
              <a:ext uri="{FF2B5EF4-FFF2-40B4-BE49-F238E27FC236}">
                <a16:creationId xmlns:a16="http://schemas.microsoft.com/office/drawing/2014/main" id="{9B3EEC85-5430-4453-912C-9965955B1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5911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field-anchor-5">
            <a:extLst xmlns:a="http://schemas.openxmlformats.org/drawingml/2006/main">
              <a:ext uri="{FF2B5EF4-FFF2-40B4-BE49-F238E27FC236}">
                <a16:creationId xmlns:a16="http://schemas.microsoft.com/office/drawing/2014/main" id="{06C9304D-AE24-43F4-9B6B-02C3E2CD7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95312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4" name=""/>
          <p:cNvCxnSpPr>
            <a:stCxn xmlns:a="http://schemas.openxmlformats.org/drawingml/2006/main" id="27" idx="2"/>
            <a:endCxn xmlns:a="http://schemas.openxmlformats.org/drawingml/2006/main" id="28" idx="6"/>
          </p:cNvCxnSpPr>
          <p:nvPr/>
        </p:nvCxnSpPr>
        <p:spPr>
          <a:xfrm xmlns:a="http://schemas.openxmlformats.org/drawingml/2006/main" flipH="1">
            <a:off x="6134100" y="5595938"/>
            <a:ext cx="1666875" cy="3619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30" name="field-badge-1">
            <a:extLst xmlns:a="http://schemas.openxmlformats.org/drawingml/2006/main">
              <a:ext uri="{FF2B5EF4-FFF2-40B4-BE49-F238E27FC236}">
                <a16:creationId xmlns:a16="http://schemas.microsoft.com/office/drawing/2014/main" id="{F83CBC5D-847B-4F55-A5E1-6DECF45F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09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1" name="field-number-1">
            <a:extLst xmlns:a="http://schemas.openxmlformats.org/drawingml/2006/main">
              <a:ext uri="{FF2B5EF4-FFF2-40B4-BE49-F238E27FC236}">
                <a16:creationId xmlns:a16="http://schemas.microsoft.com/office/drawing/2014/main" id="{BE93638A-C9DD-4AB6-AB8A-8E542DBDC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099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2" name="callout-box-2">
            <a:extLst xmlns:a="http://schemas.openxmlformats.org/drawingml/2006/main">
              <a:ext uri="{FF2B5EF4-FFF2-40B4-BE49-F238E27FC236}">
                <a16:creationId xmlns:a16="http://schemas.microsoft.com/office/drawing/2014/main" id="{3DDE5C09-B7DD-480C-B1A6-0E88F0B5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86000"/>
            <a:ext cx="3790950" cy="895350"/>
          </a:xfrm>
          <a:prstGeom xmlns:a="http://schemas.openxmlformats.org/drawingml/2006/main" prst="roundRect">
            <a:avLst>
              <a:gd name="adj" fmla="val 851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AFE0"/>
            </a:solidFill>
            <a:prstDash val="solid"/>
          </a:ln>
        </p:spPr>
      </p:sp>
      <p:sp>
        <p:nvSpPr>
          <p:cNvPr id="33" name="field-badge-2">
            <a:extLst xmlns:a="http://schemas.openxmlformats.org/drawingml/2006/main">
              <a:ext uri="{FF2B5EF4-FFF2-40B4-BE49-F238E27FC236}">
                <a16:creationId xmlns:a16="http://schemas.microsoft.com/office/drawing/2014/main" id="{3BD10BDF-BF90-4A72-86B8-F6419DE9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81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4" name="field-number-2">
            <a:extLst xmlns:a="http://schemas.openxmlformats.org/drawingml/2006/main">
              <a:ext uri="{FF2B5EF4-FFF2-40B4-BE49-F238E27FC236}">
                <a16:creationId xmlns:a16="http://schemas.microsoft.com/office/drawing/2014/main" id="{A058B0BC-3B58-4E4A-9CA8-7B8A20CCB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814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5" name="callout-box-3">
            <a:extLst xmlns:a="http://schemas.openxmlformats.org/drawingml/2006/main">
              <a:ext uri="{FF2B5EF4-FFF2-40B4-BE49-F238E27FC236}">
                <a16:creationId xmlns:a16="http://schemas.microsoft.com/office/drawing/2014/main" id="{2C8FA209-6B22-4687-8603-3A605819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38500"/>
            <a:ext cx="3790950" cy="895350"/>
          </a:xfrm>
          <a:prstGeom xmlns:a="http://schemas.openxmlformats.org/drawingml/2006/main" prst="roundRect">
            <a:avLst>
              <a:gd name="adj" fmla="val 851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DEEC"/>
            </a:solidFill>
            <a:prstDash val="solid"/>
          </a:ln>
        </p:spPr>
      </p:sp>
      <p:sp>
        <p:nvSpPr>
          <p:cNvPr id="36" name="field-badge-3">
            <a:extLst xmlns:a="http://schemas.openxmlformats.org/drawingml/2006/main">
              <a:ext uri="{FF2B5EF4-FFF2-40B4-BE49-F238E27FC236}">
                <a16:creationId xmlns:a16="http://schemas.microsoft.com/office/drawing/2014/main" id="{19BA6DC8-17D4-4462-89B7-F75F47C3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210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7" name="field-number-3">
            <a:extLst xmlns:a="http://schemas.openxmlformats.org/drawingml/2006/main">
              <a:ext uri="{FF2B5EF4-FFF2-40B4-BE49-F238E27FC236}">
                <a16:creationId xmlns:a16="http://schemas.microsoft.com/office/drawing/2014/main" id="{5BCE01D6-7127-4D68-BBE7-24E3CDCD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210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8" name="callout-box-4">
            <a:extLst xmlns:a="http://schemas.openxmlformats.org/drawingml/2006/main">
              <a:ext uri="{FF2B5EF4-FFF2-40B4-BE49-F238E27FC236}">
                <a16:creationId xmlns:a16="http://schemas.microsoft.com/office/drawing/2014/main" id="{A0FC6B3F-C3FA-4C35-A383-B698DBCE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91000"/>
            <a:ext cx="3790950" cy="895350"/>
          </a:xfrm>
          <a:prstGeom xmlns:a="http://schemas.openxmlformats.org/drawingml/2006/main" prst="roundRect">
            <a:avLst>
              <a:gd name="adj" fmla="val 851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AFE0"/>
            </a:solidFill>
            <a:prstDash val="solid"/>
          </a:ln>
        </p:spPr>
      </p:sp>
      <p:sp>
        <p:nvSpPr>
          <p:cNvPr id="39" name="callout-title-4">
            <a:extLst xmlns:a="http://schemas.openxmlformats.org/drawingml/2006/main">
              <a:ext uri="{FF2B5EF4-FFF2-40B4-BE49-F238E27FC236}">
                <a16:creationId xmlns:a16="http://schemas.microsoft.com/office/drawing/2014/main" id="{6924A040-8E1E-4E1E-A6E0-8381D9F88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862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</a:rPr>
              <a:t>Loan cap base</a:t>
            </a:r>
          </a:p>
        </p:txBody>
      </p:sp>
      <p:sp>
        <p:nvSpPr>
          <p:cNvPr id="40" name="callout-copy-4">
            <a:extLst xmlns:a="http://schemas.openxmlformats.org/drawingml/2006/main">
              <a:ext uri="{FF2B5EF4-FFF2-40B4-BE49-F238E27FC236}">
                <a16:creationId xmlns:a16="http://schemas.microsoft.com/office/drawing/2014/main" id="{EA1C501E-36A4-4DCF-A983-1BED9A2C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505325"/>
            <a:ext cx="346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Selects the pay amount used when limiting loan collections.</a:t>
            </a:r>
          </a:p>
        </p:txBody>
      </p:sp>
      <p:sp>
        <p:nvSpPr>
          <p:cNvPr id="41" name="field-badge-4">
            <a:extLst xmlns:a="http://schemas.openxmlformats.org/drawingml/2006/main">
              <a:ext uri="{FF2B5EF4-FFF2-40B4-BE49-F238E27FC236}">
                <a16:creationId xmlns:a16="http://schemas.microsoft.com/office/drawing/2014/main" id="{426F3C94-447C-4DA1-8EED-000CBCE4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14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2" name="field-number-4">
            <a:extLst xmlns:a="http://schemas.openxmlformats.org/drawingml/2006/main">
              <a:ext uri="{FF2B5EF4-FFF2-40B4-BE49-F238E27FC236}">
                <a16:creationId xmlns:a16="http://schemas.microsoft.com/office/drawing/2014/main" id="{65CC8D44-FA69-408F-AFCD-FF508C71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1149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3" name="callout-box-5">
            <a:extLst xmlns:a="http://schemas.openxmlformats.org/drawingml/2006/main">
              <a:ext uri="{FF2B5EF4-FFF2-40B4-BE49-F238E27FC236}">
                <a16:creationId xmlns:a16="http://schemas.microsoft.com/office/drawing/2014/main" id="{DED277E5-E84F-4710-83F5-DAA2EDC1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43500"/>
            <a:ext cx="3790950" cy="895350"/>
          </a:xfrm>
          <a:prstGeom xmlns:a="http://schemas.openxmlformats.org/drawingml/2006/main" prst="roundRect">
            <a:avLst>
              <a:gd name="adj" fmla="val 851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DEEC"/>
            </a:solidFill>
            <a:prstDash val="solid"/>
          </a:ln>
        </p:spPr>
      </p:sp>
      <p:sp>
        <p:nvSpPr>
          <p:cNvPr id="44" name="callout-title-5">
            <a:extLst xmlns:a="http://schemas.openxmlformats.org/drawingml/2006/main">
              <a:ext uri="{FF2B5EF4-FFF2-40B4-BE49-F238E27FC236}">
                <a16:creationId xmlns:a16="http://schemas.microsoft.com/office/drawing/2014/main" id="{B4ACD06E-A93B-49A0-A022-2B929ACB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2387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</a:rPr>
              <a:t>Loan cap type + cap</a:t>
            </a:r>
          </a:p>
        </p:txBody>
      </p:sp>
      <p:sp>
        <p:nvSpPr>
          <p:cNvPr id="45" name="callout-copy-5">
            <a:extLst xmlns:a="http://schemas.openxmlformats.org/drawingml/2006/main">
              <a:ext uri="{FF2B5EF4-FFF2-40B4-BE49-F238E27FC236}">
                <a16:creationId xmlns:a16="http://schemas.microsoft.com/office/drawing/2014/main" id="{57B99E62-B314-4A18-976F-EC489F39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457825"/>
            <a:ext cx="346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Defines percentage or fixed treatment and the maximum loan collection for the cutoff.</a:t>
            </a:r>
          </a:p>
        </p:txBody>
      </p:sp>
      <p:sp>
        <p:nvSpPr>
          <p:cNvPr id="46" name="field-badge-5">
            <a:extLst xmlns:a="http://schemas.openxmlformats.org/drawingml/2006/main">
              <a:ext uri="{FF2B5EF4-FFF2-40B4-BE49-F238E27FC236}">
                <a16:creationId xmlns:a16="http://schemas.microsoft.com/office/drawing/2014/main" id="{90C54D14-C657-4060-A542-18119892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829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7" name="field-number-5">
            <a:extLst xmlns:a="http://schemas.openxmlformats.org/drawingml/2006/main">
              <a:ext uri="{FF2B5EF4-FFF2-40B4-BE49-F238E27FC236}">
                <a16:creationId xmlns:a16="http://schemas.microsoft.com/office/drawing/2014/main" id="{FE82C4C4-8820-4FBC-A56B-8F95322A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8293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43830440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4B2BF85-0BF5-4382-B7D5-53AC14CD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86154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75" b="1">
                <a:solidFill>
                  <a:srgbClr val="5C2A91"/>
                </a:solidFill>
              </a:defRPr>
            </a:pPr>
            <a:r>
              <a:rPr sz="975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TAKE-HOME PAY · FIELD GUIDE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2576D19-5577-4E5B-B56E-29A1CF15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Deferral, disclosure, and ownership</a:t>
            </a:r>
            <a:endParaRPr sz="3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8BC8BEE-B1AA-491C-9B94-35DF745D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34150"/>
            <a:ext cx="676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7531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63" b="0">
                <a:solidFill>
                  <a:srgbClr val="66645F"/>
                </a:solidFill>
              </a:defRPr>
            </a:pPr>
            <a:r>
              <a:rPr sz="863" b="0" i="1">
                <a:solidFill>
                  <a:srgbClr val="66645F"/>
                </a:solidFill>
                <a:latin typeface="Calibri"/>
                <a:ea typeface="Calibri"/>
                <a:cs typeface="Calibri"/>
              </a:rPr>
              <a:t>Numbered arrows point to the live wireframe control; values shown are demo data.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B3120DF-6AB8-4F7C-9457-69EA6986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4287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Attendance cap base/type/cap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6FDB5AC-ACF9-405B-93CA-447BE984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478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78338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Defines the attendance ceiling before the engine begins adjusting lower-priority collections.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A486993-08D4-4CE6-83BF-47E286ED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288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Auto-defer or stagger deductions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F527EB4-40CF-4974-B5E5-290CE661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479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73637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Allows the engine to reduce or postpone lower-priority deductions when earnings are insufficient.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12CAB97-78FB-4B8F-B4F1-9DE84889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289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Carry forward to next payroll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4A9A322-42C2-402F-84B8-4E048A3E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480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7917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Stores outstanding amount, reason, rescheduled date, and new balance for the next cutoff.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B88E967-BAE5-41BD-B55A-B3BF924D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33500"/>
            <a:ext cx="3790950" cy="74295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1D3F8BD-A1AB-4B4A-8D41-D735C1B7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534150"/>
            <a:ext cx="37909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788" b="0">
                <a:solidFill>
                  <a:srgbClr val="66645F"/>
                </a:solidFill>
              </a:defRPr>
            </a:pPr>
            <a:r>
              <a:rPr sz="788" b="0">
                <a:solidFill>
                  <a:srgbClr val="66645F"/>
                </a:solidFill>
                <a:latin typeface="Calibri"/>
                <a:ea typeface="Calibri"/>
                <a:cs typeface="Calibri"/>
              </a:rPr>
              <a:t>Source · ATLAS local wireframe · Client view</a:t>
            </a:r>
            <a:endParaRPr sz="1000"/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d5ba95a9ab4442"/>
          <a:stretch xmlns:a="http://schemas.openxmlformats.org/drawingml/2006/main"/>
        </p:blipFill>
        <p:spPr>
          <a:xfrm xmlns:a="http://schemas.openxmlformats.org/drawingml/2006/main">
            <a:off x="2381250" y="1795277"/>
            <a:ext cx="3790950" cy="4181846"/>
          </a:xfrm>
          <a:prstGeom xmlns:a="http://schemas.openxmlformats.org/drawingml/2006/main" prst="rect">
            <a:avLst/>
          </a:prstGeom>
        </p:spPr>
      </p:pic>
      <p:sp>
        <p:nvSpPr>
          <p:cNvPr id="15" name="callout-anchor-1">
            <a:extLst xmlns:a="http://schemas.openxmlformats.org/drawingml/2006/main">
              <a:ext uri="{FF2B5EF4-FFF2-40B4-BE49-F238E27FC236}">
                <a16:creationId xmlns:a16="http://schemas.microsoft.com/office/drawing/2014/main" id="{8CA2F6F0-D45D-46A1-B249-D3B7E1BF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7049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field-anchor-1">
            <a:extLst xmlns:a="http://schemas.openxmlformats.org/drawingml/2006/main">
              <a:ext uri="{FF2B5EF4-FFF2-40B4-BE49-F238E27FC236}">
                <a16:creationId xmlns:a16="http://schemas.microsoft.com/office/drawing/2014/main" id="{62CD4403-005A-49F1-A8E1-25ADD516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8573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0" name=""/>
          <p:cNvCxnSpPr>
            <a:stCxn xmlns:a="http://schemas.openxmlformats.org/drawingml/2006/main" id="15" idx="2"/>
            <a:endCxn xmlns:a="http://schemas.openxmlformats.org/drawingml/2006/main" id="16" idx="6"/>
          </p:cNvCxnSpPr>
          <p:nvPr/>
        </p:nvCxnSpPr>
        <p:spPr>
          <a:xfrm xmlns:a="http://schemas.openxmlformats.org/drawingml/2006/main" flipH="1">
            <a:off x="6134100" y="1709738"/>
            <a:ext cx="1666875" cy="152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18" name="callout-anchor-2">
            <a:extLst xmlns:a="http://schemas.openxmlformats.org/drawingml/2006/main">
              <a:ext uri="{FF2B5EF4-FFF2-40B4-BE49-F238E27FC236}">
                <a16:creationId xmlns:a16="http://schemas.microsoft.com/office/drawing/2014/main" id="{A8083B78-BBFF-4115-A0A8-59470C09E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5050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field-anchor-2">
            <a:extLst xmlns:a="http://schemas.openxmlformats.org/drawingml/2006/main">
              <a:ext uri="{FF2B5EF4-FFF2-40B4-BE49-F238E27FC236}">
                <a16:creationId xmlns:a16="http://schemas.microsoft.com/office/drawing/2014/main" id="{E0A63A1F-7126-4BD6-8976-5C9755A4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04800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3" name=""/>
          <p:cNvCxnSpPr>
            <a:stCxn xmlns:a="http://schemas.openxmlformats.org/drawingml/2006/main" id="18" idx="2"/>
            <a:endCxn xmlns:a="http://schemas.openxmlformats.org/drawingml/2006/main" id="19" idx="6"/>
          </p:cNvCxnSpPr>
          <p:nvPr/>
        </p:nvCxnSpPr>
        <p:spPr>
          <a:xfrm xmlns:a="http://schemas.openxmlformats.org/drawingml/2006/main" flipH="1">
            <a:off x="6134100" y="2509838"/>
            <a:ext cx="1666875" cy="542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21" name="callout-anchor-3">
            <a:extLst xmlns:a="http://schemas.openxmlformats.org/drawingml/2006/main">
              <a:ext uri="{FF2B5EF4-FFF2-40B4-BE49-F238E27FC236}">
                <a16:creationId xmlns:a16="http://schemas.microsoft.com/office/drawing/2014/main" id="{1506C9C8-4E70-4167-A240-5A6EBA86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3051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field-anchor-3">
            <a:extLst xmlns:a="http://schemas.openxmlformats.org/drawingml/2006/main">
              <a:ext uri="{FF2B5EF4-FFF2-40B4-BE49-F238E27FC236}">
                <a16:creationId xmlns:a16="http://schemas.microsoft.com/office/drawing/2014/main" id="{AA406262-38DF-40A0-8EF3-FB60D2D6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5718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6" name=""/>
          <p:cNvCxnSpPr>
            <a:stCxn xmlns:a="http://schemas.openxmlformats.org/drawingml/2006/main" id="21" idx="2"/>
            <a:endCxn xmlns:a="http://schemas.openxmlformats.org/drawingml/2006/main" id="22" idx="6"/>
          </p:cNvCxnSpPr>
          <p:nvPr/>
        </p:nvCxnSpPr>
        <p:spPr>
          <a:xfrm xmlns:a="http://schemas.openxmlformats.org/drawingml/2006/main" flipH="1">
            <a:off x="6134100" y="3309938"/>
            <a:ext cx="1666875" cy="2667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24" name="callout-anchor-4">
            <a:extLst xmlns:a="http://schemas.openxmlformats.org/drawingml/2006/main">
              <a:ext uri="{FF2B5EF4-FFF2-40B4-BE49-F238E27FC236}">
                <a16:creationId xmlns:a16="http://schemas.microsoft.com/office/drawing/2014/main" id="{7DE1ECCD-B3B1-42A9-B81B-1D7551E1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1052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field-anchor-4">
            <a:extLst xmlns:a="http://schemas.openxmlformats.org/drawingml/2006/main">
              <a:ext uri="{FF2B5EF4-FFF2-40B4-BE49-F238E27FC236}">
                <a16:creationId xmlns:a16="http://schemas.microsoft.com/office/drawing/2014/main" id="{8D66CCF4-E454-4453-8642-D002CB86A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09575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9" name=""/>
          <p:cNvCxnSpPr>
            <a:stCxn xmlns:a="http://schemas.openxmlformats.org/drawingml/2006/main" id="24" idx="2"/>
            <a:endCxn xmlns:a="http://schemas.openxmlformats.org/drawingml/2006/main" id="25" idx="6"/>
          </p:cNvCxnSpPr>
          <p:nvPr/>
        </p:nvCxnSpPr>
        <p:spPr>
          <a:xfrm xmlns:a="http://schemas.openxmlformats.org/drawingml/2006/main" flipH="1" flipV="1">
            <a:off x="6134100" y="4100513"/>
            <a:ext cx="1666875" cy="9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27" name="callout-anchor-5">
            <a:extLst xmlns:a="http://schemas.openxmlformats.org/drawingml/2006/main">
              <a:ext uri="{FF2B5EF4-FFF2-40B4-BE49-F238E27FC236}">
                <a16:creationId xmlns:a16="http://schemas.microsoft.com/office/drawing/2014/main" id="{0A590B57-E63B-4306-83B6-B6122A2BB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9053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field-anchor-5">
            <a:extLst xmlns:a="http://schemas.openxmlformats.org/drawingml/2006/main">
              <a:ext uri="{FF2B5EF4-FFF2-40B4-BE49-F238E27FC236}">
                <a16:creationId xmlns:a16="http://schemas.microsoft.com/office/drawing/2014/main" id="{81236953-D281-428F-849D-29A3603C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61962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2" name=""/>
          <p:cNvCxnSpPr>
            <a:stCxn xmlns:a="http://schemas.openxmlformats.org/drawingml/2006/main" id="27" idx="2"/>
            <a:endCxn xmlns:a="http://schemas.openxmlformats.org/drawingml/2006/main" id="28" idx="6"/>
          </p:cNvCxnSpPr>
          <p:nvPr/>
        </p:nvCxnSpPr>
        <p:spPr>
          <a:xfrm xmlns:a="http://schemas.openxmlformats.org/drawingml/2006/main" flipH="1" flipV="1">
            <a:off x="6134100" y="4624388"/>
            <a:ext cx="1666875" cy="285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30" name="callout-anchor-6">
            <a:extLst xmlns:a="http://schemas.openxmlformats.org/drawingml/2006/main">
              <a:ext uri="{FF2B5EF4-FFF2-40B4-BE49-F238E27FC236}">
                <a16:creationId xmlns:a16="http://schemas.microsoft.com/office/drawing/2014/main" id="{B74F4C6C-402B-4AF2-BE21-E9508F65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7054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" name="field-anchor-6">
            <a:extLst xmlns:a="http://schemas.openxmlformats.org/drawingml/2006/main">
              <a:ext uri="{FF2B5EF4-FFF2-40B4-BE49-F238E27FC236}">
                <a16:creationId xmlns:a16="http://schemas.microsoft.com/office/drawing/2014/main" id="{3B092D6E-074E-455D-A0ED-E2F390B0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57212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5" name=""/>
          <p:cNvCxnSpPr>
            <a:stCxn xmlns:a="http://schemas.openxmlformats.org/drawingml/2006/main" id="30" idx="2"/>
            <a:endCxn xmlns:a="http://schemas.openxmlformats.org/drawingml/2006/main" id="31" idx="6"/>
          </p:cNvCxnSpPr>
          <p:nvPr/>
        </p:nvCxnSpPr>
        <p:spPr>
          <a:xfrm xmlns:a="http://schemas.openxmlformats.org/drawingml/2006/main" flipH="1" flipV="1">
            <a:off x="6134100" y="5576888"/>
            <a:ext cx="1666875" cy="1333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33" name="field-badge-1">
            <a:extLst xmlns:a="http://schemas.openxmlformats.org/drawingml/2006/main">
              <a:ext uri="{FF2B5EF4-FFF2-40B4-BE49-F238E27FC236}">
                <a16:creationId xmlns:a16="http://schemas.microsoft.com/office/drawing/2014/main" id="{8451E90E-54DE-4D5B-861B-4AFAC6FB3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33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4" name="field-number-1">
            <a:extLst xmlns:a="http://schemas.openxmlformats.org/drawingml/2006/main">
              <a:ext uri="{FF2B5EF4-FFF2-40B4-BE49-F238E27FC236}">
                <a16:creationId xmlns:a16="http://schemas.microsoft.com/office/drawing/2014/main" id="{C89FB6F7-69ED-4B59-BFF7-FF70BFF7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7335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5" name="callout-box-2">
            <a:extLst xmlns:a="http://schemas.openxmlformats.org/drawingml/2006/main">
              <a:ext uri="{FF2B5EF4-FFF2-40B4-BE49-F238E27FC236}">
                <a16:creationId xmlns:a16="http://schemas.microsoft.com/office/drawing/2014/main" id="{52ADEC78-9D9A-4963-8B3B-155A5D717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336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AFE0"/>
            </a:solidFill>
            <a:prstDash val="solid"/>
          </a:ln>
        </p:spPr>
      </p:sp>
      <p:sp>
        <p:nvSpPr>
          <p:cNvPr id="36" name="field-badge-2">
            <a:extLst xmlns:a="http://schemas.openxmlformats.org/drawingml/2006/main">
              <a:ext uri="{FF2B5EF4-FFF2-40B4-BE49-F238E27FC236}">
                <a16:creationId xmlns:a16="http://schemas.microsoft.com/office/drawing/2014/main" id="{8044F4EC-1F6B-4FE2-A29E-D4288051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241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7" name="field-number-2">
            <a:extLst xmlns:a="http://schemas.openxmlformats.org/drawingml/2006/main">
              <a:ext uri="{FF2B5EF4-FFF2-40B4-BE49-F238E27FC236}">
                <a16:creationId xmlns:a16="http://schemas.microsoft.com/office/drawing/2014/main" id="{238DC476-5817-48B7-9CBC-3BEF917B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9241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8" name="callout-box-3">
            <a:extLst xmlns:a="http://schemas.openxmlformats.org/drawingml/2006/main">
              <a:ext uri="{FF2B5EF4-FFF2-40B4-BE49-F238E27FC236}">
                <a16:creationId xmlns:a16="http://schemas.microsoft.com/office/drawing/2014/main" id="{8112E437-A76E-4092-A789-28E64601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337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DEEC"/>
            </a:solidFill>
            <a:prstDash val="solid"/>
          </a:ln>
        </p:spPr>
      </p:sp>
      <p:sp>
        <p:nvSpPr>
          <p:cNvPr id="39" name="field-badge-3">
            <a:extLst xmlns:a="http://schemas.openxmlformats.org/drawingml/2006/main">
              <a:ext uri="{FF2B5EF4-FFF2-40B4-BE49-F238E27FC236}">
                <a16:creationId xmlns:a16="http://schemas.microsoft.com/office/drawing/2014/main" id="{F70E3F50-77AA-4BD3-BCE7-27483E4C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48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0" name="field-number-3">
            <a:extLst xmlns:a="http://schemas.openxmlformats.org/drawingml/2006/main">
              <a:ext uri="{FF2B5EF4-FFF2-40B4-BE49-F238E27FC236}">
                <a16:creationId xmlns:a16="http://schemas.microsoft.com/office/drawing/2014/main" id="{4D25DF53-C4E1-4342-8941-74CA112C9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48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1" name="callout-box-4">
            <a:extLst xmlns:a="http://schemas.openxmlformats.org/drawingml/2006/main">
              <a:ext uri="{FF2B5EF4-FFF2-40B4-BE49-F238E27FC236}">
                <a16:creationId xmlns:a16="http://schemas.microsoft.com/office/drawing/2014/main" id="{32C1CB44-A1D6-4197-9E7B-983461C2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338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AFE0"/>
            </a:solidFill>
            <a:prstDash val="solid"/>
          </a:ln>
        </p:spPr>
      </p:sp>
      <p:sp>
        <p:nvSpPr>
          <p:cNvPr id="42" name="callout-title-4">
            <a:extLst xmlns:a="http://schemas.openxmlformats.org/drawingml/2006/main">
              <a:ext uri="{FF2B5EF4-FFF2-40B4-BE49-F238E27FC236}">
                <a16:creationId xmlns:a16="http://schemas.microsoft.com/office/drawing/2014/main" id="{FF5FA56C-6E89-42F7-B737-B3EFA8F17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</a:rPr>
              <a:t>Payslip tagging</a:t>
            </a:r>
          </a:p>
        </p:txBody>
      </p:sp>
      <p:sp>
        <p:nvSpPr>
          <p:cNvPr id="43" name="callout-copy-4">
            <a:extLst xmlns:a="http://schemas.openxmlformats.org/drawingml/2006/main">
              <a:ext uri="{FF2B5EF4-FFF2-40B4-BE49-F238E27FC236}">
                <a16:creationId xmlns:a16="http://schemas.microsoft.com/office/drawing/2014/main" id="{537ACFE7-0CAE-42E1-AB68-BF7248B3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481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616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Shows original due, deducted, deferred, accumulated, and remaining values to the employee.</a:t>
            </a:r>
          </a:p>
        </p:txBody>
      </p:sp>
      <p:sp>
        <p:nvSpPr>
          <p:cNvPr id="44" name="field-badge-4">
            <a:extLst xmlns:a="http://schemas.openxmlformats.org/drawingml/2006/main">
              <a:ext uri="{FF2B5EF4-FFF2-40B4-BE49-F238E27FC236}">
                <a16:creationId xmlns:a16="http://schemas.microsoft.com/office/drawing/2014/main" id="{A2823AD5-50A7-402F-AB6F-737CE3D44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71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5" name="field-number-4">
            <a:extLst xmlns:a="http://schemas.openxmlformats.org/drawingml/2006/main">
              <a:ext uri="{FF2B5EF4-FFF2-40B4-BE49-F238E27FC236}">
                <a16:creationId xmlns:a16="http://schemas.microsoft.com/office/drawing/2014/main" id="{3880B8DF-542A-40C3-9EF1-F0A05399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9719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6" name="callout-box-5">
            <a:extLst xmlns:a="http://schemas.openxmlformats.org/drawingml/2006/main">
              <a:ext uri="{FF2B5EF4-FFF2-40B4-BE49-F238E27FC236}">
                <a16:creationId xmlns:a16="http://schemas.microsoft.com/office/drawing/2014/main" id="{9867197D-2C2E-4D90-BF72-CB0C628F0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DEEC"/>
            </a:solidFill>
            <a:prstDash val="solid"/>
          </a:ln>
        </p:spPr>
      </p:sp>
      <p:sp>
        <p:nvSpPr>
          <p:cNvPr id="47" name="callout-title-5">
            <a:extLst xmlns:a="http://schemas.openxmlformats.org/drawingml/2006/main">
              <a:ext uri="{FF2B5EF4-FFF2-40B4-BE49-F238E27FC236}">
                <a16:creationId xmlns:a16="http://schemas.microsoft.com/office/drawing/2014/main" id="{63622D36-F8BB-4CF7-ACB2-B26D0F784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291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</a:rPr>
              <a:t>Admin and employee notification</a:t>
            </a:r>
          </a:p>
        </p:txBody>
      </p:sp>
      <p:sp>
        <p:nvSpPr>
          <p:cNvPr id="48" name="callout-copy-5">
            <a:extLst xmlns:a="http://schemas.openxmlformats.org/drawingml/2006/main">
              <a:ext uri="{FF2B5EF4-FFF2-40B4-BE49-F238E27FC236}">
                <a16:creationId xmlns:a16="http://schemas.microsoft.com/office/drawing/2014/main" id="{17B1D4E3-99C3-455D-A3E1-3ACAE983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482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616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Sends an alert when an item is deferred or an exception still requires action.</a:t>
            </a:r>
          </a:p>
        </p:txBody>
      </p:sp>
      <p:sp>
        <p:nvSpPr>
          <p:cNvPr id="49" name="field-badge-5">
            <a:extLst xmlns:a="http://schemas.openxmlformats.org/drawingml/2006/main">
              <a:ext uri="{FF2B5EF4-FFF2-40B4-BE49-F238E27FC236}">
                <a16:creationId xmlns:a16="http://schemas.microsoft.com/office/drawing/2014/main" id="{BBF68A02-AF68-42CA-87AB-1919E259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495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0" name="field-number-5">
            <a:extLst xmlns:a="http://schemas.openxmlformats.org/drawingml/2006/main">
              <a:ext uri="{FF2B5EF4-FFF2-40B4-BE49-F238E27FC236}">
                <a16:creationId xmlns:a16="http://schemas.microsoft.com/office/drawing/2014/main" id="{11C6F33B-7C41-4D18-81DF-43DE41CF0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495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1" name="callout-box-6">
            <a:extLst xmlns:a="http://schemas.openxmlformats.org/drawingml/2006/main">
              <a:ext uri="{FF2B5EF4-FFF2-40B4-BE49-F238E27FC236}">
                <a16:creationId xmlns:a16="http://schemas.microsoft.com/office/drawing/2014/main" id="{AD2655F4-6A43-47F6-A778-181FDE96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340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AFE0"/>
            </a:solidFill>
            <a:prstDash val="solid"/>
          </a:ln>
        </p:spPr>
      </p:sp>
      <p:sp>
        <p:nvSpPr>
          <p:cNvPr id="52" name="callout-title-6">
            <a:extLst xmlns:a="http://schemas.openxmlformats.org/drawingml/2006/main">
              <a:ext uri="{FF2B5EF4-FFF2-40B4-BE49-F238E27FC236}">
                <a16:creationId xmlns:a16="http://schemas.microsoft.com/office/drawing/2014/main" id="{08CBA74A-B695-4542-A61D-71DB8225E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4292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</a:rPr>
              <a:t>REF-011 + module links</a:t>
            </a:r>
          </a:p>
        </p:txBody>
      </p:sp>
      <p:sp>
        <p:nvSpPr>
          <p:cNvPr id="53" name="callout-copy-6">
            <a:extLst xmlns:a="http://schemas.openxmlformats.org/drawingml/2006/main">
              <a:ext uri="{FF2B5EF4-FFF2-40B4-BE49-F238E27FC236}">
                <a16:creationId xmlns:a16="http://schemas.microsoft.com/office/drawing/2014/main" id="{92771E74-09A2-42FE-A791-7B0E3E8D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6483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616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Deduction, Company Loan, and Government Loan modules own codes/balances; REF-011 owns only their adjustment order.</a:t>
            </a:r>
          </a:p>
        </p:txBody>
      </p:sp>
      <p:sp>
        <p:nvSpPr>
          <p:cNvPr id="54" name="field-badge-6">
            <a:extLst xmlns:a="http://schemas.openxmlformats.org/drawingml/2006/main">
              <a:ext uri="{FF2B5EF4-FFF2-40B4-BE49-F238E27FC236}">
                <a16:creationId xmlns:a16="http://schemas.microsoft.com/office/drawing/2014/main" id="{281CA80B-1C71-4DC7-8E9B-24E97139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448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5" name="field-number-6">
            <a:extLst xmlns:a="http://schemas.openxmlformats.org/drawingml/2006/main">
              <a:ext uri="{FF2B5EF4-FFF2-40B4-BE49-F238E27FC236}">
                <a16:creationId xmlns:a16="http://schemas.microsoft.com/office/drawing/2014/main" id="{4E09C076-FBDD-4802-BE3A-7C80A775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4483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43830440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4B2BF85-0BF5-4382-B7D5-53AC14CD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86154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75" b="1">
                <a:solidFill>
                  <a:srgbClr val="5C2A91"/>
                </a:solidFill>
              </a:defRPr>
            </a:pPr>
            <a:r>
              <a:rPr sz="975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TAKE-HOME PAY · FIELD GUIDE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2576D19-5577-4E5B-B56E-29A1CF15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Hierarchy rows and carry-forward balances</a:t>
            </a:r>
            <a:endParaRPr sz="3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8BC8BEE-B1AA-491C-9B94-35DF745D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34150"/>
            <a:ext cx="676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7531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63" b="0">
                <a:solidFill>
                  <a:srgbClr val="66645F"/>
                </a:solidFill>
              </a:defRPr>
            </a:pPr>
            <a:r>
              <a:rPr sz="863" b="0" i="1">
                <a:solidFill>
                  <a:srgbClr val="66645F"/>
                </a:solidFill>
                <a:latin typeface="Calibri"/>
                <a:ea typeface="Calibri"/>
                <a:cs typeface="Calibri"/>
              </a:rPr>
              <a:t>Numbered arrows point to the live wireframe control; values shown are demo data.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B3120DF-6AB8-4F7C-9457-69EA6986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4287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Priority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6FDB5AC-ACF9-405B-93CA-447BE984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478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72213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Lower rank numbers are adjusted first; statutory deductions remain protected and outside deferral.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A486993-08D4-4CE6-83BF-47E286ED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288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Collection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F527EB4-40CF-4974-B5E5-290CE661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479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84999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Displays the owning module code, classification, and partial/full-deduction behavior.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12CAB97-78FB-4B8F-B4F1-9DE84889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289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Amount due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4A9A322-42C2-402F-84B8-4E048A3E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480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5337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Current cutoff amount requested by the owning deduction or loan module.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B88E967-BAE5-41BD-B55A-B3BF924D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33500"/>
            <a:ext cx="3790950" cy="74295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1D3F8BD-A1AB-4B4A-8D41-D735C1B7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534150"/>
            <a:ext cx="37909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788" b="0">
                <a:solidFill>
                  <a:srgbClr val="66645F"/>
                </a:solidFill>
              </a:defRPr>
            </a:pPr>
            <a:r>
              <a:rPr sz="788" b="0">
                <a:solidFill>
                  <a:srgbClr val="66645F"/>
                </a:solidFill>
                <a:latin typeface="Calibri"/>
                <a:ea typeface="Calibri"/>
                <a:cs typeface="Calibri"/>
              </a:rPr>
              <a:t>Source · ATLAS local wireframe · Client view</a:t>
            </a:r>
            <a:endParaRPr sz="1000"/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1a643afdee4d92"/>
          <a:stretch xmlns:a="http://schemas.openxmlformats.org/drawingml/2006/main"/>
        </p:blipFill>
        <p:spPr>
          <a:xfrm xmlns:a="http://schemas.openxmlformats.org/drawingml/2006/main">
            <a:off x="2476500" y="1257379"/>
            <a:ext cx="3581400" cy="5257643"/>
          </a:xfrm>
          <a:prstGeom xmlns:a="http://schemas.openxmlformats.org/drawingml/2006/main" prst="rect">
            <a:avLst/>
          </a:prstGeom>
        </p:spPr>
      </p:pic>
      <p:sp>
        <p:nvSpPr>
          <p:cNvPr id="15" name="callout-anchor-1">
            <a:extLst xmlns:a="http://schemas.openxmlformats.org/drawingml/2006/main">
              <a:ext uri="{FF2B5EF4-FFF2-40B4-BE49-F238E27FC236}">
                <a16:creationId xmlns:a16="http://schemas.microsoft.com/office/drawing/2014/main" id="{2D24162F-D979-47AC-95EB-8462F84F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7049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field-anchor-1">
            <a:extLst xmlns:a="http://schemas.openxmlformats.org/drawingml/2006/main">
              <a:ext uri="{FF2B5EF4-FFF2-40B4-BE49-F238E27FC236}">
                <a16:creationId xmlns:a16="http://schemas.microsoft.com/office/drawing/2014/main" id="{65356E42-A7FB-4727-BE3A-BFE09D745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163830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0" name=""/>
          <p:cNvCxnSpPr>
            <a:stCxn xmlns:a="http://schemas.openxmlformats.org/drawingml/2006/main" id="15" idx="2"/>
            <a:endCxn xmlns:a="http://schemas.openxmlformats.org/drawingml/2006/main" id="16" idx="6"/>
          </p:cNvCxnSpPr>
          <p:nvPr/>
        </p:nvCxnSpPr>
        <p:spPr>
          <a:xfrm xmlns:a="http://schemas.openxmlformats.org/drawingml/2006/main" flipH="1" flipV="1">
            <a:off x="6019800" y="1643063"/>
            <a:ext cx="1781175" cy="666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18" name="callout-anchor-2">
            <a:extLst xmlns:a="http://schemas.openxmlformats.org/drawingml/2006/main">
              <a:ext uri="{FF2B5EF4-FFF2-40B4-BE49-F238E27FC236}">
                <a16:creationId xmlns:a16="http://schemas.microsoft.com/office/drawing/2014/main" id="{AD566684-88E8-4B13-BC1D-3D61DF42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5050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field-anchor-2">
            <a:extLst xmlns:a="http://schemas.openxmlformats.org/drawingml/2006/main">
              <a:ext uri="{FF2B5EF4-FFF2-40B4-BE49-F238E27FC236}">
                <a16:creationId xmlns:a16="http://schemas.microsoft.com/office/drawing/2014/main" id="{558D0F67-115A-4216-8006-650C8CAD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38125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3" name=""/>
          <p:cNvCxnSpPr>
            <a:stCxn xmlns:a="http://schemas.openxmlformats.org/drawingml/2006/main" id="18" idx="2"/>
            <a:endCxn xmlns:a="http://schemas.openxmlformats.org/drawingml/2006/main" id="19" idx="6"/>
          </p:cNvCxnSpPr>
          <p:nvPr/>
        </p:nvCxnSpPr>
        <p:spPr>
          <a:xfrm xmlns:a="http://schemas.openxmlformats.org/drawingml/2006/main" flipH="1" flipV="1">
            <a:off x="6019800" y="2386013"/>
            <a:ext cx="1781175" cy="123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21" name="callout-anchor-3">
            <a:extLst xmlns:a="http://schemas.openxmlformats.org/drawingml/2006/main">
              <a:ext uri="{FF2B5EF4-FFF2-40B4-BE49-F238E27FC236}">
                <a16:creationId xmlns:a16="http://schemas.microsoft.com/office/drawing/2014/main" id="{83A62621-11F2-42E8-9CDB-9FDD2684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3051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field-anchor-3">
            <a:extLst xmlns:a="http://schemas.openxmlformats.org/drawingml/2006/main">
              <a:ext uri="{FF2B5EF4-FFF2-40B4-BE49-F238E27FC236}">
                <a16:creationId xmlns:a16="http://schemas.microsoft.com/office/drawing/2014/main" id="{718DB0A4-3618-4143-9FEC-04668567A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14325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6" name=""/>
          <p:cNvCxnSpPr>
            <a:stCxn xmlns:a="http://schemas.openxmlformats.org/drawingml/2006/main" id="21" idx="2"/>
            <a:endCxn xmlns:a="http://schemas.openxmlformats.org/drawingml/2006/main" id="22" idx="6"/>
          </p:cNvCxnSpPr>
          <p:nvPr/>
        </p:nvCxnSpPr>
        <p:spPr>
          <a:xfrm xmlns:a="http://schemas.openxmlformats.org/drawingml/2006/main" flipH="1" flipV="1">
            <a:off x="6019800" y="3148013"/>
            <a:ext cx="1781175" cy="161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24" name="callout-anchor-4">
            <a:extLst xmlns:a="http://schemas.openxmlformats.org/drawingml/2006/main">
              <a:ext uri="{FF2B5EF4-FFF2-40B4-BE49-F238E27FC236}">
                <a16:creationId xmlns:a16="http://schemas.microsoft.com/office/drawing/2014/main" id="{52E5FA32-2DCA-45AA-BA25-C419B00A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1052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field-anchor-4">
            <a:extLst xmlns:a="http://schemas.openxmlformats.org/drawingml/2006/main">
              <a:ext uri="{FF2B5EF4-FFF2-40B4-BE49-F238E27FC236}">
                <a16:creationId xmlns:a16="http://schemas.microsoft.com/office/drawing/2014/main" id="{79F00A26-A580-48F8-BF64-FE4B8EFA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390525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9" name=""/>
          <p:cNvCxnSpPr>
            <a:stCxn xmlns:a="http://schemas.openxmlformats.org/drawingml/2006/main" id="24" idx="2"/>
            <a:endCxn xmlns:a="http://schemas.openxmlformats.org/drawingml/2006/main" id="25" idx="6"/>
          </p:cNvCxnSpPr>
          <p:nvPr/>
        </p:nvCxnSpPr>
        <p:spPr>
          <a:xfrm xmlns:a="http://schemas.openxmlformats.org/drawingml/2006/main" flipH="1" flipV="1">
            <a:off x="6019800" y="3910013"/>
            <a:ext cx="1781175" cy="2000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27" name="callout-anchor-5">
            <a:extLst xmlns:a="http://schemas.openxmlformats.org/drawingml/2006/main">
              <a:ext uri="{FF2B5EF4-FFF2-40B4-BE49-F238E27FC236}">
                <a16:creationId xmlns:a16="http://schemas.microsoft.com/office/drawing/2014/main" id="{B3FDEB18-185E-4948-99FF-B59591AC4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9053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field-anchor-5">
            <a:extLst xmlns:a="http://schemas.openxmlformats.org/drawingml/2006/main">
              <a:ext uri="{FF2B5EF4-FFF2-40B4-BE49-F238E27FC236}">
                <a16:creationId xmlns:a16="http://schemas.microsoft.com/office/drawing/2014/main" id="{37E63240-64FC-4134-AE83-B5B84833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76250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2" name=""/>
          <p:cNvCxnSpPr>
            <a:stCxn xmlns:a="http://schemas.openxmlformats.org/drawingml/2006/main" id="27" idx="2"/>
            <a:endCxn xmlns:a="http://schemas.openxmlformats.org/drawingml/2006/main" id="28" idx="6"/>
          </p:cNvCxnSpPr>
          <p:nvPr/>
        </p:nvCxnSpPr>
        <p:spPr>
          <a:xfrm xmlns:a="http://schemas.openxmlformats.org/drawingml/2006/main" flipH="1" flipV="1">
            <a:off x="6019800" y="4767263"/>
            <a:ext cx="1781175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30" name="callout-anchor-6">
            <a:extLst xmlns:a="http://schemas.openxmlformats.org/drawingml/2006/main">
              <a:ext uri="{FF2B5EF4-FFF2-40B4-BE49-F238E27FC236}">
                <a16:creationId xmlns:a16="http://schemas.microsoft.com/office/drawing/2014/main" id="{56B34C70-2C2F-470B-825E-C53188CE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7054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" name="field-anchor-6">
            <a:extLst xmlns:a="http://schemas.openxmlformats.org/drawingml/2006/main">
              <a:ext uri="{FF2B5EF4-FFF2-40B4-BE49-F238E27FC236}">
                <a16:creationId xmlns:a16="http://schemas.microsoft.com/office/drawing/2014/main" id="{D31F03C7-AE5A-45CF-803B-3A5D6790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581025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5" name=""/>
          <p:cNvCxnSpPr>
            <a:stCxn xmlns:a="http://schemas.openxmlformats.org/drawingml/2006/main" id="30" idx="2"/>
            <a:endCxn xmlns:a="http://schemas.openxmlformats.org/drawingml/2006/main" id="31" idx="6"/>
          </p:cNvCxnSpPr>
          <p:nvPr/>
        </p:nvCxnSpPr>
        <p:spPr>
          <a:xfrm xmlns:a="http://schemas.openxmlformats.org/drawingml/2006/main" flipH="1">
            <a:off x="6019800" y="5710238"/>
            <a:ext cx="1781175" cy="1047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33" name="field-badge-1">
            <a:extLst xmlns:a="http://schemas.openxmlformats.org/drawingml/2006/main">
              <a:ext uri="{FF2B5EF4-FFF2-40B4-BE49-F238E27FC236}">
                <a16:creationId xmlns:a16="http://schemas.microsoft.com/office/drawing/2014/main" id="{B52916E2-0D20-48DC-9820-6C14D6D4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5144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4" name="field-number-1">
            <a:extLst xmlns:a="http://schemas.openxmlformats.org/drawingml/2006/main">
              <a:ext uri="{FF2B5EF4-FFF2-40B4-BE49-F238E27FC236}">
                <a16:creationId xmlns:a16="http://schemas.microsoft.com/office/drawing/2014/main" id="{323147E0-331A-499F-AFE5-E751AC4F2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5144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5" name="callout-box-2">
            <a:extLst xmlns:a="http://schemas.openxmlformats.org/drawingml/2006/main">
              <a:ext uri="{FF2B5EF4-FFF2-40B4-BE49-F238E27FC236}">
                <a16:creationId xmlns:a16="http://schemas.microsoft.com/office/drawing/2014/main" id="{C427BDC6-BCBD-4206-B586-4FAE1B7D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336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AFE0"/>
            </a:solidFill>
            <a:prstDash val="solid"/>
          </a:ln>
        </p:spPr>
      </p:sp>
      <p:sp>
        <p:nvSpPr>
          <p:cNvPr id="36" name="field-badge-2">
            <a:extLst xmlns:a="http://schemas.openxmlformats.org/drawingml/2006/main">
              <a:ext uri="{FF2B5EF4-FFF2-40B4-BE49-F238E27FC236}">
                <a16:creationId xmlns:a16="http://schemas.microsoft.com/office/drawing/2014/main" id="{DB410AFC-3F29-434B-BCA6-BF3CA2F1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57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7" name="field-number-2">
            <a:extLst xmlns:a="http://schemas.openxmlformats.org/drawingml/2006/main">
              <a:ext uri="{FF2B5EF4-FFF2-40B4-BE49-F238E27FC236}">
                <a16:creationId xmlns:a16="http://schemas.microsoft.com/office/drawing/2014/main" id="{A4C7B497-907D-4216-A15B-DA057588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574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8" name="callout-box-3">
            <a:extLst xmlns:a="http://schemas.openxmlformats.org/drawingml/2006/main">
              <a:ext uri="{FF2B5EF4-FFF2-40B4-BE49-F238E27FC236}">
                <a16:creationId xmlns:a16="http://schemas.microsoft.com/office/drawing/2014/main" id="{91AB7C99-B056-42D6-A644-810D9AED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337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DEEC"/>
            </a:solidFill>
            <a:prstDash val="solid"/>
          </a:ln>
        </p:spPr>
      </p:sp>
      <p:sp>
        <p:nvSpPr>
          <p:cNvPr id="39" name="field-badge-3">
            <a:extLst xmlns:a="http://schemas.openxmlformats.org/drawingml/2006/main">
              <a:ext uri="{FF2B5EF4-FFF2-40B4-BE49-F238E27FC236}">
                <a16:creationId xmlns:a16="http://schemas.microsoft.com/office/drawing/2014/main" id="{5A8DB79D-0314-4AFF-B503-5491B31D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19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0" name="field-number-3">
            <a:extLst xmlns:a="http://schemas.openxmlformats.org/drawingml/2006/main">
              <a:ext uri="{FF2B5EF4-FFF2-40B4-BE49-F238E27FC236}">
                <a16:creationId xmlns:a16="http://schemas.microsoft.com/office/drawing/2014/main" id="{BA0C9786-E349-4336-BE09-B8DB2A93E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0194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1" name="callout-box-4">
            <a:extLst xmlns:a="http://schemas.openxmlformats.org/drawingml/2006/main">
              <a:ext uri="{FF2B5EF4-FFF2-40B4-BE49-F238E27FC236}">
                <a16:creationId xmlns:a16="http://schemas.microsoft.com/office/drawing/2014/main" id="{6419D34B-A0B2-4933-B8A2-2B89FE13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338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AFE0"/>
            </a:solidFill>
            <a:prstDash val="solid"/>
          </a:ln>
        </p:spPr>
      </p:sp>
      <p:sp>
        <p:nvSpPr>
          <p:cNvPr id="42" name="callout-title-4">
            <a:extLst xmlns:a="http://schemas.openxmlformats.org/drawingml/2006/main">
              <a:ext uri="{FF2B5EF4-FFF2-40B4-BE49-F238E27FC236}">
                <a16:creationId xmlns:a16="http://schemas.microsoft.com/office/drawing/2014/main" id="{9742444C-D2C3-493A-8030-B0FDD3E6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</a:rPr>
              <a:t>Deferred</a:t>
            </a:r>
          </a:p>
        </p:txBody>
      </p:sp>
      <p:sp>
        <p:nvSpPr>
          <p:cNvPr id="43" name="callout-copy-4">
            <a:extLst xmlns:a="http://schemas.openxmlformats.org/drawingml/2006/main">
              <a:ext uri="{FF2B5EF4-FFF2-40B4-BE49-F238E27FC236}">
                <a16:creationId xmlns:a16="http://schemas.microsoft.com/office/drawing/2014/main" id="{BE0C3389-8CBE-40B5-A190-9E7B3FEB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481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616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Amount not collected this cutoff because the net-pay requirement or cap was reached.</a:t>
            </a:r>
          </a:p>
        </p:txBody>
      </p:sp>
      <p:sp>
        <p:nvSpPr>
          <p:cNvPr id="44" name="field-badge-4">
            <a:extLst xmlns:a="http://schemas.openxmlformats.org/drawingml/2006/main">
              <a:ext uri="{FF2B5EF4-FFF2-40B4-BE49-F238E27FC236}">
                <a16:creationId xmlns:a16="http://schemas.microsoft.com/office/drawing/2014/main" id="{E281FFBA-3F3D-4948-B204-57ED9270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781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5" name="field-number-4">
            <a:extLst xmlns:a="http://schemas.openxmlformats.org/drawingml/2006/main">
              <a:ext uri="{FF2B5EF4-FFF2-40B4-BE49-F238E27FC236}">
                <a16:creationId xmlns:a16="http://schemas.microsoft.com/office/drawing/2014/main" id="{3183A77D-143D-4BAA-B2CF-7DE53CED9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7814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6" name="callout-box-5">
            <a:extLst xmlns:a="http://schemas.openxmlformats.org/drawingml/2006/main">
              <a:ext uri="{FF2B5EF4-FFF2-40B4-BE49-F238E27FC236}">
                <a16:creationId xmlns:a16="http://schemas.microsoft.com/office/drawing/2014/main" id="{D862CE22-D0CE-4ABD-9F8C-69B94F58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DEEC"/>
            </a:solidFill>
            <a:prstDash val="solid"/>
          </a:ln>
        </p:spPr>
      </p:sp>
      <p:sp>
        <p:nvSpPr>
          <p:cNvPr id="47" name="callout-title-5">
            <a:extLst xmlns:a="http://schemas.openxmlformats.org/drawingml/2006/main">
              <a:ext uri="{FF2B5EF4-FFF2-40B4-BE49-F238E27FC236}">
                <a16:creationId xmlns:a16="http://schemas.microsoft.com/office/drawing/2014/main" id="{1D938BFC-B83F-4713-8B0B-DF97AFB4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291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</a:rPr>
              <a:t>Outstanding / carry-forward</a:t>
            </a:r>
          </a:p>
        </p:txBody>
      </p:sp>
      <p:sp>
        <p:nvSpPr>
          <p:cNvPr id="48" name="callout-copy-5">
            <a:extLst xmlns:a="http://schemas.openxmlformats.org/drawingml/2006/main">
              <a:ext uri="{FF2B5EF4-FFF2-40B4-BE49-F238E27FC236}">
                <a16:creationId xmlns:a16="http://schemas.microsoft.com/office/drawing/2014/main" id="{76A7059A-C41D-4E4D-B30E-DDF6B84E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482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616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Remaining module balance after the current deduction and any deferral are posted.</a:t>
            </a:r>
          </a:p>
        </p:txBody>
      </p:sp>
      <p:sp>
        <p:nvSpPr>
          <p:cNvPr id="49" name="field-badge-5">
            <a:extLst xmlns:a="http://schemas.openxmlformats.org/drawingml/2006/main">
              <a:ext uri="{FF2B5EF4-FFF2-40B4-BE49-F238E27FC236}">
                <a16:creationId xmlns:a16="http://schemas.microsoft.com/office/drawing/2014/main" id="{22323268-F706-4FDA-90A9-D0139C6F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638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0" name="field-number-5">
            <a:extLst xmlns:a="http://schemas.openxmlformats.org/drawingml/2006/main">
              <a:ext uri="{FF2B5EF4-FFF2-40B4-BE49-F238E27FC236}">
                <a16:creationId xmlns:a16="http://schemas.microsoft.com/office/drawing/2014/main" id="{FF4967A4-9819-4DC8-8613-0702E25A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6386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1" name="callout-box-6">
            <a:extLst xmlns:a="http://schemas.openxmlformats.org/drawingml/2006/main">
              <a:ext uri="{FF2B5EF4-FFF2-40B4-BE49-F238E27FC236}">
                <a16:creationId xmlns:a16="http://schemas.microsoft.com/office/drawing/2014/main" id="{66B7425F-A766-49E0-BDD7-49EDF1768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340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AFE0"/>
            </a:solidFill>
            <a:prstDash val="solid"/>
          </a:ln>
        </p:spPr>
      </p:sp>
      <p:sp>
        <p:nvSpPr>
          <p:cNvPr id="52" name="callout-title-6">
            <a:extLst xmlns:a="http://schemas.openxmlformats.org/drawingml/2006/main">
              <a:ext uri="{FF2B5EF4-FFF2-40B4-BE49-F238E27FC236}">
                <a16:creationId xmlns:a16="http://schemas.microsoft.com/office/drawing/2014/main" id="{4F8A054C-00E8-4B2B-A9BF-20B8E3F23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4292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</a:rPr>
              <a:t>Deduction and loan sections</a:t>
            </a:r>
          </a:p>
        </p:txBody>
      </p:sp>
      <p:sp>
        <p:nvSpPr>
          <p:cNvPr id="53" name="callout-copy-6">
            <a:extLst xmlns:a="http://schemas.openxmlformats.org/drawingml/2006/main">
              <a:ext uri="{FF2B5EF4-FFF2-40B4-BE49-F238E27FC236}">
                <a16:creationId xmlns:a16="http://schemas.microsoft.com/office/drawing/2014/main" id="{ADF9D8AF-6145-4BE2-BA39-B5AC8FF5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6483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616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Separate lists preserve module ownership while a single REF-011 order controls the combined calculation.</a:t>
            </a:r>
          </a:p>
        </p:txBody>
      </p:sp>
      <p:sp>
        <p:nvSpPr>
          <p:cNvPr id="54" name="field-badge-6">
            <a:extLst xmlns:a="http://schemas.openxmlformats.org/drawingml/2006/main">
              <a:ext uri="{FF2B5EF4-FFF2-40B4-BE49-F238E27FC236}">
                <a16:creationId xmlns:a16="http://schemas.microsoft.com/office/drawing/2014/main" id="{186AA023-EB71-453E-9727-E1AA4329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686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5" name="field-number-6">
            <a:extLst xmlns:a="http://schemas.openxmlformats.org/drawingml/2006/main">
              <a:ext uri="{FF2B5EF4-FFF2-40B4-BE49-F238E27FC236}">
                <a16:creationId xmlns:a16="http://schemas.microsoft.com/office/drawing/2014/main" id="{C603FBC5-F9DA-43A6-83CA-B29BDBF9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56864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43830440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4B2BF85-0BF5-4382-B7D5-53AC14CD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86154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75" b="1">
                <a:solidFill>
                  <a:srgbClr val="5C2A91"/>
                </a:solidFill>
              </a:defRPr>
            </a:pPr>
            <a:r>
              <a:rPr sz="975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RETIREMENT PAY · FIELD GUIDE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2576D19-5577-4E5B-B56E-29A1CF15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Plan choice and formula inputs</a:t>
            </a:r>
            <a:endParaRPr sz="3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8BC8BEE-B1AA-491C-9B94-35DF745D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34150"/>
            <a:ext cx="676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7531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63" b="0">
                <a:solidFill>
                  <a:srgbClr val="66645F"/>
                </a:solidFill>
              </a:defRPr>
            </a:pPr>
            <a:r>
              <a:rPr sz="863" b="0" i="1">
                <a:solidFill>
                  <a:srgbClr val="66645F"/>
                </a:solidFill>
                <a:latin typeface="Calibri"/>
                <a:ea typeface="Calibri"/>
                <a:cs typeface="Calibri"/>
              </a:rPr>
              <a:t>Numbered arrows point to the live wireframe control; values shown are demo data.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B3120DF-6AB8-4F7C-9457-69EA6986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4287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Employee group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6FDB5AC-ACF9-405B-93CA-447BE984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478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89964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Assigns the retirement configuration to all employees or a governed population.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A486993-08D4-4CE6-83BF-47E286ED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288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Retirement plan type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F527EB4-40CF-4974-B5E5-290CE661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479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1427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Chooses statutory RA 7641, company plan, or the more-beneficial comparison.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12CAB97-78FB-4B8F-B4F1-9DE84889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289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Company salary basis + daily divisor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4A9A322-42C2-402F-84B8-4E048A3E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480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2163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Selects latest basic pay or average salary and converts the basis to a daily rate.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B88E967-BAE5-41BD-B55A-B3BF924D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33500"/>
            <a:ext cx="3790950" cy="74295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1D3F8BD-A1AB-4B4A-8D41-D735C1B7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534150"/>
            <a:ext cx="37909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788" b="0">
                <a:solidFill>
                  <a:srgbClr val="66645F"/>
                </a:solidFill>
              </a:defRPr>
            </a:pPr>
            <a:r>
              <a:rPr sz="788" b="0">
                <a:solidFill>
                  <a:srgbClr val="66645F"/>
                </a:solidFill>
                <a:latin typeface="Calibri"/>
                <a:ea typeface="Calibri"/>
                <a:cs typeface="Calibri"/>
              </a:rPr>
              <a:t>Source · ATLAS local wireframe · Client view</a:t>
            </a:r>
            <a:endParaRPr sz="1000"/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cc86dd785e49bd"/>
          <a:stretch xmlns:a="http://schemas.openxmlformats.org/drawingml/2006/main"/>
        </p:blipFill>
        <p:spPr>
          <a:xfrm xmlns:a="http://schemas.openxmlformats.org/drawingml/2006/main">
            <a:off x="2381250" y="1769463"/>
            <a:ext cx="3790950" cy="4233473"/>
          </a:xfrm>
          <a:prstGeom xmlns:a="http://schemas.openxmlformats.org/drawingml/2006/main" prst="rect">
            <a:avLst/>
          </a:prstGeom>
        </p:spPr>
      </p:pic>
      <p:sp>
        <p:nvSpPr>
          <p:cNvPr id="15" name="callout-anchor-1">
            <a:extLst xmlns:a="http://schemas.openxmlformats.org/drawingml/2006/main">
              <a:ext uri="{FF2B5EF4-FFF2-40B4-BE49-F238E27FC236}">
                <a16:creationId xmlns:a16="http://schemas.microsoft.com/office/drawing/2014/main" id="{13AF7682-A4B9-4C25-B594-A83CC66F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7049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field-anchor-1">
            <a:extLst xmlns:a="http://schemas.openxmlformats.org/drawingml/2006/main">
              <a:ext uri="{FF2B5EF4-FFF2-40B4-BE49-F238E27FC236}">
                <a16:creationId xmlns:a16="http://schemas.microsoft.com/office/drawing/2014/main" id="{79EE4CDD-7D0F-48C2-9DD1-578ACD12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71450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0" name=""/>
          <p:cNvCxnSpPr>
            <a:stCxn xmlns:a="http://schemas.openxmlformats.org/drawingml/2006/main" id="15" idx="2"/>
            <a:endCxn xmlns:a="http://schemas.openxmlformats.org/drawingml/2006/main" id="16" idx="6"/>
          </p:cNvCxnSpPr>
          <p:nvPr/>
        </p:nvCxnSpPr>
        <p:spPr>
          <a:xfrm xmlns:a="http://schemas.openxmlformats.org/drawingml/2006/main" flipH="1">
            <a:off x="6134100" y="1709738"/>
            <a:ext cx="1666875" cy="9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18" name="callout-anchor-2">
            <a:extLst xmlns:a="http://schemas.openxmlformats.org/drawingml/2006/main">
              <a:ext uri="{FF2B5EF4-FFF2-40B4-BE49-F238E27FC236}">
                <a16:creationId xmlns:a16="http://schemas.microsoft.com/office/drawing/2014/main" id="{16D71594-FCF6-4C75-9A44-ACC67CE5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5050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field-anchor-2">
            <a:extLst xmlns:a="http://schemas.openxmlformats.org/drawingml/2006/main">
              <a:ext uri="{FF2B5EF4-FFF2-40B4-BE49-F238E27FC236}">
                <a16:creationId xmlns:a16="http://schemas.microsoft.com/office/drawing/2014/main" id="{10671DE4-7A26-4A32-92ED-AA8E19FF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38125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3" name=""/>
          <p:cNvCxnSpPr>
            <a:stCxn xmlns:a="http://schemas.openxmlformats.org/drawingml/2006/main" id="18" idx="2"/>
            <a:endCxn xmlns:a="http://schemas.openxmlformats.org/drawingml/2006/main" id="19" idx="6"/>
          </p:cNvCxnSpPr>
          <p:nvPr/>
        </p:nvCxnSpPr>
        <p:spPr>
          <a:xfrm xmlns:a="http://schemas.openxmlformats.org/drawingml/2006/main" flipH="1" flipV="1">
            <a:off x="6134100" y="2386013"/>
            <a:ext cx="1666875" cy="123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21" name="callout-anchor-3">
            <a:extLst xmlns:a="http://schemas.openxmlformats.org/drawingml/2006/main">
              <a:ext uri="{FF2B5EF4-FFF2-40B4-BE49-F238E27FC236}">
                <a16:creationId xmlns:a16="http://schemas.microsoft.com/office/drawing/2014/main" id="{7EB6C0B8-0065-4A7C-83C2-B8794EAF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3051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field-anchor-3">
            <a:extLst xmlns:a="http://schemas.openxmlformats.org/drawingml/2006/main">
              <a:ext uri="{FF2B5EF4-FFF2-40B4-BE49-F238E27FC236}">
                <a16:creationId xmlns:a16="http://schemas.microsoft.com/office/drawing/2014/main" id="{70BD7538-7D23-47E3-B754-6DDD50DB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14325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6" name=""/>
          <p:cNvCxnSpPr>
            <a:stCxn xmlns:a="http://schemas.openxmlformats.org/drawingml/2006/main" id="21" idx="2"/>
            <a:endCxn xmlns:a="http://schemas.openxmlformats.org/drawingml/2006/main" id="22" idx="6"/>
          </p:cNvCxnSpPr>
          <p:nvPr/>
        </p:nvCxnSpPr>
        <p:spPr>
          <a:xfrm xmlns:a="http://schemas.openxmlformats.org/drawingml/2006/main" flipH="1" flipV="1">
            <a:off x="6134100" y="3148013"/>
            <a:ext cx="1666875" cy="161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24" name="callout-anchor-4">
            <a:extLst xmlns:a="http://schemas.openxmlformats.org/drawingml/2006/main">
              <a:ext uri="{FF2B5EF4-FFF2-40B4-BE49-F238E27FC236}">
                <a16:creationId xmlns:a16="http://schemas.microsoft.com/office/drawing/2014/main" id="{A5DB8893-5C82-4D3C-B4B0-8CB65371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1052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field-anchor-4">
            <a:extLst xmlns:a="http://schemas.openxmlformats.org/drawingml/2006/main">
              <a:ext uri="{FF2B5EF4-FFF2-40B4-BE49-F238E27FC236}">
                <a16:creationId xmlns:a16="http://schemas.microsoft.com/office/drawing/2014/main" id="{02E57017-16FB-4CD3-9D4E-27BDB0A80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90525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9" name=""/>
          <p:cNvCxnSpPr>
            <a:stCxn xmlns:a="http://schemas.openxmlformats.org/drawingml/2006/main" id="24" idx="2"/>
            <a:endCxn xmlns:a="http://schemas.openxmlformats.org/drawingml/2006/main" id="25" idx="6"/>
          </p:cNvCxnSpPr>
          <p:nvPr/>
        </p:nvCxnSpPr>
        <p:spPr>
          <a:xfrm xmlns:a="http://schemas.openxmlformats.org/drawingml/2006/main" flipH="1" flipV="1">
            <a:off x="6134100" y="3910013"/>
            <a:ext cx="1666875" cy="2000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27" name="callout-anchor-5">
            <a:extLst xmlns:a="http://schemas.openxmlformats.org/drawingml/2006/main">
              <a:ext uri="{FF2B5EF4-FFF2-40B4-BE49-F238E27FC236}">
                <a16:creationId xmlns:a16="http://schemas.microsoft.com/office/drawing/2014/main" id="{4848A879-21CA-4CC1-930E-AFCA016EF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9053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field-anchor-5">
            <a:extLst xmlns:a="http://schemas.openxmlformats.org/drawingml/2006/main">
              <a:ext uri="{FF2B5EF4-FFF2-40B4-BE49-F238E27FC236}">
                <a16:creationId xmlns:a16="http://schemas.microsoft.com/office/drawing/2014/main" id="{446BB56F-60A7-4FAF-98F2-BF4F0747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76250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2" name=""/>
          <p:cNvCxnSpPr>
            <a:stCxn xmlns:a="http://schemas.openxmlformats.org/drawingml/2006/main" id="27" idx="2"/>
            <a:endCxn xmlns:a="http://schemas.openxmlformats.org/drawingml/2006/main" id="28" idx="6"/>
          </p:cNvCxnSpPr>
          <p:nvPr/>
        </p:nvCxnSpPr>
        <p:spPr>
          <a:xfrm xmlns:a="http://schemas.openxmlformats.org/drawingml/2006/main" flipH="1" flipV="1">
            <a:off x="6134100" y="4767263"/>
            <a:ext cx="1666875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30" name="callout-anchor-6">
            <a:extLst xmlns:a="http://schemas.openxmlformats.org/drawingml/2006/main">
              <a:ext uri="{FF2B5EF4-FFF2-40B4-BE49-F238E27FC236}">
                <a16:creationId xmlns:a16="http://schemas.microsoft.com/office/drawing/2014/main" id="{95431590-1A40-4F1A-A2DB-D7234BB6F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7054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" name="field-anchor-6">
            <a:extLst xmlns:a="http://schemas.openxmlformats.org/drawingml/2006/main">
              <a:ext uri="{FF2B5EF4-FFF2-40B4-BE49-F238E27FC236}">
                <a16:creationId xmlns:a16="http://schemas.microsoft.com/office/drawing/2014/main" id="{ECCB78E9-4DEF-4265-81FC-3DFC8100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76262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5" name=""/>
          <p:cNvCxnSpPr>
            <a:stCxn xmlns:a="http://schemas.openxmlformats.org/drawingml/2006/main" id="30" idx="2"/>
            <a:endCxn xmlns:a="http://schemas.openxmlformats.org/drawingml/2006/main" id="31" idx="6"/>
          </p:cNvCxnSpPr>
          <p:nvPr/>
        </p:nvCxnSpPr>
        <p:spPr>
          <a:xfrm xmlns:a="http://schemas.openxmlformats.org/drawingml/2006/main" flipH="1">
            <a:off x="6134100" y="5710238"/>
            <a:ext cx="1666875" cy="571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33" name="field-badge-1">
            <a:extLst xmlns:a="http://schemas.openxmlformats.org/drawingml/2006/main">
              <a:ext uri="{FF2B5EF4-FFF2-40B4-BE49-F238E27FC236}">
                <a16:creationId xmlns:a16="http://schemas.microsoft.com/office/drawing/2014/main" id="{99C90742-F9C2-4511-8A8C-EF266CED7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90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4" name="field-number-1">
            <a:extLst xmlns:a="http://schemas.openxmlformats.org/drawingml/2006/main">
              <a:ext uri="{FF2B5EF4-FFF2-40B4-BE49-F238E27FC236}">
                <a16:creationId xmlns:a16="http://schemas.microsoft.com/office/drawing/2014/main" id="{B2A2457F-D59C-4FA0-9571-DE6056757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906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5" name="callout-box-2">
            <a:extLst xmlns:a="http://schemas.openxmlformats.org/drawingml/2006/main">
              <a:ext uri="{FF2B5EF4-FFF2-40B4-BE49-F238E27FC236}">
                <a16:creationId xmlns:a16="http://schemas.microsoft.com/office/drawing/2014/main" id="{F3151D22-0FBF-4D8C-B356-C04DAA79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336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AFE0"/>
            </a:solidFill>
            <a:prstDash val="solid"/>
          </a:ln>
        </p:spPr>
      </p:sp>
      <p:sp>
        <p:nvSpPr>
          <p:cNvPr id="36" name="field-badge-2">
            <a:extLst xmlns:a="http://schemas.openxmlformats.org/drawingml/2006/main">
              <a:ext uri="{FF2B5EF4-FFF2-40B4-BE49-F238E27FC236}">
                <a16:creationId xmlns:a16="http://schemas.microsoft.com/office/drawing/2014/main" id="{1A0AA6AA-CF4E-4B88-9ABF-9417C6F73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57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7" name="field-number-2">
            <a:extLst xmlns:a="http://schemas.openxmlformats.org/drawingml/2006/main">
              <a:ext uri="{FF2B5EF4-FFF2-40B4-BE49-F238E27FC236}">
                <a16:creationId xmlns:a16="http://schemas.microsoft.com/office/drawing/2014/main" id="{D86ABD50-8E77-41CE-8A28-807AA9EA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574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8" name="callout-box-3">
            <a:extLst xmlns:a="http://schemas.openxmlformats.org/drawingml/2006/main">
              <a:ext uri="{FF2B5EF4-FFF2-40B4-BE49-F238E27FC236}">
                <a16:creationId xmlns:a16="http://schemas.microsoft.com/office/drawing/2014/main" id="{3FD4DA14-8728-4468-B382-D772EB9C9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337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DEEC"/>
            </a:solidFill>
            <a:prstDash val="solid"/>
          </a:ln>
        </p:spPr>
      </p:sp>
      <p:sp>
        <p:nvSpPr>
          <p:cNvPr id="39" name="field-badge-3">
            <a:extLst xmlns:a="http://schemas.openxmlformats.org/drawingml/2006/main">
              <a:ext uri="{FF2B5EF4-FFF2-40B4-BE49-F238E27FC236}">
                <a16:creationId xmlns:a16="http://schemas.microsoft.com/office/drawing/2014/main" id="{327B933D-709A-448C-8288-A5A22262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19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0" name="field-number-3">
            <a:extLst xmlns:a="http://schemas.openxmlformats.org/drawingml/2006/main">
              <a:ext uri="{FF2B5EF4-FFF2-40B4-BE49-F238E27FC236}">
                <a16:creationId xmlns:a16="http://schemas.microsoft.com/office/drawing/2014/main" id="{B7120EB6-43D0-4869-AC8F-A65F18CC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194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1" name="callout-box-4">
            <a:extLst xmlns:a="http://schemas.openxmlformats.org/drawingml/2006/main">
              <a:ext uri="{FF2B5EF4-FFF2-40B4-BE49-F238E27FC236}">
                <a16:creationId xmlns:a16="http://schemas.microsoft.com/office/drawing/2014/main" id="{A765149B-EB81-4E12-BEFC-A12AB8604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338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AFE0"/>
            </a:solidFill>
            <a:prstDash val="solid"/>
          </a:ln>
        </p:spPr>
      </p:sp>
      <p:sp>
        <p:nvSpPr>
          <p:cNvPr id="42" name="callout-title-4">
            <a:extLst xmlns:a="http://schemas.openxmlformats.org/drawingml/2006/main">
              <a:ext uri="{FF2B5EF4-FFF2-40B4-BE49-F238E27FC236}">
                <a16:creationId xmlns:a16="http://schemas.microsoft.com/office/drawing/2014/main" id="{F95AE265-87ED-477A-A57E-C4395123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</a:rPr>
              <a:t>Statutory + company-plan days/year</a:t>
            </a:r>
          </a:p>
        </p:txBody>
      </p:sp>
      <p:sp>
        <p:nvSpPr>
          <p:cNvPr id="43" name="callout-copy-4">
            <a:extLst xmlns:a="http://schemas.openxmlformats.org/drawingml/2006/main">
              <a:ext uri="{FF2B5EF4-FFF2-40B4-BE49-F238E27FC236}">
                <a16:creationId xmlns:a16="http://schemas.microsoft.com/office/drawing/2014/main" id="{6C941612-05AA-4D84-94D4-EE1FD5C4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481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Stores the benefit-day multipliers used by each formula.</a:t>
            </a:r>
          </a:p>
        </p:txBody>
      </p:sp>
      <p:sp>
        <p:nvSpPr>
          <p:cNvPr id="44" name="field-badge-4">
            <a:extLst xmlns:a="http://schemas.openxmlformats.org/drawingml/2006/main">
              <a:ext uri="{FF2B5EF4-FFF2-40B4-BE49-F238E27FC236}">
                <a16:creationId xmlns:a16="http://schemas.microsoft.com/office/drawing/2014/main" id="{D802928D-7D0A-4EC5-850A-C065E8A4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81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5" name="field-number-4">
            <a:extLst xmlns:a="http://schemas.openxmlformats.org/drawingml/2006/main">
              <a:ext uri="{FF2B5EF4-FFF2-40B4-BE49-F238E27FC236}">
                <a16:creationId xmlns:a16="http://schemas.microsoft.com/office/drawing/2014/main" id="{DC2ADC36-7F3D-4CA4-8842-456DE2D2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814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6" name="callout-box-5">
            <a:extLst xmlns:a="http://schemas.openxmlformats.org/drawingml/2006/main">
              <a:ext uri="{FF2B5EF4-FFF2-40B4-BE49-F238E27FC236}">
                <a16:creationId xmlns:a16="http://schemas.microsoft.com/office/drawing/2014/main" id="{1F203303-956A-4DF6-A971-1DAF4AF92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DEEC"/>
            </a:solidFill>
            <a:prstDash val="solid"/>
          </a:ln>
        </p:spPr>
      </p:sp>
      <p:sp>
        <p:nvSpPr>
          <p:cNvPr id="47" name="callout-title-5">
            <a:extLst xmlns:a="http://schemas.openxmlformats.org/drawingml/2006/main">
              <a:ext uri="{FF2B5EF4-FFF2-40B4-BE49-F238E27FC236}">
                <a16:creationId xmlns:a16="http://schemas.microsoft.com/office/drawing/2014/main" id="{81633D9B-59EE-4A4D-9BCB-2A76EFB0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291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</a:rPr>
              <a:t>Additional benefits</a:t>
            </a:r>
          </a:p>
        </p:txBody>
      </p:sp>
      <p:sp>
        <p:nvSpPr>
          <p:cNvPr id="48" name="callout-copy-5">
            <a:extLst xmlns:a="http://schemas.openxmlformats.org/drawingml/2006/main">
              <a:ext uri="{FF2B5EF4-FFF2-40B4-BE49-F238E27FC236}">
                <a16:creationId xmlns:a16="http://schemas.microsoft.com/office/drawing/2014/main" id="{8C8D2946-8819-4C16-8BB3-C4D88636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482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616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Adds approved company-plan amounts after the core service-based computation.</a:t>
            </a:r>
          </a:p>
        </p:txBody>
      </p:sp>
      <p:sp>
        <p:nvSpPr>
          <p:cNvPr id="49" name="field-badge-5">
            <a:extLst xmlns:a="http://schemas.openxmlformats.org/drawingml/2006/main">
              <a:ext uri="{FF2B5EF4-FFF2-40B4-BE49-F238E27FC236}">
                <a16:creationId xmlns:a16="http://schemas.microsoft.com/office/drawing/2014/main" id="{EB031C6F-BEAD-4572-9031-3870AD24D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638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0" name="field-number-5">
            <a:extLst xmlns:a="http://schemas.openxmlformats.org/drawingml/2006/main">
              <a:ext uri="{FF2B5EF4-FFF2-40B4-BE49-F238E27FC236}">
                <a16:creationId xmlns:a16="http://schemas.microsoft.com/office/drawing/2014/main" id="{0EC2308C-B920-4EC7-B2F2-BEEFF191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6386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1" name="callout-box-6">
            <a:extLst xmlns:a="http://schemas.openxmlformats.org/drawingml/2006/main">
              <a:ext uri="{FF2B5EF4-FFF2-40B4-BE49-F238E27FC236}">
                <a16:creationId xmlns:a16="http://schemas.microsoft.com/office/drawing/2014/main" id="{3B495779-6082-42A2-844D-E56B0168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340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AFE0"/>
            </a:solidFill>
            <a:prstDash val="solid"/>
          </a:ln>
        </p:spPr>
      </p:sp>
      <p:sp>
        <p:nvSpPr>
          <p:cNvPr id="52" name="callout-title-6">
            <a:extLst xmlns:a="http://schemas.openxmlformats.org/drawingml/2006/main">
              <a:ext uri="{FF2B5EF4-FFF2-40B4-BE49-F238E27FC236}">
                <a16:creationId xmlns:a16="http://schemas.microsoft.com/office/drawing/2014/main" id="{095A0A1A-F7B4-4F07-95CD-B91C9C49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4292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</a:rPr>
              <a:t>More-beneficial comparison</a:t>
            </a:r>
          </a:p>
        </p:txBody>
      </p:sp>
      <p:sp>
        <p:nvSpPr>
          <p:cNvPr id="53" name="callout-copy-6">
            <a:extLst xmlns:a="http://schemas.openxmlformats.org/drawingml/2006/main">
              <a:ext uri="{FF2B5EF4-FFF2-40B4-BE49-F238E27FC236}">
                <a16:creationId xmlns:a16="http://schemas.microsoft.com/office/drawing/2014/main" id="{45F83BD8-F51F-47FC-B06E-37CAF2B7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6483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616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Calculates statutory and company-plan values independently, then selects the higher qualifying result.</a:t>
            </a:r>
          </a:p>
        </p:txBody>
      </p:sp>
      <p:sp>
        <p:nvSpPr>
          <p:cNvPr id="54" name="field-badge-6">
            <a:extLst xmlns:a="http://schemas.openxmlformats.org/drawingml/2006/main">
              <a:ext uri="{FF2B5EF4-FFF2-40B4-BE49-F238E27FC236}">
                <a16:creationId xmlns:a16="http://schemas.microsoft.com/office/drawing/2014/main" id="{12B1D7BE-9AE6-49A0-99D2-6A36B349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638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5" name="field-number-6">
            <a:extLst xmlns:a="http://schemas.openxmlformats.org/drawingml/2006/main">
              <a:ext uri="{FF2B5EF4-FFF2-40B4-BE49-F238E27FC236}">
                <a16:creationId xmlns:a16="http://schemas.microsoft.com/office/drawing/2014/main" id="{B1D482EA-7E2D-4B26-BFA1-82525761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638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43830440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4B2BF85-0BF5-4382-B7D5-53AC14CD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86154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75" b="1">
                <a:solidFill>
                  <a:srgbClr val="5C2A91"/>
                </a:solidFill>
              </a:defRPr>
            </a:pPr>
            <a:r>
              <a:rPr sz="975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RETIREMENT PAY · FIELD GUIDE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2576D19-5577-4E5B-B56E-29A1CF15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Eligibility, limits, rounding, and tax</a:t>
            </a:r>
            <a:endParaRPr sz="3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8BC8BEE-B1AA-491C-9B94-35DF745D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34150"/>
            <a:ext cx="676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7531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63" b="0">
                <a:solidFill>
                  <a:srgbClr val="66645F"/>
                </a:solidFill>
              </a:defRPr>
            </a:pPr>
            <a:r>
              <a:rPr sz="863" b="0" i="1">
                <a:solidFill>
                  <a:srgbClr val="66645F"/>
                </a:solidFill>
                <a:latin typeface="Calibri"/>
                <a:ea typeface="Calibri"/>
                <a:cs typeface="Calibri"/>
              </a:rPr>
              <a:t>Numbered arrows point to the live wireframe control; values shown are demo data.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B3120DF-6AB8-4F7C-9457-69EA6986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4287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Minimum retirement age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6FDB5AC-ACF9-405B-93CA-447BE984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478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Earliest standard age that can pass the retirement eligibility test.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A486993-08D4-4CE6-83BF-47E286ED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288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Compulsory retirement age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F527EB4-40CF-4974-B5E5-290CE661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479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81736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Age at which the employee is treated as compulsorily retired under the configured plan.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12CAB97-78FB-4B8F-B4F1-9DE84889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289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Minimum service + early-retirement age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4A9A322-42C2-402F-84B8-4E048A3E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480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87429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Combines required service with the optional company early-retirement threshold.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B88E967-BAE5-41BD-B55A-B3BF924D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33500"/>
            <a:ext cx="3790950" cy="74295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1D3F8BD-A1AB-4B4A-8D41-D735C1B7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534150"/>
            <a:ext cx="37909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788" b="0">
                <a:solidFill>
                  <a:srgbClr val="66645F"/>
                </a:solidFill>
              </a:defRPr>
            </a:pPr>
            <a:r>
              <a:rPr sz="788" b="0">
                <a:solidFill>
                  <a:srgbClr val="66645F"/>
                </a:solidFill>
                <a:latin typeface="Calibri"/>
                <a:ea typeface="Calibri"/>
                <a:cs typeface="Calibri"/>
              </a:rPr>
              <a:t>Source · ATLAS local wireframe · Client view</a:t>
            </a:r>
            <a:endParaRPr sz="1000"/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8255f786cc4636"/>
          <a:stretch xmlns:a="http://schemas.openxmlformats.org/drawingml/2006/main"/>
        </p:blipFill>
        <p:spPr>
          <a:xfrm xmlns:a="http://schemas.openxmlformats.org/drawingml/2006/main">
            <a:off x="2381250" y="1526075"/>
            <a:ext cx="3790950" cy="4720249"/>
          </a:xfrm>
          <a:prstGeom xmlns:a="http://schemas.openxmlformats.org/drawingml/2006/main" prst="rect">
            <a:avLst/>
          </a:prstGeom>
        </p:spPr>
      </p:pic>
      <p:sp>
        <p:nvSpPr>
          <p:cNvPr id="15" name="callout-anchor-1">
            <a:extLst xmlns:a="http://schemas.openxmlformats.org/drawingml/2006/main">
              <a:ext uri="{FF2B5EF4-FFF2-40B4-BE49-F238E27FC236}">
                <a16:creationId xmlns:a16="http://schemas.microsoft.com/office/drawing/2014/main" id="{5ACEDD89-1257-41D6-BB18-EE74189E7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7049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field-anchor-1">
            <a:extLst xmlns:a="http://schemas.openxmlformats.org/drawingml/2006/main">
              <a:ext uri="{FF2B5EF4-FFF2-40B4-BE49-F238E27FC236}">
                <a16:creationId xmlns:a16="http://schemas.microsoft.com/office/drawing/2014/main" id="{ECC9ABFB-542B-4173-B2A9-6719D924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61925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0" name=""/>
          <p:cNvCxnSpPr>
            <a:stCxn xmlns:a="http://schemas.openxmlformats.org/drawingml/2006/main" id="15" idx="2"/>
            <a:endCxn xmlns:a="http://schemas.openxmlformats.org/drawingml/2006/main" id="16" idx="6"/>
          </p:cNvCxnSpPr>
          <p:nvPr/>
        </p:nvCxnSpPr>
        <p:spPr>
          <a:xfrm xmlns:a="http://schemas.openxmlformats.org/drawingml/2006/main" flipH="1" flipV="1">
            <a:off x="6134100" y="1624013"/>
            <a:ext cx="1666875" cy="85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18" name="callout-anchor-2">
            <a:extLst xmlns:a="http://schemas.openxmlformats.org/drawingml/2006/main">
              <a:ext uri="{FF2B5EF4-FFF2-40B4-BE49-F238E27FC236}">
                <a16:creationId xmlns:a16="http://schemas.microsoft.com/office/drawing/2014/main" id="{B5D8C46E-5AEA-4180-98D3-C3856CF1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5050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field-anchor-2">
            <a:extLst xmlns:a="http://schemas.openxmlformats.org/drawingml/2006/main">
              <a:ext uri="{FF2B5EF4-FFF2-40B4-BE49-F238E27FC236}">
                <a16:creationId xmlns:a16="http://schemas.microsoft.com/office/drawing/2014/main" id="{2169A9D0-197F-4758-ABDC-663072681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38125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3" name=""/>
          <p:cNvCxnSpPr>
            <a:stCxn xmlns:a="http://schemas.openxmlformats.org/drawingml/2006/main" id="18" idx="2"/>
            <a:endCxn xmlns:a="http://schemas.openxmlformats.org/drawingml/2006/main" id="19" idx="6"/>
          </p:cNvCxnSpPr>
          <p:nvPr/>
        </p:nvCxnSpPr>
        <p:spPr>
          <a:xfrm xmlns:a="http://schemas.openxmlformats.org/drawingml/2006/main" flipH="1" flipV="1">
            <a:off x="6134100" y="2386013"/>
            <a:ext cx="1666875" cy="123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21" name="callout-anchor-3">
            <a:extLst xmlns:a="http://schemas.openxmlformats.org/drawingml/2006/main">
              <a:ext uri="{FF2B5EF4-FFF2-40B4-BE49-F238E27FC236}">
                <a16:creationId xmlns:a16="http://schemas.microsoft.com/office/drawing/2014/main" id="{FFDB2872-9BC6-468B-AFFF-C4D3B57A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3051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field-anchor-3">
            <a:extLst xmlns:a="http://schemas.openxmlformats.org/drawingml/2006/main">
              <a:ext uri="{FF2B5EF4-FFF2-40B4-BE49-F238E27FC236}">
                <a16:creationId xmlns:a16="http://schemas.microsoft.com/office/drawing/2014/main" id="{94975577-6593-4753-8008-D6475E4A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14325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6" name=""/>
          <p:cNvCxnSpPr>
            <a:stCxn xmlns:a="http://schemas.openxmlformats.org/drawingml/2006/main" id="21" idx="2"/>
            <a:endCxn xmlns:a="http://schemas.openxmlformats.org/drawingml/2006/main" id="22" idx="6"/>
          </p:cNvCxnSpPr>
          <p:nvPr/>
        </p:nvCxnSpPr>
        <p:spPr>
          <a:xfrm xmlns:a="http://schemas.openxmlformats.org/drawingml/2006/main" flipH="1" flipV="1">
            <a:off x="6134100" y="3148013"/>
            <a:ext cx="1666875" cy="161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24" name="callout-anchor-4">
            <a:extLst xmlns:a="http://schemas.openxmlformats.org/drawingml/2006/main">
              <a:ext uri="{FF2B5EF4-FFF2-40B4-BE49-F238E27FC236}">
                <a16:creationId xmlns:a16="http://schemas.microsoft.com/office/drawing/2014/main" id="{90F2B63F-FBAA-4A53-91ED-BB1825B0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1052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field-anchor-4">
            <a:extLst xmlns:a="http://schemas.openxmlformats.org/drawingml/2006/main">
              <a:ext uri="{FF2B5EF4-FFF2-40B4-BE49-F238E27FC236}">
                <a16:creationId xmlns:a16="http://schemas.microsoft.com/office/drawing/2014/main" id="{EBE0E9EF-0D19-4D1F-A403-16D8315E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90525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9" name=""/>
          <p:cNvCxnSpPr>
            <a:stCxn xmlns:a="http://schemas.openxmlformats.org/drawingml/2006/main" id="24" idx="2"/>
            <a:endCxn xmlns:a="http://schemas.openxmlformats.org/drawingml/2006/main" id="25" idx="6"/>
          </p:cNvCxnSpPr>
          <p:nvPr/>
        </p:nvCxnSpPr>
        <p:spPr>
          <a:xfrm xmlns:a="http://schemas.openxmlformats.org/drawingml/2006/main" flipH="1" flipV="1">
            <a:off x="6134100" y="3910013"/>
            <a:ext cx="1666875" cy="2000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27" name="callout-anchor-5">
            <a:extLst xmlns:a="http://schemas.openxmlformats.org/drawingml/2006/main">
              <a:ext uri="{FF2B5EF4-FFF2-40B4-BE49-F238E27FC236}">
                <a16:creationId xmlns:a16="http://schemas.microsoft.com/office/drawing/2014/main" id="{D4F8D86A-0B04-4234-8749-F522571E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9053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field-anchor-5">
            <a:extLst xmlns:a="http://schemas.openxmlformats.org/drawingml/2006/main">
              <a:ext uri="{FF2B5EF4-FFF2-40B4-BE49-F238E27FC236}">
                <a16:creationId xmlns:a16="http://schemas.microsoft.com/office/drawing/2014/main" id="{ADE37279-A696-44EF-ABD6-E7E50EB2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76250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2" name=""/>
          <p:cNvCxnSpPr>
            <a:stCxn xmlns:a="http://schemas.openxmlformats.org/drawingml/2006/main" id="27" idx="2"/>
            <a:endCxn xmlns:a="http://schemas.openxmlformats.org/drawingml/2006/main" id="28" idx="6"/>
          </p:cNvCxnSpPr>
          <p:nvPr/>
        </p:nvCxnSpPr>
        <p:spPr>
          <a:xfrm xmlns:a="http://schemas.openxmlformats.org/drawingml/2006/main" flipH="1" flipV="1">
            <a:off x="6134100" y="4767263"/>
            <a:ext cx="1666875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30" name="callout-anchor-6">
            <a:extLst xmlns:a="http://schemas.openxmlformats.org/drawingml/2006/main">
              <a:ext uri="{FF2B5EF4-FFF2-40B4-BE49-F238E27FC236}">
                <a16:creationId xmlns:a16="http://schemas.microsoft.com/office/drawing/2014/main" id="{BE833D27-8F90-4DE8-9B0B-C14E3376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7054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" name="field-anchor-6">
            <a:extLst xmlns:a="http://schemas.openxmlformats.org/drawingml/2006/main">
              <a:ext uri="{FF2B5EF4-FFF2-40B4-BE49-F238E27FC236}">
                <a16:creationId xmlns:a16="http://schemas.microsoft.com/office/drawing/2014/main" id="{49FB9C4C-4626-4983-94B0-D94D17AF3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81025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5" name=""/>
          <p:cNvCxnSpPr>
            <a:stCxn xmlns:a="http://schemas.openxmlformats.org/drawingml/2006/main" id="30" idx="2"/>
            <a:endCxn xmlns:a="http://schemas.openxmlformats.org/drawingml/2006/main" id="31" idx="6"/>
          </p:cNvCxnSpPr>
          <p:nvPr/>
        </p:nvCxnSpPr>
        <p:spPr>
          <a:xfrm xmlns:a="http://schemas.openxmlformats.org/drawingml/2006/main" flipH="1">
            <a:off x="6134100" y="5710238"/>
            <a:ext cx="1666875" cy="1047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33" name="field-badge-1">
            <a:extLst xmlns:a="http://schemas.openxmlformats.org/drawingml/2006/main">
              <a:ext uri="{FF2B5EF4-FFF2-40B4-BE49-F238E27FC236}">
                <a16:creationId xmlns:a16="http://schemas.microsoft.com/office/drawing/2014/main" id="{9FFC0394-5C36-4B44-908E-82ABA90B0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95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4" name="field-number-1">
            <a:extLst xmlns:a="http://schemas.openxmlformats.org/drawingml/2006/main">
              <a:ext uri="{FF2B5EF4-FFF2-40B4-BE49-F238E27FC236}">
                <a16:creationId xmlns:a16="http://schemas.microsoft.com/office/drawing/2014/main" id="{E38E3ED6-70E3-4C48-8BCF-628C7E475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4954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5" name="callout-box-2">
            <a:extLst xmlns:a="http://schemas.openxmlformats.org/drawingml/2006/main">
              <a:ext uri="{FF2B5EF4-FFF2-40B4-BE49-F238E27FC236}">
                <a16:creationId xmlns:a16="http://schemas.microsoft.com/office/drawing/2014/main" id="{7B3D4ABA-930D-460F-810C-64C8272D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336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AFE0"/>
            </a:solidFill>
            <a:prstDash val="solid"/>
          </a:ln>
        </p:spPr>
      </p:sp>
      <p:sp>
        <p:nvSpPr>
          <p:cNvPr id="36" name="field-badge-2">
            <a:extLst xmlns:a="http://schemas.openxmlformats.org/drawingml/2006/main">
              <a:ext uri="{FF2B5EF4-FFF2-40B4-BE49-F238E27FC236}">
                <a16:creationId xmlns:a16="http://schemas.microsoft.com/office/drawing/2014/main" id="{C7A56F0A-4A53-4F9D-807F-C125EBCE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57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7" name="field-number-2">
            <a:extLst xmlns:a="http://schemas.openxmlformats.org/drawingml/2006/main">
              <a:ext uri="{FF2B5EF4-FFF2-40B4-BE49-F238E27FC236}">
                <a16:creationId xmlns:a16="http://schemas.microsoft.com/office/drawing/2014/main" id="{F1F25101-8975-47C3-9E61-3245AFC9C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574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8" name="callout-box-3">
            <a:extLst xmlns:a="http://schemas.openxmlformats.org/drawingml/2006/main">
              <a:ext uri="{FF2B5EF4-FFF2-40B4-BE49-F238E27FC236}">
                <a16:creationId xmlns:a16="http://schemas.microsoft.com/office/drawing/2014/main" id="{3B5F45EC-81AE-42AF-92FD-EC380A16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337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DEEC"/>
            </a:solidFill>
            <a:prstDash val="solid"/>
          </a:ln>
        </p:spPr>
      </p:sp>
      <p:sp>
        <p:nvSpPr>
          <p:cNvPr id="39" name="field-badge-3">
            <a:extLst xmlns:a="http://schemas.openxmlformats.org/drawingml/2006/main">
              <a:ext uri="{FF2B5EF4-FFF2-40B4-BE49-F238E27FC236}">
                <a16:creationId xmlns:a16="http://schemas.microsoft.com/office/drawing/2014/main" id="{6DAC9D90-E366-4E85-901C-E6349460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19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0" name="field-number-3">
            <a:extLst xmlns:a="http://schemas.openxmlformats.org/drawingml/2006/main">
              <a:ext uri="{FF2B5EF4-FFF2-40B4-BE49-F238E27FC236}">
                <a16:creationId xmlns:a16="http://schemas.microsoft.com/office/drawing/2014/main" id="{1B1BA46B-50D7-42B7-B700-033E53EA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0194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1" name="callout-box-4">
            <a:extLst xmlns:a="http://schemas.openxmlformats.org/drawingml/2006/main">
              <a:ext uri="{FF2B5EF4-FFF2-40B4-BE49-F238E27FC236}">
                <a16:creationId xmlns:a16="http://schemas.microsoft.com/office/drawing/2014/main" id="{DD2BB60E-1041-4DE4-9123-DF5D66A63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338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AFE0"/>
            </a:solidFill>
            <a:prstDash val="solid"/>
          </a:ln>
        </p:spPr>
      </p:sp>
      <p:sp>
        <p:nvSpPr>
          <p:cNvPr id="42" name="callout-title-4">
            <a:extLst xmlns:a="http://schemas.openxmlformats.org/drawingml/2006/main">
              <a:ext uri="{FF2B5EF4-FFF2-40B4-BE49-F238E27FC236}">
                <a16:creationId xmlns:a16="http://schemas.microsoft.com/office/drawing/2014/main" id="{D3B96508-58CE-4827-A804-92DB5E37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</a:rPr>
              <a:t>Minimum guarantee + maximum cap</a:t>
            </a:r>
          </a:p>
        </p:txBody>
      </p:sp>
      <p:sp>
        <p:nvSpPr>
          <p:cNvPr id="43" name="callout-copy-4">
            <a:extLst xmlns:a="http://schemas.openxmlformats.org/drawingml/2006/main">
              <a:ext uri="{FF2B5EF4-FFF2-40B4-BE49-F238E27FC236}">
                <a16:creationId xmlns:a16="http://schemas.microsoft.com/office/drawing/2014/main" id="{641F5F80-7995-4D3C-BAF7-5837603E2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481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8751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Applies a floor and an optional ceiling; zero maximum means no cap.</a:t>
            </a:r>
          </a:p>
        </p:txBody>
      </p:sp>
      <p:sp>
        <p:nvSpPr>
          <p:cNvPr id="44" name="field-badge-4">
            <a:extLst xmlns:a="http://schemas.openxmlformats.org/drawingml/2006/main">
              <a:ext uri="{FF2B5EF4-FFF2-40B4-BE49-F238E27FC236}">
                <a16:creationId xmlns:a16="http://schemas.microsoft.com/office/drawing/2014/main" id="{D0D0F11B-B850-4F67-8B85-5DEC2CB70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81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5" name="field-number-4">
            <a:extLst xmlns:a="http://schemas.openxmlformats.org/drawingml/2006/main">
              <a:ext uri="{FF2B5EF4-FFF2-40B4-BE49-F238E27FC236}">
                <a16:creationId xmlns:a16="http://schemas.microsoft.com/office/drawing/2014/main" id="{87AF10FF-DF0F-4D17-AB4A-61A98D2F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814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6" name="callout-box-5">
            <a:extLst xmlns:a="http://schemas.openxmlformats.org/drawingml/2006/main">
              <a:ext uri="{FF2B5EF4-FFF2-40B4-BE49-F238E27FC236}">
                <a16:creationId xmlns:a16="http://schemas.microsoft.com/office/drawing/2014/main" id="{8FD2D676-B710-4457-A2DD-76990317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DEEC"/>
            </a:solidFill>
            <a:prstDash val="solid"/>
          </a:ln>
        </p:spPr>
      </p:sp>
      <p:sp>
        <p:nvSpPr>
          <p:cNvPr id="47" name="callout-title-5">
            <a:extLst xmlns:a="http://schemas.openxmlformats.org/drawingml/2006/main">
              <a:ext uri="{FF2B5EF4-FFF2-40B4-BE49-F238E27FC236}">
                <a16:creationId xmlns:a16="http://schemas.microsoft.com/office/drawing/2014/main" id="{D1D17A92-297A-4321-90AC-3B3E7AD6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291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</a:rPr>
              <a:t>Service rounding</a:t>
            </a:r>
          </a:p>
        </p:txBody>
      </p:sp>
      <p:sp>
        <p:nvSpPr>
          <p:cNvPr id="48" name="callout-copy-5">
            <a:extLst xmlns:a="http://schemas.openxmlformats.org/drawingml/2006/main">
              <a:ext uri="{FF2B5EF4-FFF2-40B4-BE49-F238E27FC236}">
                <a16:creationId xmlns:a16="http://schemas.microsoft.com/office/drawing/2014/main" id="{59084CF0-EB91-46D0-8C4E-3FC02B03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482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616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Controls whether partial service years round down, round up, or count after six months.</a:t>
            </a:r>
          </a:p>
        </p:txBody>
      </p:sp>
      <p:sp>
        <p:nvSpPr>
          <p:cNvPr id="49" name="field-badge-5">
            <a:extLst xmlns:a="http://schemas.openxmlformats.org/drawingml/2006/main">
              <a:ext uri="{FF2B5EF4-FFF2-40B4-BE49-F238E27FC236}">
                <a16:creationId xmlns:a16="http://schemas.microsoft.com/office/drawing/2014/main" id="{6D6DF2BE-2B51-431A-8EBC-A6EFB2A45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638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0" name="field-number-5">
            <a:extLst xmlns:a="http://schemas.openxmlformats.org/drawingml/2006/main">
              <a:ext uri="{FF2B5EF4-FFF2-40B4-BE49-F238E27FC236}">
                <a16:creationId xmlns:a16="http://schemas.microsoft.com/office/drawing/2014/main" id="{5FDA8B7F-1A10-42AF-AAAB-3C17FCEF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6386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1" name="callout-box-6">
            <a:extLst xmlns:a="http://schemas.openxmlformats.org/drawingml/2006/main">
              <a:ext uri="{FF2B5EF4-FFF2-40B4-BE49-F238E27FC236}">
                <a16:creationId xmlns:a16="http://schemas.microsoft.com/office/drawing/2014/main" id="{2A4D81E6-C1F3-4EB2-98B0-772AC175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340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AFE0"/>
            </a:solidFill>
            <a:prstDash val="solid"/>
          </a:ln>
        </p:spPr>
      </p:sp>
      <p:sp>
        <p:nvSpPr>
          <p:cNvPr id="52" name="callout-title-6">
            <a:extLst xmlns:a="http://schemas.openxmlformats.org/drawingml/2006/main">
              <a:ext uri="{FF2B5EF4-FFF2-40B4-BE49-F238E27FC236}">
                <a16:creationId xmlns:a16="http://schemas.microsoft.com/office/drawing/2014/main" id="{92692BF0-70FC-4A11-A16D-C129E49A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4292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</a:rPr>
              <a:t>Taxation rule + BIR-approved plan</a:t>
            </a:r>
          </a:p>
        </p:txBody>
      </p:sp>
      <p:sp>
        <p:nvSpPr>
          <p:cNvPr id="53" name="callout-copy-6">
            <a:extLst xmlns:a="http://schemas.openxmlformats.org/drawingml/2006/main">
              <a:ext uri="{FF2B5EF4-FFF2-40B4-BE49-F238E27FC236}">
                <a16:creationId xmlns:a16="http://schemas.microsoft.com/office/drawing/2014/main" id="{3A7C43A4-AA24-4DAC-A193-D4C27D8A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6483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616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Evaluates RA 7641/NIRC/RA 4917 treatment and enables the approved-plan exemption condition.</a:t>
            </a:r>
          </a:p>
        </p:txBody>
      </p:sp>
      <p:sp>
        <p:nvSpPr>
          <p:cNvPr id="54" name="field-badge-6">
            <a:extLst xmlns:a="http://schemas.openxmlformats.org/drawingml/2006/main">
              <a:ext uri="{FF2B5EF4-FFF2-40B4-BE49-F238E27FC236}">
                <a16:creationId xmlns:a16="http://schemas.microsoft.com/office/drawing/2014/main" id="{3B994628-9FFE-4D1A-AE57-B648EB5D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686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5" name="field-number-6">
            <a:extLst xmlns:a="http://schemas.openxmlformats.org/drawingml/2006/main">
              <a:ext uri="{FF2B5EF4-FFF2-40B4-BE49-F238E27FC236}">
                <a16:creationId xmlns:a16="http://schemas.microsoft.com/office/drawing/2014/main" id="{8444D248-1BCF-47EC-9326-50DC59E11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6864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43830440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4B2BF85-0BF5-4382-B7D5-53AC14CD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86154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75" b="1">
                <a:solidFill>
                  <a:srgbClr val="5C2A91"/>
                </a:solidFill>
              </a:defRPr>
            </a:pPr>
            <a:r>
              <a:rPr sz="975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RETIREMENT PAY · FIELD GUIDE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2576D19-5577-4E5B-B56E-29A1CF15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Scenario inputs and calculated result</a:t>
            </a:r>
            <a:endParaRPr sz="3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8BC8BEE-B1AA-491C-9B94-35DF745D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34150"/>
            <a:ext cx="676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7531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63" b="0">
                <a:solidFill>
                  <a:srgbClr val="66645F"/>
                </a:solidFill>
              </a:defRPr>
            </a:pPr>
            <a:r>
              <a:rPr sz="863" b="0" i="1">
                <a:solidFill>
                  <a:srgbClr val="66645F"/>
                </a:solidFill>
                <a:latin typeface="Calibri"/>
                <a:ea typeface="Calibri"/>
                <a:cs typeface="Calibri"/>
              </a:rPr>
              <a:t>Numbered arrows point to the live wireframe control; values shown are demo data.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B3120DF-6AB8-4F7C-9457-69EA6986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4287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Date of birth / hired / retirement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6FDB5AC-ACF9-405B-93CA-447BE984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478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Derives age and service at the selected retirement date.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A486993-08D4-4CE6-83BF-47E286ED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288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Reason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F527EB4-40CF-4974-B5E5-290CE661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479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79649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Identifies retirement as the separation event used by eligibility and downstream Final Pay.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12CAB97-78FB-4B8F-B4F1-9DE84889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289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Plan membership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4A9A322-42C2-402F-84B8-4E048A3E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480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83887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States whether the employee participates in the company plan or statutory basis only.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B88E967-BAE5-41BD-B55A-B3BF924D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33500"/>
            <a:ext cx="3790950" cy="74295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1D3F8BD-A1AB-4B4A-8D41-D735C1B7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534150"/>
            <a:ext cx="37909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788" b="0">
                <a:solidFill>
                  <a:srgbClr val="66645F"/>
                </a:solidFill>
              </a:defRPr>
            </a:pPr>
            <a:r>
              <a:rPr sz="788" b="0">
                <a:solidFill>
                  <a:srgbClr val="66645F"/>
                </a:solidFill>
                <a:latin typeface="Calibri"/>
                <a:ea typeface="Calibri"/>
                <a:cs typeface="Calibri"/>
              </a:rPr>
              <a:t>Source · ATLAS local wireframe · Client view</a:t>
            </a:r>
            <a:endParaRPr sz="1000"/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eb822149004ff6"/>
          <a:stretch xmlns:a="http://schemas.openxmlformats.org/drawingml/2006/main"/>
        </p:blipFill>
        <p:spPr>
          <a:xfrm xmlns:a="http://schemas.openxmlformats.org/drawingml/2006/main">
            <a:off x="3048000" y="1258166"/>
            <a:ext cx="2762250" cy="4970318"/>
          </a:xfrm>
          <a:prstGeom xmlns:a="http://schemas.openxmlformats.org/drawingml/2006/main" prst="rect">
            <a:avLst/>
          </a:prstGeom>
        </p:spPr>
      </p:pic>
      <p:sp>
        <p:nvSpPr>
          <p:cNvPr id="15" name="callout-anchor-1">
            <a:extLst xmlns:a="http://schemas.openxmlformats.org/drawingml/2006/main">
              <a:ext uri="{FF2B5EF4-FFF2-40B4-BE49-F238E27FC236}">
                <a16:creationId xmlns:a16="http://schemas.microsoft.com/office/drawing/2014/main" id="{C0FF2575-1F4F-4AA4-BF39-F98816B1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7049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field-anchor-1">
            <a:extLst xmlns:a="http://schemas.openxmlformats.org/drawingml/2006/main">
              <a:ext uri="{FF2B5EF4-FFF2-40B4-BE49-F238E27FC236}">
                <a16:creationId xmlns:a16="http://schemas.microsoft.com/office/drawing/2014/main" id="{6AA108A1-2DFD-4C18-80CE-BEF53B3A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69545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0" name=""/>
          <p:cNvCxnSpPr>
            <a:stCxn xmlns:a="http://schemas.openxmlformats.org/drawingml/2006/main" id="15" idx="2"/>
            <a:endCxn xmlns:a="http://schemas.openxmlformats.org/drawingml/2006/main" id="16" idx="6"/>
          </p:cNvCxnSpPr>
          <p:nvPr/>
        </p:nvCxnSpPr>
        <p:spPr>
          <a:xfrm xmlns:a="http://schemas.openxmlformats.org/drawingml/2006/main" flipH="1" flipV="1">
            <a:off x="5772150" y="1700213"/>
            <a:ext cx="2028825" cy="9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18" name="callout-anchor-2">
            <a:extLst xmlns:a="http://schemas.openxmlformats.org/drawingml/2006/main">
              <a:ext uri="{FF2B5EF4-FFF2-40B4-BE49-F238E27FC236}">
                <a16:creationId xmlns:a16="http://schemas.microsoft.com/office/drawing/2014/main" id="{C582DD90-88C0-4E99-91D5-E50278968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5050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field-anchor-2">
            <a:extLst xmlns:a="http://schemas.openxmlformats.org/drawingml/2006/main">
              <a:ext uri="{FF2B5EF4-FFF2-40B4-BE49-F238E27FC236}">
                <a16:creationId xmlns:a16="http://schemas.microsoft.com/office/drawing/2014/main" id="{7782C3DF-4BF5-4F33-83A5-F2CCF751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4288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3" name=""/>
          <p:cNvCxnSpPr>
            <a:stCxn xmlns:a="http://schemas.openxmlformats.org/drawingml/2006/main" id="18" idx="2"/>
            <a:endCxn xmlns:a="http://schemas.openxmlformats.org/drawingml/2006/main" id="19" idx="6"/>
          </p:cNvCxnSpPr>
          <p:nvPr/>
        </p:nvCxnSpPr>
        <p:spPr>
          <a:xfrm xmlns:a="http://schemas.openxmlformats.org/drawingml/2006/main" flipH="1" flipV="1">
            <a:off x="5772150" y="2433638"/>
            <a:ext cx="2028825" cy="762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21" name="callout-anchor-3">
            <a:extLst xmlns:a="http://schemas.openxmlformats.org/drawingml/2006/main">
              <a:ext uri="{FF2B5EF4-FFF2-40B4-BE49-F238E27FC236}">
                <a16:creationId xmlns:a16="http://schemas.microsoft.com/office/drawing/2014/main" id="{BA552622-7CF1-4100-98C9-7EEC18473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3051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field-anchor-3">
            <a:extLst xmlns:a="http://schemas.openxmlformats.org/drawingml/2006/main">
              <a:ext uri="{FF2B5EF4-FFF2-40B4-BE49-F238E27FC236}">
                <a16:creationId xmlns:a16="http://schemas.microsoft.com/office/drawing/2014/main" id="{58F9C3E5-571F-47DD-ABD1-95CF0732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1908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6" name=""/>
          <p:cNvCxnSpPr>
            <a:stCxn xmlns:a="http://schemas.openxmlformats.org/drawingml/2006/main" id="21" idx="2"/>
            <a:endCxn xmlns:a="http://schemas.openxmlformats.org/drawingml/2006/main" id="22" idx="6"/>
          </p:cNvCxnSpPr>
          <p:nvPr/>
        </p:nvCxnSpPr>
        <p:spPr>
          <a:xfrm xmlns:a="http://schemas.openxmlformats.org/drawingml/2006/main" flipH="1" flipV="1">
            <a:off x="5772150" y="3195638"/>
            <a:ext cx="2028825" cy="1143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24" name="callout-anchor-4">
            <a:extLst xmlns:a="http://schemas.openxmlformats.org/drawingml/2006/main">
              <a:ext uri="{FF2B5EF4-FFF2-40B4-BE49-F238E27FC236}">
                <a16:creationId xmlns:a16="http://schemas.microsoft.com/office/drawing/2014/main" id="{500916B5-FB52-40C6-9D1D-C4B2D38E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1052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field-anchor-4">
            <a:extLst xmlns:a="http://schemas.openxmlformats.org/drawingml/2006/main">
              <a:ext uri="{FF2B5EF4-FFF2-40B4-BE49-F238E27FC236}">
                <a16:creationId xmlns:a16="http://schemas.microsoft.com/office/drawing/2014/main" id="{C0C52F9D-9CB1-44C4-A720-A6457400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9528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9" name=""/>
          <p:cNvCxnSpPr>
            <a:stCxn xmlns:a="http://schemas.openxmlformats.org/drawingml/2006/main" id="24" idx="2"/>
            <a:endCxn xmlns:a="http://schemas.openxmlformats.org/drawingml/2006/main" id="25" idx="6"/>
          </p:cNvCxnSpPr>
          <p:nvPr/>
        </p:nvCxnSpPr>
        <p:spPr>
          <a:xfrm xmlns:a="http://schemas.openxmlformats.org/drawingml/2006/main" flipH="1" flipV="1">
            <a:off x="5772150" y="3957638"/>
            <a:ext cx="2028825" cy="152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27" name="callout-anchor-5">
            <a:extLst xmlns:a="http://schemas.openxmlformats.org/drawingml/2006/main">
              <a:ext uri="{FF2B5EF4-FFF2-40B4-BE49-F238E27FC236}">
                <a16:creationId xmlns:a16="http://schemas.microsoft.com/office/drawing/2014/main" id="{6B470B30-55DA-4698-ADC5-6A3D58762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9053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field-anchor-5">
            <a:extLst xmlns:a="http://schemas.openxmlformats.org/drawingml/2006/main">
              <a:ext uri="{FF2B5EF4-FFF2-40B4-BE49-F238E27FC236}">
                <a16:creationId xmlns:a16="http://schemas.microsoft.com/office/drawing/2014/main" id="{6247E1EE-22CA-49F5-82B2-BD999BD19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76250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2" name=""/>
          <p:cNvCxnSpPr>
            <a:stCxn xmlns:a="http://schemas.openxmlformats.org/drawingml/2006/main" id="27" idx="2"/>
            <a:endCxn xmlns:a="http://schemas.openxmlformats.org/drawingml/2006/main" id="28" idx="6"/>
          </p:cNvCxnSpPr>
          <p:nvPr/>
        </p:nvCxnSpPr>
        <p:spPr>
          <a:xfrm xmlns:a="http://schemas.openxmlformats.org/drawingml/2006/main" flipH="1" flipV="1">
            <a:off x="5772150" y="4767263"/>
            <a:ext cx="2028825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30" name="callout-anchor-6">
            <a:extLst xmlns:a="http://schemas.openxmlformats.org/drawingml/2006/main">
              <a:ext uri="{FF2B5EF4-FFF2-40B4-BE49-F238E27FC236}">
                <a16:creationId xmlns:a16="http://schemas.microsoft.com/office/drawing/2014/main" id="{B44D46C9-7CE6-4596-B4D3-4887D1F1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7054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" name="field-anchor-6">
            <a:extLst xmlns:a="http://schemas.openxmlformats.org/drawingml/2006/main">
              <a:ext uri="{FF2B5EF4-FFF2-40B4-BE49-F238E27FC236}">
                <a16:creationId xmlns:a16="http://schemas.microsoft.com/office/drawing/2014/main" id="{85FFD7C3-6D73-4803-ABDE-A6CEB773B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71500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5" name=""/>
          <p:cNvCxnSpPr>
            <a:stCxn xmlns:a="http://schemas.openxmlformats.org/drawingml/2006/main" id="30" idx="2"/>
            <a:endCxn xmlns:a="http://schemas.openxmlformats.org/drawingml/2006/main" id="31" idx="6"/>
          </p:cNvCxnSpPr>
          <p:nvPr/>
        </p:nvCxnSpPr>
        <p:spPr>
          <a:xfrm xmlns:a="http://schemas.openxmlformats.org/drawingml/2006/main" flipH="1">
            <a:off x="5772150" y="5710238"/>
            <a:ext cx="2028825" cy="9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33" name="field-badge-1">
            <a:extLst xmlns:a="http://schemas.openxmlformats.org/drawingml/2006/main">
              <a:ext uri="{FF2B5EF4-FFF2-40B4-BE49-F238E27FC236}">
                <a16:creationId xmlns:a16="http://schemas.microsoft.com/office/drawing/2014/main" id="{D833F78F-568D-4015-ADCE-974E4165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716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4" name="field-number-1">
            <a:extLst xmlns:a="http://schemas.openxmlformats.org/drawingml/2006/main">
              <a:ext uri="{FF2B5EF4-FFF2-40B4-BE49-F238E27FC236}">
                <a16:creationId xmlns:a16="http://schemas.microsoft.com/office/drawing/2014/main" id="{C6803781-1571-4E28-9AAE-EE990FC45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716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5" name="callout-box-2">
            <a:extLst xmlns:a="http://schemas.openxmlformats.org/drawingml/2006/main">
              <a:ext uri="{FF2B5EF4-FFF2-40B4-BE49-F238E27FC236}">
                <a16:creationId xmlns:a16="http://schemas.microsoft.com/office/drawing/2014/main" id="{BBDC0CB0-E3ED-43DF-A34F-B4A00746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336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AFE0"/>
            </a:solidFill>
            <a:prstDash val="solid"/>
          </a:ln>
        </p:spPr>
      </p:sp>
      <p:sp>
        <p:nvSpPr>
          <p:cNvPr id="36" name="field-badge-2">
            <a:extLst xmlns:a="http://schemas.openxmlformats.org/drawingml/2006/main">
              <a:ext uri="{FF2B5EF4-FFF2-40B4-BE49-F238E27FC236}">
                <a16:creationId xmlns:a16="http://schemas.microsoft.com/office/drawing/2014/main" id="{E455986F-2465-4123-A6D7-1A7DA476D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05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7" name="field-number-2">
            <a:extLst xmlns:a="http://schemas.openxmlformats.org/drawingml/2006/main">
              <a:ext uri="{FF2B5EF4-FFF2-40B4-BE49-F238E27FC236}">
                <a16:creationId xmlns:a16="http://schemas.microsoft.com/office/drawing/2014/main" id="{CE9C200D-E969-4E23-BA90-9FE926EE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305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8" name="callout-box-3">
            <a:extLst xmlns:a="http://schemas.openxmlformats.org/drawingml/2006/main">
              <a:ext uri="{FF2B5EF4-FFF2-40B4-BE49-F238E27FC236}">
                <a16:creationId xmlns:a16="http://schemas.microsoft.com/office/drawing/2014/main" id="{8D87DC61-09C6-4ED7-87F3-0355BE9C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337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DEEC"/>
            </a:solidFill>
            <a:prstDash val="solid"/>
          </a:ln>
        </p:spPr>
      </p:sp>
      <p:sp>
        <p:nvSpPr>
          <p:cNvPr id="39" name="field-badge-3">
            <a:extLst xmlns:a="http://schemas.openxmlformats.org/drawingml/2006/main">
              <a:ext uri="{FF2B5EF4-FFF2-40B4-BE49-F238E27FC236}">
                <a16:creationId xmlns:a16="http://schemas.microsoft.com/office/drawing/2014/main" id="{46E6E700-E6E8-48B3-A994-FB9503B3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67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0" name="field-number-3">
            <a:extLst xmlns:a="http://schemas.openxmlformats.org/drawingml/2006/main">
              <a:ext uri="{FF2B5EF4-FFF2-40B4-BE49-F238E27FC236}">
                <a16:creationId xmlns:a16="http://schemas.microsoft.com/office/drawing/2014/main" id="{BFAE111B-2807-4E23-BDF4-BC930D9D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1" name="callout-box-4">
            <a:extLst xmlns:a="http://schemas.openxmlformats.org/drawingml/2006/main">
              <a:ext uri="{FF2B5EF4-FFF2-40B4-BE49-F238E27FC236}">
                <a16:creationId xmlns:a16="http://schemas.microsoft.com/office/drawing/2014/main" id="{A4E5147A-7D5D-41D5-8ADF-D3727F97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338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AFE0"/>
            </a:solidFill>
            <a:prstDash val="solid"/>
          </a:ln>
        </p:spPr>
      </p:sp>
      <p:sp>
        <p:nvSpPr>
          <p:cNvPr id="42" name="callout-title-4">
            <a:extLst xmlns:a="http://schemas.openxmlformats.org/drawingml/2006/main">
              <a:ext uri="{FF2B5EF4-FFF2-40B4-BE49-F238E27FC236}">
                <a16:creationId xmlns:a16="http://schemas.microsoft.com/office/drawing/2014/main" id="{DF8FD3A8-4606-4144-AAB9-F1BE69D5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</a:rPr>
              <a:t>Monthly basic pay + average salary</a:t>
            </a:r>
          </a:p>
        </p:txBody>
      </p:sp>
      <p:sp>
        <p:nvSpPr>
          <p:cNvPr id="43" name="callout-copy-4">
            <a:extLst xmlns:a="http://schemas.openxmlformats.org/drawingml/2006/main">
              <a:ext uri="{FF2B5EF4-FFF2-40B4-BE49-F238E27FC236}">
                <a16:creationId xmlns:a16="http://schemas.microsoft.com/office/drawing/2014/main" id="{E951F341-C09C-4FFB-9B6D-B703C25A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481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616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Provides both possible salary bases so the selected policy can use the correct one.</a:t>
            </a:r>
          </a:p>
        </p:txBody>
      </p:sp>
      <p:sp>
        <p:nvSpPr>
          <p:cNvPr id="44" name="field-badge-4">
            <a:extLst xmlns:a="http://schemas.openxmlformats.org/drawingml/2006/main">
              <a:ext uri="{FF2B5EF4-FFF2-40B4-BE49-F238E27FC236}">
                <a16:creationId xmlns:a16="http://schemas.microsoft.com/office/drawing/2014/main" id="{BBC765F6-008A-4DD9-9308-DD938805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29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5" name="field-number-4">
            <a:extLst xmlns:a="http://schemas.openxmlformats.org/drawingml/2006/main">
              <a:ext uri="{FF2B5EF4-FFF2-40B4-BE49-F238E27FC236}">
                <a16:creationId xmlns:a16="http://schemas.microsoft.com/office/drawing/2014/main" id="{3428161D-8BBE-48AA-A330-B47E7B4B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29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6" name="callout-box-5">
            <a:extLst xmlns:a="http://schemas.openxmlformats.org/drawingml/2006/main">
              <a:ext uri="{FF2B5EF4-FFF2-40B4-BE49-F238E27FC236}">
                <a16:creationId xmlns:a16="http://schemas.microsoft.com/office/drawing/2014/main" id="{2BBF7A42-C7A8-4CA0-BCFF-0F5EDA01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DEEC"/>
            </a:solidFill>
            <a:prstDash val="solid"/>
          </a:ln>
        </p:spPr>
      </p:sp>
      <p:sp>
        <p:nvSpPr>
          <p:cNvPr id="47" name="callout-title-5">
            <a:extLst xmlns:a="http://schemas.openxmlformats.org/drawingml/2006/main">
              <a:ext uri="{FF2B5EF4-FFF2-40B4-BE49-F238E27FC236}">
                <a16:creationId xmlns:a16="http://schemas.microsoft.com/office/drawing/2014/main" id="{860FCF99-7942-4774-8BF8-4C570EC7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291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</a:rPr>
              <a:t>Age / service / eligible</a:t>
            </a:r>
          </a:p>
        </p:txBody>
      </p:sp>
      <p:sp>
        <p:nvSpPr>
          <p:cNvPr id="48" name="callout-copy-5">
            <a:extLst xmlns:a="http://schemas.openxmlformats.org/drawingml/2006/main">
              <a:ext uri="{FF2B5EF4-FFF2-40B4-BE49-F238E27FC236}">
                <a16:creationId xmlns:a16="http://schemas.microsoft.com/office/drawing/2014/main" id="{E49670A6-2168-45C4-8976-0EAAC070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482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616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Displays the resolved eligibility facts before the benefit amount is accepted.</a:t>
            </a:r>
          </a:p>
        </p:txBody>
      </p:sp>
      <p:sp>
        <p:nvSpPr>
          <p:cNvPr id="49" name="field-badge-5">
            <a:extLst xmlns:a="http://schemas.openxmlformats.org/drawingml/2006/main">
              <a:ext uri="{FF2B5EF4-FFF2-40B4-BE49-F238E27FC236}">
                <a16:creationId xmlns:a16="http://schemas.microsoft.com/office/drawing/2014/main" id="{89FF19C6-7547-47FB-BC82-820D6457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38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0" name="field-number-5">
            <a:extLst xmlns:a="http://schemas.openxmlformats.org/drawingml/2006/main">
              <a:ext uri="{FF2B5EF4-FFF2-40B4-BE49-F238E27FC236}">
                <a16:creationId xmlns:a16="http://schemas.microsoft.com/office/drawing/2014/main" id="{13C53F65-D89C-4C06-AC41-A3160F42A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6386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1" name="callout-box-6">
            <a:extLst xmlns:a="http://schemas.openxmlformats.org/drawingml/2006/main">
              <a:ext uri="{FF2B5EF4-FFF2-40B4-BE49-F238E27FC236}">
                <a16:creationId xmlns:a16="http://schemas.microsoft.com/office/drawing/2014/main" id="{5E6E07CF-28A7-4331-B5B2-B7C4427D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340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AFE0"/>
            </a:solidFill>
            <a:prstDash val="solid"/>
          </a:ln>
        </p:spPr>
      </p:sp>
      <p:sp>
        <p:nvSpPr>
          <p:cNvPr id="52" name="callout-title-6">
            <a:extLst xmlns:a="http://schemas.openxmlformats.org/drawingml/2006/main">
              <a:ext uri="{FF2B5EF4-FFF2-40B4-BE49-F238E27FC236}">
                <a16:creationId xmlns:a16="http://schemas.microsoft.com/office/drawing/2014/main" id="{C67A0605-9CBC-432D-A35B-C87E39A2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4292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</a:rPr>
              <a:t>Rounded years + values + tax trace</a:t>
            </a:r>
          </a:p>
        </p:txBody>
      </p:sp>
      <p:sp>
        <p:nvSpPr>
          <p:cNvPr id="53" name="callout-copy-6">
            <a:extLst xmlns:a="http://schemas.openxmlformats.org/drawingml/2006/main">
              <a:ext uri="{FF2B5EF4-FFF2-40B4-BE49-F238E27FC236}">
                <a16:creationId xmlns:a16="http://schemas.microsoft.com/office/drawing/2014/main" id="{46F820F2-470B-481F-B4B5-B99A016C6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6483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616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Shows statutory, company-plan, selected retirement pay, tax status, and calculation trace.</a:t>
            </a:r>
          </a:p>
        </p:txBody>
      </p:sp>
      <p:sp>
        <p:nvSpPr>
          <p:cNvPr id="54" name="field-badge-6">
            <a:extLst xmlns:a="http://schemas.openxmlformats.org/drawingml/2006/main">
              <a:ext uri="{FF2B5EF4-FFF2-40B4-BE49-F238E27FC236}">
                <a16:creationId xmlns:a16="http://schemas.microsoft.com/office/drawing/2014/main" id="{12628878-D984-492E-817D-AD40561C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5911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5" name="field-number-6">
            <a:extLst xmlns:a="http://schemas.openxmlformats.org/drawingml/2006/main">
              <a:ext uri="{FF2B5EF4-FFF2-40B4-BE49-F238E27FC236}">
                <a16:creationId xmlns:a16="http://schemas.microsoft.com/office/drawing/2014/main" id="{0DFF1380-4478-46D7-A92F-08D4AFC5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5911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43830440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4B2BF85-0BF5-4382-B7D5-53AC14CD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86154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75" b="1">
                <a:solidFill>
                  <a:srgbClr val="5C2A91"/>
                </a:solidFill>
              </a:defRPr>
            </a:pPr>
            <a:r>
              <a:rPr sz="975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FINAL PAY · FIELD GUIDE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2576D19-5577-4E5B-B56E-29A1CF15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Included earnings and company components</a:t>
            </a:r>
            <a:endParaRPr sz="3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8BC8BEE-B1AA-491C-9B94-35DF745D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34150"/>
            <a:ext cx="676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7531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63" b="0">
                <a:solidFill>
                  <a:srgbClr val="66645F"/>
                </a:solidFill>
              </a:defRPr>
            </a:pPr>
            <a:r>
              <a:rPr sz="863" b="0" i="1">
                <a:solidFill>
                  <a:srgbClr val="66645F"/>
                </a:solidFill>
                <a:latin typeface="Calibri"/>
                <a:ea typeface="Calibri"/>
                <a:cs typeface="Calibri"/>
              </a:rPr>
              <a:t>Numbered arrows point to the live wireframe control; values shown are demo data.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B3120DF-6AB8-4F7C-9457-69EA6986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4287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Enable engine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6FDB5AC-ACF9-405B-93CA-447BE984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478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85047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Activates Final Pay processing for separated employees without removing the policy.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A486993-08D4-4CE6-83BF-47E286ED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288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Employee group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F527EB4-40CF-4974-B5E5-290CE661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479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Applies the policy to the governed employee population.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12CAB97-78FB-4B8F-B4F1-9DE84889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289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Mandatory components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4A9A322-42C2-402F-84B8-4E048A3E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480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73637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Unpaid Salary, prorated 13th month, SIL conversion, Separation Pay, Retirement Pay, and Final Tax.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B88E967-BAE5-41BD-B55A-B3BF924D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33500"/>
            <a:ext cx="3790950" cy="74295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1D3F8BD-A1AB-4B4A-8D41-D735C1B7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534150"/>
            <a:ext cx="37909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788" b="0">
                <a:solidFill>
                  <a:srgbClr val="66645F"/>
                </a:solidFill>
              </a:defRPr>
            </a:pPr>
            <a:r>
              <a:rPr sz="788" b="0">
                <a:solidFill>
                  <a:srgbClr val="66645F"/>
                </a:solidFill>
                <a:latin typeface="Calibri"/>
                <a:ea typeface="Calibri"/>
                <a:cs typeface="Calibri"/>
              </a:rPr>
              <a:t>Source · ATLAS local wireframe · Client view</a:t>
            </a:r>
            <a:endParaRPr sz="1000"/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7c30af33604652"/>
          <a:stretch xmlns:a="http://schemas.openxmlformats.org/drawingml/2006/main"/>
        </p:blipFill>
        <p:spPr>
          <a:xfrm xmlns:a="http://schemas.openxmlformats.org/drawingml/2006/main">
            <a:off x="1431750" y="1257300"/>
            <a:ext cx="4756499" cy="4876800"/>
          </a:xfrm>
          <a:prstGeom xmlns:a="http://schemas.openxmlformats.org/drawingml/2006/main" prst="rect">
            <a:avLst/>
          </a:prstGeom>
        </p:spPr>
      </p:pic>
      <p:sp>
        <p:nvSpPr>
          <p:cNvPr id="15" name="callout-anchor-1">
            <a:extLst xmlns:a="http://schemas.openxmlformats.org/drawingml/2006/main">
              <a:ext uri="{FF2B5EF4-FFF2-40B4-BE49-F238E27FC236}">
                <a16:creationId xmlns:a16="http://schemas.microsoft.com/office/drawing/2014/main" id="{DA917429-EB56-4C96-B749-1B19D6609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7049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field-anchor-1">
            <a:extLst xmlns:a="http://schemas.openxmlformats.org/drawingml/2006/main">
              <a:ext uri="{FF2B5EF4-FFF2-40B4-BE49-F238E27FC236}">
                <a16:creationId xmlns:a16="http://schemas.microsoft.com/office/drawing/2014/main" id="{2D728B8F-4732-4A80-871B-5E64C53A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65735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0" name=""/>
          <p:cNvCxnSpPr>
            <a:stCxn xmlns:a="http://schemas.openxmlformats.org/drawingml/2006/main" id="15" idx="2"/>
            <a:endCxn xmlns:a="http://schemas.openxmlformats.org/drawingml/2006/main" id="16" idx="6"/>
          </p:cNvCxnSpPr>
          <p:nvPr/>
        </p:nvCxnSpPr>
        <p:spPr>
          <a:xfrm xmlns:a="http://schemas.openxmlformats.org/drawingml/2006/main" flipH="1" flipV="1">
            <a:off x="6153150" y="1662113"/>
            <a:ext cx="1647825" cy="47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18" name="callout-anchor-2">
            <a:extLst xmlns:a="http://schemas.openxmlformats.org/drawingml/2006/main">
              <a:ext uri="{FF2B5EF4-FFF2-40B4-BE49-F238E27FC236}">
                <a16:creationId xmlns:a16="http://schemas.microsoft.com/office/drawing/2014/main" id="{19D8EA9B-FA30-45E3-94AA-9F555B88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5050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field-anchor-2">
            <a:extLst xmlns:a="http://schemas.openxmlformats.org/drawingml/2006/main">
              <a:ext uri="{FF2B5EF4-FFF2-40B4-BE49-F238E27FC236}">
                <a16:creationId xmlns:a16="http://schemas.microsoft.com/office/drawing/2014/main" id="{F12891A3-9FE5-41DF-BAE9-A7F763B67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6220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3" name=""/>
          <p:cNvCxnSpPr>
            <a:stCxn xmlns:a="http://schemas.openxmlformats.org/drawingml/2006/main" id="18" idx="2"/>
            <a:endCxn xmlns:a="http://schemas.openxmlformats.org/drawingml/2006/main" id="19" idx="6"/>
          </p:cNvCxnSpPr>
          <p:nvPr/>
        </p:nvCxnSpPr>
        <p:spPr>
          <a:xfrm xmlns:a="http://schemas.openxmlformats.org/drawingml/2006/main" flipH="1" flipV="1">
            <a:off x="6153150" y="2366963"/>
            <a:ext cx="1647825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21" name="callout-anchor-3">
            <a:extLst xmlns:a="http://schemas.openxmlformats.org/drawingml/2006/main">
              <a:ext uri="{FF2B5EF4-FFF2-40B4-BE49-F238E27FC236}">
                <a16:creationId xmlns:a16="http://schemas.microsoft.com/office/drawing/2014/main" id="{1C0D5A44-3D58-464C-A4E0-1F6F4750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3051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field-anchor-3">
            <a:extLst xmlns:a="http://schemas.openxmlformats.org/drawingml/2006/main">
              <a:ext uri="{FF2B5EF4-FFF2-40B4-BE49-F238E27FC236}">
                <a16:creationId xmlns:a16="http://schemas.microsoft.com/office/drawing/2014/main" id="{A410444F-1B1F-41D9-B5B2-FA2CF5DE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14325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6" name=""/>
          <p:cNvCxnSpPr>
            <a:stCxn xmlns:a="http://schemas.openxmlformats.org/drawingml/2006/main" id="21" idx="2"/>
            <a:endCxn xmlns:a="http://schemas.openxmlformats.org/drawingml/2006/main" id="22" idx="6"/>
          </p:cNvCxnSpPr>
          <p:nvPr/>
        </p:nvCxnSpPr>
        <p:spPr>
          <a:xfrm xmlns:a="http://schemas.openxmlformats.org/drawingml/2006/main" flipH="1" flipV="1">
            <a:off x="6153150" y="3148013"/>
            <a:ext cx="1647825" cy="161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24" name="callout-anchor-4">
            <a:extLst xmlns:a="http://schemas.openxmlformats.org/drawingml/2006/main">
              <a:ext uri="{FF2B5EF4-FFF2-40B4-BE49-F238E27FC236}">
                <a16:creationId xmlns:a16="http://schemas.microsoft.com/office/drawing/2014/main" id="{94E9AE9C-B367-47D3-9A35-52C9BD03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1052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field-anchor-4">
            <a:extLst xmlns:a="http://schemas.openxmlformats.org/drawingml/2006/main">
              <a:ext uri="{FF2B5EF4-FFF2-40B4-BE49-F238E27FC236}">
                <a16:creationId xmlns:a16="http://schemas.microsoft.com/office/drawing/2014/main" id="{8ED1DEB9-1A8F-4B78-9984-3D445C82E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92430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9" name=""/>
          <p:cNvCxnSpPr>
            <a:stCxn xmlns:a="http://schemas.openxmlformats.org/drawingml/2006/main" id="24" idx="2"/>
            <a:endCxn xmlns:a="http://schemas.openxmlformats.org/drawingml/2006/main" id="25" idx="6"/>
          </p:cNvCxnSpPr>
          <p:nvPr/>
        </p:nvCxnSpPr>
        <p:spPr>
          <a:xfrm xmlns:a="http://schemas.openxmlformats.org/drawingml/2006/main" flipH="1" flipV="1">
            <a:off x="6153150" y="3929063"/>
            <a:ext cx="1647825" cy="1809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27" name="callout-anchor-5">
            <a:extLst xmlns:a="http://schemas.openxmlformats.org/drawingml/2006/main">
              <a:ext uri="{FF2B5EF4-FFF2-40B4-BE49-F238E27FC236}">
                <a16:creationId xmlns:a16="http://schemas.microsoft.com/office/drawing/2014/main" id="{65E69393-3F24-4588-A757-75BC53FF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9053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field-anchor-5">
            <a:extLst xmlns:a="http://schemas.openxmlformats.org/drawingml/2006/main">
              <a:ext uri="{FF2B5EF4-FFF2-40B4-BE49-F238E27FC236}">
                <a16:creationId xmlns:a16="http://schemas.microsoft.com/office/drawing/2014/main" id="{015960FC-9F3C-456C-8404-903ED0F8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76250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2" name=""/>
          <p:cNvCxnSpPr>
            <a:stCxn xmlns:a="http://schemas.openxmlformats.org/drawingml/2006/main" id="27" idx="2"/>
            <a:endCxn xmlns:a="http://schemas.openxmlformats.org/drawingml/2006/main" id="28" idx="6"/>
          </p:cNvCxnSpPr>
          <p:nvPr/>
        </p:nvCxnSpPr>
        <p:spPr>
          <a:xfrm xmlns:a="http://schemas.openxmlformats.org/drawingml/2006/main" flipH="1" flipV="1">
            <a:off x="6153150" y="4767263"/>
            <a:ext cx="1647825" cy="142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30" name="callout-anchor-6">
            <a:extLst xmlns:a="http://schemas.openxmlformats.org/drawingml/2006/main">
              <a:ext uri="{FF2B5EF4-FFF2-40B4-BE49-F238E27FC236}">
                <a16:creationId xmlns:a16="http://schemas.microsoft.com/office/drawing/2014/main" id="{21FC8B38-E5C6-4C99-B464-752F52B11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7054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" name="field-anchor-6">
            <a:extLst xmlns:a="http://schemas.openxmlformats.org/drawingml/2006/main">
              <a:ext uri="{FF2B5EF4-FFF2-40B4-BE49-F238E27FC236}">
                <a16:creationId xmlns:a16="http://schemas.microsoft.com/office/drawing/2014/main" id="{2D6EE0D0-564B-459A-839E-D7503576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71500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5" name=""/>
          <p:cNvCxnSpPr>
            <a:stCxn xmlns:a="http://schemas.openxmlformats.org/drawingml/2006/main" id="30" idx="2"/>
            <a:endCxn xmlns:a="http://schemas.openxmlformats.org/drawingml/2006/main" id="31" idx="6"/>
          </p:cNvCxnSpPr>
          <p:nvPr/>
        </p:nvCxnSpPr>
        <p:spPr>
          <a:xfrm xmlns:a="http://schemas.openxmlformats.org/drawingml/2006/main" flipH="1">
            <a:off x="6153150" y="5710238"/>
            <a:ext cx="1647825" cy="9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33" name="field-badge-1">
            <a:extLst xmlns:a="http://schemas.openxmlformats.org/drawingml/2006/main">
              <a:ext uri="{FF2B5EF4-FFF2-40B4-BE49-F238E27FC236}">
                <a16:creationId xmlns:a16="http://schemas.microsoft.com/office/drawing/2014/main" id="{5F61C3FE-0788-4F5D-BDDA-1CDDD80FB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335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4" name="field-number-1">
            <a:extLst xmlns:a="http://schemas.openxmlformats.org/drawingml/2006/main">
              <a:ext uri="{FF2B5EF4-FFF2-40B4-BE49-F238E27FC236}">
                <a16:creationId xmlns:a16="http://schemas.microsoft.com/office/drawing/2014/main" id="{66FACC84-037F-4324-9EFE-8F480455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335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5" name="callout-box-2">
            <a:extLst xmlns:a="http://schemas.openxmlformats.org/drawingml/2006/main">
              <a:ext uri="{FF2B5EF4-FFF2-40B4-BE49-F238E27FC236}">
                <a16:creationId xmlns:a16="http://schemas.microsoft.com/office/drawing/2014/main" id="{F3E040F2-8C09-4A12-A54E-5FD31D53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336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AFE0"/>
            </a:solidFill>
            <a:prstDash val="solid"/>
          </a:ln>
        </p:spPr>
      </p:sp>
      <p:sp>
        <p:nvSpPr>
          <p:cNvPr id="36" name="field-badge-2">
            <a:extLst xmlns:a="http://schemas.openxmlformats.org/drawingml/2006/main">
              <a:ext uri="{FF2B5EF4-FFF2-40B4-BE49-F238E27FC236}">
                <a16:creationId xmlns:a16="http://schemas.microsoft.com/office/drawing/2014/main" id="{09AF3BBB-D0C8-45A2-9113-1E6F0ED4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383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7" name="field-number-2">
            <a:extLst xmlns:a="http://schemas.openxmlformats.org/drawingml/2006/main">
              <a:ext uri="{FF2B5EF4-FFF2-40B4-BE49-F238E27FC236}">
                <a16:creationId xmlns:a16="http://schemas.microsoft.com/office/drawing/2014/main" id="{5A63BF11-4AED-4ECF-B776-61EA9E8F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383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8" name="callout-box-3">
            <a:extLst xmlns:a="http://schemas.openxmlformats.org/drawingml/2006/main">
              <a:ext uri="{FF2B5EF4-FFF2-40B4-BE49-F238E27FC236}">
                <a16:creationId xmlns:a16="http://schemas.microsoft.com/office/drawing/2014/main" id="{A0D3268E-971D-41DF-837D-2F6F15D0B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337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DEEC"/>
            </a:solidFill>
            <a:prstDash val="solid"/>
          </a:ln>
        </p:spPr>
      </p:sp>
      <p:sp>
        <p:nvSpPr>
          <p:cNvPr id="39" name="field-badge-3">
            <a:extLst xmlns:a="http://schemas.openxmlformats.org/drawingml/2006/main">
              <a:ext uri="{FF2B5EF4-FFF2-40B4-BE49-F238E27FC236}">
                <a16:creationId xmlns:a16="http://schemas.microsoft.com/office/drawing/2014/main" id="{76F08304-62A2-4D7E-9033-ABD67CFEB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19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0" name="field-number-3">
            <a:extLst xmlns:a="http://schemas.openxmlformats.org/drawingml/2006/main">
              <a:ext uri="{FF2B5EF4-FFF2-40B4-BE49-F238E27FC236}">
                <a16:creationId xmlns:a16="http://schemas.microsoft.com/office/drawing/2014/main" id="{31E6E6F4-B1C9-4946-976F-7E9BE965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194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1" name="callout-box-4">
            <a:extLst xmlns:a="http://schemas.openxmlformats.org/drawingml/2006/main">
              <a:ext uri="{FF2B5EF4-FFF2-40B4-BE49-F238E27FC236}">
                <a16:creationId xmlns:a16="http://schemas.microsoft.com/office/drawing/2014/main" id="{5C8EDD74-CF10-4E9A-A71E-CBB3FE330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338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AFE0"/>
            </a:solidFill>
            <a:prstDash val="solid"/>
          </a:ln>
        </p:spPr>
      </p:sp>
      <p:sp>
        <p:nvSpPr>
          <p:cNvPr id="42" name="callout-title-4">
            <a:extLst xmlns:a="http://schemas.openxmlformats.org/drawingml/2006/main">
              <a:ext uri="{FF2B5EF4-FFF2-40B4-BE49-F238E27FC236}">
                <a16:creationId xmlns:a16="http://schemas.microsoft.com/office/drawing/2014/main" id="{E128765F-BA80-4B77-A319-80F31968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</a:rPr>
              <a:t>Optional company components</a:t>
            </a:r>
          </a:p>
        </p:txBody>
      </p:sp>
      <p:sp>
        <p:nvSpPr>
          <p:cNvPr id="43" name="callout-copy-4">
            <a:extLst xmlns:a="http://schemas.openxmlformats.org/drawingml/2006/main">
              <a:ext uri="{FF2B5EF4-FFF2-40B4-BE49-F238E27FC236}">
                <a16:creationId xmlns:a16="http://schemas.microsoft.com/office/drawing/2014/main" id="{29E276B8-91BA-41AC-BECC-45299D32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481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616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Convertible VL/SL beyond SIL, Allowances, Commissions, Cash Bond return, and Gratuity Pay.</a:t>
            </a:r>
          </a:p>
        </p:txBody>
      </p:sp>
      <p:sp>
        <p:nvSpPr>
          <p:cNvPr id="44" name="field-badge-4">
            <a:extLst xmlns:a="http://schemas.openxmlformats.org/drawingml/2006/main">
              <a:ext uri="{FF2B5EF4-FFF2-40B4-BE49-F238E27FC236}">
                <a16:creationId xmlns:a16="http://schemas.microsoft.com/office/drawing/2014/main" id="{425EAEFF-569C-43A9-94EF-26201D3C7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004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5" name="field-number-4">
            <a:extLst xmlns:a="http://schemas.openxmlformats.org/drawingml/2006/main">
              <a:ext uri="{FF2B5EF4-FFF2-40B4-BE49-F238E27FC236}">
                <a16:creationId xmlns:a16="http://schemas.microsoft.com/office/drawing/2014/main" id="{F20CFA52-FA37-43CD-ACBC-589A657F6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004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6" name="callout-box-5">
            <a:extLst xmlns:a="http://schemas.openxmlformats.org/drawingml/2006/main">
              <a:ext uri="{FF2B5EF4-FFF2-40B4-BE49-F238E27FC236}">
                <a16:creationId xmlns:a16="http://schemas.microsoft.com/office/drawing/2014/main" id="{D2689204-5900-4997-8FBF-9A141F03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DEEC"/>
            </a:solidFill>
            <a:prstDash val="solid"/>
          </a:ln>
        </p:spPr>
      </p:sp>
      <p:sp>
        <p:nvSpPr>
          <p:cNvPr id="47" name="callout-title-5">
            <a:extLst xmlns:a="http://schemas.openxmlformats.org/drawingml/2006/main">
              <a:ext uri="{FF2B5EF4-FFF2-40B4-BE49-F238E27FC236}">
                <a16:creationId xmlns:a16="http://schemas.microsoft.com/office/drawing/2014/main" id="{7C81BD52-19A7-4763-9A06-B74DDA5FE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291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</a:rPr>
              <a:t>Retirement Pay linkage</a:t>
            </a:r>
          </a:p>
        </p:txBody>
      </p:sp>
      <p:sp>
        <p:nvSpPr>
          <p:cNvPr id="48" name="callout-copy-5">
            <a:extLst xmlns:a="http://schemas.openxmlformats.org/drawingml/2006/main">
              <a:ext uri="{FF2B5EF4-FFF2-40B4-BE49-F238E27FC236}">
                <a16:creationId xmlns:a16="http://schemas.microsoft.com/office/drawing/2014/main" id="{4A596FBE-0C28-4CFD-AFC2-1136F8BA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482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616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Pulls the approved Retirement engine result rather than asking payroll to re-enter the value.</a:t>
            </a:r>
          </a:p>
        </p:txBody>
      </p:sp>
      <p:sp>
        <p:nvSpPr>
          <p:cNvPr id="49" name="field-badge-5">
            <a:extLst xmlns:a="http://schemas.openxmlformats.org/drawingml/2006/main">
              <a:ext uri="{FF2B5EF4-FFF2-40B4-BE49-F238E27FC236}">
                <a16:creationId xmlns:a16="http://schemas.microsoft.com/office/drawing/2014/main" id="{094AA43F-F5DE-4AC5-A7BC-C83C22610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386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0" name="field-number-5">
            <a:extLst xmlns:a="http://schemas.openxmlformats.org/drawingml/2006/main">
              <a:ext uri="{FF2B5EF4-FFF2-40B4-BE49-F238E27FC236}">
                <a16:creationId xmlns:a16="http://schemas.microsoft.com/office/drawing/2014/main" id="{A04226BC-5D5D-4836-AA7A-100D82F8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386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1" name="callout-box-6">
            <a:extLst xmlns:a="http://schemas.openxmlformats.org/drawingml/2006/main">
              <a:ext uri="{FF2B5EF4-FFF2-40B4-BE49-F238E27FC236}">
                <a16:creationId xmlns:a16="http://schemas.microsoft.com/office/drawing/2014/main" id="{E4D0F1EC-4CEF-4634-B0CF-57D9425B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340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AFE0"/>
            </a:solidFill>
            <a:prstDash val="solid"/>
          </a:ln>
        </p:spPr>
      </p:sp>
      <p:sp>
        <p:nvSpPr>
          <p:cNvPr id="52" name="callout-title-6">
            <a:extLst xmlns:a="http://schemas.openxmlformats.org/drawingml/2006/main">
              <a:ext uri="{FF2B5EF4-FFF2-40B4-BE49-F238E27FC236}">
                <a16:creationId xmlns:a16="http://schemas.microsoft.com/office/drawing/2014/main" id="{9F3BC170-8C53-4D83-A6A0-4882AE85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4292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</a:rPr>
              <a:t>Component checkboxes</a:t>
            </a:r>
          </a:p>
        </p:txBody>
      </p:sp>
      <p:sp>
        <p:nvSpPr>
          <p:cNvPr id="53" name="callout-copy-6">
            <a:extLst xmlns:a="http://schemas.openxmlformats.org/drawingml/2006/main">
              <a:ext uri="{FF2B5EF4-FFF2-40B4-BE49-F238E27FC236}">
                <a16:creationId xmlns:a16="http://schemas.microsoft.com/office/drawing/2014/main" id="{5C28292F-BF00-48BF-8249-184866EC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6483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616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Each selection determines whether the item is included in the scenario, breakdown, and net result.</a:t>
            </a:r>
          </a:p>
        </p:txBody>
      </p:sp>
      <p:sp>
        <p:nvSpPr>
          <p:cNvPr id="54" name="field-badge-6">
            <a:extLst xmlns:a="http://schemas.openxmlformats.org/drawingml/2006/main">
              <a:ext uri="{FF2B5EF4-FFF2-40B4-BE49-F238E27FC236}">
                <a16:creationId xmlns:a16="http://schemas.microsoft.com/office/drawing/2014/main" id="{85BD0646-8128-4609-96BF-54662CEC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911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5" name="field-number-6">
            <a:extLst xmlns:a="http://schemas.openxmlformats.org/drawingml/2006/main">
              <a:ext uri="{FF2B5EF4-FFF2-40B4-BE49-F238E27FC236}">
                <a16:creationId xmlns:a16="http://schemas.microsoft.com/office/drawing/2014/main" id="{819BA6C9-3639-4912-98E4-F6E257E2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911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43830440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4B2BF85-0BF5-4382-B7D5-53AC14CD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86154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75" b="1">
                <a:solidFill>
                  <a:srgbClr val="5C2A91"/>
                </a:solidFill>
              </a:defRPr>
            </a:pPr>
            <a:r>
              <a:rPr sz="975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FINAL PAY · FIELD GUIDE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2576D19-5577-4E5B-B56E-29A1CF15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Company rules for conversion and offsets</a:t>
            </a:r>
            <a:endParaRPr sz="3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8BC8BEE-B1AA-491C-9B94-35DF745D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34150"/>
            <a:ext cx="676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7531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63" b="0">
                <a:solidFill>
                  <a:srgbClr val="66645F"/>
                </a:solidFill>
              </a:defRPr>
            </a:pPr>
            <a:r>
              <a:rPr sz="863" b="0" i="1">
                <a:solidFill>
                  <a:srgbClr val="66645F"/>
                </a:solidFill>
                <a:latin typeface="Calibri"/>
                <a:ea typeface="Calibri"/>
                <a:cs typeface="Calibri"/>
              </a:rPr>
              <a:t>Numbered arrows point to the live wireframe control; values shown are demo data.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B3120DF-6AB8-4F7C-9457-69EA6986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4287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Leave conversion rule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6FDB5AC-ACF9-405B-93CA-447BE984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478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7592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Controls whether unused VL/SIL is converted and which daily rate is used.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A486993-08D4-4CE6-83BF-47E286ED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288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Separation pay rule by cause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F527EB4-40CF-4974-B5E5-290CE661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479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73637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Maps retirement, redundancy, retrenchment, resignation, or just cause to the correct benefit rule.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12CAB97-78FB-4B8F-B4F1-9DE84889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289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Daily divisor + service rounding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4A9A322-42C2-402F-84B8-4E048A3E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480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4945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Converts salary to a daily rate and resolves partial service years consistently.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B88E967-BAE5-41BD-B55A-B3BF924D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33500"/>
            <a:ext cx="3790950" cy="74295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1D3F8BD-A1AB-4B4A-8D41-D735C1B7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534150"/>
            <a:ext cx="37909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788" b="0">
                <a:solidFill>
                  <a:srgbClr val="66645F"/>
                </a:solidFill>
              </a:defRPr>
            </a:pPr>
            <a:r>
              <a:rPr sz="788" b="0">
                <a:solidFill>
                  <a:srgbClr val="66645F"/>
                </a:solidFill>
                <a:latin typeface="Calibri"/>
                <a:ea typeface="Calibri"/>
                <a:cs typeface="Calibri"/>
              </a:rPr>
              <a:t>Source · ATLAS local wireframe · Client view</a:t>
            </a:r>
            <a:endParaRPr sz="1000"/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223ed7b0ab47e9"/>
          <a:stretch xmlns:a="http://schemas.openxmlformats.org/drawingml/2006/main"/>
        </p:blipFill>
        <p:spPr>
          <a:xfrm xmlns:a="http://schemas.openxmlformats.org/drawingml/2006/main">
            <a:off x="2098173" y="1257300"/>
            <a:ext cx="4090404" cy="4933950"/>
          </a:xfrm>
          <a:prstGeom xmlns:a="http://schemas.openxmlformats.org/drawingml/2006/main" prst="rect">
            <a:avLst/>
          </a:prstGeom>
        </p:spPr>
      </p:pic>
      <p:sp>
        <p:nvSpPr>
          <p:cNvPr id="15" name="callout-anchor-1">
            <a:extLst xmlns:a="http://schemas.openxmlformats.org/drawingml/2006/main">
              <a:ext uri="{FF2B5EF4-FFF2-40B4-BE49-F238E27FC236}">
                <a16:creationId xmlns:a16="http://schemas.microsoft.com/office/drawing/2014/main" id="{5FB9275E-3D13-40BE-AE98-A0878294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7049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field-anchor-1">
            <a:extLst xmlns:a="http://schemas.openxmlformats.org/drawingml/2006/main">
              <a:ext uri="{FF2B5EF4-FFF2-40B4-BE49-F238E27FC236}">
                <a16:creationId xmlns:a16="http://schemas.microsoft.com/office/drawing/2014/main" id="{7E39D3C2-36D3-4851-BDA8-84883B15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65735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0" name=""/>
          <p:cNvCxnSpPr>
            <a:stCxn xmlns:a="http://schemas.openxmlformats.org/drawingml/2006/main" id="15" idx="2"/>
            <a:endCxn xmlns:a="http://schemas.openxmlformats.org/drawingml/2006/main" id="16" idx="6"/>
          </p:cNvCxnSpPr>
          <p:nvPr/>
        </p:nvCxnSpPr>
        <p:spPr>
          <a:xfrm xmlns:a="http://schemas.openxmlformats.org/drawingml/2006/main" flipH="1" flipV="1">
            <a:off x="6153150" y="1662113"/>
            <a:ext cx="1647825" cy="47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18" name="callout-anchor-2">
            <a:extLst xmlns:a="http://schemas.openxmlformats.org/drawingml/2006/main">
              <a:ext uri="{FF2B5EF4-FFF2-40B4-BE49-F238E27FC236}">
                <a16:creationId xmlns:a16="http://schemas.microsoft.com/office/drawing/2014/main" id="{95C37872-8B91-4994-BC72-A37DCEAB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5050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field-anchor-2">
            <a:extLst xmlns:a="http://schemas.openxmlformats.org/drawingml/2006/main">
              <a:ext uri="{FF2B5EF4-FFF2-40B4-BE49-F238E27FC236}">
                <a16:creationId xmlns:a16="http://schemas.microsoft.com/office/drawing/2014/main" id="{3686FD6F-D140-4CD4-89FB-64FD1243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38125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3" name=""/>
          <p:cNvCxnSpPr>
            <a:stCxn xmlns:a="http://schemas.openxmlformats.org/drawingml/2006/main" id="18" idx="2"/>
            <a:endCxn xmlns:a="http://schemas.openxmlformats.org/drawingml/2006/main" id="19" idx="6"/>
          </p:cNvCxnSpPr>
          <p:nvPr/>
        </p:nvCxnSpPr>
        <p:spPr>
          <a:xfrm xmlns:a="http://schemas.openxmlformats.org/drawingml/2006/main" flipH="1" flipV="1">
            <a:off x="6153150" y="2386013"/>
            <a:ext cx="1647825" cy="123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21" name="callout-anchor-3">
            <a:extLst xmlns:a="http://schemas.openxmlformats.org/drawingml/2006/main">
              <a:ext uri="{FF2B5EF4-FFF2-40B4-BE49-F238E27FC236}">
                <a16:creationId xmlns:a16="http://schemas.microsoft.com/office/drawing/2014/main" id="{FED0560C-7C2E-4B63-94C1-0079CCFC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3051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field-anchor-3">
            <a:extLst xmlns:a="http://schemas.openxmlformats.org/drawingml/2006/main">
              <a:ext uri="{FF2B5EF4-FFF2-40B4-BE49-F238E27FC236}">
                <a16:creationId xmlns:a16="http://schemas.microsoft.com/office/drawing/2014/main" id="{D0E300BF-50D5-46F9-9140-0E13226D7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14325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6" name=""/>
          <p:cNvCxnSpPr>
            <a:stCxn xmlns:a="http://schemas.openxmlformats.org/drawingml/2006/main" id="21" idx="2"/>
            <a:endCxn xmlns:a="http://schemas.openxmlformats.org/drawingml/2006/main" id="22" idx="6"/>
          </p:cNvCxnSpPr>
          <p:nvPr/>
        </p:nvCxnSpPr>
        <p:spPr>
          <a:xfrm xmlns:a="http://schemas.openxmlformats.org/drawingml/2006/main" flipH="1" flipV="1">
            <a:off x="6153150" y="3148013"/>
            <a:ext cx="1647825" cy="161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24" name="callout-anchor-4">
            <a:extLst xmlns:a="http://schemas.openxmlformats.org/drawingml/2006/main">
              <a:ext uri="{FF2B5EF4-FFF2-40B4-BE49-F238E27FC236}">
                <a16:creationId xmlns:a16="http://schemas.microsoft.com/office/drawing/2014/main" id="{2D7EE355-CC5C-4A60-8501-908EB267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1052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field-anchor-4">
            <a:extLst xmlns:a="http://schemas.openxmlformats.org/drawingml/2006/main">
              <a:ext uri="{FF2B5EF4-FFF2-40B4-BE49-F238E27FC236}">
                <a16:creationId xmlns:a16="http://schemas.microsoft.com/office/drawing/2014/main" id="{D0A31D77-FAD1-4CFF-8276-23376DB5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90525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9" name=""/>
          <p:cNvCxnSpPr>
            <a:stCxn xmlns:a="http://schemas.openxmlformats.org/drawingml/2006/main" id="24" idx="2"/>
            <a:endCxn xmlns:a="http://schemas.openxmlformats.org/drawingml/2006/main" id="25" idx="6"/>
          </p:cNvCxnSpPr>
          <p:nvPr/>
        </p:nvCxnSpPr>
        <p:spPr>
          <a:xfrm xmlns:a="http://schemas.openxmlformats.org/drawingml/2006/main" flipH="1" flipV="1">
            <a:off x="6153150" y="3910013"/>
            <a:ext cx="1647825" cy="2000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27" name="callout-anchor-5">
            <a:extLst xmlns:a="http://schemas.openxmlformats.org/drawingml/2006/main">
              <a:ext uri="{FF2B5EF4-FFF2-40B4-BE49-F238E27FC236}">
                <a16:creationId xmlns:a16="http://schemas.microsoft.com/office/drawing/2014/main" id="{805A048C-55B0-42F0-AB97-EA0B70843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9053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field-anchor-5">
            <a:extLst xmlns:a="http://schemas.openxmlformats.org/drawingml/2006/main">
              <a:ext uri="{FF2B5EF4-FFF2-40B4-BE49-F238E27FC236}">
                <a16:creationId xmlns:a16="http://schemas.microsoft.com/office/drawing/2014/main" id="{D4ED31A3-54A8-4FFB-9272-73A68908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7148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2" name=""/>
          <p:cNvCxnSpPr>
            <a:stCxn xmlns:a="http://schemas.openxmlformats.org/drawingml/2006/main" id="27" idx="2"/>
            <a:endCxn xmlns:a="http://schemas.openxmlformats.org/drawingml/2006/main" id="28" idx="6"/>
          </p:cNvCxnSpPr>
          <p:nvPr/>
        </p:nvCxnSpPr>
        <p:spPr>
          <a:xfrm xmlns:a="http://schemas.openxmlformats.org/drawingml/2006/main" flipH="1" flipV="1">
            <a:off x="6153150" y="4719638"/>
            <a:ext cx="1647825" cy="1905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30" name="callout-anchor-6">
            <a:extLst xmlns:a="http://schemas.openxmlformats.org/drawingml/2006/main">
              <a:ext uri="{FF2B5EF4-FFF2-40B4-BE49-F238E27FC236}">
                <a16:creationId xmlns:a16="http://schemas.microsoft.com/office/drawing/2014/main" id="{1552F42E-EA4C-4BDE-BE72-4266F0C0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7054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" name="field-anchor-6">
            <a:extLst xmlns:a="http://schemas.openxmlformats.org/drawingml/2006/main">
              <a:ext uri="{FF2B5EF4-FFF2-40B4-BE49-F238E27FC236}">
                <a16:creationId xmlns:a16="http://schemas.microsoft.com/office/drawing/2014/main" id="{10AC65AC-992A-4549-8150-C783DAD1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69595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5" name=""/>
          <p:cNvCxnSpPr>
            <a:stCxn xmlns:a="http://schemas.openxmlformats.org/drawingml/2006/main" id="30" idx="2"/>
            <a:endCxn xmlns:a="http://schemas.openxmlformats.org/drawingml/2006/main" id="31" idx="6"/>
          </p:cNvCxnSpPr>
          <p:nvPr/>
        </p:nvCxnSpPr>
        <p:spPr>
          <a:xfrm xmlns:a="http://schemas.openxmlformats.org/drawingml/2006/main" flipH="1" flipV="1">
            <a:off x="6153150" y="5700713"/>
            <a:ext cx="1647825" cy="9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33" name="field-badge-1">
            <a:extLst xmlns:a="http://schemas.openxmlformats.org/drawingml/2006/main">
              <a:ext uri="{FF2B5EF4-FFF2-40B4-BE49-F238E27FC236}">
                <a16:creationId xmlns:a16="http://schemas.microsoft.com/office/drawing/2014/main" id="{0BD6BB44-62A3-4F84-8F48-87A1E0FB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335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4" name="field-number-1">
            <a:extLst xmlns:a="http://schemas.openxmlformats.org/drawingml/2006/main">
              <a:ext uri="{FF2B5EF4-FFF2-40B4-BE49-F238E27FC236}">
                <a16:creationId xmlns:a16="http://schemas.microsoft.com/office/drawing/2014/main" id="{49D164BF-2A80-417B-8393-D9E7A892B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335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5" name="callout-box-2">
            <a:extLst xmlns:a="http://schemas.openxmlformats.org/drawingml/2006/main">
              <a:ext uri="{FF2B5EF4-FFF2-40B4-BE49-F238E27FC236}">
                <a16:creationId xmlns:a16="http://schemas.microsoft.com/office/drawing/2014/main" id="{2668F101-C882-4639-9C8A-5FD4BF35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336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AFE0"/>
            </a:solidFill>
            <a:prstDash val="solid"/>
          </a:ln>
        </p:spPr>
      </p:sp>
      <p:sp>
        <p:nvSpPr>
          <p:cNvPr id="36" name="field-badge-2">
            <a:extLst xmlns:a="http://schemas.openxmlformats.org/drawingml/2006/main">
              <a:ext uri="{FF2B5EF4-FFF2-40B4-BE49-F238E27FC236}">
                <a16:creationId xmlns:a16="http://schemas.microsoft.com/office/drawing/2014/main" id="{5431AE7C-0D15-4DAF-8C4F-09DF8F49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57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7" name="field-number-2">
            <a:extLst xmlns:a="http://schemas.openxmlformats.org/drawingml/2006/main">
              <a:ext uri="{FF2B5EF4-FFF2-40B4-BE49-F238E27FC236}">
                <a16:creationId xmlns:a16="http://schemas.microsoft.com/office/drawing/2014/main" id="{CB84689A-0A19-4FA9-B867-AF2427A8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574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8" name="callout-box-3">
            <a:extLst xmlns:a="http://schemas.openxmlformats.org/drawingml/2006/main">
              <a:ext uri="{FF2B5EF4-FFF2-40B4-BE49-F238E27FC236}">
                <a16:creationId xmlns:a16="http://schemas.microsoft.com/office/drawing/2014/main" id="{F454CF46-7ACD-45C8-A00E-C656FEC6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337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DEEC"/>
            </a:solidFill>
            <a:prstDash val="solid"/>
          </a:ln>
        </p:spPr>
      </p:sp>
      <p:sp>
        <p:nvSpPr>
          <p:cNvPr id="39" name="field-badge-3">
            <a:extLst xmlns:a="http://schemas.openxmlformats.org/drawingml/2006/main">
              <a:ext uri="{FF2B5EF4-FFF2-40B4-BE49-F238E27FC236}">
                <a16:creationId xmlns:a16="http://schemas.microsoft.com/office/drawing/2014/main" id="{FE50F3B9-45A1-403E-9338-29620209A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19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0" name="field-number-3">
            <a:extLst xmlns:a="http://schemas.openxmlformats.org/drawingml/2006/main">
              <a:ext uri="{FF2B5EF4-FFF2-40B4-BE49-F238E27FC236}">
                <a16:creationId xmlns:a16="http://schemas.microsoft.com/office/drawing/2014/main" id="{396F98F4-E0D4-4E85-9981-71E9C3C7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194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1" name="callout-box-4">
            <a:extLst xmlns:a="http://schemas.openxmlformats.org/drawingml/2006/main">
              <a:ext uri="{FF2B5EF4-FFF2-40B4-BE49-F238E27FC236}">
                <a16:creationId xmlns:a16="http://schemas.microsoft.com/office/drawing/2014/main" id="{07384BBE-65D6-4B1F-A9E5-1C009475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338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AFE0"/>
            </a:solidFill>
            <a:prstDash val="solid"/>
          </a:ln>
        </p:spPr>
      </p:sp>
      <p:sp>
        <p:nvSpPr>
          <p:cNvPr id="42" name="callout-title-4">
            <a:extLst xmlns:a="http://schemas.openxmlformats.org/drawingml/2006/main">
              <a:ext uri="{FF2B5EF4-FFF2-40B4-BE49-F238E27FC236}">
                <a16:creationId xmlns:a16="http://schemas.microsoft.com/office/drawing/2014/main" id="{45F5D108-7B39-4239-AD1C-FA5E13FD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</a:rPr>
              <a:t>Advance 13th + last cutoff</a:t>
            </a:r>
          </a:p>
        </p:txBody>
      </p:sp>
      <p:sp>
        <p:nvSpPr>
          <p:cNvPr id="43" name="callout-copy-4">
            <a:extLst xmlns:a="http://schemas.openxmlformats.org/drawingml/2006/main">
              <a:ext uri="{FF2B5EF4-FFF2-40B4-BE49-F238E27FC236}">
                <a16:creationId xmlns:a16="http://schemas.microsoft.com/office/drawing/2014/main" id="{49ECA36D-B232-4297-858C-D12D8E0A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481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616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Controls recovery of prior 13th-month releases and whether an unposted cutoff is included.</a:t>
            </a:r>
          </a:p>
        </p:txBody>
      </p:sp>
      <p:sp>
        <p:nvSpPr>
          <p:cNvPr id="44" name="field-badge-4">
            <a:extLst xmlns:a="http://schemas.openxmlformats.org/drawingml/2006/main">
              <a:ext uri="{FF2B5EF4-FFF2-40B4-BE49-F238E27FC236}">
                <a16:creationId xmlns:a16="http://schemas.microsoft.com/office/drawing/2014/main" id="{B20D7209-1B6B-4F2C-94B3-CA301C4D5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81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5" name="field-number-4">
            <a:extLst xmlns:a="http://schemas.openxmlformats.org/drawingml/2006/main">
              <a:ext uri="{FF2B5EF4-FFF2-40B4-BE49-F238E27FC236}">
                <a16:creationId xmlns:a16="http://schemas.microsoft.com/office/drawing/2014/main" id="{DE7B7A93-CC8F-45E2-A57C-6B20E42C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814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6" name="callout-box-5">
            <a:extLst xmlns:a="http://schemas.openxmlformats.org/drawingml/2006/main">
              <a:ext uri="{FF2B5EF4-FFF2-40B4-BE49-F238E27FC236}">
                <a16:creationId xmlns:a16="http://schemas.microsoft.com/office/drawing/2014/main" id="{559D2C89-CE5A-4D72-9330-AB19D80C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DEEC"/>
            </a:solidFill>
            <a:prstDash val="solid"/>
          </a:ln>
        </p:spPr>
      </p:sp>
      <p:sp>
        <p:nvSpPr>
          <p:cNvPr id="47" name="callout-title-5">
            <a:extLst xmlns:a="http://schemas.openxmlformats.org/drawingml/2006/main">
              <a:ext uri="{FF2B5EF4-FFF2-40B4-BE49-F238E27FC236}">
                <a16:creationId xmlns:a16="http://schemas.microsoft.com/office/drawing/2014/main" id="{FE46283D-FDFC-4D3B-A0F5-3A84798C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291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</a:rPr>
              <a:t>Government + company loan balances</a:t>
            </a:r>
          </a:p>
        </p:txBody>
      </p:sp>
      <p:sp>
        <p:nvSpPr>
          <p:cNvPr id="48" name="callout-copy-5">
            <a:extLst xmlns:a="http://schemas.openxmlformats.org/drawingml/2006/main">
              <a:ext uri="{FF2B5EF4-FFF2-40B4-BE49-F238E27FC236}">
                <a16:creationId xmlns:a16="http://schemas.microsoft.com/office/drawing/2014/main" id="{98543F7D-53F9-4697-AE00-4B6B8F962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482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616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Offsets, endorses, or converts outstanding balances according to the owning module policy.</a:t>
            </a:r>
          </a:p>
        </p:txBody>
      </p:sp>
      <p:sp>
        <p:nvSpPr>
          <p:cNvPr id="49" name="field-badge-5">
            <a:extLst xmlns:a="http://schemas.openxmlformats.org/drawingml/2006/main">
              <a:ext uri="{FF2B5EF4-FFF2-40B4-BE49-F238E27FC236}">
                <a16:creationId xmlns:a16="http://schemas.microsoft.com/office/drawing/2014/main" id="{D046975E-B9D2-4AB7-8B0D-ADAA35B2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91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0" name="field-number-5">
            <a:extLst xmlns:a="http://schemas.openxmlformats.org/drawingml/2006/main">
              <a:ext uri="{FF2B5EF4-FFF2-40B4-BE49-F238E27FC236}">
                <a16:creationId xmlns:a16="http://schemas.microsoft.com/office/drawing/2014/main" id="{CCFB86A2-F4CB-46E5-B850-3EF390BF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91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1" name="callout-box-6">
            <a:extLst xmlns:a="http://schemas.openxmlformats.org/drawingml/2006/main">
              <a:ext uri="{FF2B5EF4-FFF2-40B4-BE49-F238E27FC236}">
                <a16:creationId xmlns:a16="http://schemas.microsoft.com/office/drawing/2014/main" id="{60C9203F-4007-499F-A6ED-92C80D93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340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AFE0"/>
            </a:solidFill>
            <a:prstDash val="solid"/>
          </a:ln>
        </p:spPr>
      </p:sp>
      <p:sp>
        <p:nvSpPr>
          <p:cNvPr id="52" name="callout-title-6">
            <a:extLst xmlns:a="http://schemas.openxmlformats.org/drawingml/2006/main">
              <a:ext uri="{FF2B5EF4-FFF2-40B4-BE49-F238E27FC236}">
                <a16:creationId xmlns:a16="http://schemas.microsoft.com/office/drawing/2014/main" id="{10A3990B-DA9F-47D3-917E-1D10E509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4292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</a:rPr>
              <a:t>Negative net + auto-offset + notice</a:t>
            </a:r>
          </a:p>
        </p:txBody>
      </p:sp>
      <p:sp>
        <p:nvSpPr>
          <p:cNvPr id="53" name="callout-copy-6">
            <a:extLst xmlns:a="http://schemas.openxmlformats.org/drawingml/2006/main">
              <a:ext uri="{FF2B5EF4-FFF2-40B4-BE49-F238E27FC236}">
                <a16:creationId xmlns:a16="http://schemas.microsoft.com/office/drawing/2014/main" id="{138723BC-F577-4130-ABA8-0E4AF5404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6483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616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Routes a negative result, applies authorized balances/accountabilities, and notifies payroll on release.</a:t>
            </a:r>
          </a:p>
        </p:txBody>
      </p:sp>
      <p:sp>
        <p:nvSpPr>
          <p:cNvPr id="54" name="field-badge-6">
            <a:extLst xmlns:a="http://schemas.openxmlformats.org/drawingml/2006/main">
              <a:ext uri="{FF2B5EF4-FFF2-40B4-BE49-F238E27FC236}">
                <a16:creationId xmlns:a16="http://schemas.microsoft.com/office/drawing/2014/main" id="{D3B5BA51-FEEC-47B5-ABB4-52000E58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721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5" name="field-number-6">
            <a:extLst xmlns:a="http://schemas.openxmlformats.org/drawingml/2006/main">
              <a:ext uri="{FF2B5EF4-FFF2-40B4-BE49-F238E27FC236}">
                <a16:creationId xmlns:a16="http://schemas.microsoft.com/office/drawing/2014/main" id="{03ECE997-31A2-482D-915D-6EAD6C3F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5721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43830440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4B2BF85-0BF5-4382-B7D5-53AC14CD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86154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75" b="1">
                <a:solidFill>
                  <a:srgbClr val="5C2A91"/>
                </a:solidFill>
              </a:defRPr>
            </a:pPr>
            <a:r>
              <a:rPr sz="975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FINAL PAY · FIELD GUIDE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2576D19-5577-4E5B-B56E-29A1CF15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Scenario inputs</a:t>
            </a:r>
            <a:endParaRPr sz="3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8BC8BEE-B1AA-491C-9B94-35DF745D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34150"/>
            <a:ext cx="676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7531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63" b="0">
                <a:solidFill>
                  <a:srgbClr val="66645F"/>
                </a:solidFill>
              </a:defRPr>
            </a:pPr>
            <a:r>
              <a:rPr sz="863" b="0" i="1">
                <a:solidFill>
                  <a:srgbClr val="66645F"/>
                </a:solidFill>
                <a:latin typeface="Calibri"/>
                <a:ea typeface="Calibri"/>
                <a:cs typeface="Calibri"/>
              </a:rPr>
              <a:t>Numbered arrows point to the live wireframe control; values shown are demo data.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B3120DF-6AB8-4F7C-9457-69EA6986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4287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Unpaid salary + prorated 13th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6FDB5AC-ACF9-405B-93CA-447BE984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478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85031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Current salary due and the earned 13th-month portion through the separation date.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A486993-08D4-4CE6-83BF-47E286ED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288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SIL conversion + separation pay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F527EB4-40CF-4974-B5E5-290CE661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479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Leave conversion value and cause-based separation benefit.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12CAB97-78FB-4B8F-B4F1-9DE84889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289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Convertible VL/SL + allowances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4A9A322-42C2-402F-84B8-4E048A3E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480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Company-enabled leave and allowance amounts included as earnings.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B88E967-BAE5-41BD-B55A-B3BF924D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33500"/>
            <a:ext cx="3790950" cy="74295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1D3F8BD-A1AB-4B4A-8D41-D735C1B7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534150"/>
            <a:ext cx="37909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788" b="0">
                <a:solidFill>
                  <a:srgbClr val="66645F"/>
                </a:solidFill>
              </a:defRPr>
            </a:pPr>
            <a:r>
              <a:rPr sz="788" b="0">
                <a:solidFill>
                  <a:srgbClr val="66645F"/>
                </a:solidFill>
                <a:latin typeface="Calibri"/>
                <a:ea typeface="Calibri"/>
                <a:cs typeface="Calibri"/>
              </a:rPr>
              <a:t>Source · ATLAS local wireframe · Client view</a:t>
            </a:r>
            <a:endParaRPr sz="1000"/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e89351b22a4dc7"/>
          <a:stretch xmlns:a="http://schemas.openxmlformats.org/drawingml/2006/main"/>
        </p:blipFill>
        <p:spPr>
          <a:xfrm xmlns:a="http://schemas.openxmlformats.org/drawingml/2006/main">
            <a:off x="3048000" y="1261630"/>
            <a:ext cx="2762250" cy="4563341"/>
          </a:xfrm>
          <a:prstGeom xmlns:a="http://schemas.openxmlformats.org/drawingml/2006/main" prst="rect">
            <a:avLst/>
          </a:prstGeom>
        </p:spPr>
      </p:pic>
      <p:sp>
        <p:nvSpPr>
          <p:cNvPr id="15" name="callout-anchor-1">
            <a:extLst xmlns:a="http://schemas.openxmlformats.org/drawingml/2006/main">
              <a:ext uri="{FF2B5EF4-FFF2-40B4-BE49-F238E27FC236}">
                <a16:creationId xmlns:a16="http://schemas.microsoft.com/office/drawing/2014/main" id="{546B538A-94AC-47C1-B756-9EFB94B6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7049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field-anchor-1">
            <a:extLst xmlns:a="http://schemas.openxmlformats.org/drawingml/2006/main">
              <a:ext uri="{FF2B5EF4-FFF2-40B4-BE49-F238E27FC236}">
                <a16:creationId xmlns:a16="http://schemas.microsoft.com/office/drawing/2014/main" id="{B3B964E1-FE9C-4C62-A647-9DA8F6A1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61925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0" name=""/>
          <p:cNvCxnSpPr>
            <a:stCxn xmlns:a="http://schemas.openxmlformats.org/drawingml/2006/main" id="15" idx="2"/>
            <a:endCxn xmlns:a="http://schemas.openxmlformats.org/drawingml/2006/main" id="16" idx="6"/>
          </p:cNvCxnSpPr>
          <p:nvPr/>
        </p:nvCxnSpPr>
        <p:spPr>
          <a:xfrm xmlns:a="http://schemas.openxmlformats.org/drawingml/2006/main" flipH="1" flipV="1">
            <a:off x="5772150" y="1624013"/>
            <a:ext cx="2028825" cy="85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18" name="callout-anchor-2">
            <a:extLst xmlns:a="http://schemas.openxmlformats.org/drawingml/2006/main">
              <a:ext uri="{FF2B5EF4-FFF2-40B4-BE49-F238E27FC236}">
                <a16:creationId xmlns:a16="http://schemas.microsoft.com/office/drawing/2014/main" id="{D53E48CB-7283-4078-9CB6-1EEF63C6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5050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field-anchor-2">
            <a:extLst xmlns:a="http://schemas.openxmlformats.org/drawingml/2006/main">
              <a:ext uri="{FF2B5EF4-FFF2-40B4-BE49-F238E27FC236}">
                <a16:creationId xmlns:a16="http://schemas.microsoft.com/office/drawing/2014/main" id="{003F65B2-83EC-4974-B33D-41CE2672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33362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3" name=""/>
          <p:cNvCxnSpPr>
            <a:stCxn xmlns:a="http://schemas.openxmlformats.org/drawingml/2006/main" id="18" idx="2"/>
            <a:endCxn xmlns:a="http://schemas.openxmlformats.org/drawingml/2006/main" id="19" idx="6"/>
          </p:cNvCxnSpPr>
          <p:nvPr/>
        </p:nvCxnSpPr>
        <p:spPr>
          <a:xfrm xmlns:a="http://schemas.openxmlformats.org/drawingml/2006/main" flipH="1" flipV="1">
            <a:off x="5772150" y="2338388"/>
            <a:ext cx="2028825" cy="171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21" name="callout-anchor-3">
            <a:extLst xmlns:a="http://schemas.openxmlformats.org/drawingml/2006/main">
              <a:ext uri="{FF2B5EF4-FFF2-40B4-BE49-F238E27FC236}">
                <a16:creationId xmlns:a16="http://schemas.microsoft.com/office/drawing/2014/main" id="{43F022D4-8569-41D7-9B96-5363F077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3051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field-anchor-3">
            <a:extLst xmlns:a="http://schemas.openxmlformats.org/drawingml/2006/main">
              <a:ext uri="{FF2B5EF4-FFF2-40B4-BE49-F238E27FC236}">
                <a16:creationId xmlns:a16="http://schemas.microsoft.com/office/drawing/2014/main" id="{C704D8E4-6D3B-4AE8-854F-F64EA29F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04800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6" name=""/>
          <p:cNvCxnSpPr>
            <a:stCxn xmlns:a="http://schemas.openxmlformats.org/drawingml/2006/main" id="21" idx="2"/>
            <a:endCxn xmlns:a="http://schemas.openxmlformats.org/drawingml/2006/main" id="22" idx="6"/>
          </p:cNvCxnSpPr>
          <p:nvPr/>
        </p:nvCxnSpPr>
        <p:spPr>
          <a:xfrm xmlns:a="http://schemas.openxmlformats.org/drawingml/2006/main" flipH="1" flipV="1">
            <a:off x="5772150" y="3052763"/>
            <a:ext cx="2028825" cy="257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24" name="callout-anchor-4">
            <a:extLst xmlns:a="http://schemas.openxmlformats.org/drawingml/2006/main">
              <a:ext uri="{FF2B5EF4-FFF2-40B4-BE49-F238E27FC236}">
                <a16:creationId xmlns:a16="http://schemas.microsoft.com/office/drawing/2014/main" id="{85306FFA-3A21-4846-AEDA-C4F027FE3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1052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field-anchor-4">
            <a:extLst xmlns:a="http://schemas.openxmlformats.org/drawingml/2006/main">
              <a:ext uri="{FF2B5EF4-FFF2-40B4-BE49-F238E27FC236}">
                <a16:creationId xmlns:a16="http://schemas.microsoft.com/office/drawing/2014/main" id="{01A69D81-ACB7-4456-B05C-0648515D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7623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9" name=""/>
          <p:cNvCxnSpPr>
            <a:stCxn xmlns:a="http://schemas.openxmlformats.org/drawingml/2006/main" id="24" idx="2"/>
            <a:endCxn xmlns:a="http://schemas.openxmlformats.org/drawingml/2006/main" id="25" idx="6"/>
          </p:cNvCxnSpPr>
          <p:nvPr/>
        </p:nvCxnSpPr>
        <p:spPr>
          <a:xfrm xmlns:a="http://schemas.openxmlformats.org/drawingml/2006/main" flipH="1" flipV="1">
            <a:off x="5772150" y="3767138"/>
            <a:ext cx="2028825" cy="342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27" name="callout-anchor-5">
            <a:extLst xmlns:a="http://schemas.openxmlformats.org/drawingml/2006/main">
              <a:ext uri="{FF2B5EF4-FFF2-40B4-BE49-F238E27FC236}">
                <a16:creationId xmlns:a16="http://schemas.microsoft.com/office/drawing/2014/main" id="{9F08D35A-EE34-4D6B-B93B-8A44B4F1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9053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field-anchor-5">
            <a:extLst xmlns:a="http://schemas.openxmlformats.org/drawingml/2006/main">
              <a:ext uri="{FF2B5EF4-FFF2-40B4-BE49-F238E27FC236}">
                <a16:creationId xmlns:a16="http://schemas.microsoft.com/office/drawing/2014/main" id="{D64FBE7B-1F10-4947-A99D-B6BE3418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47675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2" name=""/>
          <p:cNvCxnSpPr>
            <a:stCxn xmlns:a="http://schemas.openxmlformats.org/drawingml/2006/main" id="27" idx="2"/>
            <a:endCxn xmlns:a="http://schemas.openxmlformats.org/drawingml/2006/main" id="28" idx="6"/>
          </p:cNvCxnSpPr>
          <p:nvPr/>
        </p:nvCxnSpPr>
        <p:spPr>
          <a:xfrm xmlns:a="http://schemas.openxmlformats.org/drawingml/2006/main" flipH="1" flipV="1">
            <a:off x="5772150" y="4481513"/>
            <a:ext cx="2028825" cy="4286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30" name="callout-anchor-6">
            <a:extLst xmlns:a="http://schemas.openxmlformats.org/drawingml/2006/main">
              <a:ext uri="{FF2B5EF4-FFF2-40B4-BE49-F238E27FC236}">
                <a16:creationId xmlns:a16="http://schemas.microsoft.com/office/drawing/2014/main" id="{4EE5F416-E599-4B2A-B44E-292ADE18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7054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" name="field-anchor-6">
            <a:extLst xmlns:a="http://schemas.openxmlformats.org/drawingml/2006/main">
              <a:ext uri="{FF2B5EF4-FFF2-40B4-BE49-F238E27FC236}">
                <a16:creationId xmlns:a16="http://schemas.microsoft.com/office/drawing/2014/main" id="{631EFDD5-FEC4-4856-AC39-3B17060C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33400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5" name=""/>
          <p:cNvCxnSpPr>
            <a:stCxn xmlns:a="http://schemas.openxmlformats.org/drawingml/2006/main" id="30" idx="2"/>
            <a:endCxn xmlns:a="http://schemas.openxmlformats.org/drawingml/2006/main" id="31" idx="6"/>
          </p:cNvCxnSpPr>
          <p:nvPr/>
        </p:nvCxnSpPr>
        <p:spPr>
          <a:xfrm xmlns:a="http://schemas.openxmlformats.org/drawingml/2006/main" flipH="1" flipV="1">
            <a:off x="5772150" y="5338763"/>
            <a:ext cx="2028825" cy="3714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33" name="field-badge-1">
            <a:extLst xmlns:a="http://schemas.openxmlformats.org/drawingml/2006/main">
              <a:ext uri="{FF2B5EF4-FFF2-40B4-BE49-F238E27FC236}">
                <a16:creationId xmlns:a16="http://schemas.microsoft.com/office/drawing/2014/main" id="{A63269CA-0C0F-426B-9E83-3097FE8A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495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4" name="field-number-1">
            <a:extLst xmlns:a="http://schemas.openxmlformats.org/drawingml/2006/main">
              <a:ext uri="{FF2B5EF4-FFF2-40B4-BE49-F238E27FC236}">
                <a16:creationId xmlns:a16="http://schemas.microsoft.com/office/drawing/2014/main" id="{6E179797-FE27-4ACB-B6A8-1265DDBB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4954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5" name="callout-box-2">
            <a:extLst xmlns:a="http://schemas.openxmlformats.org/drawingml/2006/main">
              <a:ext uri="{FF2B5EF4-FFF2-40B4-BE49-F238E27FC236}">
                <a16:creationId xmlns:a16="http://schemas.microsoft.com/office/drawing/2014/main" id="{0E78B790-DC7A-4CB6-A135-FA0E3304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336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AFE0"/>
            </a:solidFill>
            <a:prstDash val="solid"/>
          </a:ln>
        </p:spPr>
      </p:sp>
      <p:sp>
        <p:nvSpPr>
          <p:cNvPr id="36" name="field-badge-2">
            <a:extLst xmlns:a="http://schemas.openxmlformats.org/drawingml/2006/main">
              <a:ext uri="{FF2B5EF4-FFF2-40B4-BE49-F238E27FC236}">
                <a16:creationId xmlns:a16="http://schemas.microsoft.com/office/drawing/2014/main" id="{BE4653E7-D57F-440F-8FE5-2E3D1977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09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7" name="field-number-2">
            <a:extLst xmlns:a="http://schemas.openxmlformats.org/drawingml/2006/main">
              <a:ext uri="{FF2B5EF4-FFF2-40B4-BE49-F238E27FC236}">
                <a16:creationId xmlns:a16="http://schemas.microsoft.com/office/drawing/2014/main" id="{A1B9D06E-78E9-4784-A37E-F4963BAE8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09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8" name="callout-box-3">
            <a:extLst xmlns:a="http://schemas.openxmlformats.org/drawingml/2006/main">
              <a:ext uri="{FF2B5EF4-FFF2-40B4-BE49-F238E27FC236}">
                <a16:creationId xmlns:a16="http://schemas.microsoft.com/office/drawing/2014/main" id="{98EDBF33-DB27-417C-BDF7-56A85571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337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DEEC"/>
            </a:solidFill>
            <a:prstDash val="solid"/>
          </a:ln>
        </p:spPr>
      </p:sp>
      <p:sp>
        <p:nvSpPr>
          <p:cNvPr id="39" name="field-badge-3">
            <a:extLst xmlns:a="http://schemas.openxmlformats.org/drawingml/2006/main">
              <a:ext uri="{FF2B5EF4-FFF2-40B4-BE49-F238E27FC236}">
                <a16:creationId xmlns:a16="http://schemas.microsoft.com/office/drawing/2014/main" id="{77265AB3-5904-40F8-9A5A-E788907B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241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0" name="field-number-3">
            <a:extLst xmlns:a="http://schemas.openxmlformats.org/drawingml/2006/main">
              <a:ext uri="{FF2B5EF4-FFF2-40B4-BE49-F238E27FC236}">
                <a16:creationId xmlns:a16="http://schemas.microsoft.com/office/drawing/2014/main" id="{89E31A03-9CC7-46C6-85E7-0914746F8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9241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1" name="callout-box-4">
            <a:extLst xmlns:a="http://schemas.openxmlformats.org/drawingml/2006/main">
              <a:ext uri="{FF2B5EF4-FFF2-40B4-BE49-F238E27FC236}">
                <a16:creationId xmlns:a16="http://schemas.microsoft.com/office/drawing/2014/main" id="{0A5038D3-33C4-484F-B5DB-206BC1C94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338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AFE0"/>
            </a:solidFill>
            <a:prstDash val="solid"/>
          </a:ln>
        </p:spPr>
      </p:sp>
      <p:sp>
        <p:nvSpPr>
          <p:cNvPr id="42" name="callout-title-4">
            <a:extLst xmlns:a="http://schemas.openxmlformats.org/drawingml/2006/main">
              <a:ext uri="{FF2B5EF4-FFF2-40B4-BE49-F238E27FC236}">
                <a16:creationId xmlns:a16="http://schemas.microsoft.com/office/drawing/2014/main" id="{8F1745C1-3C7C-4E98-89D9-598C77B09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</a:rPr>
              <a:t>Cash bond + advance 13th</a:t>
            </a:r>
          </a:p>
        </p:txBody>
      </p:sp>
      <p:sp>
        <p:nvSpPr>
          <p:cNvPr id="43" name="callout-copy-4">
            <a:extLst xmlns:a="http://schemas.openxmlformats.org/drawingml/2006/main">
              <a:ext uri="{FF2B5EF4-FFF2-40B4-BE49-F238E27FC236}">
                <a16:creationId xmlns:a16="http://schemas.microsoft.com/office/drawing/2014/main" id="{E1ED96C8-5406-4F17-AA5C-8C9A14F8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481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616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Returns eligible cash bond and recovers an advance when the policy requires it.</a:t>
            </a:r>
          </a:p>
        </p:txBody>
      </p:sp>
      <p:sp>
        <p:nvSpPr>
          <p:cNvPr id="44" name="field-badge-4">
            <a:extLst xmlns:a="http://schemas.openxmlformats.org/drawingml/2006/main">
              <a:ext uri="{FF2B5EF4-FFF2-40B4-BE49-F238E27FC236}">
                <a16:creationId xmlns:a16="http://schemas.microsoft.com/office/drawing/2014/main" id="{F7F92196-F8F1-4000-A9CB-46122F3A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38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5" name="field-number-4">
            <a:extLst xmlns:a="http://schemas.openxmlformats.org/drawingml/2006/main">
              <a:ext uri="{FF2B5EF4-FFF2-40B4-BE49-F238E27FC236}">
                <a16:creationId xmlns:a16="http://schemas.microsoft.com/office/drawing/2014/main" id="{B9A974A1-8C03-4AD6-8B9C-3EF8B8BC2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6385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6" name="callout-box-5">
            <a:extLst xmlns:a="http://schemas.openxmlformats.org/drawingml/2006/main">
              <a:ext uri="{FF2B5EF4-FFF2-40B4-BE49-F238E27FC236}">
                <a16:creationId xmlns:a16="http://schemas.microsoft.com/office/drawing/2014/main" id="{6D371E97-9692-4933-A6E6-C9BD8D15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DEEC"/>
            </a:solidFill>
            <a:prstDash val="solid"/>
          </a:ln>
        </p:spPr>
      </p:sp>
      <p:sp>
        <p:nvSpPr>
          <p:cNvPr id="47" name="callout-title-5">
            <a:extLst xmlns:a="http://schemas.openxmlformats.org/drawingml/2006/main">
              <a:ext uri="{FF2B5EF4-FFF2-40B4-BE49-F238E27FC236}">
                <a16:creationId xmlns:a16="http://schemas.microsoft.com/office/drawing/2014/main" id="{676F3D7C-E374-40CA-9C61-BF29661A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291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</a:rPr>
              <a:t>Government + company loan balances</a:t>
            </a:r>
          </a:p>
        </p:txBody>
      </p:sp>
      <p:sp>
        <p:nvSpPr>
          <p:cNvPr id="48" name="callout-copy-5">
            <a:extLst xmlns:a="http://schemas.openxmlformats.org/drawingml/2006/main">
              <a:ext uri="{FF2B5EF4-FFF2-40B4-BE49-F238E27FC236}">
                <a16:creationId xmlns:a16="http://schemas.microsoft.com/office/drawing/2014/main" id="{509DC133-FE00-4E64-B7B1-3111AE017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482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616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Outstanding balances supplied by their owning loan modules for configured treatment.</a:t>
            </a:r>
          </a:p>
        </p:txBody>
      </p:sp>
      <p:sp>
        <p:nvSpPr>
          <p:cNvPr id="49" name="field-badge-5">
            <a:extLst xmlns:a="http://schemas.openxmlformats.org/drawingml/2006/main">
              <a:ext uri="{FF2B5EF4-FFF2-40B4-BE49-F238E27FC236}">
                <a16:creationId xmlns:a16="http://schemas.microsoft.com/office/drawing/2014/main" id="{AAC08537-A558-481E-B3E9-B513573B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52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0" name="field-number-5">
            <a:extLst xmlns:a="http://schemas.openxmlformats.org/drawingml/2006/main">
              <a:ext uri="{FF2B5EF4-FFF2-40B4-BE49-F238E27FC236}">
                <a16:creationId xmlns:a16="http://schemas.microsoft.com/office/drawing/2014/main" id="{9CF232E4-5C38-49C6-AC75-78CCACBA2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3529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1" name="callout-box-6">
            <a:extLst xmlns:a="http://schemas.openxmlformats.org/drawingml/2006/main">
              <a:ext uri="{FF2B5EF4-FFF2-40B4-BE49-F238E27FC236}">
                <a16:creationId xmlns:a16="http://schemas.microsoft.com/office/drawing/2014/main" id="{ECD5A9AB-04C0-4511-965B-91C81B20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340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AFE0"/>
            </a:solidFill>
            <a:prstDash val="solid"/>
          </a:ln>
        </p:spPr>
      </p:sp>
      <p:sp>
        <p:nvSpPr>
          <p:cNvPr id="52" name="callout-title-6">
            <a:extLst xmlns:a="http://schemas.openxmlformats.org/drawingml/2006/main">
              <a:ext uri="{FF2B5EF4-FFF2-40B4-BE49-F238E27FC236}">
                <a16:creationId xmlns:a16="http://schemas.microsoft.com/office/drawing/2014/main" id="{08205133-A436-4D77-A351-F4CF623D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4292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</a:rPr>
              <a:t>Property accountability + final tax</a:t>
            </a:r>
          </a:p>
        </p:txBody>
      </p:sp>
      <p:sp>
        <p:nvSpPr>
          <p:cNvPr id="53" name="callout-copy-6">
            <a:extLst xmlns:a="http://schemas.openxmlformats.org/drawingml/2006/main">
              <a:ext uri="{FF2B5EF4-FFF2-40B4-BE49-F238E27FC236}">
                <a16:creationId xmlns:a16="http://schemas.microsoft.com/office/drawing/2014/main" id="{B678B706-32E0-437D-9551-45CEA248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6483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616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Authorized accountability offset and the final withholding/tax adjustment.</a:t>
            </a:r>
          </a:p>
        </p:txBody>
      </p:sp>
      <p:sp>
        <p:nvSpPr>
          <p:cNvPr id="54" name="field-badge-6">
            <a:extLst xmlns:a="http://schemas.openxmlformats.org/drawingml/2006/main">
              <a:ext uri="{FF2B5EF4-FFF2-40B4-BE49-F238E27FC236}">
                <a16:creationId xmlns:a16="http://schemas.microsoft.com/office/drawing/2014/main" id="{54D3CEB6-96D7-48EF-B79B-823216B3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101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5" name="field-number-6">
            <a:extLst xmlns:a="http://schemas.openxmlformats.org/drawingml/2006/main">
              <a:ext uri="{FF2B5EF4-FFF2-40B4-BE49-F238E27FC236}">
                <a16:creationId xmlns:a16="http://schemas.microsoft.com/office/drawing/2014/main" id="{409C74A2-0033-470B-9D32-5B42E572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101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43830440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4B2BF85-0BF5-4382-B7D5-53AC14CD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86154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75" b="1">
                <a:solidFill>
                  <a:srgbClr val="5C2A91"/>
                </a:solidFill>
              </a:defRPr>
            </a:pPr>
            <a:r>
              <a:rPr sz="975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FINAL PAY · FIELD GUIDE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2576D19-5577-4E5B-B56E-29A1CF15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Result, readiness, and breakdown</a:t>
            </a:r>
            <a:endParaRPr sz="3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8BC8BEE-B1AA-491C-9B94-35DF745D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34150"/>
            <a:ext cx="676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7531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63" b="0">
                <a:solidFill>
                  <a:srgbClr val="66645F"/>
                </a:solidFill>
              </a:defRPr>
            </a:pPr>
            <a:r>
              <a:rPr sz="863" b="0" i="1">
                <a:solidFill>
                  <a:srgbClr val="66645F"/>
                </a:solidFill>
                <a:latin typeface="Calibri"/>
                <a:ea typeface="Calibri"/>
                <a:cs typeface="Calibri"/>
              </a:rPr>
              <a:t>Numbered arrows point to the live wireframe control; values shown are demo data.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B3120DF-6AB8-4F7C-9457-69EA6986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4287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Gross final pay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6FDB5AC-ACF9-405B-93CA-447BE984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478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Total enabled earnings before authorized offsets and final tax.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A486993-08D4-4CE6-83BF-47E286ED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288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Total offsets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F527EB4-40CF-4974-B5E5-290CE661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479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Sum of recoveries, balances, accountabilities, and final-tax items.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12CAB97-78FB-4B8F-B4F1-9DE84889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289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Retirement pay included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4A9A322-42C2-402F-84B8-4E048A3E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480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Confirms the amount received from the Retirement Pay engine.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B88E967-BAE5-41BD-B55A-B3BF924D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33500"/>
            <a:ext cx="3790950" cy="74295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1D3F8BD-A1AB-4B4A-8D41-D735C1B7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534150"/>
            <a:ext cx="37909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788" b="0">
                <a:solidFill>
                  <a:srgbClr val="66645F"/>
                </a:solidFill>
              </a:defRPr>
            </a:pPr>
            <a:r>
              <a:rPr sz="788" b="0">
                <a:solidFill>
                  <a:srgbClr val="66645F"/>
                </a:solidFill>
                <a:latin typeface="Calibri"/>
                <a:ea typeface="Calibri"/>
                <a:cs typeface="Calibri"/>
              </a:rPr>
              <a:t>Source · ATLAS local wireframe · Client view</a:t>
            </a:r>
            <a:endParaRPr sz="1000"/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b1bfafc1814370"/>
          <a:stretch xmlns:a="http://schemas.openxmlformats.org/drawingml/2006/main"/>
        </p:blipFill>
        <p:spPr>
          <a:xfrm xmlns:a="http://schemas.openxmlformats.org/drawingml/2006/main">
            <a:off x="3143250" y="1257300"/>
            <a:ext cx="2476500" cy="4953000"/>
          </a:xfrm>
          <a:prstGeom xmlns:a="http://schemas.openxmlformats.org/drawingml/2006/main" prst="rect">
            <a:avLst/>
          </a:prstGeom>
        </p:spPr>
      </p:pic>
      <p:sp>
        <p:nvSpPr>
          <p:cNvPr id="15" name="callout-anchor-1">
            <a:extLst xmlns:a="http://schemas.openxmlformats.org/drawingml/2006/main">
              <a:ext uri="{FF2B5EF4-FFF2-40B4-BE49-F238E27FC236}">
                <a16:creationId xmlns:a16="http://schemas.microsoft.com/office/drawing/2014/main" id="{20CDFB13-014C-4F22-82C7-66445EDC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7049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field-anchor-1">
            <a:extLst xmlns:a="http://schemas.openxmlformats.org/drawingml/2006/main">
              <a:ext uri="{FF2B5EF4-FFF2-40B4-BE49-F238E27FC236}">
                <a16:creationId xmlns:a16="http://schemas.microsoft.com/office/drawing/2014/main" id="{FD41FB85-241E-4F0B-9842-893C884E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61925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0" name=""/>
          <p:cNvCxnSpPr>
            <a:stCxn xmlns:a="http://schemas.openxmlformats.org/drawingml/2006/main" id="15" idx="2"/>
            <a:endCxn xmlns:a="http://schemas.openxmlformats.org/drawingml/2006/main" id="16" idx="6"/>
          </p:cNvCxnSpPr>
          <p:nvPr/>
        </p:nvCxnSpPr>
        <p:spPr>
          <a:xfrm xmlns:a="http://schemas.openxmlformats.org/drawingml/2006/main" flipH="1" flipV="1">
            <a:off x="5581650" y="1624013"/>
            <a:ext cx="2219325" cy="85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18" name="callout-anchor-2">
            <a:extLst xmlns:a="http://schemas.openxmlformats.org/drawingml/2006/main">
              <a:ext uri="{FF2B5EF4-FFF2-40B4-BE49-F238E27FC236}">
                <a16:creationId xmlns:a16="http://schemas.microsoft.com/office/drawing/2014/main" id="{031F535B-17AF-4B10-B223-BFCE2D43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5050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field-anchor-2">
            <a:extLst xmlns:a="http://schemas.openxmlformats.org/drawingml/2006/main">
              <a:ext uri="{FF2B5EF4-FFF2-40B4-BE49-F238E27FC236}">
                <a16:creationId xmlns:a16="http://schemas.microsoft.com/office/drawing/2014/main" id="{08BA32C3-AD29-45DB-A59F-2E754267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33362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3" name=""/>
          <p:cNvCxnSpPr>
            <a:stCxn xmlns:a="http://schemas.openxmlformats.org/drawingml/2006/main" id="18" idx="2"/>
            <a:endCxn xmlns:a="http://schemas.openxmlformats.org/drawingml/2006/main" id="19" idx="6"/>
          </p:cNvCxnSpPr>
          <p:nvPr/>
        </p:nvCxnSpPr>
        <p:spPr>
          <a:xfrm xmlns:a="http://schemas.openxmlformats.org/drawingml/2006/main" flipH="1" flipV="1">
            <a:off x="5581650" y="2338388"/>
            <a:ext cx="2219325" cy="171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21" name="callout-anchor-3">
            <a:extLst xmlns:a="http://schemas.openxmlformats.org/drawingml/2006/main">
              <a:ext uri="{FF2B5EF4-FFF2-40B4-BE49-F238E27FC236}">
                <a16:creationId xmlns:a16="http://schemas.microsoft.com/office/drawing/2014/main" id="{ADAD8977-584F-4CA4-B9D6-D52BF18EF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3051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field-anchor-3">
            <a:extLst xmlns:a="http://schemas.openxmlformats.org/drawingml/2006/main">
              <a:ext uri="{FF2B5EF4-FFF2-40B4-BE49-F238E27FC236}">
                <a16:creationId xmlns:a16="http://schemas.microsoft.com/office/drawing/2014/main" id="{5D17BB51-D41E-48C0-AC44-B3BB3E7B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04800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6" name=""/>
          <p:cNvCxnSpPr>
            <a:stCxn xmlns:a="http://schemas.openxmlformats.org/drawingml/2006/main" id="21" idx="2"/>
            <a:endCxn xmlns:a="http://schemas.openxmlformats.org/drawingml/2006/main" id="22" idx="6"/>
          </p:cNvCxnSpPr>
          <p:nvPr/>
        </p:nvCxnSpPr>
        <p:spPr>
          <a:xfrm xmlns:a="http://schemas.openxmlformats.org/drawingml/2006/main" flipH="1" flipV="1">
            <a:off x="5581650" y="3052763"/>
            <a:ext cx="2219325" cy="257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24" name="callout-anchor-4">
            <a:extLst xmlns:a="http://schemas.openxmlformats.org/drawingml/2006/main">
              <a:ext uri="{FF2B5EF4-FFF2-40B4-BE49-F238E27FC236}">
                <a16:creationId xmlns:a16="http://schemas.microsoft.com/office/drawing/2014/main" id="{11C246DC-16E1-417D-BA89-220A855E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1052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field-anchor-4">
            <a:extLst xmlns:a="http://schemas.openxmlformats.org/drawingml/2006/main">
              <a:ext uri="{FF2B5EF4-FFF2-40B4-BE49-F238E27FC236}">
                <a16:creationId xmlns:a16="http://schemas.microsoft.com/office/drawing/2014/main" id="{2E2FE135-78BD-4775-B78B-8BEC6D79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7623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9" name=""/>
          <p:cNvCxnSpPr>
            <a:stCxn xmlns:a="http://schemas.openxmlformats.org/drawingml/2006/main" id="24" idx="2"/>
            <a:endCxn xmlns:a="http://schemas.openxmlformats.org/drawingml/2006/main" id="25" idx="6"/>
          </p:cNvCxnSpPr>
          <p:nvPr/>
        </p:nvCxnSpPr>
        <p:spPr>
          <a:xfrm xmlns:a="http://schemas.openxmlformats.org/drawingml/2006/main" flipH="1" flipV="1">
            <a:off x="5581650" y="3767138"/>
            <a:ext cx="2219325" cy="342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27" name="callout-anchor-5">
            <a:extLst xmlns:a="http://schemas.openxmlformats.org/drawingml/2006/main">
              <a:ext uri="{FF2B5EF4-FFF2-40B4-BE49-F238E27FC236}">
                <a16:creationId xmlns:a16="http://schemas.microsoft.com/office/drawing/2014/main" id="{F79A0E8F-F999-407B-B13F-1FF9B899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9053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field-anchor-5">
            <a:extLst xmlns:a="http://schemas.openxmlformats.org/drawingml/2006/main">
              <a:ext uri="{FF2B5EF4-FFF2-40B4-BE49-F238E27FC236}">
                <a16:creationId xmlns:a16="http://schemas.microsoft.com/office/drawing/2014/main" id="{E671262A-50A9-4E32-AAFA-2E42B3DD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61962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2" name=""/>
          <p:cNvCxnSpPr>
            <a:stCxn xmlns:a="http://schemas.openxmlformats.org/drawingml/2006/main" id="27" idx="2"/>
            <a:endCxn xmlns:a="http://schemas.openxmlformats.org/drawingml/2006/main" id="28" idx="6"/>
          </p:cNvCxnSpPr>
          <p:nvPr/>
        </p:nvCxnSpPr>
        <p:spPr>
          <a:xfrm xmlns:a="http://schemas.openxmlformats.org/drawingml/2006/main" flipH="1" flipV="1">
            <a:off x="5581650" y="4624388"/>
            <a:ext cx="2219325" cy="285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30" name="callout-anchor-6">
            <a:extLst xmlns:a="http://schemas.openxmlformats.org/drawingml/2006/main">
              <a:ext uri="{FF2B5EF4-FFF2-40B4-BE49-F238E27FC236}">
                <a16:creationId xmlns:a16="http://schemas.microsoft.com/office/drawing/2014/main" id="{B6B09603-9EBE-4C08-AB52-9FF73DCA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7054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" name="field-anchor-6">
            <a:extLst xmlns:a="http://schemas.openxmlformats.org/drawingml/2006/main">
              <a:ext uri="{FF2B5EF4-FFF2-40B4-BE49-F238E27FC236}">
                <a16:creationId xmlns:a16="http://schemas.microsoft.com/office/drawing/2014/main" id="{F89B3736-D2EC-4CED-BC39-37AC75C6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61975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5" name=""/>
          <p:cNvCxnSpPr>
            <a:stCxn xmlns:a="http://schemas.openxmlformats.org/drawingml/2006/main" id="30" idx="2"/>
            <a:endCxn xmlns:a="http://schemas.openxmlformats.org/drawingml/2006/main" id="31" idx="6"/>
          </p:cNvCxnSpPr>
          <p:nvPr/>
        </p:nvCxnSpPr>
        <p:spPr>
          <a:xfrm xmlns:a="http://schemas.openxmlformats.org/drawingml/2006/main" flipH="1" flipV="1">
            <a:off x="5581650" y="5624513"/>
            <a:ext cx="2219325" cy="85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33" name="field-badge-1">
            <a:extLst xmlns:a="http://schemas.openxmlformats.org/drawingml/2006/main">
              <a:ext uri="{FF2B5EF4-FFF2-40B4-BE49-F238E27FC236}">
                <a16:creationId xmlns:a16="http://schemas.microsoft.com/office/drawing/2014/main" id="{4F2B23EB-2A46-4AA4-8112-178AA629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95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4" name="field-number-1">
            <a:extLst xmlns:a="http://schemas.openxmlformats.org/drawingml/2006/main">
              <a:ext uri="{FF2B5EF4-FFF2-40B4-BE49-F238E27FC236}">
                <a16:creationId xmlns:a16="http://schemas.microsoft.com/office/drawing/2014/main" id="{932864B5-5D1D-41D4-BCE8-8B96A098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4954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5" name="callout-box-2">
            <a:extLst xmlns:a="http://schemas.openxmlformats.org/drawingml/2006/main">
              <a:ext uri="{FF2B5EF4-FFF2-40B4-BE49-F238E27FC236}">
                <a16:creationId xmlns:a16="http://schemas.microsoft.com/office/drawing/2014/main" id="{027B9AA2-EFD7-4E85-A22C-1CF658A6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336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AFE0"/>
            </a:solidFill>
            <a:prstDash val="solid"/>
          </a:ln>
        </p:spPr>
      </p:sp>
      <p:sp>
        <p:nvSpPr>
          <p:cNvPr id="36" name="field-badge-2">
            <a:extLst xmlns:a="http://schemas.openxmlformats.org/drawingml/2006/main">
              <a:ext uri="{FF2B5EF4-FFF2-40B4-BE49-F238E27FC236}">
                <a16:creationId xmlns:a16="http://schemas.microsoft.com/office/drawing/2014/main" id="{96F689DF-E62C-44E5-AF0F-418F5FD50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09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7" name="field-number-2">
            <a:extLst xmlns:a="http://schemas.openxmlformats.org/drawingml/2006/main">
              <a:ext uri="{FF2B5EF4-FFF2-40B4-BE49-F238E27FC236}">
                <a16:creationId xmlns:a16="http://schemas.microsoft.com/office/drawing/2014/main" id="{35D56022-551B-4567-8F0F-3D3DCD5E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209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8" name="callout-box-3">
            <a:extLst xmlns:a="http://schemas.openxmlformats.org/drawingml/2006/main">
              <a:ext uri="{FF2B5EF4-FFF2-40B4-BE49-F238E27FC236}">
                <a16:creationId xmlns:a16="http://schemas.microsoft.com/office/drawing/2014/main" id="{F389403F-0928-4AD4-886E-558B6347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337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DEEC"/>
            </a:solidFill>
            <a:prstDash val="solid"/>
          </a:ln>
        </p:spPr>
      </p:sp>
      <p:sp>
        <p:nvSpPr>
          <p:cNvPr id="39" name="field-badge-3">
            <a:extLst xmlns:a="http://schemas.openxmlformats.org/drawingml/2006/main">
              <a:ext uri="{FF2B5EF4-FFF2-40B4-BE49-F238E27FC236}">
                <a16:creationId xmlns:a16="http://schemas.microsoft.com/office/drawing/2014/main" id="{8F7F90E2-EE62-480D-A5D6-90EC276C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241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0" name="field-number-3">
            <a:extLst xmlns:a="http://schemas.openxmlformats.org/drawingml/2006/main">
              <a:ext uri="{FF2B5EF4-FFF2-40B4-BE49-F238E27FC236}">
                <a16:creationId xmlns:a16="http://schemas.microsoft.com/office/drawing/2014/main" id="{D877B728-3DDA-4CD1-968D-1DB7E75B3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241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1" name="callout-box-4">
            <a:extLst xmlns:a="http://schemas.openxmlformats.org/drawingml/2006/main">
              <a:ext uri="{FF2B5EF4-FFF2-40B4-BE49-F238E27FC236}">
                <a16:creationId xmlns:a16="http://schemas.microsoft.com/office/drawing/2014/main" id="{8D865671-82C3-4976-91D9-F6DE2E13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338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AFE0"/>
            </a:solidFill>
            <a:prstDash val="solid"/>
          </a:ln>
        </p:spPr>
      </p:sp>
      <p:sp>
        <p:nvSpPr>
          <p:cNvPr id="42" name="callout-title-4">
            <a:extLst xmlns:a="http://schemas.openxmlformats.org/drawingml/2006/main">
              <a:ext uri="{FF2B5EF4-FFF2-40B4-BE49-F238E27FC236}">
                <a16:creationId xmlns:a16="http://schemas.microsoft.com/office/drawing/2014/main" id="{6A2696CE-57AA-4D5B-BA1A-8C898F38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</a:rPr>
              <a:t>Net final pay</a:t>
            </a:r>
          </a:p>
        </p:txBody>
      </p:sp>
      <p:sp>
        <p:nvSpPr>
          <p:cNvPr id="43" name="callout-copy-4">
            <a:extLst xmlns:a="http://schemas.openxmlformats.org/drawingml/2006/main">
              <a:ext uri="{FF2B5EF4-FFF2-40B4-BE49-F238E27FC236}">
                <a16:creationId xmlns:a16="http://schemas.microsoft.com/office/drawing/2014/main" id="{D6C7F7FA-6F1D-4108-8ED9-8498F7B3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481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Gross final pay less all authorized offsets.</a:t>
            </a:r>
          </a:p>
        </p:txBody>
      </p:sp>
      <p:sp>
        <p:nvSpPr>
          <p:cNvPr id="44" name="field-badge-4">
            <a:extLst xmlns:a="http://schemas.openxmlformats.org/drawingml/2006/main">
              <a:ext uri="{FF2B5EF4-FFF2-40B4-BE49-F238E27FC236}">
                <a16:creationId xmlns:a16="http://schemas.microsoft.com/office/drawing/2014/main" id="{5DEA8FC6-145F-40A3-BAA7-C3521CCC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38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5" name="field-number-4">
            <a:extLst xmlns:a="http://schemas.openxmlformats.org/drawingml/2006/main">
              <a:ext uri="{FF2B5EF4-FFF2-40B4-BE49-F238E27FC236}">
                <a16:creationId xmlns:a16="http://schemas.microsoft.com/office/drawing/2014/main" id="{C9FE458A-3443-46F2-8B5B-A2B57FDEF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385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6" name="callout-box-5">
            <a:extLst xmlns:a="http://schemas.openxmlformats.org/drawingml/2006/main">
              <a:ext uri="{FF2B5EF4-FFF2-40B4-BE49-F238E27FC236}">
                <a16:creationId xmlns:a16="http://schemas.microsoft.com/office/drawing/2014/main" id="{76B07042-AFD0-4949-A75E-2FCF0D99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DEEC"/>
            </a:solidFill>
            <a:prstDash val="solid"/>
          </a:ln>
        </p:spPr>
      </p:sp>
      <p:sp>
        <p:nvSpPr>
          <p:cNvPr id="47" name="callout-title-5">
            <a:extLst xmlns:a="http://schemas.openxmlformats.org/drawingml/2006/main">
              <a:ext uri="{FF2B5EF4-FFF2-40B4-BE49-F238E27FC236}">
                <a16:creationId xmlns:a16="http://schemas.microsoft.com/office/drawing/2014/main" id="{D278060A-B3C6-4C9E-99AD-EF3EB62A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291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</a:rPr>
              <a:t>Release readiness</a:t>
            </a:r>
          </a:p>
        </p:txBody>
      </p:sp>
      <p:sp>
        <p:nvSpPr>
          <p:cNvPr id="48" name="callout-copy-5">
            <a:extLst xmlns:a="http://schemas.openxmlformats.org/drawingml/2006/main">
              <a:ext uri="{FF2B5EF4-FFF2-40B4-BE49-F238E27FC236}">
                <a16:creationId xmlns:a16="http://schemas.microsoft.com/office/drawing/2014/main" id="{C5D0D1DB-B7B2-4361-876D-1FB8F293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482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616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Confirms that enabled components were calculated and required offsets were applied.</a:t>
            </a:r>
          </a:p>
        </p:txBody>
      </p:sp>
      <p:sp>
        <p:nvSpPr>
          <p:cNvPr id="49" name="field-badge-5">
            <a:extLst xmlns:a="http://schemas.openxmlformats.org/drawingml/2006/main">
              <a:ext uri="{FF2B5EF4-FFF2-40B4-BE49-F238E27FC236}">
                <a16:creationId xmlns:a16="http://schemas.microsoft.com/office/drawing/2014/main" id="{2A17EF11-8C34-48BE-B3A1-98049017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95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0" name="field-number-5">
            <a:extLst xmlns:a="http://schemas.openxmlformats.org/drawingml/2006/main">
              <a:ext uri="{FF2B5EF4-FFF2-40B4-BE49-F238E27FC236}">
                <a16:creationId xmlns:a16="http://schemas.microsoft.com/office/drawing/2014/main" id="{D6FDEFBA-67EA-4BED-93F3-F2F45A98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495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1" name="callout-box-6">
            <a:extLst xmlns:a="http://schemas.openxmlformats.org/drawingml/2006/main">
              <a:ext uri="{FF2B5EF4-FFF2-40B4-BE49-F238E27FC236}">
                <a16:creationId xmlns:a16="http://schemas.microsoft.com/office/drawing/2014/main" id="{F7EBB509-CFA8-470C-9959-741EE52E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340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AFE0"/>
            </a:solidFill>
            <a:prstDash val="solid"/>
          </a:ln>
        </p:spPr>
      </p:sp>
      <p:sp>
        <p:nvSpPr>
          <p:cNvPr id="52" name="callout-title-6">
            <a:extLst xmlns:a="http://schemas.openxmlformats.org/drawingml/2006/main">
              <a:ext uri="{FF2B5EF4-FFF2-40B4-BE49-F238E27FC236}">
                <a16:creationId xmlns:a16="http://schemas.microsoft.com/office/drawing/2014/main" id="{63E4A2E7-FAE3-44FD-8106-ADBF0645C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4292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</a:rPr>
              <a:t>Breakdown table</a:t>
            </a:r>
          </a:p>
        </p:txBody>
      </p:sp>
      <p:sp>
        <p:nvSpPr>
          <p:cNvPr id="53" name="callout-copy-6">
            <a:extLst xmlns:a="http://schemas.openxmlformats.org/drawingml/2006/main">
              <a:ext uri="{FF2B5EF4-FFF2-40B4-BE49-F238E27FC236}">
                <a16:creationId xmlns:a16="http://schemas.microsoft.com/office/drawing/2014/main" id="{391B6BCA-A451-45DB-B8E5-94AC2E9F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6483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616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Itemizes every earning and offset so payroll can explain, approve, and audit the result.</a:t>
            </a:r>
          </a:p>
        </p:txBody>
      </p:sp>
      <p:sp>
        <p:nvSpPr>
          <p:cNvPr id="54" name="field-badge-6">
            <a:extLst xmlns:a="http://schemas.openxmlformats.org/drawingml/2006/main">
              <a:ext uri="{FF2B5EF4-FFF2-40B4-BE49-F238E27FC236}">
                <a16:creationId xmlns:a16="http://schemas.microsoft.com/office/drawing/2014/main" id="{26A850BB-C484-4098-A7BE-6F06697C1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495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5" name="field-number-6">
            <a:extLst xmlns:a="http://schemas.openxmlformats.org/drawingml/2006/main">
              <a:ext uri="{FF2B5EF4-FFF2-40B4-BE49-F238E27FC236}">
                <a16:creationId xmlns:a16="http://schemas.microsoft.com/office/drawing/2014/main" id="{33F926F9-0A7F-400F-9FDE-8CA75547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4959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43830440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4B2BF85-0BF5-4382-B7D5-53AC14CD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86154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75" b="1">
                <a:solidFill>
                  <a:srgbClr val="5C2A91"/>
                </a:solidFill>
              </a:defRPr>
            </a:pPr>
            <a:r>
              <a:rPr sz="975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GROSS UP · FIELD GUIDE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2576D19-5577-4E5B-B56E-29A1CF15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Policy settings for a guaranteed net</a:t>
            </a:r>
            <a:endParaRPr sz="3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8BC8BEE-B1AA-491C-9B94-35DF745D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34150"/>
            <a:ext cx="676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7531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63" b="0">
                <a:solidFill>
                  <a:srgbClr val="66645F"/>
                </a:solidFill>
              </a:defRPr>
            </a:pPr>
            <a:r>
              <a:rPr sz="863" b="0" i="1">
                <a:solidFill>
                  <a:srgbClr val="66645F"/>
                </a:solidFill>
                <a:latin typeface="Calibri"/>
                <a:ea typeface="Calibri"/>
                <a:cs typeface="Calibri"/>
              </a:rPr>
              <a:t>Numbered arrows point to the live wireframe control; values shown are demo data.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B3120DF-6AB8-4F7C-9457-69EA6986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4287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Enable engine + employee group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6FDB5AC-ACF9-405B-93CA-447BE984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478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Activates the policy and identifies the governed population.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A486993-08D4-4CE6-83BF-47E286ED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288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Guaranteed target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F527EB4-40CF-4974-B5E5-290CE661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479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Selects the promise being solved—normally employee Net Pay.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12CAB97-78FB-4B8F-B4F1-9DE84889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289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Tax method + table date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4A9A322-42C2-402F-84B8-4E048A3E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480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7784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Uses the effective graduated withholding table or a flat/final tax method.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B88E967-BAE5-41BD-B55A-B3BF924D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33500"/>
            <a:ext cx="3790950" cy="74295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1D3F8BD-A1AB-4B4A-8D41-D735C1B7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534150"/>
            <a:ext cx="37909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788" b="0">
                <a:solidFill>
                  <a:srgbClr val="66645F"/>
                </a:solidFill>
              </a:defRPr>
            </a:pPr>
            <a:r>
              <a:rPr sz="788" b="0">
                <a:solidFill>
                  <a:srgbClr val="66645F"/>
                </a:solidFill>
                <a:latin typeface="Calibri"/>
                <a:ea typeface="Calibri"/>
                <a:cs typeface="Calibri"/>
              </a:rPr>
              <a:t>Source · ATLAS local wireframe · Client view</a:t>
            </a:r>
            <a:endParaRPr sz="1000"/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48b95245c142b4"/>
          <a:stretch xmlns:a="http://schemas.openxmlformats.org/drawingml/2006/main"/>
        </p:blipFill>
        <p:spPr>
          <a:xfrm xmlns:a="http://schemas.openxmlformats.org/drawingml/2006/main">
            <a:off x="2098860" y="1257300"/>
            <a:ext cx="3993780" cy="4933950"/>
          </a:xfrm>
          <a:prstGeom xmlns:a="http://schemas.openxmlformats.org/drawingml/2006/main" prst="rect">
            <a:avLst/>
          </a:prstGeom>
        </p:spPr>
      </p:pic>
      <p:sp>
        <p:nvSpPr>
          <p:cNvPr id="15" name="callout-anchor-1">
            <a:extLst xmlns:a="http://schemas.openxmlformats.org/drawingml/2006/main">
              <a:ext uri="{FF2B5EF4-FFF2-40B4-BE49-F238E27FC236}">
                <a16:creationId xmlns:a16="http://schemas.microsoft.com/office/drawing/2014/main" id="{CDB02174-7573-4019-AA1B-FC3B8565F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7049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field-anchor-1">
            <a:extLst xmlns:a="http://schemas.openxmlformats.org/drawingml/2006/main">
              <a:ext uri="{FF2B5EF4-FFF2-40B4-BE49-F238E27FC236}">
                <a16:creationId xmlns:a16="http://schemas.microsoft.com/office/drawing/2014/main" id="{7D861B1E-B532-47D5-88D3-B68128C9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61925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0" name=""/>
          <p:cNvCxnSpPr>
            <a:stCxn xmlns:a="http://schemas.openxmlformats.org/drawingml/2006/main" id="15" idx="2"/>
            <a:endCxn xmlns:a="http://schemas.openxmlformats.org/drawingml/2006/main" id="16" idx="6"/>
          </p:cNvCxnSpPr>
          <p:nvPr/>
        </p:nvCxnSpPr>
        <p:spPr>
          <a:xfrm xmlns:a="http://schemas.openxmlformats.org/drawingml/2006/main" flipH="1" flipV="1">
            <a:off x="6057900" y="1624013"/>
            <a:ext cx="1743075" cy="85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18" name="callout-anchor-2">
            <a:extLst xmlns:a="http://schemas.openxmlformats.org/drawingml/2006/main">
              <a:ext uri="{FF2B5EF4-FFF2-40B4-BE49-F238E27FC236}">
                <a16:creationId xmlns:a16="http://schemas.microsoft.com/office/drawing/2014/main" id="{88E831D0-7CAA-419D-AD2B-FBB091F5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5050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field-anchor-2">
            <a:extLst xmlns:a="http://schemas.openxmlformats.org/drawingml/2006/main">
              <a:ext uri="{FF2B5EF4-FFF2-40B4-BE49-F238E27FC236}">
                <a16:creationId xmlns:a16="http://schemas.microsoft.com/office/drawing/2014/main" id="{C2087399-3E9E-40E1-B74C-E5D4E890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3362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3" name=""/>
          <p:cNvCxnSpPr>
            <a:stCxn xmlns:a="http://schemas.openxmlformats.org/drawingml/2006/main" id="18" idx="2"/>
            <a:endCxn xmlns:a="http://schemas.openxmlformats.org/drawingml/2006/main" id="19" idx="6"/>
          </p:cNvCxnSpPr>
          <p:nvPr/>
        </p:nvCxnSpPr>
        <p:spPr>
          <a:xfrm xmlns:a="http://schemas.openxmlformats.org/drawingml/2006/main" flipH="1" flipV="1">
            <a:off x="6057900" y="2338388"/>
            <a:ext cx="1743075" cy="171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21" name="callout-anchor-3">
            <a:extLst xmlns:a="http://schemas.openxmlformats.org/drawingml/2006/main">
              <a:ext uri="{FF2B5EF4-FFF2-40B4-BE49-F238E27FC236}">
                <a16:creationId xmlns:a16="http://schemas.microsoft.com/office/drawing/2014/main" id="{1CA7F853-1471-43BF-BE35-CB4C2A6E5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3051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field-anchor-3">
            <a:extLst xmlns:a="http://schemas.openxmlformats.org/drawingml/2006/main">
              <a:ext uri="{FF2B5EF4-FFF2-40B4-BE49-F238E27FC236}">
                <a16:creationId xmlns:a16="http://schemas.microsoft.com/office/drawing/2014/main" id="{99B408F5-9CB1-4F03-90BC-6AA0C5A0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04800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6" name=""/>
          <p:cNvCxnSpPr>
            <a:stCxn xmlns:a="http://schemas.openxmlformats.org/drawingml/2006/main" id="21" idx="2"/>
            <a:endCxn xmlns:a="http://schemas.openxmlformats.org/drawingml/2006/main" id="22" idx="6"/>
          </p:cNvCxnSpPr>
          <p:nvPr/>
        </p:nvCxnSpPr>
        <p:spPr>
          <a:xfrm xmlns:a="http://schemas.openxmlformats.org/drawingml/2006/main" flipH="1" flipV="1">
            <a:off x="6057900" y="3052763"/>
            <a:ext cx="1743075" cy="257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24" name="callout-anchor-4">
            <a:extLst xmlns:a="http://schemas.openxmlformats.org/drawingml/2006/main">
              <a:ext uri="{FF2B5EF4-FFF2-40B4-BE49-F238E27FC236}">
                <a16:creationId xmlns:a16="http://schemas.microsoft.com/office/drawing/2014/main" id="{2B4C2DE2-3341-4CA4-B90B-7085485A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1052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field-anchor-4">
            <a:extLst xmlns:a="http://schemas.openxmlformats.org/drawingml/2006/main">
              <a:ext uri="{FF2B5EF4-FFF2-40B4-BE49-F238E27FC236}">
                <a16:creationId xmlns:a16="http://schemas.microsoft.com/office/drawing/2014/main" id="{94A11EDA-AAE6-4F06-B764-FC642C07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623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9" name=""/>
          <p:cNvCxnSpPr>
            <a:stCxn xmlns:a="http://schemas.openxmlformats.org/drawingml/2006/main" id="24" idx="2"/>
            <a:endCxn xmlns:a="http://schemas.openxmlformats.org/drawingml/2006/main" id="25" idx="6"/>
          </p:cNvCxnSpPr>
          <p:nvPr/>
        </p:nvCxnSpPr>
        <p:spPr>
          <a:xfrm xmlns:a="http://schemas.openxmlformats.org/drawingml/2006/main" flipH="1" flipV="1">
            <a:off x="6057900" y="3767138"/>
            <a:ext cx="1743075" cy="342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27" name="callout-anchor-5">
            <a:extLst xmlns:a="http://schemas.openxmlformats.org/drawingml/2006/main">
              <a:ext uri="{FF2B5EF4-FFF2-40B4-BE49-F238E27FC236}">
                <a16:creationId xmlns:a16="http://schemas.microsoft.com/office/drawing/2014/main" id="{BAE7E3FA-2A73-4A7D-97F9-7C906831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9053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field-anchor-5">
            <a:extLst xmlns:a="http://schemas.openxmlformats.org/drawingml/2006/main">
              <a:ext uri="{FF2B5EF4-FFF2-40B4-BE49-F238E27FC236}">
                <a16:creationId xmlns:a16="http://schemas.microsoft.com/office/drawing/2014/main" id="{3FD7B214-8874-4609-A613-93D40EAF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57200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2" name=""/>
          <p:cNvCxnSpPr>
            <a:stCxn xmlns:a="http://schemas.openxmlformats.org/drawingml/2006/main" id="27" idx="2"/>
            <a:endCxn xmlns:a="http://schemas.openxmlformats.org/drawingml/2006/main" id="28" idx="6"/>
          </p:cNvCxnSpPr>
          <p:nvPr/>
        </p:nvCxnSpPr>
        <p:spPr>
          <a:xfrm xmlns:a="http://schemas.openxmlformats.org/drawingml/2006/main" flipH="1" flipV="1">
            <a:off x="6057900" y="4576763"/>
            <a:ext cx="1743075" cy="333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30" name="callout-anchor-6">
            <a:extLst xmlns:a="http://schemas.openxmlformats.org/drawingml/2006/main">
              <a:ext uri="{FF2B5EF4-FFF2-40B4-BE49-F238E27FC236}">
                <a16:creationId xmlns:a16="http://schemas.microsoft.com/office/drawing/2014/main" id="{5C7D1778-CCC8-49A0-9700-29BD4E2D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7054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" name="field-anchor-6">
            <a:extLst xmlns:a="http://schemas.openxmlformats.org/drawingml/2006/main">
              <a:ext uri="{FF2B5EF4-FFF2-40B4-BE49-F238E27FC236}">
                <a16:creationId xmlns:a16="http://schemas.microsoft.com/office/drawing/2014/main" id="{36292F16-943C-45E1-A40B-970F8F24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561975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5" name=""/>
          <p:cNvCxnSpPr>
            <a:stCxn xmlns:a="http://schemas.openxmlformats.org/drawingml/2006/main" id="30" idx="2"/>
            <a:endCxn xmlns:a="http://schemas.openxmlformats.org/drawingml/2006/main" id="31" idx="6"/>
          </p:cNvCxnSpPr>
          <p:nvPr/>
        </p:nvCxnSpPr>
        <p:spPr>
          <a:xfrm xmlns:a="http://schemas.openxmlformats.org/drawingml/2006/main" flipH="1" flipV="1">
            <a:off x="6057900" y="5624513"/>
            <a:ext cx="1743075" cy="85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33" name="field-badge-1">
            <a:extLst xmlns:a="http://schemas.openxmlformats.org/drawingml/2006/main">
              <a:ext uri="{FF2B5EF4-FFF2-40B4-BE49-F238E27FC236}">
                <a16:creationId xmlns:a16="http://schemas.microsoft.com/office/drawing/2014/main" id="{5BFA70E8-ADA6-4118-BA5E-0F8A1ACF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95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4" name="field-number-1">
            <a:extLst xmlns:a="http://schemas.openxmlformats.org/drawingml/2006/main">
              <a:ext uri="{FF2B5EF4-FFF2-40B4-BE49-F238E27FC236}">
                <a16:creationId xmlns:a16="http://schemas.microsoft.com/office/drawing/2014/main" id="{2BC5BB19-AFDB-4C27-AA30-554CF9B04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954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5" name="callout-box-2">
            <a:extLst xmlns:a="http://schemas.openxmlformats.org/drawingml/2006/main">
              <a:ext uri="{FF2B5EF4-FFF2-40B4-BE49-F238E27FC236}">
                <a16:creationId xmlns:a16="http://schemas.microsoft.com/office/drawing/2014/main" id="{7FC5640F-DB3E-43A1-AC81-BAE187AE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336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AFE0"/>
            </a:solidFill>
            <a:prstDash val="solid"/>
          </a:ln>
        </p:spPr>
      </p:sp>
      <p:sp>
        <p:nvSpPr>
          <p:cNvPr id="36" name="field-badge-2">
            <a:extLst xmlns:a="http://schemas.openxmlformats.org/drawingml/2006/main">
              <a:ext uri="{FF2B5EF4-FFF2-40B4-BE49-F238E27FC236}">
                <a16:creationId xmlns:a16="http://schemas.microsoft.com/office/drawing/2014/main" id="{57AF828E-5398-4FFB-91F3-D29F2ED8D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09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7" name="field-number-2">
            <a:extLst xmlns:a="http://schemas.openxmlformats.org/drawingml/2006/main">
              <a:ext uri="{FF2B5EF4-FFF2-40B4-BE49-F238E27FC236}">
                <a16:creationId xmlns:a16="http://schemas.microsoft.com/office/drawing/2014/main" id="{C5DA9575-2442-4FFB-8570-B364CA92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09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8" name="callout-box-3">
            <a:extLst xmlns:a="http://schemas.openxmlformats.org/drawingml/2006/main">
              <a:ext uri="{FF2B5EF4-FFF2-40B4-BE49-F238E27FC236}">
                <a16:creationId xmlns:a16="http://schemas.microsoft.com/office/drawing/2014/main" id="{1FDFFAB9-4881-431D-B181-B4477684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337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DEEC"/>
            </a:solidFill>
            <a:prstDash val="solid"/>
          </a:ln>
        </p:spPr>
      </p:sp>
      <p:sp>
        <p:nvSpPr>
          <p:cNvPr id="39" name="field-badge-3">
            <a:extLst xmlns:a="http://schemas.openxmlformats.org/drawingml/2006/main">
              <a:ext uri="{FF2B5EF4-FFF2-40B4-BE49-F238E27FC236}">
                <a16:creationId xmlns:a16="http://schemas.microsoft.com/office/drawing/2014/main" id="{5587DFEF-A215-4BB6-871F-F39EDD99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241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0" name="field-number-3">
            <a:extLst xmlns:a="http://schemas.openxmlformats.org/drawingml/2006/main">
              <a:ext uri="{FF2B5EF4-FFF2-40B4-BE49-F238E27FC236}">
                <a16:creationId xmlns:a16="http://schemas.microsoft.com/office/drawing/2014/main" id="{F7345D7A-7ABF-4B00-AA28-08D3D40F1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241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1" name="callout-box-4">
            <a:extLst xmlns:a="http://schemas.openxmlformats.org/drawingml/2006/main">
              <a:ext uri="{FF2B5EF4-FFF2-40B4-BE49-F238E27FC236}">
                <a16:creationId xmlns:a16="http://schemas.microsoft.com/office/drawing/2014/main" id="{71A871A9-6422-4EBE-828F-077B1ED0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338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AFE0"/>
            </a:solidFill>
            <a:prstDash val="solid"/>
          </a:ln>
        </p:spPr>
      </p:sp>
      <p:sp>
        <p:nvSpPr>
          <p:cNvPr id="42" name="callout-title-4">
            <a:extLst xmlns:a="http://schemas.openxmlformats.org/drawingml/2006/main">
              <a:ext uri="{FF2B5EF4-FFF2-40B4-BE49-F238E27FC236}">
                <a16:creationId xmlns:a16="http://schemas.microsoft.com/office/drawing/2014/main" id="{27FBEDBB-38F5-41CB-B264-650684A4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</a:rPr>
              <a:t>Payroll frequency + flat rate</a:t>
            </a:r>
          </a:p>
        </p:txBody>
      </p:sp>
      <p:sp>
        <p:nvSpPr>
          <p:cNvPr id="43" name="callout-copy-4">
            <a:extLst xmlns:a="http://schemas.openxmlformats.org/drawingml/2006/main">
              <a:ext uri="{FF2B5EF4-FFF2-40B4-BE49-F238E27FC236}">
                <a16:creationId xmlns:a16="http://schemas.microsoft.com/office/drawing/2014/main" id="{8E094F0C-67E0-46EB-9676-6DD785BB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481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616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Chooses the bracket frequency and stores the alternative flat/final percentage.</a:t>
            </a:r>
          </a:p>
        </p:txBody>
      </p:sp>
      <p:sp>
        <p:nvSpPr>
          <p:cNvPr id="44" name="field-badge-4">
            <a:extLst xmlns:a="http://schemas.openxmlformats.org/drawingml/2006/main">
              <a:ext uri="{FF2B5EF4-FFF2-40B4-BE49-F238E27FC236}">
                <a16:creationId xmlns:a16="http://schemas.microsoft.com/office/drawing/2014/main" id="{07066B09-FB19-4F5D-AC8B-7B370ECB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38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5" name="field-number-4">
            <a:extLst xmlns:a="http://schemas.openxmlformats.org/drawingml/2006/main">
              <a:ext uri="{FF2B5EF4-FFF2-40B4-BE49-F238E27FC236}">
                <a16:creationId xmlns:a16="http://schemas.microsoft.com/office/drawing/2014/main" id="{872983F2-44BE-4C7F-842B-A8DC9C3B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385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6" name="callout-box-5">
            <a:extLst xmlns:a="http://schemas.openxmlformats.org/drawingml/2006/main">
              <a:ext uri="{FF2B5EF4-FFF2-40B4-BE49-F238E27FC236}">
                <a16:creationId xmlns:a16="http://schemas.microsoft.com/office/drawing/2014/main" id="{C7B0C5CC-3A6E-4793-AF01-A167C3A4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DEEC"/>
            </a:solidFill>
            <a:prstDash val="solid"/>
          </a:ln>
        </p:spPr>
      </p:sp>
      <p:sp>
        <p:nvSpPr>
          <p:cNvPr id="47" name="callout-title-5">
            <a:extLst xmlns:a="http://schemas.openxmlformats.org/drawingml/2006/main">
              <a:ext uri="{FF2B5EF4-FFF2-40B4-BE49-F238E27FC236}">
                <a16:creationId xmlns:a16="http://schemas.microsoft.com/office/drawing/2014/main" id="{230F9790-34AC-4BBF-A86D-C5D55353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291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</a:rPr>
              <a:t>Employer-absorbed share</a:t>
            </a:r>
          </a:p>
        </p:txBody>
      </p:sp>
      <p:sp>
        <p:nvSpPr>
          <p:cNvPr id="48" name="callout-copy-5">
            <a:extLst xmlns:a="http://schemas.openxmlformats.org/drawingml/2006/main">
              <a:ext uri="{FF2B5EF4-FFF2-40B4-BE49-F238E27FC236}">
                <a16:creationId xmlns:a16="http://schemas.microsoft.com/office/drawing/2014/main" id="{18E11EFD-8C4E-497C-B75F-8E253CBFF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482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616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Defines how much of the calculated withholding is paid by the employer.</a:t>
            </a:r>
          </a:p>
        </p:txBody>
      </p:sp>
      <p:sp>
        <p:nvSpPr>
          <p:cNvPr id="49" name="field-badge-5">
            <a:extLst xmlns:a="http://schemas.openxmlformats.org/drawingml/2006/main">
              <a:ext uri="{FF2B5EF4-FFF2-40B4-BE49-F238E27FC236}">
                <a16:creationId xmlns:a16="http://schemas.microsoft.com/office/drawing/2014/main" id="{90D90CB4-263D-4E51-8764-A38163F5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481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0" name="field-number-5">
            <a:extLst xmlns:a="http://schemas.openxmlformats.org/drawingml/2006/main">
              <a:ext uri="{FF2B5EF4-FFF2-40B4-BE49-F238E27FC236}">
                <a16:creationId xmlns:a16="http://schemas.microsoft.com/office/drawing/2014/main" id="{710D3486-1128-4523-B893-32A0EF28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4481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1" name="callout-box-6">
            <a:extLst xmlns:a="http://schemas.openxmlformats.org/drawingml/2006/main">
              <a:ext uri="{FF2B5EF4-FFF2-40B4-BE49-F238E27FC236}">
                <a16:creationId xmlns:a16="http://schemas.microsoft.com/office/drawing/2014/main" id="{5BF47943-E76F-47AE-A76F-BAE5B568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340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AFE0"/>
            </a:solidFill>
            <a:prstDash val="solid"/>
          </a:ln>
        </p:spPr>
      </p:sp>
      <p:sp>
        <p:nvSpPr>
          <p:cNvPr id="52" name="callout-title-6">
            <a:extLst xmlns:a="http://schemas.openxmlformats.org/drawingml/2006/main">
              <a:ext uri="{FF2B5EF4-FFF2-40B4-BE49-F238E27FC236}">
                <a16:creationId xmlns:a16="http://schemas.microsoft.com/office/drawing/2014/main" id="{7B49D470-A9E2-4AB7-9D02-3C8437FF9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4292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</a:rPr>
              <a:t>Tolerance / iterations / rounding / statutory-first</a:t>
            </a:r>
          </a:p>
        </p:txBody>
      </p:sp>
      <p:sp>
        <p:nvSpPr>
          <p:cNvPr id="53" name="callout-copy-6">
            <a:extLst xmlns:a="http://schemas.openxmlformats.org/drawingml/2006/main">
              <a:ext uri="{FF2B5EF4-FFF2-40B4-BE49-F238E27FC236}">
                <a16:creationId xmlns:a16="http://schemas.microsoft.com/office/drawing/2014/main" id="{D3DEB269-072C-406D-9887-F88F47C2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6483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616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Controls convergence, precision, stopping limit, and deduction of mandatory contributions before tax.</a:t>
            </a:r>
          </a:p>
        </p:txBody>
      </p:sp>
      <p:sp>
        <p:nvSpPr>
          <p:cNvPr id="54" name="field-badge-6">
            <a:extLst xmlns:a="http://schemas.openxmlformats.org/drawingml/2006/main">
              <a:ext uri="{FF2B5EF4-FFF2-40B4-BE49-F238E27FC236}">
                <a16:creationId xmlns:a16="http://schemas.microsoft.com/office/drawing/2014/main" id="{F174C4D5-2FB4-41B4-ADDB-EDFB112E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495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5" name="field-number-6">
            <a:extLst xmlns:a="http://schemas.openxmlformats.org/drawingml/2006/main">
              <a:ext uri="{FF2B5EF4-FFF2-40B4-BE49-F238E27FC236}">
                <a16:creationId xmlns:a16="http://schemas.microsoft.com/office/drawing/2014/main" id="{49505665-E074-4FA5-B4CB-1370AF2A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4959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43830440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4B2BF85-0BF5-4382-B7D5-53AC14CD9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86154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975" b="1">
                <a:solidFill>
                  <a:srgbClr val="5C2A91"/>
                </a:solidFill>
              </a:defRPr>
            </a:pPr>
            <a:r>
              <a:rPr sz="975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GROSS UP · FIELD GUIDE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2576D19-5577-4E5B-B56E-29A1CF15F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2250" b="1">
                <a:solidFill>
                  <a:srgbClr val="111111"/>
                </a:solidFill>
              </a:defRPr>
            </a:pPr>
            <a:r>
              <a:rPr sz="2250" b="1">
                <a:solidFill>
                  <a:srgbClr val="111111"/>
                </a:solidFill>
                <a:latin typeface="Cambria"/>
                <a:ea typeface="Cambria"/>
                <a:cs typeface="Cambria"/>
              </a:rPr>
              <a:t>Scenario inputs and convergence result</a:t>
            </a:r>
            <a:endParaRPr sz="3000"/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D8BC8BEE-B1AA-491C-9B94-35DF745DE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34150"/>
            <a:ext cx="676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rmAutofit fontScale="7531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863" b="0">
                <a:solidFill>
                  <a:srgbClr val="66645F"/>
                </a:solidFill>
              </a:defRPr>
            </a:pPr>
            <a:r>
              <a:rPr sz="863" b="0" i="1">
                <a:solidFill>
                  <a:srgbClr val="66645F"/>
                </a:solidFill>
                <a:latin typeface="Calibri"/>
                <a:ea typeface="Calibri"/>
                <a:cs typeface="Calibri"/>
              </a:rPr>
              <a:t>Numbered arrows point to the live wireframe control; values shown are demo data.</a:t>
            </a:r>
            <a:endParaRPr sz="950"/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B3120DF-6AB8-4F7C-9457-69EA6986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4287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Target net</a:t>
            </a:r>
            <a:endParaRPr sz="1000"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6FDB5AC-ACF9-405B-93CA-447BE984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478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Employee net amount the engine must guarantee.</a:t>
            </a:r>
            <a:endParaRPr sz="12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5A486993-08D4-4CE6-83BF-47E286ED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288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Employee statutory share</a:t>
            </a:r>
            <a:endParaRPr sz="10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F527EB4-40CF-4974-B5E5-290CE661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479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82032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Mandatory employee contributions deducted before the withholding bracket is applied.</a:t>
            </a:r>
            <a:endParaRPr sz="125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12CAB97-78FB-4B8F-B4F1-9DE848895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289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  <a:latin typeface="Calibri"/>
                <a:ea typeface="Calibri"/>
                <a:cs typeface="Calibri"/>
              </a:rPr>
              <a:t>Non-taxable allowance</a:t>
            </a:r>
            <a:endParaRPr sz="10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E4A9A322-42C2-402F-84B8-4E048A3E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480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5009"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ts val="1600"/>
              </a:lnSpc>
              <a:buNone/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  <a:latin typeface="Calibri"/>
                <a:ea typeface="Calibri"/>
                <a:cs typeface="Calibri"/>
              </a:rPr>
              <a:t>Amount included in cash received but excluded from taxable compensation.</a:t>
            </a:r>
            <a:endParaRPr sz="125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3B88E967-BAE5-41BD-B55A-B3BF924D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33500"/>
            <a:ext cx="3790950" cy="74295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DEEC"/>
            </a:solidFill>
            <a:prstDash val="solid"/>
          </a:ln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A1D3F8BD-A1AB-4B4A-8D41-D735C1B79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534150"/>
            <a:ext cx="3790950" cy="190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  <a:defRPr sz="788" b="0">
                <a:solidFill>
                  <a:srgbClr val="66645F"/>
                </a:solidFill>
              </a:defRPr>
            </a:pPr>
            <a:r>
              <a:rPr sz="788" b="0">
                <a:solidFill>
                  <a:srgbClr val="66645F"/>
                </a:solidFill>
                <a:latin typeface="Calibri"/>
                <a:ea typeface="Calibri"/>
                <a:cs typeface="Calibri"/>
              </a:rPr>
              <a:t>Source · ATLAS local wireframe · Client view</a:t>
            </a:r>
            <a:endParaRPr sz="1000"/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a78b2d397d4235"/>
          <a:stretch xmlns:a="http://schemas.openxmlformats.org/drawingml/2006/main"/>
        </p:blipFill>
        <p:spPr>
          <a:xfrm xmlns:a="http://schemas.openxmlformats.org/drawingml/2006/main">
            <a:off x="3001337" y="1257300"/>
            <a:ext cx="2855577" cy="4610100"/>
          </a:xfrm>
          <a:prstGeom xmlns:a="http://schemas.openxmlformats.org/drawingml/2006/main" prst="rect">
            <a:avLst/>
          </a:prstGeom>
        </p:spPr>
      </p:pic>
      <p:sp>
        <p:nvSpPr>
          <p:cNvPr id="15" name="callout-anchor-1">
            <a:extLst xmlns:a="http://schemas.openxmlformats.org/drawingml/2006/main">
              <a:ext uri="{FF2B5EF4-FFF2-40B4-BE49-F238E27FC236}">
                <a16:creationId xmlns:a16="http://schemas.microsoft.com/office/drawing/2014/main" id="{FD5C49BE-C279-4A45-9E9F-BF51BB60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17049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field-anchor-1">
            <a:extLst xmlns:a="http://schemas.openxmlformats.org/drawingml/2006/main">
              <a:ext uri="{FF2B5EF4-FFF2-40B4-BE49-F238E27FC236}">
                <a16:creationId xmlns:a16="http://schemas.microsoft.com/office/drawing/2014/main" id="{15F6491A-D1EF-4791-BDAC-7070C819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1925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0" name=""/>
          <p:cNvCxnSpPr>
            <a:stCxn xmlns:a="http://schemas.openxmlformats.org/drawingml/2006/main" id="15" idx="2"/>
            <a:endCxn xmlns:a="http://schemas.openxmlformats.org/drawingml/2006/main" id="16" idx="6"/>
          </p:cNvCxnSpPr>
          <p:nvPr/>
        </p:nvCxnSpPr>
        <p:spPr>
          <a:xfrm xmlns:a="http://schemas.openxmlformats.org/drawingml/2006/main" flipH="1" flipV="1">
            <a:off x="5819775" y="1624013"/>
            <a:ext cx="1981200" cy="85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18" name="callout-anchor-2">
            <a:extLst xmlns:a="http://schemas.openxmlformats.org/drawingml/2006/main">
              <a:ext uri="{FF2B5EF4-FFF2-40B4-BE49-F238E27FC236}">
                <a16:creationId xmlns:a16="http://schemas.microsoft.com/office/drawing/2014/main" id="{F4683421-20AB-49DC-BD90-51FB9DFC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5050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field-anchor-2">
            <a:extLst xmlns:a="http://schemas.openxmlformats.org/drawingml/2006/main">
              <a:ext uri="{FF2B5EF4-FFF2-40B4-BE49-F238E27FC236}">
                <a16:creationId xmlns:a16="http://schemas.microsoft.com/office/drawing/2014/main" id="{79D21611-2B4F-4A54-A7F7-24564B9C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3362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3" name=""/>
          <p:cNvCxnSpPr>
            <a:stCxn xmlns:a="http://schemas.openxmlformats.org/drawingml/2006/main" id="18" idx="2"/>
            <a:endCxn xmlns:a="http://schemas.openxmlformats.org/drawingml/2006/main" id="19" idx="6"/>
          </p:cNvCxnSpPr>
          <p:nvPr/>
        </p:nvCxnSpPr>
        <p:spPr>
          <a:xfrm xmlns:a="http://schemas.openxmlformats.org/drawingml/2006/main" flipH="1" flipV="1">
            <a:off x="5819775" y="2338388"/>
            <a:ext cx="1981200" cy="171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21" name="callout-anchor-3">
            <a:extLst xmlns:a="http://schemas.openxmlformats.org/drawingml/2006/main">
              <a:ext uri="{FF2B5EF4-FFF2-40B4-BE49-F238E27FC236}">
                <a16:creationId xmlns:a16="http://schemas.microsoft.com/office/drawing/2014/main" id="{04DA5809-8E61-47FB-9E3A-FC4B41A3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3051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field-anchor-3">
            <a:extLst xmlns:a="http://schemas.openxmlformats.org/drawingml/2006/main">
              <a:ext uri="{FF2B5EF4-FFF2-40B4-BE49-F238E27FC236}">
                <a16:creationId xmlns:a16="http://schemas.microsoft.com/office/drawing/2014/main" id="{F2F6EFB3-EEA4-4C3E-83A1-0007D554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4800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6" name=""/>
          <p:cNvCxnSpPr>
            <a:stCxn xmlns:a="http://schemas.openxmlformats.org/drawingml/2006/main" id="21" idx="2"/>
            <a:endCxn xmlns:a="http://schemas.openxmlformats.org/drawingml/2006/main" id="22" idx="6"/>
          </p:cNvCxnSpPr>
          <p:nvPr/>
        </p:nvCxnSpPr>
        <p:spPr>
          <a:xfrm xmlns:a="http://schemas.openxmlformats.org/drawingml/2006/main" flipH="1" flipV="1">
            <a:off x="5819775" y="3052763"/>
            <a:ext cx="1981200" cy="2571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24" name="callout-anchor-4">
            <a:extLst xmlns:a="http://schemas.openxmlformats.org/drawingml/2006/main">
              <a:ext uri="{FF2B5EF4-FFF2-40B4-BE49-F238E27FC236}">
                <a16:creationId xmlns:a16="http://schemas.microsoft.com/office/drawing/2014/main" id="{67C79EF0-C5DD-46E6-A5D4-9D5CCC22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1052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5" name="field-anchor-4">
            <a:extLst xmlns:a="http://schemas.openxmlformats.org/drawingml/2006/main">
              <a:ext uri="{FF2B5EF4-FFF2-40B4-BE49-F238E27FC236}">
                <a16:creationId xmlns:a16="http://schemas.microsoft.com/office/drawing/2014/main" id="{4021A9E8-7134-4A98-B6F0-D66118EC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623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9" name=""/>
          <p:cNvCxnSpPr>
            <a:stCxn xmlns:a="http://schemas.openxmlformats.org/drawingml/2006/main" id="24" idx="2"/>
            <a:endCxn xmlns:a="http://schemas.openxmlformats.org/drawingml/2006/main" id="25" idx="6"/>
          </p:cNvCxnSpPr>
          <p:nvPr/>
        </p:nvCxnSpPr>
        <p:spPr>
          <a:xfrm xmlns:a="http://schemas.openxmlformats.org/drawingml/2006/main" flipH="1" flipV="1">
            <a:off x="5819775" y="3767138"/>
            <a:ext cx="1981200" cy="3429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27" name="callout-anchor-5">
            <a:extLst xmlns:a="http://schemas.openxmlformats.org/drawingml/2006/main">
              <a:ext uri="{FF2B5EF4-FFF2-40B4-BE49-F238E27FC236}">
                <a16:creationId xmlns:a16="http://schemas.microsoft.com/office/drawing/2014/main" id="{A1737D48-44E3-4756-80A1-C6E5E833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49053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field-anchor-5">
            <a:extLst xmlns:a="http://schemas.openxmlformats.org/drawingml/2006/main">
              <a:ext uri="{FF2B5EF4-FFF2-40B4-BE49-F238E27FC236}">
                <a16:creationId xmlns:a16="http://schemas.microsoft.com/office/drawing/2014/main" id="{CE026B09-D07E-4E5A-8A3D-B92EB22B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72000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2" name=""/>
          <p:cNvCxnSpPr>
            <a:stCxn xmlns:a="http://schemas.openxmlformats.org/drawingml/2006/main" id="27" idx="2"/>
            <a:endCxn xmlns:a="http://schemas.openxmlformats.org/drawingml/2006/main" id="28" idx="6"/>
          </p:cNvCxnSpPr>
          <p:nvPr/>
        </p:nvCxnSpPr>
        <p:spPr>
          <a:xfrm xmlns:a="http://schemas.openxmlformats.org/drawingml/2006/main" flipH="1" flipV="1">
            <a:off x="5819775" y="4576763"/>
            <a:ext cx="1981200" cy="3333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30" name="callout-anchor-6">
            <a:extLst xmlns:a="http://schemas.openxmlformats.org/drawingml/2006/main">
              <a:ext uri="{FF2B5EF4-FFF2-40B4-BE49-F238E27FC236}">
                <a16:creationId xmlns:a16="http://schemas.microsoft.com/office/drawing/2014/main" id="{CB971CF8-7F2C-4AD7-9000-985FE0A4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57054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" name="field-anchor-6">
            <a:extLst xmlns:a="http://schemas.openxmlformats.org/drawingml/2006/main">
              <a:ext uri="{FF2B5EF4-FFF2-40B4-BE49-F238E27FC236}">
                <a16:creationId xmlns:a16="http://schemas.microsoft.com/office/drawing/2014/main" id="{8F956D21-FB76-47D9-80BC-1B8B21C5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476875"/>
            <a:ext cx="9525" cy="952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85" name=""/>
          <p:cNvCxnSpPr>
            <a:stCxn xmlns:a="http://schemas.openxmlformats.org/drawingml/2006/main" id="30" idx="2"/>
            <a:endCxn xmlns:a="http://schemas.openxmlformats.org/drawingml/2006/main" id="31" idx="6"/>
          </p:cNvCxnSpPr>
          <p:nvPr/>
        </p:nvCxnSpPr>
        <p:spPr>
          <a:xfrm xmlns:a="http://schemas.openxmlformats.org/drawingml/2006/main" flipH="1" flipV="1">
            <a:off x="5819775" y="5481638"/>
            <a:ext cx="1981200" cy="228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5240">
            <a:solidFill>
              <a:srgbClr val="5C2A91"/>
            </a:solidFill>
            <a:prstDash val="solid"/>
            <a:tailEnd type="arrow" w="med" len="med"/>
          </a:ln>
        </p:spPr>
      </p:cxnSp>
      <p:sp>
        <p:nvSpPr>
          <p:cNvPr id="33" name="field-badge-1">
            <a:extLst xmlns:a="http://schemas.openxmlformats.org/drawingml/2006/main">
              <a:ext uri="{FF2B5EF4-FFF2-40B4-BE49-F238E27FC236}">
                <a16:creationId xmlns:a16="http://schemas.microsoft.com/office/drawing/2014/main" id="{3872B0E2-0EC1-4593-97FC-C9EED994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4954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4" name="field-number-1">
            <a:extLst xmlns:a="http://schemas.openxmlformats.org/drawingml/2006/main">
              <a:ext uri="{FF2B5EF4-FFF2-40B4-BE49-F238E27FC236}">
                <a16:creationId xmlns:a16="http://schemas.microsoft.com/office/drawing/2014/main" id="{AA096040-61C8-43D8-8BFA-089B18B9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4954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35" name="callout-box-2">
            <a:extLst xmlns:a="http://schemas.openxmlformats.org/drawingml/2006/main">
              <a:ext uri="{FF2B5EF4-FFF2-40B4-BE49-F238E27FC236}">
                <a16:creationId xmlns:a16="http://schemas.microsoft.com/office/drawing/2014/main" id="{40EC7304-3865-4D76-B331-B68BD4F6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336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AFE0"/>
            </a:solidFill>
            <a:prstDash val="solid"/>
          </a:ln>
        </p:spPr>
      </p:sp>
      <p:sp>
        <p:nvSpPr>
          <p:cNvPr id="36" name="field-badge-2">
            <a:extLst xmlns:a="http://schemas.openxmlformats.org/drawingml/2006/main">
              <a:ext uri="{FF2B5EF4-FFF2-40B4-BE49-F238E27FC236}">
                <a16:creationId xmlns:a16="http://schemas.microsoft.com/office/drawing/2014/main" id="{D4A5393D-BD01-4F64-B077-1DC28651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209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37" name="field-number-2">
            <a:extLst xmlns:a="http://schemas.openxmlformats.org/drawingml/2006/main">
              <a:ext uri="{FF2B5EF4-FFF2-40B4-BE49-F238E27FC236}">
                <a16:creationId xmlns:a16="http://schemas.microsoft.com/office/drawing/2014/main" id="{BA222EF8-B131-43FD-B36D-52D62220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2098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8" name="callout-box-3">
            <a:extLst xmlns:a="http://schemas.openxmlformats.org/drawingml/2006/main">
              <a:ext uri="{FF2B5EF4-FFF2-40B4-BE49-F238E27FC236}">
                <a16:creationId xmlns:a16="http://schemas.microsoft.com/office/drawing/2014/main" id="{073AA5ED-15EA-4052-AE4E-65A0A6B3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337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DEEC"/>
            </a:solidFill>
            <a:prstDash val="solid"/>
          </a:ln>
        </p:spPr>
      </p:sp>
      <p:sp>
        <p:nvSpPr>
          <p:cNvPr id="39" name="field-badge-3">
            <a:extLst xmlns:a="http://schemas.openxmlformats.org/drawingml/2006/main">
              <a:ext uri="{FF2B5EF4-FFF2-40B4-BE49-F238E27FC236}">
                <a16:creationId xmlns:a16="http://schemas.microsoft.com/office/drawing/2014/main" id="{3164757E-58C9-44BC-968E-D71E5D69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9241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0" name="field-number-3">
            <a:extLst xmlns:a="http://schemas.openxmlformats.org/drawingml/2006/main">
              <a:ext uri="{FF2B5EF4-FFF2-40B4-BE49-F238E27FC236}">
                <a16:creationId xmlns:a16="http://schemas.microsoft.com/office/drawing/2014/main" id="{2A6E2D93-8B4D-4D6D-8AAB-BFFE60FA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9241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1" name="callout-box-4">
            <a:extLst xmlns:a="http://schemas.openxmlformats.org/drawingml/2006/main">
              <a:ext uri="{FF2B5EF4-FFF2-40B4-BE49-F238E27FC236}">
                <a16:creationId xmlns:a16="http://schemas.microsoft.com/office/drawing/2014/main" id="{90C4DA7E-8584-496F-A04A-96871FA7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338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AFE0"/>
            </a:solidFill>
            <a:prstDash val="solid"/>
          </a:ln>
        </p:spPr>
      </p:sp>
      <p:sp>
        <p:nvSpPr>
          <p:cNvPr id="42" name="callout-title-4">
            <a:extLst xmlns:a="http://schemas.openxmlformats.org/drawingml/2006/main">
              <a:ext uri="{FF2B5EF4-FFF2-40B4-BE49-F238E27FC236}">
                <a16:creationId xmlns:a16="http://schemas.microsoft.com/office/drawing/2014/main" id="{4D4D302E-F131-436A-A0F9-519AFC0A3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290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</a:rPr>
              <a:t>YTD taxable income</a:t>
            </a:r>
          </a:p>
        </p:txBody>
      </p:sp>
      <p:sp>
        <p:nvSpPr>
          <p:cNvPr id="43" name="callout-copy-4">
            <a:extLst xmlns:a="http://schemas.openxmlformats.org/drawingml/2006/main">
              <a:ext uri="{FF2B5EF4-FFF2-40B4-BE49-F238E27FC236}">
                <a16:creationId xmlns:a16="http://schemas.microsoft.com/office/drawing/2014/main" id="{156841AD-B83E-462C-B52B-8CB5B9E7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481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616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Prior taxable earnings used when the selected method requires year-to-date context.</a:t>
            </a:r>
          </a:p>
        </p:txBody>
      </p:sp>
      <p:sp>
        <p:nvSpPr>
          <p:cNvPr id="44" name="field-badge-4">
            <a:extLst xmlns:a="http://schemas.openxmlformats.org/drawingml/2006/main">
              <a:ext uri="{FF2B5EF4-FFF2-40B4-BE49-F238E27FC236}">
                <a16:creationId xmlns:a16="http://schemas.microsoft.com/office/drawing/2014/main" id="{05590434-52AB-4AB8-AAA1-AB81344D8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638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45" name="field-number-4">
            <a:extLst xmlns:a="http://schemas.openxmlformats.org/drawingml/2006/main">
              <a:ext uri="{FF2B5EF4-FFF2-40B4-BE49-F238E27FC236}">
                <a16:creationId xmlns:a16="http://schemas.microsoft.com/office/drawing/2014/main" id="{045D2993-C9D6-4A2B-B88A-5FEDA64A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6385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6" name="callout-box-5">
            <a:extLst xmlns:a="http://schemas.openxmlformats.org/drawingml/2006/main">
              <a:ext uri="{FF2B5EF4-FFF2-40B4-BE49-F238E27FC236}">
                <a16:creationId xmlns:a16="http://schemas.microsoft.com/office/drawing/2014/main" id="{DFAAFE5B-85DE-42DC-AE6F-A4F61750A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339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DEEC"/>
            </a:solidFill>
            <a:prstDash val="solid"/>
          </a:ln>
        </p:spPr>
      </p:sp>
      <p:sp>
        <p:nvSpPr>
          <p:cNvPr id="47" name="callout-title-5">
            <a:extLst xmlns:a="http://schemas.openxmlformats.org/drawingml/2006/main">
              <a:ext uri="{FF2B5EF4-FFF2-40B4-BE49-F238E27FC236}">
                <a16:creationId xmlns:a16="http://schemas.microsoft.com/office/drawing/2014/main" id="{BC66CF45-DB06-4636-8A62-A6163095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291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</a:rPr>
              <a:t>Gross / tax / employer / net outputs</a:t>
            </a:r>
          </a:p>
        </p:txBody>
      </p:sp>
      <p:sp>
        <p:nvSpPr>
          <p:cNvPr id="48" name="callout-copy-5">
            <a:extLst xmlns:a="http://schemas.openxmlformats.org/drawingml/2006/main">
              <a:ext uri="{FF2B5EF4-FFF2-40B4-BE49-F238E27FC236}">
                <a16:creationId xmlns:a16="http://schemas.microsoft.com/office/drawing/2014/main" id="{8D8C9D32-BC34-4D2E-A9D1-9CB681A2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8482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616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Shows candidate gross taxable pay, withholding, employer absorption, and resulting employee net.</a:t>
            </a:r>
          </a:p>
        </p:txBody>
      </p:sp>
      <p:sp>
        <p:nvSpPr>
          <p:cNvPr id="49" name="field-badge-5">
            <a:extLst xmlns:a="http://schemas.openxmlformats.org/drawingml/2006/main">
              <a:ext uri="{FF2B5EF4-FFF2-40B4-BE49-F238E27FC236}">
                <a16:creationId xmlns:a16="http://schemas.microsoft.com/office/drawing/2014/main" id="{4A7C6A17-1901-4CB2-B482-7062C774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4481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0" name="field-number-5">
            <a:extLst xmlns:a="http://schemas.openxmlformats.org/drawingml/2006/main">
              <a:ext uri="{FF2B5EF4-FFF2-40B4-BE49-F238E27FC236}">
                <a16:creationId xmlns:a16="http://schemas.microsoft.com/office/drawing/2014/main" id="{AA3A3B32-372E-4163-A506-714682F55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4481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1" name="callout-box-6">
            <a:extLst xmlns:a="http://schemas.openxmlformats.org/drawingml/2006/main">
              <a:ext uri="{FF2B5EF4-FFF2-40B4-BE49-F238E27FC236}">
                <a16:creationId xmlns:a16="http://schemas.microsoft.com/office/drawing/2014/main" id="{5E99F3AA-1645-4E13-BA07-63371223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34000"/>
            <a:ext cx="3790950" cy="742950"/>
          </a:xfrm>
          <a:prstGeom xmlns:a="http://schemas.openxmlformats.org/drawingml/2006/main" prst="roundRect">
            <a:avLst>
              <a:gd name="adj" fmla="val 1025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AFE0"/>
            </a:solidFill>
            <a:prstDash val="solid"/>
          </a:ln>
        </p:spPr>
      </p:sp>
      <p:sp>
        <p:nvSpPr>
          <p:cNvPr id="52" name="callout-title-6">
            <a:extLst xmlns:a="http://schemas.openxmlformats.org/drawingml/2006/main">
              <a:ext uri="{FF2B5EF4-FFF2-40B4-BE49-F238E27FC236}">
                <a16:creationId xmlns:a16="http://schemas.microsoft.com/office/drawing/2014/main" id="{4081F386-D7D3-4E0A-AD7F-17A49ABC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429250"/>
            <a:ext cx="3467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C2A91"/>
                </a:solidFill>
              </a:defRPr>
            </a:pPr>
            <a:r>
              <a:rPr sz="1050" b="1">
                <a:solidFill>
                  <a:srgbClr val="5C2A91"/>
                </a:solidFill>
              </a:rPr>
              <a:t>Convergence + calculation trace</a:t>
            </a:r>
          </a:p>
        </p:txBody>
      </p:sp>
      <p:sp>
        <p:nvSpPr>
          <p:cNvPr id="53" name="callout-copy-6">
            <a:extLst xmlns:a="http://schemas.openxmlformats.org/drawingml/2006/main">
              <a:ext uri="{FF2B5EF4-FFF2-40B4-BE49-F238E27FC236}">
                <a16:creationId xmlns:a16="http://schemas.microsoft.com/office/drawing/2014/main" id="{EC4A1086-1E4B-4221-8BDE-C1A9F064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648325"/>
            <a:ext cx="3467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>
            <a:normAutofit fontScale="94616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</a:defRPr>
            </a:pPr>
            <a:r>
              <a:rPr sz="938" b="0">
                <a:solidFill>
                  <a:srgbClr val="111111"/>
                </a:solidFill>
              </a:rPr>
              <a:t>Confirms the gap is within tolerance and records each iteration for review and audit.</a:t>
            </a:r>
          </a:p>
        </p:txBody>
      </p:sp>
      <p:sp>
        <p:nvSpPr>
          <p:cNvPr id="54" name="field-badge-6">
            <a:extLst xmlns:a="http://schemas.openxmlformats.org/drawingml/2006/main">
              <a:ext uri="{FF2B5EF4-FFF2-40B4-BE49-F238E27FC236}">
                <a16:creationId xmlns:a16="http://schemas.microsoft.com/office/drawing/2014/main" id="{81A12F14-E4D4-4C46-AA99-A1C9943A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3530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55" name="field-number-6">
            <a:extLst xmlns:a="http://schemas.openxmlformats.org/drawingml/2006/main">
              <a:ext uri="{FF2B5EF4-FFF2-40B4-BE49-F238E27FC236}">
                <a16:creationId xmlns:a16="http://schemas.microsoft.com/office/drawing/2014/main" id="{3E167AFE-D930-4A19-A331-6272CAC2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353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43830440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1116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AFFC66F-5FDD-4F30-8638-3EFBAB56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51760"/>
            <a:ext cx="54864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APPENDIX</a:t>
            </a:r>
            <a:endParaRPr sz="12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C04F557-6013-4CC6-8C2A-EBEEBC79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999232"/>
            <a:ext cx="8229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Reference section</a:t>
            </a:r>
            <a:endParaRPr sz="4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EE22D62-7A09-4FC1-978F-5A43C0569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8620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Source documents, row-level mapping, glossary, and open decisions</a:t>
            </a:r>
            <a:endParaRPr sz="1500"/>
          </a:p>
        </p:txBody>
      </p:sp>
    </p:spTree>
    <p:extLst>
      <p:ext uri="{BB962C8B-B14F-4D97-AF65-F5344CB8AC3E}">
        <p14:creationId xmlns:p14="http://schemas.microsoft.com/office/powerpoint/2010/main" val="1799466124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DEC1A2D-7F49-47CE-B2E7-45C4D7BE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APPENDIX A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1D7D74C-395D-4781-AC09-4B72FC26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Source documents used</a:t>
            </a:r>
            <a:endParaRPr sz="30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16CE692-54C2-4B5D-B905-CF00B59A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35024"/>
            <a:ext cx="278892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A47FE52-9256-4F20-8647-0B3A67F63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44752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Annex B</a:t>
            </a:r>
            <a:endParaRPr sz="12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6D4B4AB-31C2-4674-8515-23931CFA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83664"/>
            <a:ext cx="248716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050"/>
              </a:lnSpc>
              <a:buNone/>
            </a:pPr>
            <a:r>
              <a:rPr sz="8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Employee Masterfile Payroll Data Tables from Dorado</a:t>
            </a:r>
            <a:endParaRPr sz="8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F7ED9713-6DC9-496C-B93B-D37607D3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1371600"/>
            <a:ext cx="800100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Sheets used: Take Home Pay · Retirement Pay · Final Pay · Gross Up · Dorado Loans · Dorado Deduction · Dorado Cost Allocation · Dorado Previous Employer · De Minimis Ceiling Set Up · 13th Mo Pay &amp; Other Bonuses</a:t>
            </a:r>
            <a:endParaRPr sz="11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206466D3-00D3-4491-BF57-0BB0AF7F4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78608"/>
            <a:ext cx="278892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C26D6D7-34B5-4CAE-BBB9-D541C5EA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88336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Annex C</a:t>
            </a:r>
            <a:endParaRPr sz="12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D2CBBFE-C6B5-4F08-81EF-CFE7ED4B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27248"/>
            <a:ext cx="248716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050"/>
              </a:lnSpc>
              <a:buNone/>
            </a:pPr>
            <a:r>
              <a:rPr sz="8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Sub Module 3 — Payroll</a:t>
            </a:r>
            <a:endParaRPr sz="8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45E10C3-4F84-4EDC-B321-35A88F4A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2615184"/>
            <a:ext cx="800100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Payroll transaction preparation, inputs, calculation, and approval lifecycle. Used to show how a computed policy is consumed in payroll.</a:t>
            </a:r>
            <a:endParaRPr sz="11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EF7B5848-CCF3-4572-BAF6-43D32BA47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822192"/>
            <a:ext cx="278892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C8557AF-8669-405A-BA16-8FAC0434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31920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Phase 2 BRD Audit Summary</a:t>
            </a:r>
            <a:endParaRPr sz="12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191B0BA-E6F0-410C-8480-B057F1C2E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370832"/>
            <a:ext cx="248716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050"/>
              </a:lnSpc>
              <a:buNone/>
            </a:pPr>
            <a:r>
              <a:rPr sz="8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331 requirement rows reviewed</a:t>
            </a:r>
            <a:endParaRPr sz="8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42A9711F-39E4-4C09-9B30-671EA537E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3858768"/>
            <a:ext cx="800100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Computational Basis module (feature points 73–82), Settings module set-up rows 18–20 and 50–55, Statutory Requirements 180–184.</a:t>
            </a:r>
            <a:endParaRPr sz="11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E0D057FD-57B3-4648-B79D-B7F79DCE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65776"/>
            <a:ext cx="278892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D8DEEC"/>
            </a:solidFill>
            <a:prstDash val="solid"/>
          </a:ln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FFBD3B7-E017-40E1-82D2-D0EBCFD5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175504"/>
            <a:ext cx="24688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Tax Tables Flow</a:t>
            </a:r>
            <a:endParaRPr sz="12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DBA4488-5D30-4887-87A8-5C67F30C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614416"/>
            <a:ext cx="2487168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050"/>
              </a:lnSpc>
              <a:buNone/>
            </a:pPr>
            <a:r>
              <a:rPr sz="8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v2 dated 14 May 2026 (supersedes v1)</a:t>
            </a:r>
            <a:endParaRPr sz="8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3A89332-2A0F-47E8-BB24-D03FDC2A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5102352"/>
            <a:ext cx="8001000" cy="1024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500"/>
              </a:lnSpc>
              <a:buNone/>
            </a:pPr>
            <a:r>
              <a:rPr sz="110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Table structure, effectivity selection, and the rule that a table used by a payroll transaction may not be edited.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162027390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DFA4126-8923-4166-B576-E1ECE6665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APPENDIX B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E472E95-30E4-4FCD-970F-5D8C81910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Take-Home Pay traceability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59A9871-F9E8-4D62-88CA-9C37A5542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33856"/>
            <a:ext cx="1102766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Annex B → sheet “Take Home Pay”</a:t>
            </a:r>
            <a:endParaRPr sz="1150"/>
          </a:p>
        </p:txBody>
      </p:sp>
      <p:graphicFrame>
        <p:nvGraphicFramePr>
          <p:cNvPr id="9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27664" cy="422452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4572000"/>
                <a:gridCol w="4626864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Source rows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the workbook says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Where it appears in the app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4–5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Minimum take-home based on basic salary, 40% example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Protected base = Basic Pay; threshold type Percentage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13–14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Guarantee on gross pay, 30% example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Protected base = Gross Pay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21–22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Guarantee on gross less reimbursements, 30%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Protected base = Gross Pay less reimbursements — used in the demo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29–30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Guaranteed minimum peso net pay, ₱8,000 example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Threshold type = Fixed Amount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8–11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Statutory in full; loans may be deferred; carry over; notify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Statutory rank 0; auto-defer, carry-forward and notification switches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45–59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Loan repayment cap, 25% of gross or a fixed ₱10,000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Loan cap base, type and value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61–83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LAABS and undertime cap by %, days, or protected net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Attendance cap base, type and value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85–103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Hierarchy table, statutory rank 0, optional last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Deduction and loan hierarchy, maintained as a reference source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106–109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Loans at cap but net still short — choose what wins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Conflict priority selector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138–155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Deferred tracking, payslip tag fields, deduction ledger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Carry-forward table, payslip tag block and deduction ledger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3338603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4C2834F-A990-4BE1-98A4-0AEBCC07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APPENDIX C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A7DE4221-A2FA-4902-9884-1375DFD8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Retirement Pay traceability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B15B9D4-D190-48A7-9001-9AF7EAD0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33856"/>
            <a:ext cx="1102766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Annex B → sheet “Retirement Pay”</a:t>
            </a:r>
            <a:endParaRPr sz="1150"/>
          </a:p>
        </p:txBody>
      </p:sp>
      <p:graphicFrame>
        <p:nvGraphicFramePr>
          <p:cNvPr id="9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27664" cy="345643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4572000"/>
                <a:gridCol w="4626864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Source rows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the workbook says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Where it appears in the app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3–6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Daily rate × 22.5 × years of service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Statutory value shown in the scenario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 5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Fractions of six months or more count as one year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Service rounding rule; 12y 6m → 13 years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13–15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Statutory RA 7641, company plan, or override if more beneficial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Retirement plan type selector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24–29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Divisor, days per year, salary basis, benefits, rounding, cap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Formula inputs, all configurable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 30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RetirementPay = MAX(statutory, company plan)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“Best of” option; both values displayed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31–37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Age 60, compulsory 65, five years service, early retirement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Eligibility rules and the eligibility strip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38–41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RA 7641 and RA 4917 tax exemption conditions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Taxation rule; the result records why it is exempt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46–49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Retirement pay forms part of final pay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Result feeds the Final Pay engine automatically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15948856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DDEC8C4-B6CF-478C-9A1A-FE8AF6CB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APPENDIX D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F1A0728-3489-4184-AB38-9584B0B7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Final Pay traceability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A05DE09-373A-4146-BB54-86937ACC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33856"/>
            <a:ext cx="1102766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Annex B → sheet “Final Pay”</a:t>
            </a:r>
            <a:endParaRPr sz="1150"/>
          </a:p>
        </p:txBody>
      </p:sp>
      <p:graphicFrame>
        <p:nvGraphicFramePr>
          <p:cNvPr id="9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27664" cy="2688336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4572000"/>
                <a:gridCol w="4626864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Source rows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the workbook says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Where it appears in the app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5–11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Mandatory: unpaid salary, 13th month, SIL, separation, retirement, final tax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Mandatory component switches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12–18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Optional: convertible leave, allowances, commissions, cash bond, gratuity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Optional component switches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19–29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Company rules: conversion, divisor, rounding, advance 13th, loan balances, negative net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Company rule selectors on the settings card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30–31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Pull last days worked, leave balances, unpaid OT and LAABS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Scenario inputs drawn from the employee record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32–34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Only authorised deductions; auto-offset before net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Offsets shown as negative lines in the breakdown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 36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Output — final pay breakdown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Component-by-component breakdown table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9265044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8D05462-FA37-4768-A4FA-B5544CB3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APPENDIX E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98A7475-E2AA-4321-91E6-FD245A72B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Gross Up traceability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F528ADE-209E-4A89-AF59-D247B1628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33856"/>
            <a:ext cx="1102766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Annex B → sheet “Gross Up”</a:t>
            </a:r>
            <a:endParaRPr sz="1150"/>
          </a:p>
        </p:txBody>
      </p:sp>
      <p:graphicFrame>
        <p:nvGraphicFramePr>
          <p:cNvPr id="9" name="Table 0"/>
          <p:cNvGraphicFramePr/>
          <p:nvPr/>
        </p:nvGraphicFramePr>
        <p:xfrm>
          <a:off xmlns:a="http://schemas.openxmlformats.org/drawingml/2006/main" x="566928" y="1481328"/>
          <a:ext xmlns:a="http://schemas.openxmlformats.org/drawingml/2006/main" cx="11027664" cy="345643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28800"/>
                <a:gridCol w="4572000"/>
                <a:gridCol w="4626864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Source rows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the workbook says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Where it appears in the app</a:t>
                      </a:r>
                      <a:endParaRPr sz="11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 2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Employer shoulders the tax so the employee receives a guaranteed net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Employer-absorbed share, default 100%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 3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Divide the intended net by (1 − rate)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Available as the flat / final tax method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 4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Use BIR tables: taxable income, correct bracket, base tax + excess 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Graduated method, reading the effective BIR table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7–8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Choose the income and enable gross-up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Guaranteed target selector and engine switch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10–11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Add grossed-up income; subtract mandatory contributions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Taxable compensation line in the calculation trace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12–14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Identify bracket; apply base tax + excess × rate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Bracket named in the trace, e.g. from ₱33,333, ₱1,875 + 20%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 15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Recompute gross until net equals the required amount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Iteration table with the gap closing to zero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 b="1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</a:rPr>
                        <a:t>Rows 16–18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Show gross, employer-absorbed tax, and net released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000">
                          <a:solidFill>
                            <a:srgbClr val="2B3350"/>
                          </a:solidFill>
                          <a:latin typeface="Calibri"/>
                          <a:ea typeface="Calibri"/>
                          <a:cs typeface="Calibri"/>
                        </a:rPr>
                        <a:t>The four result tiles</a:t>
                      </a:r>
                      <a:endParaRPr sz="10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4008" marR="64008" marT="64008" marB="64008" anchor="ctr">
                    <a:lnL w="12700" cmpd="sng">
                      <a:solidFill>
                        <a:srgbClr val="D8DEEC"/>
                      </a:solidFill>
                      <a:prstDash val="solid"/>
                    </a:lnL>
                    <a:lnR w="12700" cmpd="sng">
                      <a:solidFill>
                        <a:srgbClr val="D8DEEC"/>
                      </a:solidFill>
                      <a:prstDash val="solid"/>
                    </a:lnR>
                    <a:lnT w="12700" cmpd="sng">
                      <a:solidFill>
                        <a:srgbClr val="D8DEEC"/>
                      </a:solidFill>
                      <a:prstDash val="solid"/>
                    </a:lnT>
                    <a:lnB w="12700" cmpd="sng">
                      <a:solidFill>
                        <a:srgbClr val="D8DEE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4242546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EAE8198-1B7A-47DD-8591-E7A998A50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APPENDIX F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55F3D80-F8E3-48B7-AE5D-1726CD065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Glossary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7BEE867-AB9E-4518-A14B-EFF64350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71600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Computational Basis</a:t>
            </a:r>
            <a:endParaRPr sz="125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822160F-FF70-4579-86AB-7BC052FC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45920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controlled area for approved formulas, policy engines, and the reference sources they read.</a:t>
            </a:r>
            <a:endParaRPr sz="105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8516136-FC92-4C75-90E6-E897E718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340864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Policy engine</a:t>
            </a:r>
            <a:endParaRPr sz="125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9EF8FC0-699A-450F-97FA-8D929215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615184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 screen for one payroll policy area that runs the calculation and shows the working.</a:t>
            </a:r>
            <a:endParaRPr sz="10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DCA646F-A366-4707-B412-22A4E4B7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10128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Policy code</a:t>
            </a:r>
            <a:endParaRPr sz="12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F927F35-E36C-4129-BF2B-C227C38C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84448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 reusable approved code, such as THP-001, that can be assigned to Company Rules.</a:t>
            </a:r>
            <a:endParaRPr sz="105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1ABA0A7-786D-4935-A9AD-52AF91AF1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79392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Company Rule</a:t>
            </a:r>
            <a:endParaRPr sz="125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25B3A09-97A0-427D-9743-70259C37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53712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 policy applied to a company or employee group, with its own values.</a:t>
            </a:r>
            <a:endParaRPr sz="105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86DCE51-7B77-4C87-B782-2E146C3D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48656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Protected minimum</a:t>
            </a:r>
            <a:endParaRPr sz="12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DEE93C2-995E-4D66-9560-8BB11F08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22976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minimum net pay guaranteed by a rule, either as a percentage of a base or a fixed amount.</a:t>
            </a:r>
            <a:endParaRPr sz="10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2ED9DB9-6310-4D50-8443-9013D433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371600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Hierarchy / rank</a:t>
            </a:r>
            <a:endParaRPr sz="12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5C46700-DB77-4419-9898-529F952A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645920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 order for trimming controllable deductions. Statutory items stay rank 0 and are not adjusted.</a:t>
            </a:r>
            <a:endParaRPr sz="105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BDF221A-DFC3-4A65-88BC-B6B60998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2340864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Deferral / carry-forward</a:t>
            </a:r>
            <a:endParaRPr sz="12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0EA942C-10A1-483A-8A6C-D0758FD3D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2615184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An amount not collected in the current cutoff and moved to a later deduction schedule.</a:t>
            </a:r>
            <a:endParaRPr sz="10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CB86FEA5-E6AA-49B5-BC72-46C30202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310128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Effective-dated</a:t>
            </a:r>
            <a:endParaRPr sz="12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02E7E70A-4AAC-4F01-A9A6-54CE5608E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584448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 version with a start date. Payroll uses the version active during the payroll run.</a:t>
            </a:r>
            <a:endParaRPr sz="10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0E06069-BFA8-4AF8-A823-F5C3C921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4279392"/>
            <a:ext cx="5303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Convergence</a:t>
            </a:r>
            <a:endParaRPr sz="12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F818906-0796-47AB-8C09-4535FB00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4553712"/>
            <a:ext cx="53035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For gross-up: repeating the calculation until the computed net matches the target within tolerance.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419570501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E4AC6AA-33F8-493C-8023-6B988F02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29184"/>
            <a:ext cx="1102766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APPENDIX G</a:t>
            </a:r>
            <a:endParaRPr sz="1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CAE1BC9-A440-41D7-A246-8C593B2AD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48640"/>
            <a:ext cx="11027664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1E2761"/>
                </a:solidFill>
                <a:latin typeface="Cambria"/>
                <a:ea typeface="Cambria"/>
                <a:cs typeface="Cambria"/>
              </a:rPr>
              <a:t>Items to confirm before sign-off</a:t>
            </a:r>
            <a:endParaRPr sz="3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DE2B4B4-61E9-4142-A7D0-E165A1F2F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115568"/>
            <a:ext cx="11027664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These are the items where the workbook gives options or leaves the value open. The demo keeps them configurable instead of assuming the answer.</a:t>
            </a:r>
            <a:endParaRPr sz="120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22565FD-BF3D-4339-A8FD-DF29BA08B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27632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89925F5-D8E5-44B2-ADDD-DF9A8BC8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27632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5364932-DAEA-4107-A4D6-73CE0870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1591056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Active take-home policy</a:t>
            </a:r>
            <a:endParaRPr sz="12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A1AB3E8-BFEB-4A14-934B-D528FD8D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1591056"/>
            <a:ext cx="5029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Annex B lists several minimum-net options and cap rules. Confirm which set should be active per company or group.</a:t>
            </a:r>
            <a:endParaRPr sz="10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AA94605-E911-4002-8E76-E559E421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1591056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Take Home Pay rows 4–43</a:t>
            </a:r>
            <a:endParaRPr sz="9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1B45FB38-42E3-4008-AB2E-FC4C9A1D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9689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2E4DB95-EE4E-4309-972C-C71D019A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59689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04AF2A7-330F-4F5C-9640-0787CDA2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2560320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Bonus threshold priority</a:t>
            </a:r>
            <a:endParaRPr sz="12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4310719-4A64-42D0-A750-4B435BDD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2560320"/>
            <a:ext cx="5029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If multiple bonus types share one non-taxable ceiling, confirm the consuming order.</a:t>
            </a:r>
            <a:endParaRPr sz="10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3316725-77EA-440F-82E3-F0EF9D0E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2560320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BRD 13th month / bonus ceiling</a:t>
            </a:r>
            <a:endParaRPr sz="95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AF9EEAA-C685-44CF-867E-3BC13C14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6616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E08159FB-0EC8-43BC-880A-D4FDE1A5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56616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6DD51F30-34D1-4AA6-B58A-F22EA12E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3529584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Negative final pay</a:t>
            </a:r>
            <a:endParaRPr sz="12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7AEE5BD-D64B-48E0-BFF8-4B6B5F011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3529584"/>
            <a:ext cx="5029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Confirm how any remaining balance should be handled when final pay becomes negative.</a:t>
            </a:r>
            <a:endParaRPr sz="10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E5A2335-E785-44F9-BA86-BC83C36B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3529584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Final Pay row 29</a:t>
            </a:r>
            <a:endParaRPr sz="95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C50599C-9394-433C-A1EF-6A0C815A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3542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FC277C13-DE46-4883-90A3-9727DA51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535424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D10B92B8-9985-41A3-970E-DAA0BA397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498848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Gross-up tolerance</a:t>
            </a:r>
            <a:endParaRPr sz="12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F5F426F-3B59-4355-A885-CD1623B5D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4498848"/>
            <a:ext cx="5029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Confirm tolerance, iteration limit, and rounding stage. The current screen uses demo defaults.</a:t>
            </a:r>
            <a:endParaRPr sz="105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4FDF40BC-7426-43C9-AFDC-A9182F84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4498848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Gross Up rows 15–16</a:t>
            </a:r>
            <a:endParaRPr sz="9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03AA222-D82D-4E58-91AD-2A2665E9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0468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2761"/>
          </a:solidFill>
        </p:spPr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56C9B15-7992-408E-8394-D129BC19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50468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  <a:endParaRPr sz="140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6F45CEC2-8109-4FDA-B1FB-CC8EE4D9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5468112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200" b="1">
                <a:solidFill>
                  <a:srgbClr val="1E2761"/>
                </a:solidFill>
                <a:latin typeface="Calibri"/>
                <a:ea typeface="Calibri"/>
                <a:cs typeface="Calibri"/>
              </a:rPr>
              <a:t>Statutory values</a:t>
            </a:r>
            <a:endParaRPr sz="12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82E8EB22-F364-4037-9FF9-477CB2B8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848" y="5468112"/>
            <a:ext cx="50292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400"/>
              </a:lnSpc>
              <a:buNone/>
            </a:pPr>
            <a:r>
              <a:rPr sz="1050">
                <a:solidFill>
                  <a:srgbClr val="2B3350"/>
                </a:solidFill>
                <a:latin typeface="Calibri"/>
                <a:ea typeface="Calibri"/>
                <a:cs typeface="Calibri"/>
              </a:rPr>
              <a:t>Rates, brackets, and ceilings shown here are sample values. They need confirmation against the effective official tables.</a:t>
            </a:r>
            <a:endParaRPr sz="105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00BC878-332D-4999-A868-F6BF8D1A7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0928" y="5468112"/>
            <a:ext cx="19202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200"/>
              </a:lnSpc>
              <a:buNone/>
            </a:pPr>
            <a:r>
              <a:rPr sz="950" i="1">
                <a:solidFill>
                  <a:srgbClr val="5A6280"/>
                </a:solidFill>
                <a:latin typeface="Calibri"/>
                <a:ea typeface="Calibri"/>
                <a:cs typeface="Calibri"/>
              </a:rPr>
              <a:t>Statutory tables</a:t>
            </a:r>
            <a:endParaRPr sz="950"/>
          </a:p>
        </p:txBody>
      </p:sp>
    </p:spTree>
    <p:extLst>
      <p:ext uri="{BB962C8B-B14F-4D97-AF65-F5344CB8AC3E}">
        <p14:creationId xmlns:p14="http://schemas.microsoft.com/office/powerpoint/2010/main" val="885239434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1116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AD9A8CF-3C7E-4DF8-A7A4-671C784A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148840"/>
            <a:ext cx="82296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Close-out message</a:t>
            </a:r>
            <a:endParaRPr sz="3800"/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EE39753-73E8-43A7-A650-2CC5F7EF9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108960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BF7EBCF-EB64-4336-B848-BDA3BAF3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108960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1</a:t>
            </a:r>
            <a:endParaRPr sz="1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7A8B13F-77AD-475C-8021-F14F7D806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072384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Policies are handled as configurable settings, not one-off code changes.</a:t>
            </a:r>
            <a:endParaRPr sz="14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87F03D2-3320-4FFB-8498-1565E579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67328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9672368-BF3D-40E5-8CBE-B5316C2F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767328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2</a:t>
            </a:r>
            <a:endParaRPr sz="1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7E36B5C-4719-4C7E-888F-812030213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730752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Each result shows the working: base, threshold, ranks, brackets, and iterations.</a:t>
            </a:r>
            <a:endParaRPr sz="14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77E6585-135D-4229-8EF9-A825759F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25696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F70213D-558C-4E23-9F09-43E82AC4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425696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3</a:t>
            </a:r>
            <a:endParaRPr sz="14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FAE246E-D519-4959-B8B3-B1D7B28C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4389120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engines pass results to each other, so values are not re-keyed.</a:t>
            </a:r>
            <a:endParaRPr sz="14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008F18E-B9D3-4527-B122-34BDAF4B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84064"/>
            <a:ext cx="384048" cy="3840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ADCFC"/>
          </a:solidFill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857054-6084-42FF-BAD2-609F8D07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084064"/>
            <a:ext cx="3840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1162E"/>
                </a:solidFill>
                <a:latin typeface="Calibri"/>
                <a:ea typeface="Calibri"/>
                <a:cs typeface="Calibri"/>
              </a:rPr>
              <a:t>4</a:t>
            </a:r>
            <a:endParaRPr sz="14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15D2B61-93E0-4761-BE87-A20D17D99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047488"/>
            <a:ext cx="9601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appendix maps the screens back to the source workbook rows for review and sign-off.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5266680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2026-08-10T13:50:37.1100000Z</dcterms:created>
  <dcterms:modified xsi:type="dcterms:W3CDTF">2026-08-10T13:50:37.1100000Z</dcterms:modified>
</coreProperties>
</file>