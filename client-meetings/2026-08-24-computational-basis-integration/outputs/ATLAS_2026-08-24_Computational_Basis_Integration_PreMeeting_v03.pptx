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saying what the session is for: after this, a finance user should be able to open the workspace and create, test, assign and audit a computation without help.</a:t>
            </a:r>
          </a:p>
          <a:p/>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chain is the mental model for the whole session. Computational Basis is step 4 of 7 — it is deliberately narrow: it holds the formula, not the policy and not the parameters.</a:t>
            </a:r>
          </a:p>
          <a:p/>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 keep to the language payroll and finance teams use. For every screen, say what the user enters, where ATLAS gets the value, and what the next module does with the result. The records and amounts on screen are demonstration data.</a:t>
            </a:r>
          </a:p>
          <a:p/>
          <a:p>
            <a:r>
              <a:t>Evidence: live ATLAS prototype captured 24 August 2026; ComputationalBasis.jsx, computationCatalog.js, payrollEngine.js, payrollTraceability.js; one posted payroll transaction.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gif"/><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gif"/><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59775" y="0"/>
            <a:ext cx="3931920"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1417320"/>
            <a:ext cx="7680960" cy="274320"/>
          </a:xfrm>
          <a:prstGeom prst="rect">
            <a:avLst/>
          </a:prstGeom>
          <a:noFill/>
        </p:spPr>
        <p:txBody>
          <a:bodyPr wrap="square" anchor="t" lIns="0" rIns="0" tIns="0" bIns="0">
            <a:spAutoFit/>
          </a:bodyPr>
          <a:lstStyle/>
          <a:p>
            <a:pPr algn="l">
              <a:lnSpc>
                <a:spcPct val="132000"/>
              </a:lnSpc>
              <a:spcBef>
                <a:spcPts val="0"/>
              </a:spcBef>
              <a:spcAft>
                <a:spcPts val="0"/>
              </a:spcAft>
            </a:pPr>
            <a:r>
              <a:rPr sz="1150" b="1" i="0">
                <a:solidFill>
                  <a:srgbClr val="7C3FC2"/>
                </a:solidFill>
                <a:latin typeface="Segoe UI Semibold"/>
              </a:rPr>
              <a:t>ATLAS PHASE 2 · PAYROLL</a:t>
            </a:r>
          </a:p>
        </p:txBody>
      </p:sp>
      <p:sp>
        <p:nvSpPr>
          <p:cNvPr id="6" name="TextBox 5"/>
          <p:cNvSpPr txBox="1"/>
          <p:nvPr/>
        </p:nvSpPr>
        <p:spPr>
          <a:xfrm>
            <a:off x="841248" y="1847088"/>
            <a:ext cx="7863840" cy="1371600"/>
          </a:xfrm>
          <a:prstGeom prst="rect">
            <a:avLst/>
          </a:prstGeom>
          <a:noFill/>
        </p:spPr>
        <p:txBody>
          <a:bodyPr wrap="square" anchor="t" lIns="0" rIns="0" tIns="0" bIns="0">
            <a:spAutoFit/>
          </a:bodyPr>
          <a:lstStyle/>
          <a:p>
            <a:pPr algn="l">
              <a:lnSpc>
                <a:spcPct val="102000"/>
              </a:lnSpc>
              <a:spcBef>
                <a:spcPts val="0"/>
              </a:spcBef>
              <a:spcAft>
                <a:spcPts val="0"/>
              </a:spcAft>
            </a:pPr>
            <a:r>
              <a:rPr sz="5200" b="1" i="0">
                <a:solidFill>
                  <a:srgbClr val="FFFFFF"/>
                </a:solidFill>
                <a:latin typeface="Segoe UI Semibold"/>
              </a:rPr>
              <a:t>Computational Basis</a:t>
            </a:r>
          </a:p>
        </p:txBody>
      </p:sp>
      <p:sp>
        <p:nvSpPr>
          <p:cNvPr id="7" name="TextBox 6"/>
          <p:cNvSpPr txBox="1"/>
          <p:nvPr/>
        </p:nvSpPr>
        <p:spPr>
          <a:xfrm>
            <a:off x="841248" y="3127248"/>
            <a:ext cx="7223760" cy="914400"/>
          </a:xfrm>
          <a:prstGeom prst="rect">
            <a:avLst/>
          </a:prstGeom>
          <a:noFill/>
        </p:spPr>
        <p:txBody>
          <a:bodyPr wrap="square" anchor="t" lIns="0" rIns="0" tIns="0" bIns="0">
            <a:spAutoFit/>
          </a:bodyPr>
          <a:lstStyle/>
          <a:p>
            <a:pPr algn="l">
              <a:lnSpc>
                <a:spcPct val="140000"/>
              </a:lnSpc>
              <a:spcBef>
                <a:spcPts val="0"/>
              </a:spcBef>
              <a:spcAft>
                <a:spcPts val="0"/>
              </a:spcAft>
            </a:pPr>
            <a:r>
              <a:rPr sz="1500" b="0" i="0">
                <a:solidFill>
                  <a:srgbClr val="C5B8DC"/>
                </a:solidFill>
                <a:latin typeface="Segoe UI"/>
              </a:rPr>
              <a:t>How a finance team writes a payroll calculation, tells ATLAS who it is for, and proves afterwards exactly how every peso was worked out.</a:t>
            </a:r>
          </a:p>
        </p:txBody>
      </p:sp>
      <p:sp>
        <p:nvSpPr>
          <p:cNvPr id="8" name="Rounded Rectangle 7"/>
          <p:cNvSpPr/>
          <p:nvPr/>
        </p:nvSpPr>
        <p:spPr>
          <a:xfrm>
            <a:off x="841248" y="4224528"/>
            <a:ext cx="1196035" cy="420624"/>
          </a:xfrm>
          <a:prstGeom prst="roundRect">
            <a:avLst>
              <a:gd name="adj" fmla="val 40000"/>
            </a:avLst>
          </a:prstGeom>
          <a:noFill/>
          <a:ln w="12700">
            <a:solidFill>
              <a:srgbClr val="7C3F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Segoe UI Semibold"/>
              </a:rPr>
              <a:t>1   Create</a:t>
            </a:r>
          </a:p>
        </p:txBody>
      </p:sp>
      <p:sp>
        <p:nvSpPr>
          <p:cNvPr id="9" name="Rounded Rectangle 8"/>
          <p:cNvSpPr/>
          <p:nvPr/>
        </p:nvSpPr>
        <p:spPr>
          <a:xfrm>
            <a:off x="2183587" y="4224528"/>
            <a:ext cx="998524" cy="420624"/>
          </a:xfrm>
          <a:prstGeom prst="roundRect">
            <a:avLst>
              <a:gd name="adj" fmla="val 40000"/>
            </a:avLst>
          </a:prstGeom>
          <a:noFill/>
          <a:ln w="12700">
            <a:solidFill>
              <a:srgbClr val="7C3F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Segoe UI Semibold"/>
              </a:rPr>
              <a:t>2   Test</a:t>
            </a:r>
          </a:p>
        </p:txBody>
      </p:sp>
      <p:sp>
        <p:nvSpPr>
          <p:cNvPr id="10" name="Rounded Rectangle 9"/>
          <p:cNvSpPr/>
          <p:nvPr/>
        </p:nvSpPr>
        <p:spPr>
          <a:xfrm>
            <a:off x="3328415" y="4224528"/>
            <a:ext cx="1196035" cy="420624"/>
          </a:xfrm>
          <a:prstGeom prst="roundRect">
            <a:avLst>
              <a:gd name="adj" fmla="val 40000"/>
            </a:avLst>
          </a:prstGeom>
          <a:noFill/>
          <a:ln w="12700">
            <a:solidFill>
              <a:srgbClr val="7C3F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Segoe UI Semibold"/>
              </a:rPr>
              <a:t>3   Assign</a:t>
            </a:r>
          </a:p>
        </p:txBody>
      </p:sp>
      <p:sp>
        <p:nvSpPr>
          <p:cNvPr id="11" name="Rounded Rectangle 10"/>
          <p:cNvSpPr/>
          <p:nvPr/>
        </p:nvSpPr>
        <p:spPr>
          <a:xfrm>
            <a:off x="4670754" y="4224528"/>
            <a:ext cx="1097280" cy="420624"/>
          </a:xfrm>
          <a:prstGeom prst="roundRect">
            <a:avLst>
              <a:gd name="adj" fmla="val 40000"/>
            </a:avLst>
          </a:prstGeom>
          <a:noFill/>
          <a:ln w="12700">
            <a:solidFill>
              <a:srgbClr val="7C3F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Segoe UI Semibold"/>
              </a:rPr>
              <a:t>4   Prove</a:t>
            </a:r>
          </a:p>
        </p:txBody>
      </p:sp>
      <p:sp>
        <p:nvSpPr>
          <p:cNvPr id="12" name="TextBox 11"/>
          <p:cNvSpPr txBox="1"/>
          <p:nvPr/>
        </p:nvSpPr>
        <p:spPr>
          <a:xfrm>
            <a:off x="841248" y="5175504"/>
            <a:ext cx="7863840" cy="822960"/>
          </a:xfrm>
          <a:prstGeom prst="rect">
            <a:avLst/>
          </a:prstGeom>
          <a:noFill/>
        </p:spPr>
        <p:txBody>
          <a:bodyPr wrap="square" anchor="t" lIns="0" rIns="0" tIns="0" bIns="0">
            <a:spAutoFit/>
          </a:bodyPr>
          <a:lstStyle/>
          <a:p>
            <a:pPr algn="l">
              <a:lnSpc>
                <a:spcPct val="150000"/>
              </a:lnSpc>
              <a:spcBef>
                <a:spcPts val="0"/>
              </a:spcBef>
              <a:spcAft>
                <a:spcPts val="0"/>
              </a:spcAft>
            </a:pPr>
            <a:r>
              <a:rPr sz="1100" b="0" i="0">
                <a:solidFill>
                  <a:srgbClr val="7C3FC2"/>
                </a:solidFill>
                <a:latin typeface="Segoe UI"/>
              </a:rPr>
              <a:t>Finance walkthrough · every field explained · every screen captured live from the ATLAS prototype on 24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WHY WE ARE HERE</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you will be able to do after this session</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Five outcomes. The rest of the deck exists to deliver them.</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Every claim in this deck is either a live screen capture or a named source file.</a:t>
            </a:r>
          </a:p>
        </p:txBody>
      </p:sp>
      <p:sp>
        <p:nvSpPr>
          <p:cNvPr id="8" name="Rounded Rectangle 7"/>
          <p:cNvSpPr/>
          <p:nvPr/>
        </p:nvSpPr>
        <p:spPr>
          <a:xfrm>
            <a:off x="566928" y="2194560"/>
            <a:ext cx="2079894" cy="1943100"/>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2194560"/>
            <a:ext cx="2079894"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1" name="TextBox 10"/>
          <p:cNvSpPr txBox="1"/>
          <p:nvPr/>
        </p:nvSpPr>
        <p:spPr>
          <a:xfrm>
            <a:off x="1133856" y="2432304"/>
            <a:ext cx="1293510" cy="365760"/>
          </a:xfrm>
          <a:prstGeom prst="rect">
            <a:avLst/>
          </a:prstGeom>
          <a:noFill/>
        </p:spPr>
        <p:txBody>
          <a:bodyPr wrap="square" anchor="t" lIns="0" rIns="0" tIns="0" bIns="0">
            <a:spAutoFit/>
          </a:bodyPr>
          <a:lstStyle/>
          <a:p>
            <a:pPr algn="l">
              <a:lnSpc>
                <a:spcPct val="114000"/>
              </a:lnSpc>
              <a:spcBef>
                <a:spcPts val="0"/>
              </a:spcBef>
              <a:spcAft>
                <a:spcPts val="0"/>
              </a:spcAft>
            </a:pPr>
            <a:r>
              <a:rPr sz="1200" b="1" i="0">
                <a:solidFill>
                  <a:srgbClr val="241243"/>
                </a:solidFill>
                <a:latin typeface="Segoe UI Semibold"/>
              </a:rPr>
              <a:t>Find and read any rule</a:t>
            </a:r>
          </a:p>
        </p:txBody>
      </p:sp>
      <p:sp>
        <p:nvSpPr>
          <p:cNvPr id="12" name="TextBox 11"/>
          <p:cNvSpPr txBox="1"/>
          <p:nvPr/>
        </p:nvSpPr>
        <p:spPr>
          <a:xfrm>
            <a:off x="822960" y="2907792"/>
            <a:ext cx="1604406" cy="1156716"/>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Open the register, filter it, and read a computation record well enough to explain the amount it produces to an auditor.</a:t>
            </a:r>
          </a:p>
        </p:txBody>
      </p:sp>
      <p:sp>
        <p:nvSpPr>
          <p:cNvPr id="13" name="Rounded Rectangle 12"/>
          <p:cNvSpPr/>
          <p:nvPr/>
        </p:nvSpPr>
        <p:spPr>
          <a:xfrm>
            <a:off x="2811414" y="2194560"/>
            <a:ext cx="2079894" cy="1943100"/>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2811414" y="2194560"/>
            <a:ext cx="2079894"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2966862"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6" name="TextBox 15"/>
          <p:cNvSpPr txBox="1"/>
          <p:nvPr/>
        </p:nvSpPr>
        <p:spPr>
          <a:xfrm>
            <a:off x="3378342" y="2432304"/>
            <a:ext cx="1293510" cy="365760"/>
          </a:xfrm>
          <a:prstGeom prst="rect">
            <a:avLst/>
          </a:prstGeom>
          <a:noFill/>
        </p:spPr>
        <p:txBody>
          <a:bodyPr wrap="square" anchor="t" lIns="0" rIns="0" tIns="0" bIns="0">
            <a:spAutoFit/>
          </a:bodyPr>
          <a:lstStyle/>
          <a:p>
            <a:pPr algn="l">
              <a:lnSpc>
                <a:spcPct val="114000"/>
              </a:lnSpc>
              <a:spcBef>
                <a:spcPts val="0"/>
              </a:spcBef>
              <a:spcAft>
                <a:spcPts val="0"/>
              </a:spcAft>
            </a:pPr>
            <a:r>
              <a:rPr sz="1200" b="1" i="0">
                <a:solidFill>
                  <a:srgbClr val="241243"/>
                </a:solidFill>
                <a:latin typeface="Segoe UI Semibold"/>
              </a:rPr>
              <a:t>Write one correctly</a:t>
            </a:r>
          </a:p>
        </p:txBody>
      </p:sp>
      <p:sp>
        <p:nvSpPr>
          <p:cNvPr id="17" name="TextBox 16"/>
          <p:cNvSpPr txBox="1"/>
          <p:nvPr/>
        </p:nvSpPr>
        <p:spPr>
          <a:xfrm>
            <a:off x="3067446" y="2907792"/>
            <a:ext cx="1604406" cy="1156716"/>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Create a computation with a permanent code, an approved expression, a test that a reviewer can reproduce, and a dated change note.</a:t>
            </a:r>
          </a:p>
        </p:txBody>
      </p:sp>
      <p:sp>
        <p:nvSpPr>
          <p:cNvPr id="18" name="Rounded Rectangle 17"/>
          <p:cNvSpPr/>
          <p:nvPr/>
        </p:nvSpPr>
        <p:spPr>
          <a:xfrm>
            <a:off x="5055900" y="2194560"/>
            <a:ext cx="2079894" cy="1943100"/>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055900" y="2194560"/>
            <a:ext cx="2079894"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5211348"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1" name="TextBox 20"/>
          <p:cNvSpPr txBox="1"/>
          <p:nvPr/>
        </p:nvSpPr>
        <p:spPr>
          <a:xfrm>
            <a:off x="5622828" y="2432304"/>
            <a:ext cx="1293510"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Say who it is for</a:t>
            </a:r>
          </a:p>
        </p:txBody>
      </p:sp>
      <p:sp>
        <p:nvSpPr>
          <p:cNvPr id="22" name="TextBox 21"/>
          <p:cNvSpPr txBox="1"/>
          <p:nvPr/>
        </p:nvSpPr>
        <p:spPr>
          <a:xfrm>
            <a:off x="5311932" y="2907792"/>
            <a:ext cx="1604406" cy="1156716"/>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Record the business purpose, the reference table, the employee group and the frequency that together define where a rule applies.</a:t>
            </a:r>
          </a:p>
        </p:txBody>
      </p:sp>
      <p:sp>
        <p:nvSpPr>
          <p:cNvPr id="23" name="Rounded Rectangle 22"/>
          <p:cNvSpPr/>
          <p:nvPr/>
        </p:nvSpPr>
        <p:spPr>
          <a:xfrm>
            <a:off x="7300386" y="2194560"/>
            <a:ext cx="2079894" cy="1943100"/>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300386" y="2194560"/>
            <a:ext cx="2079894"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455834"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6" name="TextBox 25"/>
          <p:cNvSpPr txBox="1"/>
          <p:nvPr/>
        </p:nvSpPr>
        <p:spPr>
          <a:xfrm>
            <a:off x="7867314" y="2432304"/>
            <a:ext cx="1293510" cy="365760"/>
          </a:xfrm>
          <a:prstGeom prst="rect">
            <a:avLst/>
          </a:prstGeom>
          <a:noFill/>
        </p:spPr>
        <p:txBody>
          <a:bodyPr wrap="square" anchor="t" lIns="0" rIns="0" tIns="0" bIns="0">
            <a:spAutoFit/>
          </a:bodyPr>
          <a:lstStyle/>
          <a:p>
            <a:pPr algn="l">
              <a:lnSpc>
                <a:spcPct val="114000"/>
              </a:lnSpc>
              <a:spcBef>
                <a:spcPts val="0"/>
              </a:spcBef>
              <a:spcAft>
                <a:spcPts val="0"/>
              </a:spcAft>
            </a:pPr>
            <a:r>
              <a:rPr sz="1200" b="1" i="0">
                <a:solidFill>
                  <a:srgbClr val="241243"/>
                </a:solidFill>
                <a:latin typeface="Segoe UI Semibold"/>
              </a:rPr>
              <a:t>Follow it into payroll</a:t>
            </a:r>
          </a:p>
        </p:txBody>
      </p:sp>
      <p:sp>
        <p:nvSpPr>
          <p:cNvPr id="27" name="TextBox 26"/>
          <p:cNvSpPr txBox="1"/>
          <p:nvPr/>
        </p:nvSpPr>
        <p:spPr>
          <a:xfrm>
            <a:off x="7556418" y="2907792"/>
            <a:ext cx="1604406" cy="1156716"/>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Read the source trail and the calculation ledger on a posted payroll, and trace any amount back to the code that produced it.</a:t>
            </a:r>
          </a:p>
        </p:txBody>
      </p:sp>
      <p:sp>
        <p:nvSpPr>
          <p:cNvPr id="28" name="Rounded Rectangle 27"/>
          <p:cNvSpPr/>
          <p:nvPr/>
        </p:nvSpPr>
        <p:spPr>
          <a:xfrm>
            <a:off x="9544872" y="2194560"/>
            <a:ext cx="2079894" cy="1943100"/>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9544872" y="2194560"/>
            <a:ext cx="2079894"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9700320"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1" name="TextBox 30"/>
          <p:cNvSpPr txBox="1"/>
          <p:nvPr/>
        </p:nvSpPr>
        <p:spPr>
          <a:xfrm>
            <a:off x="10111800" y="2432304"/>
            <a:ext cx="1293510" cy="365760"/>
          </a:xfrm>
          <a:prstGeom prst="rect">
            <a:avLst/>
          </a:prstGeom>
          <a:noFill/>
        </p:spPr>
        <p:txBody>
          <a:bodyPr wrap="square" anchor="t" lIns="0" rIns="0" tIns="0" bIns="0">
            <a:spAutoFit/>
          </a:bodyPr>
          <a:lstStyle/>
          <a:p>
            <a:pPr algn="l">
              <a:lnSpc>
                <a:spcPct val="114000"/>
              </a:lnSpc>
              <a:spcBef>
                <a:spcPts val="0"/>
              </a:spcBef>
              <a:spcAft>
                <a:spcPts val="0"/>
              </a:spcAft>
            </a:pPr>
            <a:r>
              <a:rPr sz="1200" b="1" i="0">
                <a:solidFill>
                  <a:srgbClr val="241243"/>
                </a:solidFill>
                <a:latin typeface="Segoe UI Semibold"/>
              </a:rPr>
              <a:t>Know where to go next</a:t>
            </a:r>
          </a:p>
        </p:txBody>
      </p:sp>
      <p:sp>
        <p:nvSpPr>
          <p:cNvPr id="32" name="TextBox 31"/>
          <p:cNvSpPr txBox="1"/>
          <p:nvPr/>
        </p:nvSpPr>
        <p:spPr>
          <a:xfrm>
            <a:off x="9800904" y="2907792"/>
            <a:ext cx="1604406" cy="1156716"/>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Reach every screen in this deck by its navigation path, and come to the meeting ready to agree the five integration decisions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HOW TO READ THIS DECK</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Two kinds of page, marked differently</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Most pages walk through a screen. A few set up a decision for the meeting, and those are marked so you can spot them coming.</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Screens are live captures of the ATLAS prototype. The records, codes and amounts shown are demonstration data.</a:t>
            </a:r>
          </a:p>
        </p:txBody>
      </p:sp>
      <p:sp>
        <p:nvSpPr>
          <p:cNvPr id="8" name="Rounded Rectangle 7"/>
          <p:cNvSpPr/>
          <p:nvPr/>
        </p:nvSpPr>
        <p:spPr>
          <a:xfrm>
            <a:off x="566928"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883664"/>
            <a:ext cx="5400903" cy="4572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804672" y="2121408"/>
            <a:ext cx="1627632" cy="256032"/>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54248F"/>
                </a:solidFill>
                <a:latin typeface="Segoe UI Semibold"/>
              </a:rPr>
              <a:t>WALKTHROUGH</a:t>
            </a:r>
          </a:p>
        </p:txBody>
      </p:sp>
      <p:sp>
        <p:nvSpPr>
          <p:cNvPr id="11" name="TextBox 10"/>
          <p:cNvSpPr txBox="1"/>
          <p:nvPr/>
        </p:nvSpPr>
        <p:spPr>
          <a:xfrm>
            <a:off x="804672"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A screen and its fields</a:t>
            </a:r>
          </a:p>
        </p:txBody>
      </p:sp>
      <p:sp>
        <p:nvSpPr>
          <p:cNvPr id="12" name="TextBox 11"/>
          <p:cNvSpPr txBox="1"/>
          <p:nvPr/>
        </p:nvSpPr>
        <p:spPr>
          <a:xfrm>
            <a:off x="804672"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Captured live from the prototype on 24 August 2026, with numbered notes placed on the control each one describes.</a:t>
            </a:r>
          </a:p>
        </p:txBody>
      </p:sp>
      <p:sp>
        <p:nvSpPr>
          <p:cNvPr id="13" name="TextBox 12"/>
          <p:cNvSpPr txBox="1"/>
          <p:nvPr/>
        </p:nvSpPr>
        <p:spPr>
          <a:xfrm>
            <a:off x="804672"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A navigation path</a:t>
            </a:r>
          </a:p>
        </p:txBody>
      </p:sp>
      <p:sp>
        <p:nvSpPr>
          <p:cNvPr id="14" name="TextBox 13"/>
          <p:cNvSpPr txBox="1"/>
          <p:nvPr/>
        </p:nvSpPr>
        <p:spPr>
          <a:xfrm>
            <a:off x="804672"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Every screen page carries the exact path to reach it, so you can open the same page in ATLAS while we talk.</a:t>
            </a:r>
          </a:p>
        </p:txBody>
      </p:sp>
      <p:sp>
        <p:nvSpPr>
          <p:cNvPr id="15" name="TextBox 14"/>
          <p:cNvSpPr txBox="1"/>
          <p:nvPr/>
        </p:nvSpPr>
        <p:spPr>
          <a:xfrm>
            <a:off x="804672"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Demonstration data</a:t>
            </a:r>
          </a:p>
        </p:txBody>
      </p:sp>
      <p:sp>
        <p:nvSpPr>
          <p:cNvPr id="16" name="TextBox 15"/>
          <p:cNvSpPr txBox="1"/>
          <p:nvPr/>
        </p:nvSpPr>
        <p:spPr>
          <a:xfrm>
            <a:off x="804672"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Records, codes and amounts on screen are sample data created for this walkthrough.</a:t>
            </a:r>
          </a:p>
        </p:txBody>
      </p:sp>
      <p:sp>
        <p:nvSpPr>
          <p:cNvPr id="17" name="Rounded Rectangle 16"/>
          <p:cNvSpPr/>
          <p:nvPr/>
        </p:nvSpPr>
        <p:spPr>
          <a:xfrm>
            <a:off x="6223863"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23863" y="1883664"/>
            <a:ext cx="5400903"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461607" y="2121408"/>
            <a:ext cx="2139696" cy="256032"/>
          </a:xfrm>
          <a:prstGeom prst="roundRect">
            <a:avLst>
              <a:gd name="adj" fmla="val 50000"/>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B45309"/>
                </a:solidFill>
                <a:latin typeface="Segoe UI Semibold"/>
              </a:rPr>
              <a:t>FOR THE MEETING</a:t>
            </a:r>
          </a:p>
        </p:txBody>
      </p:sp>
      <p:sp>
        <p:nvSpPr>
          <p:cNvPr id="20" name="TextBox 19"/>
          <p:cNvSpPr txBox="1"/>
          <p:nvPr/>
        </p:nvSpPr>
        <p:spPr>
          <a:xfrm>
            <a:off x="6461607"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A decision to agree</a:t>
            </a:r>
          </a:p>
        </p:txBody>
      </p:sp>
      <p:sp>
        <p:nvSpPr>
          <p:cNvPr id="21" name="TextBox 20"/>
          <p:cNvSpPr txBox="1"/>
          <p:nvPr/>
        </p:nvSpPr>
        <p:spPr>
          <a:xfrm>
            <a:off x="6461607"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Points where the business rule is a choice rather than a setting — scope, ownership, approval and timing.</a:t>
            </a:r>
          </a:p>
        </p:txBody>
      </p:sp>
      <p:sp>
        <p:nvSpPr>
          <p:cNvPr id="22" name="TextBox 21"/>
          <p:cNvSpPr txBox="1"/>
          <p:nvPr/>
        </p:nvSpPr>
        <p:spPr>
          <a:xfrm>
            <a:off x="6461607"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Gathered at the end</a:t>
            </a:r>
          </a:p>
        </p:txBody>
      </p:sp>
      <p:sp>
        <p:nvSpPr>
          <p:cNvPr id="23" name="TextBox 22"/>
          <p:cNvSpPr txBox="1"/>
          <p:nvPr/>
        </p:nvSpPr>
        <p:spPr>
          <a:xfrm>
            <a:off x="6461607"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Every one of them is repeated on the 'Five decisions before go-live' page, so nothing has to be hunted for afterwards.</a:t>
            </a:r>
          </a:p>
        </p:txBody>
      </p:sp>
      <p:sp>
        <p:nvSpPr>
          <p:cNvPr id="24" name="TextBox 23"/>
          <p:cNvSpPr txBox="1"/>
          <p:nvPr/>
        </p:nvSpPr>
        <p:spPr>
          <a:xfrm>
            <a:off x="6461607"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Owned by both sides</a:t>
            </a:r>
          </a:p>
        </p:txBody>
      </p:sp>
      <p:sp>
        <p:nvSpPr>
          <p:cNvPr id="25" name="TextBox 24"/>
          <p:cNvSpPr txBox="1"/>
          <p:nvPr/>
        </p:nvSpPr>
        <p:spPr>
          <a:xfrm>
            <a:off x="6461607"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These are choices for finance and implementation to make together before the first assignment goes Active.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MODEL</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 payroll policy becomes a payroll result in seven moves</a:t>
            </a:r>
          </a:p>
        </p:txBody>
      </p:sp>
      <p:sp>
        <p:nvSpPr>
          <p:cNvPr id="6" name="Rounded Rectangle 5"/>
          <p:cNvSpPr/>
          <p:nvPr/>
        </p:nvSpPr>
        <p:spPr>
          <a:xfrm>
            <a:off x="566928" y="1316736"/>
            <a:ext cx="6581013"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Policy engines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This chain is drawn on screen inside the Policy engines tab. It is the clearest available answer to 'where does my formula sit?'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Configurable values vary by company, employee group and employee; the formulas themselves stay controlled and versioned.</a:t>
            </a:r>
          </a:p>
        </p:txBody>
      </p:sp>
      <p:pic>
        <p:nvPicPr>
          <p:cNvPr id="9" name="Picture 8" descr="policy-chain.png"/>
          <p:cNvPicPr>
            <a:picLocks noChangeAspect="1"/>
          </p:cNvPicPr>
          <p:nvPr/>
        </p:nvPicPr>
        <p:blipFill>
          <a:blip r:embed="rId2"/>
          <a:stretch>
            <a:fillRect/>
          </a:stretch>
        </p:blipFill>
        <p:spPr>
          <a:xfrm>
            <a:off x="566930" y="2832388"/>
            <a:ext cx="11057834" cy="1650423"/>
          </a:xfrm>
          <a:prstGeom prst="rect">
            <a:avLst/>
          </a:prstGeom>
        </p:spPr>
      </p:pic>
      <p:sp>
        <p:nvSpPr>
          <p:cNvPr id="10" name="Rectangle 9"/>
          <p:cNvSpPr/>
          <p:nvPr/>
        </p:nvSpPr>
        <p:spPr>
          <a:xfrm>
            <a:off x="566928" y="4793707"/>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4793707"/>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Policy, rule, engine</a:t>
            </a:r>
          </a:p>
        </p:txBody>
      </p:sp>
      <p:sp>
        <p:nvSpPr>
          <p:cNvPr id="12" name="TextBox 11"/>
          <p:cNvSpPr txBox="1"/>
          <p:nvPr/>
        </p:nvSpPr>
        <p:spPr>
          <a:xfrm>
            <a:off x="713232" y="5031451"/>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first three moves are governance: what the company decided, who it applies to, and which approved code carries the parameters.</a:t>
            </a:r>
          </a:p>
        </p:txBody>
      </p:sp>
      <p:sp>
        <p:nvSpPr>
          <p:cNvPr id="13" name="Rectangle 12"/>
          <p:cNvSpPr/>
          <p:nvPr/>
        </p:nvSpPr>
        <p:spPr>
          <a:xfrm>
            <a:off x="4301642" y="4793707"/>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47946" y="4793707"/>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Basis and reference</a:t>
            </a:r>
          </a:p>
        </p:txBody>
      </p:sp>
      <p:sp>
        <p:nvSpPr>
          <p:cNvPr id="15" name="TextBox 14"/>
          <p:cNvSpPr txBox="1"/>
          <p:nvPr/>
        </p:nvSpPr>
        <p:spPr>
          <a:xfrm>
            <a:off x="4447946" y="5031451"/>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Computational Basis holds the controlled formula; reference tables hold the versioned values it reads.</a:t>
            </a:r>
          </a:p>
        </p:txBody>
      </p:sp>
      <p:sp>
        <p:nvSpPr>
          <p:cNvPr id="16" name="Rectangle 15"/>
          <p:cNvSpPr/>
          <p:nvPr/>
        </p:nvSpPr>
        <p:spPr>
          <a:xfrm>
            <a:off x="8036356" y="4793707"/>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82660" y="4793707"/>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Transaction and result</a:t>
            </a:r>
          </a:p>
        </p:txBody>
      </p:sp>
      <p:sp>
        <p:nvSpPr>
          <p:cNvPr id="18" name="TextBox 17"/>
          <p:cNvSpPr txBox="1"/>
          <p:nvPr/>
        </p:nvSpPr>
        <p:spPr>
          <a:xfrm>
            <a:off x="8182660" y="5031451"/>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payroll transaction supplies the employees, the trigger and the period. Only then does an amount exist.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WHERE IT LIVES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Computational Basis is a Payroll service</a:t>
            </a:r>
          </a:p>
        </p:txBody>
      </p:sp>
      <p:sp>
        <p:nvSpPr>
          <p:cNvPr id="6" name="Rounded Rectangle 5"/>
          <p:cNvSpPr/>
          <p:nvPr/>
        </p:nvSpPr>
        <p:spPr>
          <a:xfrm>
            <a:off x="566928" y="1316736"/>
            <a:ext cx="5593637"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It sits inside Services Information alongside the payroll services whose results depend on it, rather than in a separate administration area.</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Screens are live captures of the ATLAS prototype. The records, codes and amounts shown are demonstration data.</a:t>
            </a:r>
          </a:p>
        </p:txBody>
      </p:sp>
      <p:pic>
        <p:nvPicPr>
          <p:cNvPr id="9" name="Picture 8" descr="cb-overview.png"/>
          <p:cNvPicPr>
            <a:picLocks noChangeAspect="1"/>
          </p:cNvPicPr>
          <p:nvPr/>
        </p:nvPicPr>
        <p:blipFill>
          <a:blip r:embed="rId2"/>
          <a:stretch>
            <a:fillRect/>
          </a:stretch>
        </p:blipFill>
        <p:spPr>
          <a:xfrm>
            <a:off x="3951125" y="2304288"/>
            <a:ext cx="4289445" cy="2706624"/>
          </a:xfrm>
          <a:prstGeom prst="rect">
            <a:avLst/>
          </a:prstGeom>
        </p:spPr>
      </p:pic>
      <p:sp>
        <p:nvSpPr>
          <p:cNvPr id="10" name="Rectangle 9"/>
          <p:cNvSpPr/>
          <p:nvPr/>
        </p:nvSpPr>
        <p:spPr>
          <a:xfrm>
            <a:off x="566928"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Follow the path</a:t>
            </a:r>
          </a:p>
        </p:txBody>
      </p:sp>
      <p:sp>
        <p:nvSpPr>
          <p:cNvPr id="12" name="TextBox 11"/>
          <p:cNvSpPr txBox="1"/>
          <p:nvPr/>
        </p:nvSpPr>
        <p:spPr>
          <a:xfrm>
            <a:off x="713232"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Core, then Company Configuration, then Services Information, then the Payroll tab, then Computational Basis.</a:t>
            </a:r>
          </a:p>
        </p:txBody>
      </p:sp>
      <p:sp>
        <p:nvSpPr>
          <p:cNvPr id="13" name="Rectangle 12"/>
          <p:cNvSpPr/>
          <p:nvPr/>
        </p:nvSpPr>
        <p:spPr>
          <a:xfrm>
            <a:off x="4301642"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47946"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One library per company</a:t>
            </a:r>
          </a:p>
        </p:txBody>
      </p:sp>
      <p:sp>
        <p:nvSpPr>
          <p:cNvPr id="15" name="TextBox 14"/>
          <p:cNvSpPr txBox="1"/>
          <p:nvPr/>
        </p:nvSpPr>
        <p:spPr>
          <a:xfrm>
            <a:off x="4447946"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header confirms a controlled standard library, extended with anything this company has added.</a:t>
            </a:r>
          </a:p>
        </p:txBody>
      </p:sp>
      <p:sp>
        <p:nvSpPr>
          <p:cNvPr id="16" name="Rectangle 15"/>
          <p:cNvSpPr/>
          <p:nvPr/>
        </p:nvSpPr>
        <p:spPr>
          <a:xfrm>
            <a:off x="8036356"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82660"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Five tabs, one story</a:t>
            </a:r>
          </a:p>
        </p:txBody>
      </p:sp>
      <p:sp>
        <p:nvSpPr>
          <p:cNvPr id="18" name="TextBox 17"/>
          <p:cNvSpPr txBox="1"/>
          <p:nvPr/>
        </p:nvSpPr>
        <p:spPr>
          <a:xfrm>
            <a:off x="8182660"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Formulas, assignments, engines, sources and history sit side by side on purpose.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SHAPE OF THE LIBRARY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is already in there before you add anything</a:t>
            </a:r>
          </a:p>
        </p:txBody>
      </p:sp>
      <p:sp>
        <p:nvSpPr>
          <p:cNvPr id="6" name="Rounded Rectangle 5"/>
          <p:cNvSpPr/>
          <p:nvPr/>
        </p:nvSpPr>
        <p:spPr>
          <a:xfrm>
            <a:off x="566928" y="1316736"/>
            <a:ext cx="5593637"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Most of what finance needs is already present as an ATLAS standard. Knowing what is there changes the usual task from authoring to selecting.</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 usual finance task is finding the right existing formula, confirming its version, and assigning it correctly.</a:t>
            </a:r>
          </a:p>
        </p:txBody>
      </p:sp>
      <p:sp>
        <p:nvSpPr>
          <p:cNvPr id="9" name="Rounded Rectangle 8"/>
          <p:cNvSpPr/>
          <p:nvPr/>
        </p:nvSpPr>
        <p:spPr>
          <a:xfrm>
            <a:off x="566928" y="2559304"/>
            <a:ext cx="3576218" cy="161950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255930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22376" y="2742184"/>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2" name="TextBox 11"/>
          <p:cNvSpPr txBox="1"/>
          <p:nvPr/>
        </p:nvSpPr>
        <p:spPr>
          <a:xfrm>
            <a:off x="1133856" y="279704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ATLAS standard formulas</a:t>
            </a:r>
          </a:p>
        </p:txBody>
      </p:sp>
      <p:sp>
        <p:nvSpPr>
          <p:cNvPr id="13" name="TextBox 12"/>
          <p:cNvSpPr txBox="1"/>
          <p:nvPr/>
        </p:nvSpPr>
        <p:spPr>
          <a:xfrm>
            <a:off x="822960" y="3272536"/>
            <a:ext cx="3100730" cy="833120"/>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Basic pay and rate derivations, earnings, deductions, government contributions, tax, bonuses, benefits, retirement and separation — maintained centrally and versioned.</a:t>
            </a:r>
          </a:p>
        </p:txBody>
      </p:sp>
      <p:sp>
        <p:nvSpPr>
          <p:cNvPr id="14" name="Rounded Rectangle 13"/>
          <p:cNvSpPr/>
          <p:nvPr/>
        </p:nvSpPr>
        <p:spPr>
          <a:xfrm>
            <a:off x="4307738" y="2559304"/>
            <a:ext cx="3576218" cy="161950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07738" y="255930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463186" y="2742184"/>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7" name="TextBox 16"/>
          <p:cNvSpPr txBox="1"/>
          <p:nvPr/>
        </p:nvSpPr>
        <p:spPr>
          <a:xfrm>
            <a:off x="4874666" y="279704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Company formulas</a:t>
            </a:r>
          </a:p>
        </p:txBody>
      </p:sp>
      <p:sp>
        <p:nvSpPr>
          <p:cNvPr id="18" name="TextBox 17"/>
          <p:cNvSpPr txBox="1"/>
          <p:nvPr/>
        </p:nvSpPr>
        <p:spPr>
          <a:xfrm>
            <a:off x="4563770" y="3272536"/>
            <a:ext cx="3100730" cy="833120"/>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Anything this company needs that the standards do not cover, created here and marked admin-defined so the two never get confused.</a:t>
            </a:r>
          </a:p>
        </p:txBody>
      </p:sp>
      <p:sp>
        <p:nvSpPr>
          <p:cNvPr id="19" name="Rounded Rectangle 18"/>
          <p:cNvSpPr/>
          <p:nvPr/>
        </p:nvSpPr>
        <p:spPr>
          <a:xfrm>
            <a:off x="8048548" y="2559304"/>
            <a:ext cx="3576218" cy="161950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48548" y="255930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203996" y="2742184"/>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2" name="TextBox 21"/>
          <p:cNvSpPr txBox="1"/>
          <p:nvPr/>
        </p:nvSpPr>
        <p:spPr>
          <a:xfrm>
            <a:off x="8615476" y="279704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An approved field palette</a:t>
            </a:r>
          </a:p>
        </p:txBody>
      </p:sp>
      <p:sp>
        <p:nvSpPr>
          <p:cNvPr id="23" name="TextBox 22"/>
          <p:cNvSpPr txBox="1"/>
          <p:nvPr/>
        </p:nvSpPr>
        <p:spPr>
          <a:xfrm>
            <a:off x="8304580" y="3272536"/>
            <a:ext cx="3100730" cy="833120"/>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The payroll values a formula may reference, each with a fixed token and a sample value, plus any published computation you want to build on.</a:t>
            </a:r>
          </a:p>
        </p:txBody>
      </p:sp>
      <p:sp>
        <p:nvSpPr>
          <p:cNvPr id="24" name="Rounded Rectangle 23"/>
          <p:cNvSpPr/>
          <p:nvPr/>
        </p:nvSpPr>
        <p:spPr>
          <a:xfrm>
            <a:off x="566928" y="4343400"/>
            <a:ext cx="3576218" cy="161950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6928" y="434340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722376" y="452628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7" name="TextBox 26"/>
          <p:cNvSpPr txBox="1"/>
          <p:nvPr/>
        </p:nvSpPr>
        <p:spPr>
          <a:xfrm>
            <a:off x="1133856" y="458114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Reference sources</a:t>
            </a:r>
          </a:p>
        </p:txBody>
      </p:sp>
      <p:sp>
        <p:nvSpPr>
          <p:cNvPr id="28" name="TextBox 27"/>
          <p:cNvSpPr txBox="1"/>
          <p:nvPr/>
        </p:nvSpPr>
        <p:spPr>
          <a:xfrm>
            <a:off x="822960" y="5056632"/>
            <a:ext cx="3100730" cy="833120"/>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Effective-dated tax and contribution tables, ceilings, premium rates and code lists, so a change of rate never means editing a formula.</a:t>
            </a:r>
          </a:p>
        </p:txBody>
      </p:sp>
      <p:sp>
        <p:nvSpPr>
          <p:cNvPr id="29" name="Rounded Rectangle 28"/>
          <p:cNvSpPr/>
          <p:nvPr/>
        </p:nvSpPr>
        <p:spPr>
          <a:xfrm>
            <a:off x="4307738" y="4343400"/>
            <a:ext cx="3576218" cy="161950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07738" y="434340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463186" y="452628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2" name="TextBox 31"/>
          <p:cNvSpPr txBox="1"/>
          <p:nvPr/>
        </p:nvSpPr>
        <p:spPr>
          <a:xfrm>
            <a:off x="4874666" y="458114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Policy engines</a:t>
            </a:r>
          </a:p>
        </p:txBody>
      </p:sp>
      <p:sp>
        <p:nvSpPr>
          <p:cNvPr id="33" name="TextBox 32"/>
          <p:cNvSpPr txBox="1"/>
          <p:nvPr/>
        </p:nvSpPr>
        <p:spPr>
          <a:xfrm>
            <a:off x="4563770" y="5056632"/>
            <a:ext cx="3100730" cy="833120"/>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Take-home protection, deduction and loan order, caps and retirement — rules that shape a calculated result rather than produce one.</a:t>
            </a:r>
          </a:p>
        </p:txBody>
      </p:sp>
      <p:sp>
        <p:nvSpPr>
          <p:cNvPr id="34" name="Rounded Rectangle 33"/>
          <p:cNvSpPr/>
          <p:nvPr/>
        </p:nvSpPr>
        <p:spPr>
          <a:xfrm>
            <a:off x="8048548" y="4343400"/>
            <a:ext cx="3576218" cy="161950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048548" y="434340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203996" y="452628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6</a:t>
            </a:r>
          </a:p>
        </p:txBody>
      </p:sp>
      <p:sp>
        <p:nvSpPr>
          <p:cNvPr id="37" name="TextBox 36"/>
          <p:cNvSpPr txBox="1"/>
          <p:nvPr/>
        </p:nvSpPr>
        <p:spPr>
          <a:xfrm>
            <a:off x="8615476" y="458114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Client assignments</a:t>
            </a:r>
          </a:p>
        </p:txBody>
      </p:sp>
      <p:sp>
        <p:nvSpPr>
          <p:cNvPr id="38" name="TextBox 37"/>
          <p:cNvSpPr txBox="1"/>
          <p:nvPr/>
        </p:nvSpPr>
        <p:spPr>
          <a:xfrm>
            <a:off x="8304580" y="5056632"/>
            <a:ext cx="3100730" cy="833120"/>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The company's own statements of what each formula is for, who it covers and how often it applies.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WORKSPACE</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Five tabs, and the job each one does</a:t>
            </a:r>
          </a:p>
        </p:txBody>
      </p:sp>
      <p:sp>
        <p:nvSpPr>
          <p:cNvPr id="6" name="Rounded Rectangle 5"/>
          <p:cNvSpPr/>
          <p:nvPr/>
        </p:nvSpPr>
        <p:spPr>
          <a:xfrm>
            <a:off x="566928" y="1316736"/>
            <a:ext cx="5593637"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Everything Computational Basis governs lives behind these five tabs. Finance owns the first two; the other three carry the supporting evidence.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 counter beside each tab is a live total for the company you are working in.</a:t>
            </a:r>
          </a:p>
        </p:txBody>
      </p:sp>
      <p:pic>
        <p:nvPicPr>
          <p:cNvPr id="9" name="Picture 8" descr="fg-tabs.png"/>
          <p:cNvPicPr>
            <a:picLocks noChangeAspect="1"/>
          </p:cNvPicPr>
          <p:nvPr/>
        </p:nvPicPr>
        <p:blipFill>
          <a:blip r:embed="rId2"/>
          <a:stretch>
            <a:fillRect/>
          </a:stretch>
        </p:blipFill>
        <p:spPr>
          <a:xfrm>
            <a:off x="566931" y="2515972"/>
            <a:ext cx="11057833" cy="1652319"/>
          </a:xfrm>
          <a:prstGeom prst="rect">
            <a:avLst/>
          </a:prstGeom>
        </p:spPr>
      </p:pic>
      <p:sp>
        <p:nvSpPr>
          <p:cNvPr id="10" name="Rounded Rectangle 9"/>
          <p:cNvSpPr/>
          <p:nvPr/>
        </p:nvSpPr>
        <p:spPr>
          <a:xfrm>
            <a:off x="566928" y="4424324"/>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45614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4570628"/>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Computations</a:t>
            </a:r>
          </a:p>
        </p:txBody>
      </p:sp>
      <p:sp>
        <p:nvSpPr>
          <p:cNvPr id="13" name="TextBox 12"/>
          <p:cNvSpPr txBox="1"/>
          <p:nvPr/>
        </p:nvSpPr>
        <p:spPr>
          <a:xfrm>
            <a:off x="768096" y="4826660"/>
            <a:ext cx="1699503" cy="106070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formula library. This is where a calculation is written, tested, dated and published as a version.</a:t>
            </a:r>
          </a:p>
        </p:txBody>
      </p:sp>
      <p:sp>
        <p:nvSpPr>
          <p:cNvPr id="14" name="Rounded Rectangle 13"/>
          <p:cNvSpPr/>
          <p:nvPr/>
        </p:nvSpPr>
        <p:spPr>
          <a:xfrm>
            <a:off x="2805927" y="4424324"/>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007095" y="45614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381999" y="4570628"/>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Client assignments</a:t>
            </a:r>
          </a:p>
        </p:txBody>
      </p:sp>
      <p:sp>
        <p:nvSpPr>
          <p:cNvPr id="17" name="TextBox 16"/>
          <p:cNvSpPr txBox="1"/>
          <p:nvPr/>
        </p:nvSpPr>
        <p:spPr>
          <a:xfrm>
            <a:off x="3007095" y="4826660"/>
            <a:ext cx="1699503" cy="106070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company's own record of what each formula is for, who it covers and how often it may be used.</a:t>
            </a:r>
          </a:p>
        </p:txBody>
      </p:sp>
      <p:sp>
        <p:nvSpPr>
          <p:cNvPr id="18" name="Rounded Rectangle 17"/>
          <p:cNvSpPr/>
          <p:nvPr/>
        </p:nvSpPr>
        <p:spPr>
          <a:xfrm>
            <a:off x="5044926" y="4424324"/>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246094" y="45614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5620998" y="4570628"/>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Policy engines</a:t>
            </a:r>
          </a:p>
        </p:txBody>
      </p:sp>
      <p:sp>
        <p:nvSpPr>
          <p:cNvPr id="21" name="TextBox 20"/>
          <p:cNvSpPr txBox="1"/>
          <p:nvPr/>
        </p:nvSpPr>
        <p:spPr>
          <a:xfrm>
            <a:off x="5246094" y="4826660"/>
            <a:ext cx="1699503" cy="106070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Interactive engines — take-home protection, deduction order, caps, retirement — that shape a result rather than calculate an amount.</a:t>
            </a:r>
          </a:p>
        </p:txBody>
      </p:sp>
      <p:sp>
        <p:nvSpPr>
          <p:cNvPr id="22" name="Rounded Rectangle 21"/>
          <p:cNvSpPr/>
          <p:nvPr/>
        </p:nvSpPr>
        <p:spPr>
          <a:xfrm>
            <a:off x="7283925" y="4424324"/>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485093" y="45614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7859997" y="4570628"/>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Reference sources</a:t>
            </a:r>
          </a:p>
        </p:txBody>
      </p:sp>
      <p:sp>
        <p:nvSpPr>
          <p:cNvPr id="25" name="TextBox 24"/>
          <p:cNvSpPr txBox="1"/>
          <p:nvPr/>
        </p:nvSpPr>
        <p:spPr>
          <a:xfrm>
            <a:off x="7485093" y="4826660"/>
            <a:ext cx="1699503" cy="106070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Effective-dated tables, rates, ceilings and code lists that formulas read, instead of carrying a value inside the expression.</a:t>
            </a:r>
          </a:p>
        </p:txBody>
      </p:sp>
      <p:sp>
        <p:nvSpPr>
          <p:cNvPr id="26" name="Rounded Rectangle 25"/>
          <p:cNvSpPr/>
          <p:nvPr/>
        </p:nvSpPr>
        <p:spPr>
          <a:xfrm>
            <a:off x="9522924" y="4424324"/>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9724092" y="45614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10098996" y="4570628"/>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Change history</a:t>
            </a:r>
          </a:p>
        </p:txBody>
      </p:sp>
      <p:sp>
        <p:nvSpPr>
          <p:cNvPr id="29" name="TextBox 28"/>
          <p:cNvSpPr txBox="1"/>
          <p:nvPr/>
        </p:nvSpPr>
        <p:spPr>
          <a:xfrm>
            <a:off x="9724092" y="4826660"/>
            <a:ext cx="1699503" cy="106070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Who changed which formula, table or assignment, when, and to which version. This is what keeps an earlier payroll explainable.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VOCABULARY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words on these screens, in plain English</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Payroll and implementation use these terms differently. This is the meaning ATLAS gives them.</a:t>
            </a:r>
          </a:p>
        </p:txBody>
      </p:sp>
      <p:sp>
        <p:nvSpPr>
          <p:cNvPr id="7" name="Rounded Rectangle 6"/>
          <p:cNvSpPr/>
          <p:nvPr/>
        </p:nvSpPr>
        <p:spPr>
          <a:xfrm>
            <a:off x="566928" y="1953768"/>
            <a:ext cx="3576218" cy="12760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953768"/>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2191512"/>
            <a:ext cx="3100730"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Computation</a:t>
            </a:r>
          </a:p>
        </p:txBody>
      </p:sp>
      <p:sp>
        <p:nvSpPr>
          <p:cNvPr id="10" name="TextBox 9"/>
          <p:cNvSpPr txBox="1"/>
          <p:nvPr/>
        </p:nvSpPr>
        <p:spPr>
          <a:xfrm>
            <a:off x="822960" y="2667000"/>
            <a:ext cx="3100730" cy="489712"/>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A named, versioned payroll calculation. It has a code, an expression, a test and an effective date.</a:t>
            </a:r>
          </a:p>
        </p:txBody>
      </p:sp>
      <p:sp>
        <p:nvSpPr>
          <p:cNvPr id="11" name="Rounded Rectangle 10"/>
          <p:cNvSpPr/>
          <p:nvPr/>
        </p:nvSpPr>
        <p:spPr>
          <a:xfrm>
            <a:off x="4307738" y="1953768"/>
            <a:ext cx="3576218" cy="12760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307738" y="1953768"/>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63770" y="2191512"/>
            <a:ext cx="3100730"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Computation code</a:t>
            </a:r>
          </a:p>
        </p:txBody>
      </p:sp>
      <p:sp>
        <p:nvSpPr>
          <p:cNvPr id="14" name="TextBox 13"/>
          <p:cNvSpPr txBox="1"/>
          <p:nvPr/>
        </p:nvSpPr>
        <p:spPr>
          <a:xfrm>
            <a:off x="4563770" y="2667000"/>
            <a:ext cx="3100730" cy="489712"/>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The permanent ID — CUS-900, ERN-002. Everything downstream quotes the code, never the name.</a:t>
            </a:r>
          </a:p>
        </p:txBody>
      </p:sp>
      <p:sp>
        <p:nvSpPr>
          <p:cNvPr id="15" name="Rounded Rectangle 14"/>
          <p:cNvSpPr/>
          <p:nvPr/>
        </p:nvSpPr>
        <p:spPr>
          <a:xfrm>
            <a:off x="8048548" y="1953768"/>
            <a:ext cx="3576218" cy="12760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48548" y="1953768"/>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304580" y="2191512"/>
            <a:ext cx="3100730"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Approved field</a:t>
            </a:r>
          </a:p>
        </p:txBody>
      </p:sp>
      <p:sp>
        <p:nvSpPr>
          <p:cNvPr id="18" name="TextBox 17"/>
          <p:cNvSpPr txBox="1"/>
          <p:nvPr/>
        </p:nvSpPr>
        <p:spPr>
          <a:xfrm>
            <a:off x="8304580" y="2667000"/>
            <a:ext cx="3100730" cy="489712"/>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One of the named inputs ATLAS can supply, written in the expression as {{allowance_units}}.</a:t>
            </a:r>
          </a:p>
        </p:txBody>
      </p:sp>
      <p:sp>
        <p:nvSpPr>
          <p:cNvPr id="19" name="Rounded Rectangle 18"/>
          <p:cNvSpPr/>
          <p:nvPr/>
        </p:nvSpPr>
        <p:spPr>
          <a:xfrm>
            <a:off x="566928" y="3394456"/>
            <a:ext cx="3576218" cy="12760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66928" y="3394456"/>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22960" y="3632200"/>
            <a:ext cx="3100730"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Mapped field</a:t>
            </a:r>
          </a:p>
        </p:txBody>
      </p:sp>
      <p:sp>
        <p:nvSpPr>
          <p:cNvPr id="22" name="TextBox 21"/>
          <p:cNvSpPr txBox="1"/>
          <p:nvPr/>
        </p:nvSpPr>
        <p:spPr>
          <a:xfrm>
            <a:off x="822960" y="4107688"/>
            <a:ext cx="3100730" cy="489712"/>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An approved field actually used by a formula. The formula's dependency list.</a:t>
            </a:r>
          </a:p>
        </p:txBody>
      </p:sp>
      <p:sp>
        <p:nvSpPr>
          <p:cNvPr id="23" name="Rounded Rectangle 22"/>
          <p:cNvSpPr/>
          <p:nvPr/>
        </p:nvSpPr>
        <p:spPr>
          <a:xfrm>
            <a:off x="4307738" y="3394456"/>
            <a:ext cx="3576218" cy="12760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307738" y="3394456"/>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563770" y="3632200"/>
            <a:ext cx="3100730"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Expression</a:t>
            </a:r>
          </a:p>
        </p:txBody>
      </p:sp>
      <p:sp>
        <p:nvSpPr>
          <p:cNvPr id="26" name="TextBox 25"/>
          <p:cNvSpPr txBox="1"/>
          <p:nvPr/>
        </p:nvSpPr>
        <p:spPr>
          <a:xfrm>
            <a:off x="4563770" y="4107688"/>
            <a:ext cx="3100730" cy="489712"/>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The arithmetic itself, built only from approved fields and the operator palette.</a:t>
            </a:r>
          </a:p>
        </p:txBody>
      </p:sp>
      <p:sp>
        <p:nvSpPr>
          <p:cNvPr id="27" name="Rounded Rectangle 26"/>
          <p:cNvSpPr/>
          <p:nvPr/>
        </p:nvSpPr>
        <p:spPr>
          <a:xfrm>
            <a:off x="8048548" y="3394456"/>
            <a:ext cx="3576218" cy="12760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8048548" y="3394456"/>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304580" y="3632200"/>
            <a:ext cx="3100730"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Reference source</a:t>
            </a:r>
          </a:p>
        </p:txBody>
      </p:sp>
      <p:sp>
        <p:nvSpPr>
          <p:cNvPr id="30" name="TextBox 29"/>
          <p:cNvSpPr txBox="1"/>
          <p:nvPr/>
        </p:nvSpPr>
        <p:spPr>
          <a:xfrm>
            <a:off x="8304580" y="4107688"/>
            <a:ext cx="3100730" cy="489712"/>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An effective-dated table, rate or ceiling a formula reads instead of carrying the number inside it.</a:t>
            </a:r>
          </a:p>
        </p:txBody>
      </p:sp>
      <p:sp>
        <p:nvSpPr>
          <p:cNvPr id="31" name="Rounded Rectangle 30"/>
          <p:cNvSpPr/>
          <p:nvPr/>
        </p:nvSpPr>
        <p:spPr>
          <a:xfrm>
            <a:off x="566928" y="4835144"/>
            <a:ext cx="3576218" cy="12760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566928" y="483514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22960" y="5072888"/>
            <a:ext cx="3100730"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Client assignment</a:t>
            </a:r>
          </a:p>
        </p:txBody>
      </p:sp>
      <p:sp>
        <p:nvSpPr>
          <p:cNvPr id="34" name="TextBox 33"/>
          <p:cNvSpPr txBox="1"/>
          <p:nvPr/>
        </p:nvSpPr>
        <p:spPr>
          <a:xfrm>
            <a:off x="822960" y="5548376"/>
            <a:ext cx="3100730" cy="489712"/>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The company's record of what a computation is for, who it covers and how often.</a:t>
            </a:r>
          </a:p>
        </p:txBody>
      </p:sp>
      <p:sp>
        <p:nvSpPr>
          <p:cNvPr id="35" name="Rounded Rectangle 34"/>
          <p:cNvSpPr/>
          <p:nvPr/>
        </p:nvSpPr>
        <p:spPr>
          <a:xfrm>
            <a:off x="4307738" y="4835144"/>
            <a:ext cx="3576218" cy="12760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4307738" y="483514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4563770" y="5072888"/>
            <a:ext cx="3100730"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Policy engine</a:t>
            </a:r>
          </a:p>
        </p:txBody>
      </p:sp>
      <p:sp>
        <p:nvSpPr>
          <p:cNvPr id="38" name="TextBox 37"/>
          <p:cNvSpPr txBox="1"/>
          <p:nvPr/>
        </p:nvSpPr>
        <p:spPr>
          <a:xfrm>
            <a:off x="4563770" y="5548376"/>
            <a:ext cx="3100730" cy="489712"/>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A rule that shapes a result — caps it, orders it, defers it — rather than calculating an amount.</a:t>
            </a:r>
          </a:p>
        </p:txBody>
      </p:sp>
      <p:sp>
        <p:nvSpPr>
          <p:cNvPr id="39" name="Rounded Rectangle 38"/>
          <p:cNvSpPr/>
          <p:nvPr/>
        </p:nvSpPr>
        <p:spPr>
          <a:xfrm>
            <a:off x="8048548" y="4835144"/>
            <a:ext cx="3576218" cy="12760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8048548" y="483514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304580" y="5072888"/>
            <a:ext cx="3100730"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Version</a:t>
            </a:r>
          </a:p>
        </p:txBody>
      </p:sp>
      <p:sp>
        <p:nvSpPr>
          <p:cNvPr id="42" name="TextBox 41"/>
          <p:cNvSpPr txBox="1"/>
          <p:nvPr/>
        </p:nvSpPr>
        <p:spPr>
          <a:xfrm>
            <a:off x="8304580" y="5548376"/>
            <a:ext cx="3100730" cy="489712"/>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A dated copy of a rule, retained so an earlier payroll stays explainable after the rule changes.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AN IMPORTANT DISTINCTION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Not every step in the ledger is a formula</a:t>
            </a:r>
          </a:p>
        </p:txBody>
      </p:sp>
      <p:sp>
        <p:nvSpPr>
          <p:cNvPr id="6" name="Rounded Rectangle 5"/>
          <p:cNvSpPr/>
          <p:nvPr/>
        </p:nvSpPr>
        <p:spPr>
          <a:xfrm>
            <a:off x="566928" y="1316736"/>
            <a:ext cx="546951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 › How it was computed</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A posted payroll labels every step with its kind. Knowing which kind you are looking at tells you where to go when you want to change something.</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Kinds and examples read from a posted payroll transaction.</a:t>
            </a:r>
          </a:p>
        </p:txBody>
      </p:sp>
      <p:sp>
        <p:nvSpPr>
          <p:cNvPr id="9" name="Rounded Rectangle 8"/>
          <p:cNvSpPr/>
          <p:nvPr/>
        </p:nvSpPr>
        <p:spPr>
          <a:xfrm>
            <a:off x="566928" y="23408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1520" y="2441448"/>
            <a:ext cx="1937247"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KIND OF STEP</a:t>
            </a:r>
          </a:p>
        </p:txBody>
      </p:sp>
      <p:sp>
        <p:nvSpPr>
          <p:cNvPr id="11" name="TextBox 10"/>
          <p:cNvSpPr txBox="1"/>
          <p:nvPr/>
        </p:nvSpPr>
        <p:spPr>
          <a:xfrm>
            <a:off x="2943087" y="2441448"/>
            <a:ext cx="2490139"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WHAT IT MEANS</a:t>
            </a:r>
          </a:p>
        </p:txBody>
      </p:sp>
      <p:sp>
        <p:nvSpPr>
          <p:cNvPr id="12" name="TextBox 11"/>
          <p:cNvSpPr txBox="1"/>
          <p:nvPr/>
        </p:nvSpPr>
        <p:spPr>
          <a:xfrm>
            <a:off x="5707546" y="2441448"/>
            <a:ext cx="2600718"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WHERE YOU CHANGE IT</a:t>
            </a:r>
          </a:p>
        </p:txBody>
      </p:sp>
      <p:sp>
        <p:nvSpPr>
          <p:cNvPr id="13" name="TextBox 12"/>
          <p:cNvSpPr txBox="1"/>
          <p:nvPr/>
        </p:nvSpPr>
        <p:spPr>
          <a:xfrm>
            <a:off x="8582584" y="2441448"/>
            <a:ext cx="2932453"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WHAT IT LOOKS LIKE</a:t>
            </a:r>
          </a:p>
        </p:txBody>
      </p:sp>
      <p:sp>
        <p:nvSpPr>
          <p:cNvPr id="14" name="Rounded Rectangle 13"/>
          <p:cNvSpPr/>
          <p:nvPr/>
        </p:nvSpPr>
        <p:spPr>
          <a:xfrm>
            <a:off x="566928" y="2834640"/>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1520" y="2953512"/>
            <a:ext cx="1918959"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Configuration + computation</a:t>
            </a:r>
          </a:p>
        </p:txBody>
      </p:sp>
      <p:sp>
        <p:nvSpPr>
          <p:cNvPr id="16" name="TextBox 15"/>
          <p:cNvSpPr txBox="1"/>
          <p:nvPr/>
        </p:nvSpPr>
        <p:spPr>
          <a:xfrm>
            <a:off x="2943087" y="2953512"/>
            <a:ext cx="247185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 formula whose inputs come from company or employee configuration.</a:t>
            </a:r>
          </a:p>
        </p:txBody>
      </p:sp>
      <p:sp>
        <p:nvSpPr>
          <p:cNvPr id="17" name="TextBox 16"/>
          <p:cNvSpPr txBox="1"/>
          <p:nvPr/>
        </p:nvSpPr>
        <p:spPr>
          <a:xfrm>
            <a:off x="5707546" y="2953512"/>
            <a:ext cx="258243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Computational Basis, plus the configuration screen behind it.</a:t>
            </a:r>
          </a:p>
        </p:txBody>
      </p:sp>
      <p:sp>
        <p:nvSpPr>
          <p:cNvPr id="18" name="TextBox 17"/>
          <p:cNvSpPr txBox="1"/>
          <p:nvPr/>
        </p:nvSpPr>
        <p:spPr>
          <a:xfrm>
            <a:off x="8582584" y="2953512"/>
            <a:ext cx="2914165"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Daily Rate — monthly salary × 12 ÷ factor days</a:t>
            </a:r>
          </a:p>
        </p:txBody>
      </p:sp>
      <p:sp>
        <p:nvSpPr>
          <p:cNvPr id="19" name="Rounded Rectangle 18"/>
          <p:cNvSpPr/>
          <p:nvPr/>
        </p:nvSpPr>
        <p:spPr>
          <a:xfrm>
            <a:off x="566928" y="3518611"/>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31520" y="3637483"/>
            <a:ext cx="1918959"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Computation</a:t>
            </a:r>
          </a:p>
        </p:txBody>
      </p:sp>
      <p:sp>
        <p:nvSpPr>
          <p:cNvPr id="21" name="TextBox 20"/>
          <p:cNvSpPr txBox="1"/>
          <p:nvPr/>
        </p:nvSpPr>
        <p:spPr>
          <a:xfrm>
            <a:off x="2943087" y="3637483"/>
            <a:ext cx="247185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 formula priced from transactional data such as approved time.</a:t>
            </a:r>
          </a:p>
        </p:txBody>
      </p:sp>
      <p:sp>
        <p:nvSpPr>
          <p:cNvPr id="22" name="TextBox 21"/>
          <p:cNvSpPr txBox="1"/>
          <p:nvPr/>
        </p:nvSpPr>
        <p:spPr>
          <a:xfrm>
            <a:off x="5707546" y="3637483"/>
            <a:ext cx="258243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Computational Basis; the quantity comes from the source module.</a:t>
            </a:r>
          </a:p>
        </p:txBody>
      </p:sp>
      <p:sp>
        <p:nvSpPr>
          <p:cNvPr id="23" name="TextBox 22"/>
          <p:cNvSpPr txBox="1"/>
          <p:nvPr/>
        </p:nvSpPr>
        <p:spPr>
          <a:xfrm>
            <a:off x="8582584" y="3637483"/>
            <a:ext cx="2914165"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Overtime Pay — approved hours × hourly rate × premium</a:t>
            </a:r>
          </a:p>
        </p:txBody>
      </p:sp>
      <p:sp>
        <p:nvSpPr>
          <p:cNvPr id="24" name="Rounded Rectangle 23"/>
          <p:cNvSpPr/>
          <p:nvPr/>
        </p:nvSpPr>
        <p:spPr>
          <a:xfrm>
            <a:off x="566928" y="4202582"/>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31520" y="4321454"/>
            <a:ext cx="1918959"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Effective table lookup</a:t>
            </a:r>
          </a:p>
        </p:txBody>
      </p:sp>
      <p:sp>
        <p:nvSpPr>
          <p:cNvPr id="26" name="TextBox 25"/>
          <p:cNvSpPr txBox="1"/>
          <p:nvPr/>
        </p:nvSpPr>
        <p:spPr>
          <a:xfrm>
            <a:off x="2943087" y="4321454"/>
            <a:ext cx="247185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 value read from a versioned statutory or company table.</a:t>
            </a:r>
          </a:p>
        </p:txBody>
      </p:sp>
      <p:sp>
        <p:nvSpPr>
          <p:cNvPr id="27" name="TextBox 26"/>
          <p:cNvSpPr txBox="1"/>
          <p:nvPr/>
        </p:nvSpPr>
        <p:spPr>
          <a:xfrm>
            <a:off x="5707546" y="4321454"/>
            <a:ext cx="258243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reference source or the Settings table, not the formula.</a:t>
            </a:r>
          </a:p>
        </p:txBody>
      </p:sp>
      <p:sp>
        <p:nvSpPr>
          <p:cNvPr id="28" name="TextBox 27"/>
          <p:cNvSpPr txBox="1"/>
          <p:nvPr/>
        </p:nvSpPr>
        <p:spPr>
          <a:xfrm>
            <a:off x="8582584" y="4321454"/>
            <a:ext cx="2914165"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Withholding Tax — the bracket in force on the payout date</a:t>
            </a:r>
          </a:p>
        </p:txBody>
      </p:sp>
      <p:sp>
        <p:nvSpPr>
          <p:cNvPr id="29" name="Rounded Rectangle 28"/>
          <p:cNvSpPr/>
          <p:nvPr/>
        </p:nvSpPr>
        <p:spPr>
          <a:xfrm>
            <a:off x="566928" y="4886553"/>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31520" y="5005425"/>
            <a:ext cx="1918959"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Policy engine</a:t>
            </a:r>
          </a:p>
        </p:txBody>
      </p:sp>
      <p:sp>
        <p:nvSpPr>
          <p:cNvPr id="31" name="TextBox 30"/>
          <p:cNvSpPr txBox="1"/>
          <p:nvPr/>
        </p:nvSpPr>
        <p:spPr>
          <a:xfrm>
            <a:off x="2943087" y="5005425"/>
            <a:ext cx="247185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 rule that caps, orders or defers an amount already calculated.</a:t>
            </a:r>
          </a:p>
        </p:txBody>
      </p:sp>
      <p:sp>
        <p:nvSpPr>
          <p:cNvPr id="32" name="TextBox 31"/>
          <p:cNvSpPr txBox="1"/>
          <p:nvPr/>
        </p:nvSpPr>
        <p:spPr>
          <a:xfrm>
            <a:off x="5707546" y="5005425"/>
            <a:ext cx="258243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Policy engines, using its configurable parameters.</a:t>
            </a:r>
          </a:p>
        </p:txBody>
      </p:sp>
      <p:sp>
        <p:nvSpPr>
          <p:cNvPr id="33" name="TextBox 32"/>
          <p:cNvSpPr txBox="1"/>
          <p:nvPr/>
        </p:nvSpPr>
        <p:spPr>
          <a:xfrm>
            <a:off x="8582584" y="5005425"/>
            <a:ext cx="2914165"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Minimum Take-Home Pay — protect, then collect or defer</a:t>
            </a:r>
          </a:p>
        </p:txBody>
      </p:sp>
      <p:sp>
        <p:nvSpPr>
          <p:cNvPr id="34" name="Rounded Rectangle 33"/>
          <p:cNvSpPr/>
          <p:nvPr/>
        </p:nvSpPr>
        <p:spPr>
          <a:xfrm>
            <a:off x="566928" y="5570524"/>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31520" y="5689396"/>
            <a:ext cx="1918959"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Payroll result</a:t>
            </a:r>
          </a:p>
        </p:txBody>
      </p:sp>
      <p:sp>
        <p:nvSpPr>
          <p:cNvPr id="36" name="TextBox 35"/>
          <p:cNvSpPr txBox="1"/>
          <p:nvPr/>
        </p:nvSpPr>
        <p:spPr>
          <a:xfrm>
            <a:off x="2943087" y="5689396"/>
            <a:ext cx="247185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 total assembled from the steps above.</a:t>
            </a:r>
          </a:p>
        </p:txBody>
      </p:sp>
      <p:sp>
        <p:nvSpPr>
          <p:cNvPr id="37" name="TextBox 36"/>
          <p:cNvSpPr txBox="1"/>
          <p:nvPr/>
        </p:nvSpPr>
        <p:spPr>
          <a:xfrm>
            <a:off x="5707546" y="5689396"/>
            <a:ext cx="258243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Through its inputs — adjust a step, not the total.</a:t>
            </a:r>
          </a:p>
        </p:txBody>
      </p:sp>
      <p:sp>
        <p:nvSpPr>
          <p:cNvPr id="38" name="TextBox 37"/>
          <p:cNvSpPr txBox="1"/>
          <p:nvPr/>
        </p:nvSpPr>
        <p:spPr>
          <a:xfrm>
            <a:off x="8582584" y="5689396"/>
            <a:ext cx="2914165"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Gross Pay and Net Pay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01</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Create a computation</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From an empty form to a tested, dated, published version — every field on the way.</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register</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five-panel form</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saved record</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COMPUTATION REGISTER</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Finding the right formula before you touch anything</a:t>
            </a:r>
          </a:p>
        </p:txBody>
      </p:sp>
      <p:sp>
        <p:nvSpPr>
          <p:cNvPr id="6" name="Rounded Rectangle 5"/>
          <p:cNvSpPr/>
          <p:nvPr/>
        </p:nvSpPr>
        <p:spPr>
          <a:xfrm>
            <a:off x="566928" y="1316736"/>
            <a:ext cx="656836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register is where every finance task starts — whether you are checking an existing rule or about to add one.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 register holds both ATLAS standard formulas and any the company has added.</a:t>
            </a:r>
          </a:p>
        </p:txBody>
      </p:sp>
      <p:pic>
        <p:nvPicPr>
          <p:cNvPr id="9" name="Picture 8" descr="fg-register.png"/>
          <p:cNvPicPr>
            <a:picLocks noChangeAspect="1"/>
          </p:cNvPicPr>
          <p:nvPr/>
        </p:nvPicPr>
        <p:blipFill>
          <a:blip r:embed="rId2"/>
          <a:stretch>
            <a:fillRect/>
          </a:stretch>
        </p:blipFill>
        <p:spPr>
          <a:xfrm>
            <a:off x="566928" y="2709459"/>
            <a:ext cx="5141671" cy="3085002"/>
          </a:xfrm>
          <a:prstGeom prst="rect">
            <a:avLst/>
          </a:prstGeom>
        </p:spPr>
      </p:pic>
      <p:sp>
        <p:nvSpPr>
          <p:cNvPr id="10" name="Rounded Rectangle 9"/>
          <p:cNvSpPr/>
          <p:nvPr/>
        </p:nvSpPr>
        <p:spPr>
          <a:xfrm>
            <a:off x="6001207" y="2304288"/>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20237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657727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Search</a:t>
            </a:r>
          </a:p>
        </p:txBody>
      </p:sp>
      <p:sp>
        <p:nvSpPr>
          <p:cNvPr id="13" name="TextBox 12"/>
          <p:cNvSpPr txBox="1"/>
          <p:nvPr/>
        </p:nvSpPr>
        <p:spPr>
          <a:xfrm>
            <a:off x="6202375" y="2706624"/>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Matches code, computation name and description. Search the code when you know it; search the description when you only know the business rule.</a:t>
            </a:r>
          </a:p>
        </p:txBody>
      </p:sp>
      <p:sp>
        <p:nvSpPr>
          <p:cNvPr id="14" name="Rounded Rectangle 13"/>
          <p:cNvSpPr/>
          <p:nvPr/>
        </p:nvSpPr>
        <p:spPr>
          <a:xfrm>
            <a:off x="8881567" y="2304288"/>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908273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945763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Category filter</a:t>
            </a:r>
          </a:p>
        </p:txBody>
      </p:sp>
      <p:sp>
        <p:nvSpPr>
          <p:cNvPr id="17" name="TextBox 16"/>
          <p:cNvSpPr txBox="1"/>
          <p:nvPr/>
        </p:nvSpPr>
        <p:spPr>
          <a:xfrm>
            <a:off x="9082735" y="2706624"/>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Narrows the list to one finance family — basic pay, earnings, deductions, government, tax, bonus, benefits, take-home pay, retirement and so on.</a:t>
            </a:r>
          </a:p>
        </p:txBody>
      </p:sp>
      <p:sp>
        <p:nvSpPr>
          <p:cNvPr id="18" name="Rounded Rectangle 17"/>
          <p:cNvSpPr/>
          <p:nvPr/>
        </p:nvSpPr>
        <p:spPr>
          <a:xfrm>
            <a:off x="6001207" y="3648456"/>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202375"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577279" y="3794760"/>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Status filter</a:t>
            </a:r>
          </a:p>
        </p:txBody>
      </p:sp>
      <p:sp>
        <p:nvSpPr>
          <p:cNvPr id="21" name="TextBox 20"/>
          <p:cNvSpPr txBox="1"/>
          <p:nvPr/>
        </p:nvSpPr>
        <p:spPr>
          <a:xfrm>
            <a:off x="6202375" y="4050792"/>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Separates what may be selected now (Active) from what is retained to explain earlier payrolls (Inactive).</a:t>
            </a:r>
          </a:p>
        </p:txBody>
      </p:sp>
      <p:sp>
        <p:nvSpPr>
          <p:cNvPr id="22" name="Rounded Rectangle 21"/>
          <p:cNvSpPr/>
          <p:nvPr/>
        </p:nvSpPr>
        <p:spPr>
          <a:xfrm>
            <a:off x="8881567" y="3648456"/>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082735"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457639" y="3794760"/>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Create computation</a:t>
            </a:r>
          </a:p>
        </p:txBody>
      </p:sp>
      <p:sp>
        <p:nvSpPr>
          <p:cNvPr id="25" name="TextBox 24"/>
          <p:cNvSpPr txBox="1"/>
          <p:nvPr/>
        </p:nvSpPr>
        <p:spPr>
          <a:xfrm>
            <a:off x="9082735" y="4050792"/>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Opens the three-step form: formula setup, test calculation, change details. Covered field by field from here on.</a:t>
            </a:r>
          </a:p>
        </p:txBody>
      </p:sp>
      <p:sp>
        <p:nvSpPr>
          <p:cNvPr id="26" name="Rounded Rectangle 25"/>
          <p:cNvSpPr/>
          <p:nvPr/>
        </p:nvSpPr>
        <p:spPr>
          <a:xfrm>
            <a:off x="6001207" y="4992624"/>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202375"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6577279" y="5138928"/>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Import CSV</a:t>
            </a:r>
          </a:p>
        </p:txBody>
      </p:sp>
      <p:sp>
        <p:nvSpPr>
          <p:cNvPr id="29" name="TextBox 28"/>
          <p:cNvSpPr txBox="1"/>
          <p:nvPr/>
        </p:nvSpPr>
        <p:spPr>
          <a:xfrm>
            <a:off x="6202375" y="5394960"/>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Bulk load for a migration. Each row's expression is validated on the way in, so anything needing attention is reported rather than saved.</a:t>
            </a:r>
          </a:p>
        </p:txBody>
      </p:sp>
      <p:sp>
        <p:nvSpPr>
          <p:cNvPr id="30" name="Rounded Rectangle 29"/>
          <p:cNvSpPr/>
          <p:nvPr/>
        </p:nvSpPr>
        <p:spPr>
          <a:xfrm>
            <a:off x="8881567" y="4992624"/>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9082735"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6</a:t>
            </a:r>
          </a:p>
        </p:txBody>
      </p:sp>
      <p:sp>
        <p:nvSpPr>
          <p:cNvPr id="32" name="TextBox 31"/>
          <p:cNvSpPr txBox="1"/>
          <p:nvPr/>
        </p:nvSpPr>
        <p:spPr>
          <a:xfrm>
            <a:off x="9457639" y="5138928"/>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Download report</a:t>
            </a:r>
          </a:p>
        </p:txBody>
      </p:sp>
      <p:sp>
        <p:nvSpPr>
          <p:cNvPr id="33" name="TextBox 32"/>
          <p:cNvSpPr txBox="1"/>
          <p:nvPr/>
        </p:nvSpPr>
        <p:spPr>
          <a:xfrm>
            <a:off x="9082735" y="5394960"/>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Exports the register for review outside ATLAS — a useful attachment to a formula sign-off.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REGISTER FIELD GUIDE · 1 OF 2</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identifies a computation</a:t>
            </a:r>
          </a:p>
        </p:txBody>
      </p:sp>
      <p:sp>
        <p:nvSpPr>
          <p:cNvPr id="6" name="Rounded Rectangle 5"/>
          <p:cNvSpPr/>
          <p:nvPr/>
        </p:nvSpPr>
        <p:spPr>
          <a:xfrm>
            <a:off x="566928" y="1316736"/>
            <a:ext cx="656836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Four columns carry the identity of a rule. Get these right and everything downstream has something stable to point at.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Source · the Computations tab, with the demonstration record CUS-900 at the top of the list.</a:t>
            </a:r>
          </a:p>
        </p:txBody>
      </p:sp>
      <p:pic>
        <p:nvPicPr>
          <p:cNvPr id="9" name="Picture 8" descr="fg-columns-a.png"/>
          <p:cNvPicPr>
            <a:picLocks noChangeAspect="1"/>
          </p:cNvPicPr>
          <p:nvPr/>
        </p:nvPicPr>
        <p:blipFill>
          <a:blip r:embed="rId2"/>
          <a:stretch>
            <a:fillRect/>
          </a:stretch>
        </p:blipFill>
        <p:spPr>
          <a:xfrm>
            <a:off x="566928" y="2702582"/>
            <a:ext cx="6675120" cy="3098756"/>
          </a:xfrm>
          <a:prstGeom prst="rect">
            <a:avLst/>
          </a:prstGeom>
        </p:spPr>
      </p:pic>
      <p:sp>
        <p:nvSpPr>
          <p:cNvPr id="10" name="Rounded Rectangle 9"/>
          <p:cNvSpPr/>
          <p:nvPr/>
        </p:nvSpPr>
        <p:spPr>
          <a:xfrm>
            <a:off x="7534656" y="2304288"/>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735824"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8110728" y="2450592"/>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Code</a:t>
            </a:r>
          </a:p>
        </p:txBody>
      </p:sp>
      <p:sp>
        <p:nvSpPr>
          <p:cNvPr id="13" name="TextBox 12"/>
          <p:cNvSpPr txBox="1"/>
          <p:nvPr/>
        </p:nvSpPr>
        <p:spPr>
          <a:xfrm>
            <a:off x="7735824" y="2706624"/>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980" b="0" i="0">
                <a:solidFill>
                  <a:srgbClr val="6B6675"/>
                </a:solidFill>
                <a:latin typeface="Segoe UI"/>
              </a:rPr>
              <a:t>The permanent ID. Other modules, the payroll trail and the payslip all quote this code, so keep it stable once a version is released.</a:t>
            </a:r>
          </a:p>
        </p:txBody>
      </p:sp>
      <p:sp>
        <p:nvSpPr>
          <p:cNvPr id="14" name="Rounded Rectangle 13"/>
          <p:cNvSpPr/>
          <p:nvPr/>
        </p:nvSpPr>
        <p:spPr>
          <a:xfrm>
            <a:off x="7534656" y="3312414"/>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735824" y="344957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8110728" y="3458718"/>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Type</a:t>
            </a:r>
          </a:p>
        </p:txBody>
      </p:sp>
      <p:sp>
        <p:nvSpPr>
          <p:cNvPr id="17" name="TextBox 16"/>
          <p:cNvSpPr txBox="1"/>
          <p:nvPr/>
        </p:nvSpPr>
        <p:spPr>
          <a:xfrm>
            <a:off x="7735824" y="3714750"/>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980" b="0" i="0">
                <a:solidFill>
                  <a:srgbClr val="6B6675"/>
                </a:solidFill>
                <a:latin typeface="Segoe UI"/>
              </a:rPr>
              <a:t>Built-in is an ATLAS standard maintained centrally. Admin-defined was created for this company and is maintained here.</a:t>
            </a:r>
          </a:p>
        </p:txBody>
      </p:sp>
      <p:sp>
        <p:nvSpPr>
          <p:cNvPr id="18" name="Rounded Rectangle 17"/>
          <p:cNvSpPr/>
          <p:nvPr/>
        </p:nvSpPr>
        <p:spPr>
          <a:xfrm>
            <a:off x="7534656" y="4320540"/>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735824" y="4457700"/>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110728" y="4466844"/>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Computation</a:t>
            </a:r>
          </a:p>
        </p:txBody>
      </p:sp>
      <p:sp>
        <p:nvSpPr>
          <p:cNvPr id="21" name="TextBox 20"/>
          <p:cNvSpPr txBox="1"/>
          <p:nvPr/>
        </p:nvSpPr>
        <p:spPr>
          <a:xfrm>
            <a:off x="7735824" y="4722876"/>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1005" b="0" i="0">
                <a:solidFill>
                  <a:srgbClr val="6B6675"/>
                </a:solidFill>
                <a:latin typeface="Segoe UI"/>
              </a:rPr>
              <a:t>The business name, plus who last updated it and when. Name the amount being calculated, not the method used to calculate it.</a:t>
            </a:r>
          </a:p>
        </p:txBody>
      </p:sp>
      <p:sp>
        <p:nvSpPr>
          <p:cNvPr id="22" name="Rounded Rectangle 21"/>
          <p:cNvSpPr/>
          <p:nvPr/>
        </p:nvSpPr>
        <p:spPr>
          <a:xfrm>
            <a:off x="7534656" y="5328666"/>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735824" y="546582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8110728" y="5474970"/>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Category</a:t>
            </a:r>
          </a:p>
        </p:txBody>
      </p:sp>
      <p:sp>
        <p:nvSpPr>
          <p:cNvPr id="25" name="TextBox 24"/>
          <p:cNvSpPr txBox="1"/>
          <p:nvPr/>
        </p:nvSpPr>
        <p:spPr>
          <a:xfrm>
            <a:off x="7735824" y="5731002"/>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Decides where the formula appears when a payroll user filters, and which assignment types it suits.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REGISTER FIELD GUIDE · 2 OF 2</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tells you whether you may use it</a:t>
            </a:r>
          </a:p>
        </p:txBody>
      </p:sp>
      <p:sp>
        <p:nvSpPr>
          <p:cNvPr id="6" name="Rounded Rectangle 5"/>
          <p:cNvSpPr/>
          <p:nvPr/>
        </p:nvSpPr>
        <p:spPr>
          <a:xfrm>
            <a:off x="566928" y="1316736"/>
            <a:ext cx="656836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remaining columns answer a different question: is this rule ready to select right now, and what may I do to it?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That delete protection is real behaviour: ATLAS checks client assignments before removing a computation.</a:t>
            </a:r>
          </a:p>
        </p:txBody>
      </p:sp>
      <p:pic>
        <p:nvPicPr>
          <p:cNvPr id="9" name="Picture 8" descr="fg-columns-b.png"/>
          <p:cNvPicPr>
            <a:picLocks noChangeAspect="1"/>
          </p:cNvPicPr>
          <p:nvPr/>
        </p:nvPicPr>
        <p:blipFill>
          <a:blip r:embed="rId2"/>
          <a:stretch>
            <a:fillRect/>
          </a:stretch>
        </p:blipFill>
        <p:spPr>
          <a:xfrm>
            <a:off x="566928" y="2702582"/>
            <a:ext cx="6675120" cy="3098756"/>
          </a:xfrm>
          <a:prstGeom prst="rect">
            <a:avLst/>
          </a:prstGeom>
        </p:spPr>
      </p:pic>
      <p:sp>
        <p:nvSpPr>
          <p:cNvPr id="10" name="Rounded Rectangle 9"/>
          <p:cNvSpPr/>
          <p:nvPr/>
        </p:nvSpPr>
        <p:spPr>
          <a:xfrm>
            <a:off x="7534656" y="2304288"/>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735824"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8110728" y="2450592"/>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Formula</a:t>
            </a:r>
          </a:p>
        </p:txBody>
      </p:sp>
      <p:sp>
        <p:nvSpPr>
          <p:cNvPr id="13" name="TextBox 12"/>
          <p:cNvSpPr txBox="1"/>
          <p:nvPr/>
        </p:nvSpPr>
        <p:spPr>
          <a:xfrm>
            <a:off x="7735824" y="2706624"/>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live expression, shown in full. Variables appear in double braces so they read differently from numbers and operators.</a:t>
            </a:r>
          </a:p>
        </p:txBody>
      </p:sp>
      <p:sp>
        <p:nvSpPr>
          <p:cNvPr id="14" name="Rounded Rectangle 13"/>
          <p:cNvSpPr/>
          <p:nvPr/>
        </p:nvSpPr>
        <p:spPr>
          <a:xfrm>
            <a:off x="7534656" y="3312414"/>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735824" y="344957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8110728" y="3458718"/>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Version</a:t>
            </a:r>
          </a:p>
        </p:txBody>
      </p:sp>
      <p:sp>
        <p:nvSpPr>
          <p:cNvPr id="17" name="TextBox 16"/>
          <p:cNvSpPr txBox="1"/>
          <p:nvPr/>
        </p:nvSpPr>
        <p:spPr>
          <a:xfrm>
            <a:off x="7735824" y="3714750"/>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published version. A payroll transaction records the version it used, so this is the number an auditor reconciles against.</a:t>
            </a:r>
          </a:p>
        </p:txBody>
      </p:sp>
      <p:sp>
        <p:nvSpPr>
          <p:cNvPr id="18" name="Rounded Rectangle 17"/>
          <p:cNvSpPr/>
          <p:nvPr/>
        </p:nvSpPr>
        <p:spPr>
          <a:xfrm>
            <a:off x="7534656" y="4320540"/>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735824" y="4457700"/>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110728" y="4466844"/>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Status</a:t>
            </a:r>
          </a:p>
        </p:txBody>
      </p:sp>
      <p:sp>
        <p:nvSpPr>
          <p:cNvPr id="21" name="TextBox 20"/>
          <p:cNvSpPr txBox="1"/>
          <p:nvPr/>
        </p:nvSpPr>
        <p:spPr>
          <a:xfrm>
            <a:off x="7735824" y="4722876"/>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Active means selectable for new assignments. Inactive keeps the record readable for history while taking it out of new use.</a:t>
            </a:r>
          </a:p>
        </p:txBody>
      </p:sp>
      <p:sp>
        <p:nvSpPr>
          <p:cNvPr id="22" name="Rounded Rectangle 21"/>
          <p:cNvSpPr/>
          <p:nvPr/>
        </p:nvSpPr>
        <p:spPr>
          <a:xfrm>
            <a:off x="7534656" y="5328666"/>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735824" y="546582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8110728" y="5474970"/>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Action</a:t>
            </a:r>
          </a:p>
        </p:txBody>
      </p:sp>
      <p:sp>
        <p:nvSpPr>
          <p:cNvPr id="25" name="TextBox 24"/>
          <p:cNvSpPr txBox="1"/>
          <p:nvPr/>
        </p:nvSpPr>
        <p:spPr>
          <a:xfrm>
            <a:off x="7735824" y="5731002"/>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780" b="0" i="0">
                <a:solidFill>
                  <a:srgbClr val="6B6675"/>
                </a:solidFill>
                <a:latin typeface="Segoe UI"/>
              </a:rPr>
              <a:t>View opens the read-only record; Edit maintains a company rule. Delete is protected — ATLAS looks after a code that an active client assignment still points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BULK MAINTENANCE</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Start a bulk update from the template, not a blank sheet</a:t>
            </a:r>
          </a:p>
        </p:txBody>
      </p:sp>
      <p:sp>
        <p:nvSpPr>
          <p:cNvPr id="6" name="Rounded Rectangle 5"/>
          <p:cNvSpPr/>
          <p:nvPr/>
        </p:nvSpPr>
        <p:spPr>
          <a:xfrm>
            <a:off x="566928" y="1316736"/>
            <a:ext cx="656836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Download template gives you the exact headers the importer reads, filled with rows from this company's own library.</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Reference sources have their own template too, on each source card beside Upload version.</a:t>
            </a:r>
          </a:p>
        </p:txBody>
      </p:sp>
      <p:pic>
        <p:nvPicPr>
          <p:cNvPr id="9" name="Picture 8" descr="fg-import-template.png"/>
          <p:cNvPicPr>
            <a:picLocks noChangeAspect="1"/>
          </p:cNvPicPr>
          <p:nvPr/>
        </p:nvPicPr>
        <p:blipFill>
          <a:blip r:embed="rId2"/>
          <a:stretch>
            <a:fillRect/>
          </a:stretch>
        </p:blipFill>
        <p:spPr>
          <a:xfrm>
            <a:off x="566928" y="2836771"/>
            <a:ext cx="11057838" cy="1385626"/>
          </a:xfrm>
          <a:prstGeom prst="rect">
            <a:avLst/>
          </a:prstGeom>
        </p:spPr>
      </p:pic>
      <p:sp>
        <p:nvSpPr>
          <p:cNvPr id="10" name="Rounded Rectangle 9"/>
          <p:cNvSpPr/>
          <p:nvPr/>
        </p:nvSpPr>
        <p:spPr>
          <a:xfrm>
            <a:off x="566928" y="4478429"/>
            <a:ext cx="546033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4615589"/>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4624733"/>
            <a:ext cx="46830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Download template</a:t>
            </a:r>
          </a:p>
        </p:txBody>
      </p:sp>
      <p:sp>
        <p:nvSpPr>
          <p:cNvPr id="13" name="TextBox 12"/>
          <p:cNvSpPr txBox="1"/>
          <p:nvPr/>
        </p:nvSpPr>
        <p:spPr>
          <a:xfrm>
            <a:off x="768096" y="4880765"/>
            <a:ext cx="5058003"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required Code and Expression columns, the optional Name, Category, Status and Effective Date, three worked example rows, and a commented key listing every category, status and approved field.</a:t>
            </a:r>
          </a:p>
        </p:txBody>
      </p:sp>
      <p:sp>
        <p:nvSpPr>
          <p:cNvPr id="14" name="Rounded Rectangle 13"/>
          <p:cNvSpPr/>
          <p:nvPr/>
        </p:nvSpPr>
        <p:spPr>
          <a:xfrm>
            <a:off x="6164427" y="4478429"/>
            <a:ext cx="546033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365595" y="4615589"/>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6740499" y="4624733"/>
            <a:ext cx="46830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Import CSV</a:t>
            </a:r>
          </a:p>
        </p:txBody>
      </p:sp>
      <p:sp>
        <p:nvSpPr>
          <p:cNvPr id="17" name="TextBox 16"/>
          <p:cNvSpPr txBox="1"/>
          <p:nvPr/>
        </p:nvSpPr>
        <p:spPr>
          <a:xfrm>
            <a:off x="6365595" y="4880765"/>
            <a:ext cx="5058003"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Reads the same headers back. Each expression is validated on the way in, so a row that needs attention is reported rather than saved.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DEMONSTRATION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Creating CUS-900, start to finish</a:t>
            </a:r>
          </a:p>
        </p:txBody>
      </p:sp>
      <p:sp>
        <p:nvSpPr>
          <p:cNvPr id="6" name="Rounded Rectangle 5"/>
          <p:cNvSpPr/>
          <p:nvPr/>
        </p:nvSpPr>
        <p:spPr>
          <a:xfrm>
            <a:off x="566928" y="1316736"/>
            <a:ext cx="78955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A company allowance valued from an approved unit count and an assigned unit rate. Watch it once here; the next five pages take it apart field by field.</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Captured live; the animation is the real prototype, not a mock-up.</a:t>
            </a:r>
          </a:p>
        </p:txBody>
      </p:sp>
      <p:pic>
        <p:nvPicPr>
          <p:cNvPr id="9" name="Picture 8" descr="computation-creation-walkthrough.gif"/>
          <p:cNvPicPr>
            <a:picLocks noChangeAspect="1"/>
          </p:cNvPicPr>
          <p:nvPr/>
        </p:nvPicPr>
        <p:blipFill>
          <a:blip r:embed="rId2"/>
          <a:stretch>
            <a:fillRect/>
          </a:stretch>
        </p:blipFill>
        <p:spPr>
          <a:xfrm>
            <a:off x="566928" y="2340864"/>
            <a:ext cx="5299417" cy="3803904"/>
          </a:xfrm>
          <a:prstGeom prst="rect">
            <a:avLst/>
          </a:prstGeom>
        </p:spPr>
      </p:pic>
      <p:sp>
        <p:nvSpPr>
          <p:cNvPr id="10" name="Oval 9"/>
          <p:cNvSpPr/>
          <p:nvPr/>
        </p:nvSpPr>
        <p:spPr>
          <a:xfrm>
            <a:off x="8220456" y="2340864"/>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1</a:t>
            </a:r>
          </a:p>
        </p:txBody>
      </p:sp>
      <p:sp>
        <p:nvSpPr>
          <p:cNvPr id="11" name="TextBox 10"/>
          <p:cNvSpPr txBox="1"/>
          <p:nvPr/>
        </p:nvSpPr>
        <p:spPr>
          <a:xfrm>
            <a:off x="8622792" y="2359152"/>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Describe the rule</a:t>
            </a:r>
          </a:p>
        </p:txBody>
      </p:sp>
      <p:sp>
        <p:nvSpPr>
          <p:cNvPr id="12" name="TextBox 11"/>
          <p:cNvSpPr txBox="1"/>
          <p:nvPr/>
        </p:nvSpPr>
        <p:spPr>
          <a:xfrm>
            <a:off x="8622792" y="2615184"/>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Code CUS-900, a business name, the Earnings category, and a description that states what it excludes.</a:t>
            </a:r>
          </a:p>
        </p:txBody>
      </p:sp>
      <p:sp>
        <p:nvSpPr>
          <p:cNvPr id="13" name="Oval 12"/>
          <p:cNvSpPr/>
          <p:nvPr/>
        </p:nvSpPr>
        <p:spPr>
          <a:xfrm>
            <a:off x="8220456" y="3182112"/>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2</a:t>
            </a:r>
          </a:p>
        </p:txBody>
      </p:sp>
      <p:sp>
        <p:nvSpPr>
          <p:cNvPr id="14" name="TextBox 13"/>
          <p:cNvSpPr txBox="1"/>
          <p:nvPr/>
        </p:nvSpPr>
        <p:spPr>
          <a:xfrm>
            <a:off x="8622792" y="3200400"/>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Build the expression</a:t>
            </a:r>
          </a:p>
        </p:txBody>
      </p:sp>
      <p:sp>
        <p:nvSpPr>
          <p:cNvPr id="15" name="TextBox 14"/>
          <p:cNvSpPr txBox="1"/>
          <p:nvPr/>
        </p:nvSpPr>
        <p:spPr>
          <a:xfrm>
            <a:off x="8622792" y="3456432"/>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Insert allowance_units, apply ×, insert allowance_unit_rate. Both tokens come from the approved palette.</a:t>
            </a:r>
          </a:p>
        </p:txBody>
      </p:sp>
      <p:sp>
        <p:nvSpPr>
          <p:cNvPr id="16" name="Oval 15"/>
          <p:cNvSpPr/>
          <p:nvPr/>
        </p:nvSpPr>
        <p:spPr>
          <a:xfrm>
            <a:off x="8220456" y="4023360"/>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3</a:t>
            </a:r>
          </a:p>
        </p:txBody>
      </p:sp>
      <p:sp>
        <p:nvSpPr>
          <p:cNvPr id="17" name="TextBox 16"/>
          <p:cNvSpPr txBox="1"/>
          <p:nvPr/>
        </p:nvSpPr>
        <p:spPr>
          <a:xfrm>
            <a:off x="8622792" y="4041648"/>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Test it</a:t>
            </a:r>
          </a:p>
        </p:txBody>
      </p:sp>
      <p:sp>
        <p:nvSpPr>
          <p:cNvPr id="18" name="TextBox 17"/>
          <p:cNvSpPr txBox="1"/>
          <p:nvPr/>
        </p:nvSpPr>
        <p:spPr>
          <a:xfrm>
            <a:off x="8622792" y="4297680"/>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8 units × ₱250 returns ₱2,000, matching the manual calculation.</a:t>
            </a:r>
          </a:p>
        </p:txBody>
      </p:sp>
      <p:sp>
        <p:nvSpPr>
          <p:cNvPr id="19" name="Oval 18"/>
          <p:cNvSpPr/>
          <p:nvPr/>
        </p:nvSpPr>
        <p:spPr>
          <a:xfrm>
            <a:off x="8220456" y="4864608"/>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4</a:t>
            </a:r>
          </a:p>
        </p:txBody>
      </p:sp>
      <p:sp>
        <p:nvSpPr>
          <p:cNvPr id="20" name="TextBox 19"/>
          <p:cNvSpPr txBox="1"/>
          <p:nvPr/>
        </p:nvSpPr>
        <p:spPr>
          <a:xfrm>
            <a:off x="8622792" y="4882896"/>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Date and explain it</a:t>
            </a:r>
          </a:p>
        </p:txBody>
      </p:sp>
      <p:sp>
        <p:nvSpPr>
          <p:cNvPr id="21" name="TextBox 20"/>
          <p:cNvSpPr txBox="1"/>
          <p:nvPr/>
        </p:nvSpPr>
        <p:spPr>
          <a:xfrm>
            <a:off x="8622792" y="5138928"/>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Effective 1 September 2026, version 1.0, with a change note a reviewer can use.</a:t>
            </a:r>
          </a:p>
        </p:txBody>
      </p:sp>
      <p:sp>
        <p:nvSpPr>
          <p:cNvPr id="22" name="Rounded Rectangle 21"/>
          <p:cNvSpPr/>
          <p:nvPr/>
        </p:nvSpPr>
        <p:spPr>
          <a:xfrm>
            <a:off x="8220456" y="5559552"/>
            <a:ext cx="3404311" cy="512064"/>
          </a:xfrm>
          <a:prstGeom prst="roundRect">
            <a:avLst>
              <a:gd name="adj" fmla="val 8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050" b="1">
                <a:solidFill>
                  <a:srgbClr val="54248F"/>
                </a:solidFill>
                <a:latin typeface="Segoe UI Semibold"/>
              </a:rPr>
              <a:t>ANIMATED CAPTURE  ·  PLAYS IN SLIDE SHOW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CREATE COMPUTATION · 1 OF 5</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business details, in plain language</a:t>
            </a:r>
          </a:p>
        </p:txBody>
      </p:sp>
      <p:sp>
        <p:nvSpPr>
          <p:cNvPr id="6" name="Rounded Rectangle 5"/>
          <p:cNvSpPr/>
          <p:nvPr/>
        </p:nvSpPr>
        <p:spPr>
          <a:xfrm>
            <a:off x="566928" y="1316736"/>
            <a:ext cx="88861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 › Formula setup</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Everything on this panel is written for the person who will read the rule in two years, not for the person typing it today.</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record · CUS-900 Variable Allowance by Approved Units.</a:t>
            </a:r>
          </a:p>
        </p:txBody>
      </p:sp>
      <p:pic>
        <p:nvPicPr>
          <p:cNvPr id="9" name="Picture 8" descr="fg-create-details.png"/>
          <p:cNvPicPr>
            <a:picLocks noChangeAspect="1"/>
          </p:cNvPicPr>
          <p:nvPr/>
        </p:nvPicPr>
        <p:blipFill>
          <a:blip r:embed="rId2"/>
          <a:stretch>
            <a:fillRect/>
          </a:stretch>
        </p:blipFill>
        <p:spPr>
          <a:xfrm>
            <a:off x="566928" y="2304288"/>
            <a:ext cx="4660762" cy="3895343"/>
          </a:xfrm>
          <a:prstGeom prst="rect">
            <a:avLst/>
          </a:prstGeom>
        </p:spPr>
      </p:pic>
      <p:sp>
        <p:nvSpPr>
          <p:cNvPr id="10" name="Rounded Rectangle 9"/>
          <p:cNvSpPr/>
          <p:nvPr/>
        </p:nvSpPr>
        <p:spPr>
          <a:xfrm>
            <a:off x="5520298" y="2304288"/>
            <a:ext cx="2983654"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5721466"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6096370" y="2450592"/>
            <a:ext cx="2206414"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Computation code</a:t>
            </a:r>
          </a:p>
        </p:txBody>
      </p:sp>
      <p:sp>
        <p:nvSpPr>
          <p:cNvPr id="13" name="TextBox 12"/>
          <p:cNvSpPr txBox="1"/>
          <p:nvPr/>
        </p:nvSpPr>
        <p:spPr>
          <a:xfrm>
            <a:off x="5721466" y="2706624"/>
            <a:ext cx="2581318"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Required and unique. ATLAS upper-cases it and keeps it fixed once saved. Choose a code that reads as a family — CUS- for company rules, ERN- for earnings.</a:t>
            </a:r>
          </a:p>
        </p:txBody>
      </p:sp>
      <p:sp>
        <p:nvSpPr>
          <p:cNvPr id="14" name="Rounded Rectangle 13"/>
          <p:cNvSpPr/>
          <p:nvPr/>
        </p:nvSpPr>
        <p:spPr>
          <a:xfrm>
            <a:off x="8641112" y="2304288"/>
            <a:ext cx="2983654"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8842280"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9217184" y="2450592"/>
            <a:ext cx="2206414"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Computation name</a:t>
            </a:r>
          </a:p>
        </p:txBody>
      </p:sp>
      <p:sp>
        <p:nvSpPr>
          <p:cNvPr id="17" name="TextBox 16"/>
          <p:cNvSpPr txBox="1"/>
          <p:nvPr/>
        </p:nvSpPr>
        <p:spPr>
          <a:xfrm>
            <a:off x="8842280" y="2706624"/>
            <a:ext cx="2581318"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Required. Use the wording that will appear on the assignment list and in conversation with payroll.</a:t>
            </a:r>
          </a:p>
        </p:txBody>
      </p:sp>
      <p:sp>
        <p:nvSpPr>
          <p:cNvPr id="18" name="Rounded Rectangle 17"/>
          <p:cNvSpPr/>
          <p:nvPr/>
        </p:nvSpPr>
        <p:spPr>
          <a:xfrm>
            <a:off x="5520298" y="3648456"/>
            <a:ext cx="2983654"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721466"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096370" y="3794760"/>
            <a:ext cx="2206414"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Category</a:t>
            </a:r>
          </a:p>
        </p:txBody>
      </p:sp>
      <p:sp>
        <p:nvSpPr>
          <p:cNvPr id="21" name="TextBox 20"/>
          <p:cNvSpPr txBox="1"/>
          <p:nvPr/>
        </p:nvSpPr>
        <p:spPr>
          <a:xfrm>
            <a:off x="5721466" y="4050792"/>
            <a:ext cx="2581318"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Choose the category of the result, not of the inputs. An allowance calculated from hours is still an earning.</a:t>
            </a:r>
          </a:p>
        </p:txBody>
      </p:sp>
      <p:sp>
        <p:nvSpPr>
          <p:cNvPr id="22" name="Rounded Rectangle 21"/>
          <p:cNvSpPr/>
          <p:nvPr/>
        </p:nvSpPr>
        <p:spPr>
          <a:xfrm>
            <a:off x="8641112" y="3648456"/>
            <a:ext cx="2983654"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8842280"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217184" y="3794760"/>
            <a:ext cx="2206414"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Status</a:t>
            </a:r>
          </a:p>
        </p:txBody>
      </p:sp>
      <p:sp>
        <p:nvSpPr>
          <p:cNvPr id="25" name="TextBox 24"/>
          <p:cNvSpPr txBox="1"/>
          <p:nvPr/>
        </p:nvSpPr>
        <p:spPr>
          <a:xfrm>
            <a:off x="8842280" y="4050792"/>
            <a:ext cx="2581318"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Set it Active once the formula, its inputs and its consuming step are agreed. Inactive is the comfortable state while it is still under review.</a:t>
            </a:r>
          </a:p>
        </p:txBody>
      </p:sp>
      <p:sp>
        <p:nvSpPr>
          <p:cNvPr id="26" name="Rounded Rectangle 25"/>
          <p:cNvSpPr/>
          <p:nvPr/>
        </p:nvSpPr>
        <p:spPr>
          <a:xfrm>
            <a:off x="5520298" y="4992624"/>
            <a:ext cx="2983654"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5721466"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6096370" y="5138928"/>
            <a:ext cx="2206414"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Description</a:t>
            </a:r>
          </a:p>
        </p:txBody>
      </p:sp>
      <p:sp>
        <p:nvSpPr>
          <p:cNvPr id="29" name="TextBox 28"/>
          <p:cNvSpPr txBox="1"/>
          <p:nvPr/>
        </p:nvSpPr>
        <p:spPr>
          <a:xfrm>
            <a:off x="5721466" y="5394960"/>
            <a:ext cx="2581318"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Required, and the most valuable field on the panel. State the rule, what it includes, and — just as usefully — what it excludes.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CREATE COMPUTATION · 2 OF 5</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Building the expression from approved parts</a:t>
            </a:r>
          </a:p>
        </p:txBody>
      </p:sp>
      <p:sp>
        <p:nvSpPr>
          <p:cNvPr id="6" name="Rounded Rectangle 5"/>
          <p:cNvSpPr/>
          <p:nvPr/>
        </p:nvSpPr>
        <p:spPr>
          <a:xfrm>
            <a:off x="566928" y="1316736"/>
            <a:ext cx="88861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 › Formula setup</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formula is assembled from a controlled palette of payroll fields and operators. That is what keeps the library governable.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ATLAS validates the expression before the record can be saved.</a:t>
            </a:r>
          </a:p>
        </p:txBody>
      </p:sp>
      <p:pic>
        <p:nvPicPr>
          <p:cNvPr id="9" name="Picture 8" descr="fg-create-expression.png"/>
          <p:cNvPicPr>
            <a:picLocks noChangeAspect="1"/>
          </p:cNvPicPr>
          <p:nvPr/>
        </p:nvPicPr>
        <p:blipFill>
          <a:blip r:embed="rId2"/>
          <a:stretch>
            <a:fillRect/>
          </a:stretch>
        </p:blipFill>
        <p:spPr>
          <a:xfrm>
            <a:off x="1757058" y="2304288"/>
            <a:ext cx="8677578" cy="2235708"/>
          </a:xfrm>
          <a:prstGeom prst="rect">
            <a:avLst/>
          </a:prstGeom>
        </p:spPr>
      </p:pic>
      <p:sp>
        <p:nvSpPr>
          <p:cNvPr id="10" name="Rounded Rectangle 9"/>
          <p:cNvSpPr/>
          <p:nvPr/>
        </p:nvSpPr>
        <p:spPr>
          <a:xfrm>
            <a:off x="566928" y="4796028"/>
            <a:ext cx="266158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494233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Formula expression</a:t>
            </a:r>
          </a:p>
        </p:txBody>
      </p:sp>
      <p:sp>
        <p:nvSpPr>
          <p:cNvPr id="13" name="TextBox 12"/>
          <p:cNvSpPr txBox="1"/>
          <p:nvPr/>
        </p:nvSpPr>
        <p:spPr>
          <a:xfrm>
            <a:off x="768096" y="5198364"/>
            <a:ext cx="2259253" cy="90068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arithmetic ATLAS will evaluate. Build it in the order finance checks it on paper, so the two can be compared line for line.</a:t>
            </a:r>
          </a:p>
        </p:txBody>
      </p:sp>
      <p:sp>
        <p:nvSpPr>
          <p:cNvPr id="14" name="Rounded Rectangle 13"/>
          <p:cNvSpPr/>
          <p:nvPr/>
        </p:nvSpPr>
        <p:spPr>
          <a:xfrm>
            <a:off x="3365677" y="4796028"/>
            <a:ext cx="266158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566845"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941749" y="494233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Approved field</a:t>
            </a:r>
          </a:p>
        </p:txBody>
      </p:sp>
      <p:sp>
        <p:nvSpPr>
          <p:cNvPr id="17" name="TextBox 16"/>
          <p:cNvSpPr txBox="1"/>
          <p:nvPr/>
        </p:nvSpPr>
        <p:spPr>
          <a:xfrm>
            <a:off x="3566845" y="5198364"/>
            <a:ext cx="2259253" cy="90068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palette of payroll fields ATLAS can supply, each with a fixed token and a sample value. Adding a new field is a conversation with the module that owns the data.</a:t>
            </a:r>
          </a:p>
        </p:txBody>
      </p:sp>
      <p:sp>
        <p:nvSpPr>
          <p:cNvPr id="18" name="Rounded Rectangle 17"/>
          <p:cNvSpPr/>
          <p:nvPr/>
        </p:nvSpPr>
        <p:spPr>
          <a:xfrm>
            <a:off x="6164426" y="4796028"/>
            <a:ext cx="266158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365594"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740498" y="494233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Insert field</a:t>
            </a:r>
          </a:p>
        </p:txBody>
      </p:sp>
      <p:sp>
        <p:nvSpPr>
          <p:cNvPr id="21" name="TextBox 20"/>
          <p:cNvSpPr txBox="1"/>
          <p:nvPr/>
        </p:nvSpPr>
        <p:spPr>
          <a:xfrm>
            <a:off x="6365594" y="5198364"/>
            <a:ext cx="2259253" cy="90068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Places the token at the cursor and adds its row to the mapped-field table below, so the dependency list always matches the expression.</a:t>
            </a:r>
          </a:p>
        </p:txBody>
      </p:sp>
      <p:sp>
        <p:nvSpPr>
          <p:cNvPr id="22" name="Rounded Rectangle 21"/>
          <p:cNvSpPr/>
          <p:nvPr/>
        </p:nvSpPr>
        <p:spPr>
          <a:xfrm>
            <a:off x="8963175" y="4796028"/>
            <a:ext cx="266158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164343"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539247" y="494233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Operator palette</a:t>
            </a:r>
          </a:p>
        </p:txBody>
      </p:sp>
      <p:sp>
        <p:nvSpPr>
          <p:cNvPr id="25" name="TextBox 24"/>
          <p:cNvSpPr txBox="1"/>
          <p:nvPr/>
        </p:nvSpPr>
        <p:spPr>
          <a:xfrm>
            <a:off x="9164343" y="5198364"/>
            <a:ext cx="2259253" cy="90068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Plus, minus, multiply, divide, parentheses, MIN( and MAX(. MIN and MAX are how a ceiling or a floor is expressed without writing a second rule.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CREATE COMPUTATION · BUILDING ON A FORMULA</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 formula can build on one you have already published</a:t>
            </a:r>
          </a:p>
        </p:txBody>
      </p:sp>
      <p:sp>
        <p:nvSpPr>
          <p:cNvPr id="6" name="Rounded Rectangle 5"/>
          <p:cNvSpPr/>
          <p:nvPr/>
        </p:nvSpPr>
        <p:spPr>
          <a:xfrm>
            <a:off x="566928" y="1316736"/>
            <a:ext cx="88861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 › Formula setup</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Rather than retyping the arithmetic of an existing rule, point at it. The published formula stays the single definition, and this one follows it.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ATLAS protects the chain: a self-reference, a loop, or an inactive computation is named on the spot and returns you to Formula setup.</a:t>
            </a:r>
          </a:p>
        </p:txBody>
      </p:sp>
      <p:pic>
        <p:nvPicPr>
          <p:cNvPr id="9" name="Picture 8" descr="fg-formula-reference.png"/>
          <p:cNvPicPr>
            <a:picLocks noChangeAspect="1"/>
          </p:cNvPicPr>
          <p:nvPr/>
        </p:nvPicPr>
        <p:blipFill>
          <a:blip r:embed="rId2"/>
          <a:stretch>
            <a:fillRect/>
          </a:stretch>
        </p:blipFill>
        <p:spPr>
          <a:xfrm>
            <a:off x="566928" y="2814803"/>
            <a:ext cx="6675120" cy="2874313"/>
          </a:xfrm>
          <a:prstGeom prst="rect">
            <a:avLst/>
          </a:prstGeom>
        </p:spPr>
      </p:pic>
      <p:sp>
        <p:nvSpPr>
          <p:cNvPr id="10" name="Rounded Rectangle 9"/>
          <p:cNvSpPr/>
          <p:nvPr/>
        </p:nvSpPr>
        <p:spPr>
          <a:xfrm>
            <a:off x="7534656" y="2304288"/>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735824"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8110728" y="2450592"/>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Published computation</a:t>
            </a:r>
          </a:p>
        </p:txBody>
      </p:sp>
      <p:sp>
        <p:nvSpPr>
          <p:cNvPr id="13" name="TextBox 12"/>
          <p:cNvSpPr txBox="1"/>
          <p:nvPr/>
        </p:nvSpPr>
        <p:spPr>
          <a:xfrm>
            <a:off x="7735824" y="2706624"/>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Every active computation in the library, offered as code plus name. The record you are editing is never in the list.</a:t>
            </a:r>
          </a:p>
        </p:txBody>
      </p:sp>
      <p:sp>
        <p:nvSpPr>
          <p:cNvPr id="14" name="Rounded Rectangle 13"/>
          <p:cNvSpPr/>
          <p:nvPr/>
        </p:nvSpPr>
        <p:spPr>
          <a:xfrm>
            <a:off x="7534656" y="3312414"/>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735824" y="344957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8110728" y="3458718"/>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Insert computation</a:t>
            </a:r>
          </a:p>
        </p:txBody>
      </p:sp>
      <p:sp>
        <p:nvSpPr>
          <p:cNvPr id="17" name="TextBox 16"/>
          <p:cNvSpPr txBox="1"/>
          <p:nvPr/>
        </p:nvSpPr>
        <p:spPr>
          <a:xfrm>
            <a:off x="7735824" y="3714750"/>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Places the code as a token in the expression, exactly as Insert field does for an approved field.</a:t>
            </a:r>
          </a:p>
        </p:txBody>
      </p:sp>
      <p:sp>
        <p:nvSpPr>
          <p:cNvPr id="18" name="Rounded Rectangle 17"/>
          <p:cNvSpPr/>
          <p:nvPr/>
        </p:nvSpPr>
        <p:spPr>
          <a:xfrm>
            <a:off x="7534656" y="4320540"/>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735824" y="4457700"/>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110728" y="4466844"/>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expression</a:t>
            </a:r>
          </a:p>
        </p:txBody>
      </p:sp>
      <p:sp>
        <p:nvSpPr>
          <p:cNvPr id="21" name="TextBox 20"/>
          <p:cNvSpPr txBox="1"/>
          <p:nvPr/>
        </p:nvSpPr>
        <p:spPr>
          <a:xfrm>
            <a:off x="7735824" y="4722876"/>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Field tokens and computation tokens sit side by side. Here, the published hourly rate multiplied by approved overtime hours.</a:t>
            </a:r>
          </a:p>
        </p:txBody>
      </p:sp>
      <p:sp>
        <p:nvSpPr>
          <p:cNvPr id="22" name="Rounded Rectangle 21"/>
          <p:cNvSpPr/>
          <p:nvPr/>
        </p:nvSpPr>
        <p:spPr>
          <a:xfrm>
            <a:off x="7534656" y="5328666"/>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735824" y="546582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8110728" y="5474970"/>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It appears as a dependency</a:t>
            </a:r>
          </a:p>
        </p:txBody>
      </p:sp>
      <p:sp>
        <p:nvSpPr>
          <p:cNvPr id="25" name="TextBox 24"/>
          <p:cNvSpPr txBox="1"/>
          <p:nvPr/>
        </p:nvSpPr>
        <p:spPr>
          <a:xfrm>
            <a:off x="7735824" y="5731002"/>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905" b="0" i="0">
                <a:solidFill>
                  <a:srgbClr val="6B6675"/>
                </a:solidFill>
                <a:latin typeface="Segoe UI"/>
              </a:rPr>
              <a:t>The mapped-field table gains a Kind column and lists the computation with its own expression, so the chain is visible without leaving the form.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CREATE COMPUTATION · 3 OF 5</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Mapped fields list every dependency</a:t>
            </a:r>
          </a:p>
        </p:txBody>
      </p:sp>
      <p:sp>
        <p:nvSpPr>
          <p:cNvPr id="6" name="Rounded Rectangle 5"/>
          <p:cNvSpPr/>
          <p:nvPr/>
        </p:nvSpPr>
        <p:spPr>
          <a:xfrm>
            <a:off x="566928" y="1316736"/>
            <a:ext cx="88861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 › Formula setup</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table builds itself as you write the expression. Read it as the checklist of values the calculation will need when it runs.</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Alongside this table, agree the owning module, data type, unit of measure and timing for each token — see 'Five decisions'.</a:t>
            </a:r>
          </a:p>
        </p:txBody>
      </p:sp>
      <p:pic>
        <p:nvPicPr>
          <p:cNvPr id="9" name="Picture 8" descr="fg-create-mapped.png"/>
          <p:cNvPicPr>
            <a:picLocks noChangeAspect="1"/>
          </p:cNvPicPr>
          <p:nvPr/>
        </p:nvPicPr>
        <p:blipFill>
          <a:blip r:embed="rId2"/>
          <a:stretch>
            <a:fillRect/>
          </a:stretch>
        </p:blipFill>
        <p:spPr>
          <a:xfrm>
            <a:off x="566928" y="2575693"/>
            <a:ext cx="11057838" cy="1907781"/>
          </a:xfrm>
          <a:prstGeom prst="rect">
            <a:avLst/>
          </a:prstGeom>
        </p:spPr>
      </p:pic>
      <p:sp>
        <p:nvSpPr>
          <p:cNvPr id="10" name="Rounded Rectangle 9"/>
          <p:cNvSpPr/>
          <p:nvPr/>
        </p:nvSpPr>
        <p:spPr>
          <a:xfrm>
            <a:off x="566928" y="4739506"/>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487666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4885810"/>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Mapped field</a:t>
            </a:r>
          </a:p>
        </p:txBody>
      </p:sp>
      <p:sp>
        <p:nvSpPr>
          <p:cNvPr id="13" name="TextBox 12"/>
          <p:cNvSpPr txBox="1"/>
          <p:nvPr/>
        </p:nvSpPr>
        <p:spPr>
          <a:xfrm>
            <a:off x="768096" y="5141842"/>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exact token a consuming step supplies. This is the contract between the formula and the module that feeds it.</a:t>
            </a:r>
          </a:p>
        </p:txBody>
      </p:sp>
      <p:sp>
        <p:nvSpPr>
          <p:cNvPr id="14" name="Rounded Rectangle 13"/>
          <p:cNvSpPr/>
          <p:nvPr/>
        </p:nvSpPr>
        <p:spPr>
          <a:xfrm>
            <a:off x="4298594" y="4739506"/>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99762" y="487666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4874666" y="4885810"/>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Atlas source</a:t>
            </a:r>
          </a:p>
        </p:txBody>
      </p:sp>
      <p:sp>
        <p:nvSpPr>
          <p:cNvPr id="17" name="TextBox 16"/>
          <p:cNvSpPr txBox="1"/>
          <p:nvPr/>
        </p:nvSpPr>
        <p:spPr>
          <a:xfrm>
            <a:off x="4499762" y="5141842"/>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approved field the token resolves to, in business wording — confirmation that the expression is built from recognised inputs.</a:t>
            </a:r>
          </a:p>
        </p:txBody>
      </p:sp>
      <p:sp>
        <p:nvSpPr>
          <p:cNvPr id="18" name="Rounded Rectangle 17"/>
          <p:cNvSpPr/>
          <p:nvPr/>
        </p:nvSpPr>
        <p:spPr>
          <a:xfrm>
            <a:off x="8030260" y="4739506"/>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231428" y="487666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606332" y="4885810"/>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Sample value</a:t>
            </a:r>
          </a:p>
        </p:txBody>
      </p:sp>
      <p:sp>
        <p:nvSpPr>
          <p:cNvPr id="21" name="TextBox 20"/>
          <p:cNvSpPr txBox="1"/>
          <p:nvPr/>
        </p:nvSpPr>
        <p:spPr>
          <a:xfrm>
            <a:off x="8231428" y="5141842"/>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 controlled example from the palette, useful for sanity-checking the scale of the result during setup.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CREATE COMPUTATION · 4 OF 5</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Testing before you publish</a:t>
            </a:r>
          </a:p>
        </p:txBody>
      </p:sp>
      <p:sp>
        <p:nvSpPr>
          <p:cNvPr id="6" name="Rounded Rectangle 5"/>
          <p:cNvSpPr/>
          <p:nvPr/>
        </p:nvSpPr>
        <p:spPr>
          <a:xfrm>
            <a:off x="566928" y="1316736"/>
            <a:ext cx="8958939"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 › Test calculation</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test confirms the expression evaluates cleanly with values you choose. Whether the business policy behind it is right stays a finance judgement.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 8 approved units × ₱250 returns ₱2,000, matching the manual calculation.</a:t>
            </a:r>
          </a:p>
        </p:txBody>
      </p:sp>
      <p:pic>
        <p:nvPicPr>
          <p:cNvPr id="9" name="Picture 8" descr="fg-create-test.png"/>
          <p:cNvPicPr>
            <a:picLocks noChangeAspect="1"/>
          </p:cNvPicPr>
          <p:nvPr/>
        </p:nvPicPr>
        <p:blipFill>
          <a:blip r:embed="rId2"/>
          <a:stretch>
            <a:fillRect/>
          </a:stretch>
        </p:blipFill>
        <p:spPr>
          <a:xfrm>
            <a:off x="1376189" y="2304288"/>
            <a:ext cx="9439317" cy="2450592"/>
          </a:xfrm>
          <a:prstGeom prst="rect">
            <a:avLst/>
          </a:prstGeom>
        </p:spPr>
      </p:pic>
      <p:sp>
        <p:nvSpPr>
          <p:cNvPr id="10" name="Rounded Rectangle 9"/>
          <p:cNvSpPr/>
          <p:nvPr/>
        </p:nvSpPr>
        <p:spPr>
          <a:xfrm>
            <a:off x="566928" y="5010912"/>
            <a:ext cx="546033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46830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One input per mapped field</a:t>
            </a:r>
          </a:p>
        </p:txBody>
      </p:sp>
      <p:sp>
        <p:nvSpPr>
          <p:cNvPr id="13" name="TextBox 12"/>
          <p:cNvSpPr txBox="1"/>
          <p:nvPr/>
        </p:nvSpPr>
        <p:spPr>
          <a:xfrm>
            <a:off x="768096" y="5413248"/>
            <a:ext cx="5058003"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ATLAS generates a numeric box for every token. Use values a reviewer can recompute by hand rather than realistic-looking noise.</a:t>
            </a:r>
          </a:p>
        </p:txBody>
      </p:sp>
      <p:sp>
        <p:nvSpPr>
          <p:cNvPr id="14" name="Rounded Rectangle 13"/>
          <p:cNvSpPr/>
          <p:nvPr/>
        </p:nvSpPr>
        <p:spPr>
          <a:xfrm>
            <a:off x="6164427" y="5010912"/>
            <a:ext cx="546033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365595"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6740499" y="5157216"/>
            <a:ext cx="46830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Run test</a:t>
            </a:r>
          </a:p>
        </p:txBody>
      </p:sp>
      <p:sp>
        <p:nvSpPr>
          <p:cNvPr id="17" name="TextBox 16"/>
          <p:cNvSpPr txBox="1"/>
          <p:nvPr/>
        </p:nvSpPr>
        <p:spPr>
          <a:xfrm>
            <a:off x="6365595" y="5413248"/>
            <a:ext cx="5058003"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Evaluates the draft in place. Nothing is saved, no payroll transaction is created and no employee record changes.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CREATE COMPUTATION · TESTING A CHAIN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Testing collects the inputs of the whole chain</a:t>
            </a:r>
          </a:p>
        </p:txBody>
      </p:sp>
      <p:sp>
        <p:nvSpPr>
          <p:cNvPr id="6" name="Rounded Rectangle 5"/>
          <p:cNvSpPr/>
          <p:nvPr/>
        </p:nvSpPr>
        <p:spPr>
          <a:xfrm>
            <a:off x="566928" y="1316736"/>
            <a:ext cx="8958939"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 › Test calculation</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You are asked for the values at the bottom of the chain, not for a figure you would have to work out first.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 a daily rate of ₱1,600 over an 8-hour day, applied to 10 approved overtime hours, returns ₱2,000.</a:t>
            </a:r>
          </a:p>
        </p:txBody>
      </p:sp>
      <p:pic>
        <p:nvPicPr>
          <p:cNvPr id="9" name="Picture 8" descr="fg-reference-test.png"/>
          <p:cNvPicPr>
            <a:picLocks noChangeAspect="1"/>
          </p:cNvPicPr>
          <p:nvPr/>
        </p:nvPicPr>
        <p:blipFill>
          <a:blip r:embed="rId2"/>
          <a:stretch>
            <a:fillRect/>
          </a:stretch>
        </p:blipFill>
        <p:spPr>
          <a:xfrm>
            <a:off x="2184802" y="2304288"/>
            <a:ext cx="7822091" cy="2450592"/>
          </a:xfrm>
          <a:prstGeom prst="rect">
            <a:avLst/>
          </a:prstGeom>
        </p:spPr>
      </p:pic>
      <p:sp>
        <p:nvSpPr>
          <p:cNvPr id="10" name="Rounded Rectangle 9"/>
          <p:cNvSpPr/>
          <p:nvPr/>
        </p:nvSpPr>
        <p:spPr>
          <a:xfrm>
            <a:off x="566928"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What it builds on</a:t>
            </a:r>
          </a:p>
        </p:txBody>
      </p:sp>
      <p:sp>
        <p:nvSpPr>
          <p:cNvPr id="13" name="TextBox 12"/>
          <p:cNvSpPr txBox="1"/>
          <p:nvPr/>
        </p:nvSpPr>
        <p:spPr>
          <a:xfrm>
            <a:off x="768096"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Names the computations this formula depends on, so a reviewer knows the test covers more than the expression on screen.</a:t>
            </a:r>
          </a:p>
        </p:txBody>
      </p:sp>
      <p:sp>
        <p:nvSpPr>
          <p:cNvPr id="14" name="Rounded Rectangle 13"/>
          <p:cNvSpPr/>
          <p:nvPr/>
        </p:nvSpPr>
        <p:spPr>
          <a:xfrm>
            <a:off x="4298594"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99762"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4874666"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Inputs for the whole chain</a:t>
            </a:r>
          </a:p>
        </p:txBody>
      </p:sp>
      <p:sp>
        <p:nvSpPr>
          <p:cNvPr id="17" name="TextBox 16"/>
          <p:cNvSpPr txBox="1"/>
          <p:nvPr/>
        </p:nvSpPr>
        <p:spPr>
          <a:xfrm>
            <a:off x="4499762"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referenced hourly rate needs a daily rate and hours per workday, so ATLAS asks for those rather than for an hourly rate.</a:t>
            </a:r>
          </a:p>
        </p:txBody>
      </p:sp>
      <p:sp>
        <p:nvSpPr>
          <p:cNvPr id="18" name="Rounded Rectangle 17"/>
          <p:cNvSpPr/>
          <p:nvPr/>
        </p:nvSpPr>
        <p:spPr>
          <a:xfrm>
            <a:off x="8030260"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231428"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606332"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One answer, end to end</a:t>
            </a:r>
          </a:p>
        </p:txBody>
      </p:sp>
      <p:sp>
        <p:nvSpPr>
          <p:cNvPr id="21" name="TextBox 20"/>
          <p:cNvSpPr txBox="1"/>
          <p:nvPr/>
        </p:nvSpPr>
        <p:spPr>
          <a:xfrm>
            <a:off x="8231428"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chain resolves in order and returns a single figure a reviewer can reproduce by hand.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CREATE COMPUTATION · 5 OF 5</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Dating the version and saying why</a:t>
            </a:r>
          </a:p>
        </p:txBody>
      </p:sp>
      <p:sp>
        <p:nvSpPr>
          <p:cNvPr id="6" name="Rounded Rectangle 5"/>
          <p:cNvSpPr/>
          <p:nvPr/>
        </p:nvSpPr>
        <p:spPr>
          <a:xfrm>
            <a:off x="566928" y="1316736"/>
            <a:ext cx="890516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 › Change details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This panel is what keeps a payroll from last November explainable next November.</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Validate and create re-checks the expression, returning you to Formula setup if anything needs attention.</a:t>
            </a:r>
          </a:p>
        </p:txBody>
      </p:sp>
      <p:pic>
        <p:nvPicPr>
          <p:cNvPr id="9" name="Picture 8" descr="fg-create-change.png"/>
          <p:cNvPicPr>
            <a:picLocks noChangeAspect="1"/>
          </p:cNvPicPr>
          <p:nvPr/>
        </p:nvPicPr>
        <p:blipFill>
          <a:blip r:embed="rId2"/>
          <a:stretch>
            <a:fillRect/>
          </a:stretch>
        </p:blipFill>
        <p:spPr>
          <a:xfrm>
            <a:off x="2928614" y="2304288"/>
            <a:ext cx="6334467" cy="2395728"/>
          </a:xfrm>
          <a:prstGeom prst="rect">
            <a:avLst/>
          </a:prstGeom>
        </p:spPr>
      </p:pic>
      <p:sp>
        <p:nvSpPr>
          <p:cNvPr id="10" name="Rounded Rectangle 9"/>
          <p:cNvSpPr/>
          <p:nvPr/>
        </p:nvSpPr>
        <p:spPr>
          <a:xfrm>
            <a:off x="566928"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Effective date</a:t>
            </a:r>
          </a:p>
        </p:txBody>
      </p:sp>
      <p:sp>
        <p:nvSpPr>
          <p:cNvPr id="13" name="TextBox 12"/>
          <p:cNvSpPr txBox="1"/>
          <p:nvPr/>
        </p:nvSpPr>
        <p:spPr>
          <a:xfrm>
            <a:off x="768096"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date from which this version is the right one to use. A transaction selects the version in force on its own payroll date.</a:t>
            </a:r>
          </a:p>
        </p:txBody>
      </p:sp>
      <p:sp>
        <p:nvSpPr>
          <p:cNvPr id="14" name="Rounded Rectangle 13"/>
          <p:cNvSpPr/>
          <p:nvPr/>
        </p:nvSpPr>
        <p:spPr>
          <a:xfrm>
            <a:off x="3365677"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566845"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941749"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Change note</a:t>
            </a:r>
          </a:p>
        </p:txBody>
      </p:sp>
      <p:sp>
        <p:nvSpPr>
          <p:cNvPr id="17" name="TextBox 16"/>
          <p:cNvSpPr txBox="1"/>
          <p:nvPr/>
        </p:nvSpPr>
        <p:spPr>
          <a:xfrm>
            <a:off x="3566845"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Required. Write it for a reviewer who was not in the room: what changed, and which business decision drove it.</a:t>
            </a:r>
          </a:p>
        </p:txBody>
      </p:sp>
      <p:sp>
        <p:nvSpPr>
          <p:cNvPr id="18" name="Rounded Rectangle 17"/>
          <p:cNvSpPr/>
          <p:nvPr/>
        </p:nvSpPr>
        <p:spPr>
          <a:xfrm>
            <a:off x="6164426"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365594"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740498"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Version</a:t>
            </a:r>
          </a:p>
        </p:txBody>
      </p:sp>
      <p:sp>
        <p:nvSpPr>
          <p:cNvPr id="21" name="TextBox 20"/>
          <p:cNvSpPr txBox="1"/>
          <p:nvPr/>
        </p:nvSpPr>
        <p:spPr>
          <a:xfrm>
            <a:off x="6365594"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 new record starts at 1.0. Once a payroll has used a version, publish the next version so the earlier evidence stands unchanged.</a:t>
            </a:r>
          </a:p>
        </p:txBody>
      </p:sp>
      <p:sp>
        <p:nvSpPr>
          <p:cNvPr id="22" name="Rounded Rectangle 21"/>
          <p:cNvSpPr/>
          <p:nvPr/>
        </p:nvSpPr>
        <p:spPr>
          <a:xfrm>
            <a:off x="8963175"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164343"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539247"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Ownership and author</a:t>
            </a:r>
          </a:p>
        </p:txBody>
      </p:sp>
      <p:sp>
        <p:nvSpPr>
          <p:cNvPr id="25" name="TextBox 24"/>
          <p:cNvSpPr txBox="1"/>
          <p:nvPr/>
        </p:nvSpPr>
        <p:spPr>
          <a:xfrm>
            <a:off x="9164343"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Records that this is a company rule and who created it — what separates a client change from an ATLAS standard change.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SAVED RECORD</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Everything a reviewer needs, on one panel</a:t>
            </a:r>
          </a:p>
        </p:txBody>
      </p:sp>
      <p:sp>
        <p:nvSpPr>
          <p:cNvPr id="6" name="Rounded Rectangle 5"/>
          <p:cNvSpPr/>
          <p:nvPr/>
        </p:nvSpPr>
        <p:spPr>
          <a:xfrm>
            <a:off x="566928" y="1316736"/>
            <a:ext cx="69811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View</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Opening any computation gives the same read-only view. This is the page to attach to a formula sign-off.</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Reached from the Computations tab using the view action on any row.</a:t>
            </a:r>
          </a:p>
        </p:txBody>
      </p:sp>
      <p:pic>
        <p:nvPicPr>
          <p:cNvPr id="9" name="Picture 8" descr="fg-record.png"/>
          <p:cNvPicPr>
            <a:picLocks noChangeAspect="1"/>
          </p:cNvPicPr>
          <p:nvPr/>
        </p:nvPicPr>
        <p:blipFill>
          <a:blip r:embed="rId2"/>
          <a:stretch>
            <a:fillRect/>
          </a:stretch>
        </p:blipFill>
        <p:spPr>
          <a:xfrm>
            <a:off x="566928" y="2304288"/>
            <a:ext cx="2238080" cy="3895343"/>
          </a:xfrm>
          <a:prstGeom prst="rect">
            <a:avLst/>
          </a:prstGeom>
        </p:spPr>
      </p:pic>
      <p:sp>
        <p:nvSpPr>
          <p:cNvPr id="10" name="Rounded Rectangle 9"/>
          <p:cNvSpPr/>
          <p:nvPr/>
        </p:nvSpPr>
        <p:spPr>
          <a:xfrm>
            <a:off x="3097616" y="2304288"/>
            <a:ext cx="4194995"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3298784"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3673688" y="2450592"/>
            <a:ext cx="3417755"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Identity</a:t>
            </a:r>
          </a:p>
        </p:txBody>
      </p:sp>
      <p:sp>
        <p:nvSpPr>
          <p:cNvPr id="13" name="TextBox 12"/>
          <p:cNvSpPr txBox="1"/>
          <p:nvPr/>
        </p:nvSpPr>
        <p:spPr>
          <a:xfrm>
            <a:off x="3298784" y="2706624"/>
            <a:ext cx="3792659"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Code, version and business name — the three things a payroll trail quotes back at you.</a:t>
            </a:r>
          </a:p>
        </p:txBody>
      </p:sp>
      <p:sp>
        <p:nvSpPr>
          <p:cNvPr id="14" name="Rounded Rectangle 13"/>
          <p:cNvSpPr/>
          <p:nvPr/>
        </p:nvSpPr>
        <p:spPr>
          <a:xfrm>
            <a:off x="7429771" y="2304288"/>
            <a:ext cx="4194995"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630939"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8005843" y="2450592"/>
            <a:ext cx="3417755"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Governance facts</a:t>
            </a:r>
          </a:p>
        </p:txBody>
      </p:sp>
      <p:sp>
        <p:nvSpPr>
          <p:cNvPr id="17" name="TextBox 16"/>
          <p:cNvSpPr txBox="1"/>
          <p:nvPr/>
        </p:nvSpPr>
        <p:spPr>
          <a:xfrm>
            <a:off x="7630939" y="2706624"/>
            <a:ext cx="3792659"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Category, source type, status, effective date and who last updated the record.</a:t>
            </a:r>
          </a:p>
        </p:txBody>
      </p:sp>
      <p:sp>
        <p:nvSpPr>
          <p:cNvPr id="18" name="Rounded Rectangle 17"/>
          <p:cNvSpPr/>
          <p:nvPr/>
        </p:nvSpPr>
        <p:spPr>
          <a:xfrm>
            <a:off x="3097616" y="3648456"/>
            <a:ext cx="4194995"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298784"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3673688" y="3794760"/>
            <a:ext cx="3417755"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Description</a:t>
            </a:r>
          </a:p>
        </p:txBody>
      </p:sp>
      <p:sp>
        <p:nvSpPr>
          <p:cNvPr id="21" name="TextBox 20"/>
          <p:cNvSpPr txBox="1"/>
          <p:nvPr/>
        </p:nvSpPr>
        <p:spPr>
          <a:xfrm>
            <a:off x="3298784" y="4050792"/>
            <a:ext cx="3792659"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business rule in words, carried across from setup.</a:t>
            </a:r>
          </a:p>
        </p:txBody>
      </p:sp>
      <p:sp>
        <p:nvSpPr>
          <p:cNvPr id="22" name="Rounded Rectangle 21"/>
          <p:cNvSpPr/>
          <p:nvPr/>
        </p:nvSpPr>
        <p:spPr>
          <a:xfrm>
            <a:off x="7429771" y="3648456"/>
            <a:ext cx="4194995"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630939"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8005843" y="3794760"/>
            <a:ext cx="3417755"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Formula expression</a:t>
            </a:r>
          </a:p>
        </p:txBody>
      </p:sp>
      <p:sp>
        <p:nvSpPr>
          <p:cNvPr id="25" name="TextBox 24"/>
          <p:cNvSpPr txBox="1"/>
          <p:nvPr/>
        </p:nvSpPr>
        <p:spPr>
          <a:xfrm>
            <a:off x="7630939" y="4050792"/>
            <a:ext cx="3792659"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published arithmetic, exactly as the payroll engine evaluates it.</a:t>
            </a:r>
          </a:p>
        </p:txBody>
      </p:sp>
      <p:sp>
        <p:nvSpPr>
          <p:cNvPr id="26" name="Rounded Rectangle 25"/>
          <p:cNvSpPr/>
          <p:nvPr/>
        </p:nvSpPr>
        <p:spPr>
          <a:xfrm>
            <a:off x="3097616" y="4992624"/>
            <a:ext cx="4194995"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3298784"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3673688" y="5138928"/>
            <a:ext cx="3417755"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Mapped fields</a:t>
            </a:r>
          </a:p>
        </p:txBody>
      </p:sp>
      <p:sp>
        <p:nvSpPr>
          <p:cNvPr id="29" name="TextBox 28"/>
          <p:cNvSpPr txBox="1"/>
          <p:nvPr/>
        </p:nvSpPr>
        <p:spPr>
          <a:xfrm>
            <a:off x="3298784" y="5394960"/>
            <a:ext cx="3792659"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dependency list. Every chip is a value a consuming step provides.</a:t>
            </a:r>
          </a:p>
        </p:txBody>
      </p:sp>
      <p:sp>
        <p:nvSpPr>
          <p:cNvPr id="30" name="Rounded Rectangle 29"/>
          <p:cNvSpPr/>
          <p:nvPr/>
        </p:nvSpPr>
        <p:spPr>
          <a:xfrm>
            <a:off x="7429771" y="4992624"/>
            <a:ext cx="4194995"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7630939"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6</a:t>
            </a:r>
          </a:p>
        </p:txBody>
      </p:sp>
      <p:sp>
        <p:nvSpPr>
          <p:cNvPr id="32" name="TextBox 31"/>
          <p:cNvSpPr txBox="1"/>
          <p:nvPr/>
        </p:nvSpPr>
        <p:spPr>
          <a:xfrm>
            <a:off x="8005843" y="5138928"/>
            <a:ext cx="3417755"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Standard test result</a:t>
            </a:r>
          </a:p>
        </p:txBody>
      </p:sp>
      <p:sp>
        <p:nvSpPr>
          <p:cNvPr id="33" name="TextBox 32"/>
          <p:cNvSpPr txBox="1"/>
          <p:nvPr/>
        </p:nvSpPr>
        <p:spPr>
          <a:xfrm>
            <a:off x="7630939" y="5394960"/>
            <a:ext cx="3792659"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A standing check that the stored expression still evaluates, shown against the palette's sample values.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WORTH KNOWING</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Two checks, and what each one is for</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ATLAS gives you a test you drive yourself and a standing check on the saved record. They answer different questions, and both are useful.</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Both are visible on the demonstration record CUS-900.</a:t>
            </a:r>
          </a:p>
        </p:txBody>
      </p:sp>
      <p:sp>
        <p:nvSpPr>
          <p:cNvPr id="8" name="Rounded Rectangle 7"/>
          <p:cNvSpPr/>
          <p:nvPr/>
        </p:nvSpPr>
        <p:spPr>
          <a:xfrm>
            <a:off x="566928"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883664"/>
            <a:ext cx="5400903" cy="4572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804672" y="2121408"/>
            <a:ext cx="2267712" cy="256032"/>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54248F"/>
                </a:solidFill>
                <a:latin typeface="Segoe UI Semibold"/>
              </a:rPr>
              <a:t>THE TEST YOU RUN</a:t>
            </a:r>
          </a:p>
        </p:txBody>
      </p:sp>
      <p:sp>
        <p:nvSpPr>
          <p:cNvPr id="11" name="TextBox 10"/>
          <p:cNvSpPr txBox="1"/>
          <p:nvPr/>
        </p:nvSpPr>
        <p:spPr>
          <a:xfrm>
            <a:off x="804672"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You choose the inputs</a:t>
            </a:r>
          </a:p>
        </p:txBody>
      </p:sp>
      <p:sp>
        <p:nvSpPr>
          <p:cNvPr id="12" name="TextBox 11"/>
          <p:cNvSpPr txBox="1"/>
          <p:nvPr/>
        </p:nvSpPr>
        <p:spPr>
          <a:xfrm>
            <a:off x="804672"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On the Test calculation tab you supply your own values and ATLAS evaluates the draft expression with them, before anything is saved.</a:t>
            </a:r>
          </a:p>
        </p:txBody>
      </p:sp>
      <p:sp>
        <p:nvSpPr>
          <p:cNvPr id="13" name="TextBox 12"/>
          <p:cNvSpPr txBox="1"/>
          <p:nvPr/>
        </p:nvSpPr>
        <p:spPr>
          <a:xfrm>
            <a:off x="804672"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It answers: is my arithmetic right?</a:t>
            </a:r>
          </a:p>
        </p:txBody>
      </p:sp>
      <p:sp>
        <p:nvSpPr>
          <p:cNvPr id="14" name="TextBox 13"/>
          <p:cNvSpPr txBox="1"/>
          <p:nvPr/>
        </p:nvSpPr>
        <p:spPr>
          <a:xfrm>
            <a:off x="804672"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The expression parses, every token resolves, and the answer can be compared with the figure finance worked out by hand.</a:t>
            </a:r>
          </a:p>
        </p:txBody>
      </p:sp>
      <p:sp>
        <p:nvSpPr>
          <p:cNvPr id="15" name="TextBox 14"/>
          <p:cNvSpPr txBox="1"/>
          <p:nvPr/>
        </p:nvSpPr>
        <p:spPr>
          <a:xfrm>
            <a:off x="804672"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Keep the result with your sign-off</a:t>
            </a:r>
          </a:p>
        </p:txBody>
      </p:sp>
      <p:sp>
        <p:nvSpPr>
          <p:cNvPr id="16" name="TextBox 15"/>
          <p:cNvSpPr txBox="1"/>
          <p:nvPr/>
        </p:nvSpPr>
        <p:spPr>
          <a:xfrm>
            <a:off x="804672"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Note the inputs and the answer in your approval record, so the reviewed figure travels with the decision.</a:t>
            </a:r>
          </a:p>
        </p:txBody>
      </p:sp>
      <p:sp>
        <p:nvSpPr>
          <p:cNvPr id="17" name="Rounded Rectangle 16"/>
          <p:cNvSpPr/>
          <p:nvPr/>
        </p:nvSpPr>
        <p:spPr>
          <a:xfrm>
            <a:off x="6223863"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23863" y="1883664"/>
            <a:ext cx="5400903" cy="4572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461607" y="2121408"/>
            <a:ext cx="3163824" cy="256032"/>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7C3FC2"/>
                </a:solidFill>
                <a:latin typeface="Segoe UI Semibold"/>
              </a:rPr>
              <a:t>THE CHECK ON THE RECORD</a:t>
            </a:r>
          </a:p>
        </p:txBody>
      </p:sp>
      <p:sp>
        <p:nvSpPr>
          <p:cNvPr id="20" name="TextBox 19"/>
          <p:cNvSpPr txBox="1"/>
          <p:nvPr/>
        </p:nvSpPr>
        <p:spPr>
          <a:xfrm>
            <a:off x="6461607"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ATLAS chooses the inputs</a:t>
            </a:r>
          </a:p>
        </p:txBody>
      </p:sp>
      <p:sp>
        <p:nvSpPr>
          <p:cNvPr id="21" name="TextBox 20"/>
          <p:cNvSpPr txBox="1"/>
          <p:nvPr/>
        </p:nvSpPr>
        <p:spPr>
          <a:xfrm>
            <a:off x="6461607"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Open a saved computation and the Standard test result evaluates the stored expression against the palette's sample values.</a:t>
            </a:r>
          </a:p>
        </p:txBody>
      </p:sp>
      <p:sp>
        <p:nvSpPr>
          <p:cNvPr id="22" name="TextBox 21"/>
          <p:cNvSpPr txBox="1"/>
          <p:nvPr/>
        </p:nvSpPr>
        <p:spPr>
          <a:xfrm>
            <a:off x="6461607"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It answers: does this still evaluate?</a:t>
            </a:r>
          </a:p>
        </p:txBody>
      </p:sp>
      <p:sp>
        <p:nvSpPr>
          <p:cNvPr id="23" name="TextBox 22"/>
          <p:cNvSpPr txBox="1"/>
          <p:nvPr/>
        </p:nvSpPr>
        <p:spPr>
          <a:xfrm>
            <a:off x="6461607"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A standing confirmation that the published formula is healthy, available on any record at any time without setting anything up.</a:t>
            </a:r>
          </a:p>
        </p:txBody>
      </p:sp>
      <p:sp>
        <p:nvSpPr>
          <p:cNvPr id="24" name="TextBox 23"/>
          <p:cNvSpPr txBox="1"/>
          <p:nvPr/>
        </p:nvSpPr>
        <p:spPr>
          <a:xfrm>
            <a:off x="6461607"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Use them together</a:t>
            </a:r>
          </a:p>
        </p:txBody>
      </p:sp>
      <p:sp>
        <p:nvSpPr>
          <p:cNvPr id="25" name="TextBox 24"/>
          <p:cNvSpPr txBox="1"/>
          <p:nvPr/>
        </p:nvSpPr>
        <p:spPr>
          <a:xfrm>
            <a:off x="6461607"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Your test proves the business answer; the record's check proves the published formula still runs. Neither replaces the other.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02</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Assign it to the client</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Recording what the rule is for, who it covers and how often it applies.</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register</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six fields</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scope rules</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DEMONSTRATION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Assigning CUS-900 to the company</a:t>
            </a:r>
          </a:p>
        </p:txBody>
      </p:sp>
      <p:sp>
        <p:nvSpPr>
          <p:cNvPr id="6" name="Rounded Rectangle 5"/>
          <p:cNvSpPr/>
          <p:nvPr/>
        </p:nvSpPr>
        <p:spPr>
          <a:xfrm>
            <a:off x="566928" y="1316736"/>
            <a:ext cx="7949487"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Client assignments › Add assignment</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Six choices turn a formula in the library into a rule this company has adopted.</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Captured live; the counter beside the tab moves as the record saves.</a:t>
            </a:r>
          </a:p>
        </p:txBody>
      </p:sp>
      <p:pic>
        <p:nvPicPr>
          <p:cNvPr id="9" name="Picture 8" descr="client-assignment-walkthrough.gif"/>
          <p:cNvPicPr>
            <a:picLocks noChangeAspect="1"/>
          </p:cNvPicPr>
          <p:nvPr/>
        </p:nvPicPr>
        <p:blipFill>
          <a:blip r:embed="rId2"/>
          <a:stretch>
            <a:fillRect/>
          </a:stretch>
        </p:blipFill>
        <p:spPr>
          <a:xfrm>
            <a:off x="566928" y="2340864"/>
            <a:ext cx="5725263" cy="3803904"/>
          </a:xfrm>
          <a:prstGeom prst="rect">
            <a:avLst/>
          </a:prstGeom>
        </p:spPr>
      </p:pic>
      <p:sp>
        <p:nvSpPr>
          <p:cNvPr id="10" name="Oval 9"/>
          <p:cNvSpPr/>
          <p:nvPr/>
        </p:nvSpPr>
        <p:spPr>
          <a:xfrm>
            <a:off x="8220456" y="2340864"/>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1</a:t>
            </a:r>
          </a:p>
        </p:txBody>
      </p:sp>
      <p:sp>
        <p:nvSpPr>
          <p:cNvPr id="11" name="TextBox 10"/>
          <p:cNvSpPr txBox="1"/>
          <p:nvPr/>
        </p:nvSpPr>
        <p:spPr>
          <a:xfrm>
            <a:off x="8622792" y="2359152"/>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Choose the purpose</a:t>
            </a:r>
          </a:p>
        </p:txBody>
      </p:sp>
      <p:sp>
        <p:nvSpPr>
          <p:cNvPr id="12" name="TextBox 11"/>
          <p:cNvSpPr txBox="1"/>
          <p:nvPr/>
        </p:nvSpPr>
        <p:spPr>
          <a:xfrm>
            <a:off x="8622792" y="2615184"/>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Earnings computation — what payroll is trying to calculate.</a:t>
            </a:r>
          </a:p>
        </p:txBody>
      </p:sp>
      <p:sp>
        <p:nvSpPr>
          <p:cNvPr id="13" name="Oval 12"/>
          <p:cNvSpPr/>
          <p:nvPr/>
        </p:nvSpPr>
        <p:spPr>
          <a:xfrm>
            <a:off x="8220456" y="3182112"/>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2</a:t>
            </a:r>
          </a:p>
        </p:txBody>
      </p:sp>
      <p:sp>
        <p:nvSpPr>
          <p:cNvPr id="14" name="TextBox 13"/>
          <p:cNvSpPr txBox="1"/>
          <p:nvPr/>
        </p:nvSpPr>
        <p:spPr>
          <a:xfrm>
            <a:off x="8622792" y="3200400"/>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Choose the business item</a:t>
            </a:r>
          </a:p>
        </p:txBody>
      </p:sp>
      <p:sp>
        <p:nvSpPr>
          <p:cNvPr id="15" name="TextBox 14"/>
          <p:cNvSpPr txBox="1"/>
          <p:nvPr/>
        </p:nvSpPr>
        <p:spPr>
          <a:xfrm>
            <a:off x="8622792" y="3456432"/>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Earnings and Allowance Codes — the register that gives it context.</a:t>
            </a:r>
          </a:p>
        </p:txBody>
      </p:sp>
      <p:sp>
        <p:nvSpPr>
          <p:cNvPr id="16" name="Oval 15"/>
          <p:cNvSpPr/>
          <p:nvPr/>
        </p:nvSpPr>
        <p:spPr>
          <a:xfrm>
            <a:off x="8220456" y="4023360"/>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3</a:t>
            </a:r>
          </a:p>
        </p:txBody>
      </p:sp>
      <p:sp>
        <p:nvSpPr>
          <p:cNvPr id="17" name="TextBox 16"/>
          <p:cNvSpPr txBox="1"/>
          <p:nvPr/>
        </p:nvSpPr>
        <p:spPr>
          <a:xfrm>
            <a:off x="8622792" y="4041648"/>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Choose the formula</a:t>
            </a:r>
          </a:p>
        </p:txBody>
      </p:sp>
      <p:sp>
        <p:nvSpPr>
          <p:cNvPr id="18" name="TextBox 17"/>
          <p:cNvSpPr txBox="1"/>
          <p:nvPr/>
        </p:nvSpPr>
        <p:spPr>
          <a:xfrm>
            <a:off x="8622792" y="4297680"/>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CUS-900, selected from the active computations in the library.</a:t>
            </a:r>
          </a:p>
        </p:txBody>
      </p:sp>
      <p:sp>
        <p:nvSpPr>
          <p:cNvPr id="19" name="Oval 18"/>
          <p:cNvSpPr/>
          <p:nvPr/>
        </p:nvSpPr>
        <p:spPr>
          <a:xfrm>
            <a:off x="8220456" y="4864608"/>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4</a:t>
            </a:r>
          </a:p>
        </p:txBody>
      </p:sp>
      <p:sp>
        <p:nvSpPr>
          <p:cNvPr id="20" name="TextBox 19"/>
          <p:cNvSpPr txBox="1"/>
          <p:nvPr/>
        </p:nvSpPr>
        <p:spPr>
          <a:xfrm>
            <a:off x="8622792" y="4882896"/>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Set scope and timing</a:t>
            </a:r>
          </a:p>
        </p:txBody>
      </p:sp>
      <p:sp>
        <p:nvSpPr>
          <p:cNvPr id="21" name="TextBox 20"/>
          <p:cNvSpPr txBox="1"/>
          <p:nvPr/>
        </p:nvSpPr>
        <p:spPr>
          <a:xfrm>
            <a:off x="8622792" y="5138928"/>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All Employees, every payroll, Active — then save, and the new row appears at the top of the register.</a:t>
            </a:r>
          </a:p>
        </p:txBody>
      </p:sp>
      <p:sp>
        <p:nvSpPr>
          <p:cNvPr id="22" name="Rounded Rectangle 21"/>
          <p:cNvSpPr/>
          <p:nvPr/>
        </p:nvSpPr>
        <p:spPr>
          <a:xfrm>
            <a:off x="8220456" y="5559552"/>
            <a:ext cx="3404311" cy="512064"/>
          </a:xfrm>
          <a:prstGeom prst="roundRect">
            <a:avLst>
              <a:gd name="adj" fmla="val 8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050" b="1">
                <a:solidFill>
                  <a:srgbClr val="54248F"/>
                </a:solidFill>
                <a:latin typeface="Segoe UI Semibold"/>
              </a:rPr>
              <a:t>ANIMATED CAPTURE  ·  PLAYS IN SLIDE SHOW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CLIENT ASSIGNMENTS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the company says each formula is for</a:t>
            </a:r>
          </a:p>
        </p:txBody>
      </p:sp>
      <p:sp>
        <p:nvSpPr>
          <p:cNvPr id="6" name="Rounded Rectangle 5"/>
          <p:cNvSpPr/>
          <p:nvPr/>
        </p:nvSpPr>
        <p:spPr>
          <a:xfrm>
            <a:off x="566928" y="1316736"/>
            <a:ext cx="6850937"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Client assignments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An assignment is a governance statement in six parts. Read a row left to right and it should say a complete sentence.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Source · the Client assignments tab, with the CUS-900 row just added at the top.</a:t>
            </a:r>
          </a:p>
        </p:txBody>
      </p:sp>
      <p:pic>
        <p:nvPicPr>
          <p:cNvPr id="9" name="Picture 8" descr="fg-assign-register.png"/>
          <p:cNvPicPr>
            <a:picLocks noChangeAspect="1"/>
          </p:cNvPicPr>
          <p:nvPr/>
        </p:nvPicPr>
        <p:blipFill>
          <a:blip r:embed="rId2"/>
          <a:stretch>
            <a:fillRect/>
          </a:stretch>
        </p:blipFill>
        <p:spPr>
          <a:xfrm>
            <a:off x="566928" y="3199101"/>
            <a:ext cx="5141671" cy="2105717"/>
          </a:xfrm>
          <a:prstGeom prst="rect">
            <a:avLst/>
          </a:prstGeom>
        </p:spPr>
      </p:pic>
      <p:sp>
        <p:nvSpPr>
          <p:cNvPr id="10" name="Rounded Rectangle 9"/>
          <p:cNvSpPr/>
          <p:nvPr/>
        </p:nvSpPr>
        <p:spPr>
          <a:xfrm>
            <a:off x="6001207" y="2304288"/>
            <a:ext cx="2743200"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20237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657727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Assignment type</a:t>
            </a:r>
          </a:p>
        </p:txBody>
      </p:sp>
      <p:sp>
        <p:nvSpPr>
          <p:cNvPr id="13" name="TextBox 12"/>
          <p:cNvSpPr txBox="1"/>
          <p:nvPr/>
        </p:nvSpPr>
        <p:spPr>
          <a:xfrm>
            <a:off x="6202375" y="2706624"/>
            <a:ext cx="2340864" cy="368046"/>
          </a:xfrm>
          <a:prstGeom prst="rect">
            <a:avLst/>
          </a:prstGeom>
          <a:noFill/>
        </p:spPr>
        <p:txBody>
          <a:bodyPr wrap="square" anchor="t" lIns="0" rIns="0" tIns="0" bIns="0">
            <a:spAutoFit/>
          </a:bodyPr>
          <a:lstStyle/>
          <a:p>
            <a:pPr algn="l">
              <a:lnSpc>
                <a:spcPct val="126000"/>
              </a:lnSpc>
              <a:spcBef>
                <a:spcPts val="0"/>
              </a:spcBef>
              <a:spcAft>
                <a:spcPts val="0"/>
              </a:spcAft>
            </a:pPr>
            <a:r>
              <a:rPr sz="780" b="0" i="0">
                <a:solidFill>
                  <a:srgbClr val="6B6675"/>
                </a:solidFill>
                <a:latin typeface="Segoe UI"/>
              </a:rPr>
              <a:t>The business job: government deduction, tax, bonus, earnings, take-home protection or retirement benefit.</a:t>
            </a:r>
          </a:p>
        </p:txBody>
      </p:sp>
      <p:sp>
        <p:nvSpPr>
          <p:cNvPr id="14" name="Rounded Rectangle 13"/>
          <p:cNvSpPr/>
          <p:nvPr/>
        </p:nvSpPr>
        <p:spPr>
          <a:xfrm>
            <a:off x="8881567" y="2304288"/>
            <a:ext cx="2743200"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908273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945763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Reference table</a:t>
            </a:r>
          </a:p>
        </p:txBody>
      </p:sp>
      <p:sp>
        <p:nvSpPr>
          <p:cNvPr id="17" name="TextBox 16"/>
          <p:cNvSpPr txBox="1"/>
          <p:nvPr/>
        </p:nvSpPr>
        <p:spPr>
          <a:xfrm>
            <a:off x="9082735" y="2706624"/>
            <a:ext cx="2340864" cy="368046"/>
          </a:xfrm>
          <a:prstGeom prst="rect">
            <a:avLst/>
          </a:prstGeom>
          <a:noFill/>
        </p:spPr>
        <p:txBody>
          <a:bodyPr wrap="square" anchor="t" lIns="0" rIns="0" tIns="0" bIns="0">
            <a:spAutoFit/>
          </a:bodyPr>
          <a:lstStyle/>
          <a:p>
            <a:pPr algn="l">
              <a:lnSpc>
                <a:spcPct val="126000"/>
              </a:lnSpc>
              <a:spcBef>
                <a:spcPts val="0"/>
              </a:spcBef>
              <a:spcAft>
                <a:spcPts val="0"/>
              </a:spcAft>
            </a:pPr>
            <a:r>
              <a:rPr sz="755" b="0" i="0">
                <a:solidFill>
                  <a:srgbClr val="6B6675"/>
                </a:solidFill>
                <a:latin typeface="Segoe UI"/>
              </a:rPr>
              <a:t>The enabled source or code list that gives the assignment its business context — for CUS-900, Earnings and Allowance Codes.</a:t>
            </a:r>
          </a:p>
        </p:txBody>
      </p:sp>
      <p:sp>
        <p:nvSpPr>
          <p:cNvPr id="18" name="Rounded Rectangle 17"/>
          <p:cNvSpPr/>
          <p:nvPr/>
        </p:nvSpPr>
        <p:spPr>
          <a:xfrm>
            <a:off x="6001207" y="3312414"/>
            <a:ext cx="2743200"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202375" y="344957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577279" y="3458718"/>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Basis of computation</a:t>
            </a:r>
          </a:p>
        </p:txBody>
      </p:sp>
      <p:sp>
        <p:nvSpPr>
          <p:cNvPr id="21" name="TextBox 20"/>
          <p:cNvSpPr txBox="1"/>
          <p:nvPr/>
        </p:nvSpPr>
        <p:spPr>
          <a:xfrm>
            <a:off x="6202375" y="3714750"/>
            <a:ext cx="2340864" cy="368046"/>
          </a:xfrm>
          <a:prstGeom prst="rect">
            <a:avLst/>
          </a:prstGeom>
          <a:noFill/>
        </p:spPr>
        <p:txBody>
          <a:bodyPr wrap="square" anchor="t" lIns="0" rIns="0" tIns="0" bIns="0">
            <a:spAutoFit/>
          </a:bodyPr>
          <a:lstStyle/>
          <a:p>
            <a:pPr algn="l">
              <a:lnSpc>
                <a:spcPct val="126000"/>
              </a:lnSpc>
              <a:spcBef>
                <a:spcPts val="0"/>
              </a:spcBef>
              <a:spcAft>
                <a:spcPts val="0"/>
              </a:spcAft>
            </a:pPr>
            <a:r>
              <a:rPr sz="755" b="0" i="0">
                <a:solidFill>
                  <a:srgbClr val="6B6675"/>
                </a:solidFill>
                <a:latin typeface="Segoe UI"/>
              </a:rPr>
              <a:t>The computation code and name. This is the column that links the company's governance to a formula in the library.</a:t>
            </a:r>
          </a:p>
        </p:txBody>
      </p:sp>
      <p:sp>
        <p:nvSpPr>
          <p:cNvPr id="22" name="Rounded Rectangle 21"/>
          <p:cNvSpPr/>
          <p:nvPr/>
        </p:nvSpPr>
        <p:spPr>
          <a:xfrm>
            <a:off x="8881567" y="3312414"/>
            <a:ext cx="2743200"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082735" y="344957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457639" y="3458718"/>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Employee group</a:t>
            </a:r>
          </a:p>
        </p:txBody>
      </p:sp>
      <p:sp>
        <p:nvSpPr>
          <p:cNvPr id="25" name="TextBox 24"/>
          <p:cNvSpPr txBox="1"/>
          <p:nvPr/>
        </p:nvSpPr>
        <p:spPr>
          <a:xfrm>
            <a:off x="9082735" y="3714750"/>
            <a:ext cx="2340864" cy="368046"/>
          </a:xfrm>
          <a:prstGeom prst="rect">
            <a:avLst/>
          </a:prstGeom>
          <a:noFill/>
        </p:spPr>
        <p:txBody>
          <a:bodyPr wrap="square" anchor="t" lIns="0" rIns="0" tIns="0" bIns="0">
            <a:spAutoFit/>
          </a:bodyPr>
          <a:lstStyle/>
          <a:p>
            <a:pPr algn="l">
              <a:lnSpc>
                <a:spcPct val="126000"/>
              </a:lnSpc>
              <a:spcBef>
                <a:spcPts val="0"/>
              </a:spcBef>
              <a:spcAft>
                <a:spcPts val="0"/>
              </a:spcAft>
            </a:pPr>
            <a:r>
              <a:rPr sz="755" b="0" i="0">
                <a:solidFill>
                  <a:srgbClr val="6B6675"/>
                </a:solidFill>
                <a:latin typeface="Segoe UI"/>
              </a:rPr>
              <a:t>All Employees, Monthly, Rank and File, Managers or Retirement Eligible. Choose the smallest group that genuinely shares the rule.</a:t>
            </a:r>
          </a:p>
        </p:txBody>
      </p:sp>
      <p:sp>
        <p:nvSpPr>
          <p:cNvPr id="26" name="Rounded Rectangle 25"/>
          <p:cNvSpPr/>
          <p:nvPr/>
        </p:nvSpPr>
        <p:spPr>
          <a:xfrm>
            <a:off x="6001207" y="4320540"/>
            <a:ext cx="2743200"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202375" y="4457700"/>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6577279" y="4466844"/>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Frequency</a:t>
            </a:r>
          </a:p>
        </p:txBody>
      </p:sp>
      <p:sp>
        <p:nvSpPr>
          <p:cNvPr id="29" name="TextBox 28"/>
          <p:cNvSpPr txBox="1"/>
          <p:nvPr/>
        </p:nvSpPr>
        <p:spPr>
          <a:xfrm>
            <a:off x="6202375" y="4722876"/>
            <a:ext cx="2340864" cy="368046"/>
          </a:xfrm>
          <a:prstGeom prst="rect">
            <a:avLst/>
          </a:prstGeom>
          <a:noFill/>
        </p:spPr>
        <p:txBody>
          <a:bodyPr wrap="square" anchor="t" lIns="0" rIns="0" tIns="0" bIns="0">
            <a:spAutoFit/>
          </a:bodyPr>
          <a:lstStyle/>
          <a:p>
            <a:pPr algn="l">
              <a:lnSpc>
                <a:spcPct val="126000"/>
              </a:lnSpc>
              <a:spcBef>
                <a:spcPts val="0"/>
              </a:spcBef>
              <a:spcAft>
                <a:spcPts val="0"/>
              </a:spcAft>
            </a:pPr>
            <a:r>
              <a:rPr sz="830" b="0" i="0">
                <a:solidFill>
                  <a:srgbClr val="6B6675"/>
                </a:solidFill>
                <a:latin typeface="Segoe UI"/>
              </a:rPr>
              <a:t>Every payroll, monthly, quarterly, annually or on retirement — the business event, not the calendar.</a:t>
            </a:r>
          </a:p>
        </p:txBody>
      </p:sp>
      <p:sp>
        <p:nvSpPr>
          <p:cNvPr id="30" name="Rounded Rectangle 29"/>
          <p:cNvSpPr/>
          <p:nvPr/>
        </p:nvSpPr>
        <p:spPr>
          <a:xfrm>
            <a:off x="8881567" y="4320540"/>
            <a:ext cx="2743200"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9082735" y="4457700"/>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6</a:t>
            </a:r>
          </a:p>
        </p:txBody>
      </p:sp>
      <p:sp>
        <p:nvSpPr>
          <p:cNvPr id="32" name="TextBox 31"/>
          <p:cNvSpPr txBox="1"/>
          <p:nvPr/>
        </p:nvSpPr>
        <p:spPr>
          <a:xfrm>
            <a:off x="9457639" y="4466844"/>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Status</a:t>
            </a:r>
          </a:p>
        </p:txBody>
      </p:sp>
      <p:sp>
        <p:nvSpPr>
          <p:cNvPr id="33" name="TextBox 32"/>
          <p:cNvSpPr txBox="1"/>
          <p:nvPr/>
        </p:nvSpPr>
        <p:spPr>
          <a:xfrm>
            <a:off x="9082735" y="4722876"/>
            <a:ext cx="2340864" cy="368046"/>
          </a:xfrm>
          <a:prstGeom prst="rect">
            <a:avLst/>
          </a:prstGeom>
          <a:noFill/>
        </p:spPr>
        <p:txBody>
          <a:bodyPr wrap="square" anchor="t" lIns="0" rIns="0" tIns="0" bIns="0">
            <a:spAutoFit/>
          </a:bodyPr>
          <a:lstStyle/>
          <a:p>
            <a:pPr algn="l">
              <a:lnSpc>
                <a:spcPct val="126000"/>
              </a:lnSpc>
              <a:spcBef>
                <a:spcPts val="0"/>
              </a:spcBef>
              <a:spcAft>
                <a:spcPts val="0"/>
              </a:spcAft>
            </a:pPr>
            <a:r>
              <a:rPr sz="755" b="0" i="0">
                <a:solidFill>
                  <a:srgbClr val="6B6675"/>
                </a:solidFill>
                <a:latin typeface="Segoe UI"/>
              </a:rPr>
              <a:t>Active marks the assignment as in force. Inactive keeps the setup on record while taking it out of new use.</a:t>
            </a:r>
          </a:p>
        </p:txBody>
      </p:sp>
      <p:sp>
        <p:nvSpPr>
          <p:cNvPr id="34" name="Rounded Rectangle 33"/>
          <p:cNvSpPr/>
          <p:nvPr/>
        </p:nvSpPr>
        <p:spPr>
          <a:xfrm>
            <a:off x="6001207" y="5328666"/>
            <a:ext cx="2743200"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6202375" y="546582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7</a:t>
            </a:r>
          </a:p>
        </p:txBody>
      </p:sp>
      <p:sp>
        <p:nvSpPr>
          <p:cNvPr id="36" name="TextBox 35"/>
          <p:cNvSpPr txBox="1"/>
          <p:nvPr/>
        </p:nvSpPr>
        <p:spPr>
          <a:xfrm>
            <a:off x="6577279" y="5474970"/>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Action</a:t>
            </a:r>
          </a:p>
        </p:txBody>
      </p:sp>
      <p:sp>
        <p:nvSpPr>
          <p:cNvPr id="37" name="TextBox 36"/>
          <p:cNvSpPr txBox="1"/>
          <p:nvPr/>
        </p:nvSpPr>
        <p:spPr>
          <a:xfrm>
            <a:off x="6202375" y="5731002"/>
            <a:ext cx="2340864" cy="368046"/>
          </a:xfrm>
          <a:prstGeom prst="rect">
            <a:avLst/>
          </a:prstGeom>
          <a:noFill/>
        </p:spPr>
        <p:txBody>
          <a:bodyPr wrap="square" anchor="t" lIns="0" rIns="0" tIns="0" bIns="0">
            <a:spAutoFit/>
          </a:bodyPr>
          <a:lstStyle/>
          <a:p>
            <a:pPr algn="l">
              <a:lnSpc>
                <a:spcPct val="126000"/>
              </a:lnSpc>
              <a:spcBef>
                <a:spcPts val="0"/>
              </a:spcBef>
              <a:spcAft>
                <a:spcPts val="0"/>
              </a:spcAft>
            </a:pPr>
            <a:r>
              <a:rPr sz="780" b="0" i="0">
                <a:solidFill>
                  <a:srgbClr val="6B6675"/>
                </a:solidFill>
                <a:latin typeface="Segoe UI"/>
              </a:rPr>
              <a:t>Edit reopens the same six fields, so an assignment can be maintained as the company's policy develops.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ADD ASSIGNMENT</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Six choices, in the order finance thinks</a:t>
            </a:r>
          </a:p>
        </p:txBody>
      </p:sp>
      <p:sp>
        <p:nvSpPr>
          <p:cNvPr id="6" name="Rounded Rectangle 5"/>
          <p:cNvSpPr/>
          <p:nvPr/>
        </p:nvSpPr>
        <p:spPr>
          <a:xfrm>
            <a:off x="566928" y="1316736"/>
            <a:ext cx="7949487"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Client assignments › Add assignment</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form starts from the business purpose and ends at the formula, which is the right way round for a finance user.</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 Earnings computation · Earnings and Allowance Codes · CUS-900 · All Employees · Every payroll.</a:t>
            </a:r>
          </a:p>
        </p:txBody>
      </p:sp>
      <p:pic>
        <p:nvPicPr>
          <p:cNvPr id="9" name="Picture 8" descr="fg-assign-form.png"/>
          <p:cNvPicPr>
            <a:picLocks noChangeAspect="1"/>
          </p:cNvPicPr>
          <p:nvPr/>
        </p:nvPicPr>
        <p:blipFill>
          <a:blip r:embed="rId2"/>
          <a:stretch>
            <a:fillRect/>
          </a:stretch>
        </p:blipFill>
        <p:spPr>
          <a:xfrm>
            <a:off x="566928" y="2590074"/>
            <a:ext cx="5141671" cy="3323771"/>
          </a:xfrm>
          <a:prstGeom prst="rect">
            <a:avLst/>
          </a:prstGeom>
        </p:spPr>
      </p:pic>
      <p:sp>
        <p:nvSpPr>
          <p:cNvPr id="10" name="Rounded Rectangle 9"/>
          <p:cNvSpPr/>
          <p:nvPr/>
        </p:nvSpPr>
        <p:spPr>
          <a:xfrm>
            <a:off x="6001207" y="2304288"/>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20237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657727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Start with the purpose</a:t>
            </a:r>
          </a:p>
        </p:txBody>
      </p:sp>
      <p:sp>
        <p:nvSpPr>
          <p:cNvPr id="13" name="TextBox 12"/>
          <p:cNvSpPr txBox="1"/>
          <p:nvPr/>
        </p:nvSpPr>
        <p:spPr>
          <a:xfrm>
            <a:off x="6202375" y="2706624"/>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What is payroll trying to calculate? A clearer starting point for finance than a formula code.</a:t>
            </a:r>
          </a:p>
        </p:txBody>
      </p:sp>
      <p:sp>
        <p:nvSpPr>
          <p:cNvPr id="14" name="Rounded Rectangle 13"/>
          <p:cNvSpPr/>
          <p:nvPr/>
        </p:nvSpPr>
        <p:spPr>
          <a:xfrm>
            <a:off x="8881567" y="2304288"/>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908273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945763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Then the business item</a:t>
            </a:r>
          </a:p>
        </p:txBody>
      </p:sp>
      <p:sp>
        <p:nvSpPr>
          <p:cNvPr id="17" name="TextBox 16"/>
          <p:cNvSpPr txBox="1"/>
          <p:nvPr/>
        </p:nvSpPr>
        <p:spPr>
          <a:xfrm>
            <a:off x="9082735" y="2706624"/>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Only enabled sources are offered. For CUS-900 this identifies the earning being valued.</a:t>
            </a:r>
          </a:p>
        </p:txBody>
      </p:sp>
      <p:sp>
        <p:nvSpPr>
          <p:cNvPr id="18" name="Rounded Rectangle 17"/>
          <p:cNvSpPr/>
          <p:nvPr/>
        </p:nvSpPr>
        <p:spPr>
          <a:xfrm>
            <a:off x="6001207" y="3648456"/>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202375"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577279" y="3794760"/>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Then the formula</a:t>
            </a:r>
          </a:p>
        </p:txBody>
      </p:sp>
      <p:sp>
        <p:nvSpPr>
          <p:cNvPr id="21" name="TextBox 20"/>
          <p:cNvSpPr txBox="1"/>
          <p:nvPr/>
        </p:nvSpPr>
        <p:spPr>
          <a:xfrm>
            <a:off x="6202375" y="4050792"/>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Every active computation, shown as code plus name so the link to the library is explicit.</a:t>
            </a:r>
          </a:p>
        </p:txBody>
      </p:sp>
      <p:sp>
        <p:nvSpPr>
          <p:cNvPr id="22" name="Rounded Rectangle 21"/>
          <p:cNvSpPr/>
          <p:nvPr/>
        </p:nvSpPr>
        <p:spPr>
          <a:xfrm>
            <a:off x="8881567" y="3648456"/>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082735"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457639" y="3794760"/>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Who it covers</a:t>
            </a:r>
          </a:p>
        </p:txBody>
      </p:sp>
      <p:sp>
        <p:nvSpPr>
          <p:cNvPr id="25" name="TextBox 24"/>
          <p:cNvSpPr txBox="1"/>
          <p:nvPr/>
        </p:nvSpPr>
        <p:spPr>
          <a:xfrm>
            <a:off x="9082735" y="4050792"/>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Broad scopes are quick to create and harder to govern. Narrow deliberately.</a:t>
            </a:r>
          </a:p>
        </p:txBody>
      </p:sp>
      <p:sp>
        <p:nvSpPr>
          <p:cNvPr id="26" name="Rounded Rectangle 25"/>
          <p:cNvSpPr/>
          <p:nvPr/>
        </p:nvSpPr>
        <p:spPr>
          <a:xfrm>
            <a:off x="6001207" y="4992624"/>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202375"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6577279" y="5138928"/>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When it may apply</a:t>
            </a:r>
          </a:p>
        </p:txBody>
      </p:sp>
      <p:sp>
        <p:nvSpPr>
          <p:cNvPr id="29" name="TextBox 28"/>
          <p:cNvSpPr txBox="1"/>
          <p:nvPr/>
        </p:nvSpPr>
        <p:spPr>
          <a:xfrm>
            <a:off x="6202375" y="5394960"/>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Match the real business event, so an annual rule stays annual and a per-payroll rule stays per payroll.</a:t>
            </a:r>
          </a:p>
        </p:txBody>
      </p:sp>
      <p:sp>
        <p:nvSpPr>
          <p:cNvPr id="30" name="Rounded Rectangle 29"/>
          <p:cNvSpPr/>
          <p:nvPr/>
        </p:nvSpPr>
        <p:spPr>
          <a:xfrm>
            <a:off x="8881567" y="4992624"/>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9082735"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6</a:t>
            </a:r>
          </a:p>
        </p:txBody>
      </p:sp>
      <p:sp>
        <p:nvSpPr>
          <p:cNvPr id="32" name="TextBox 31"/>
          <p:cNvSpPr txBox="1"/>
          <p:nvPr/>
        </p:nvSpPr>
        <p:spPr>
          <a:xfrm>
            <a:off x="9457639" y="5138928"/>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Whether it is in force</a:t>
            </a:r>
          </a:p>
        </p:txBody>
      </p:sp>
      <p:sp>
        <p:nvSpPr>
          <p:cNvPr id="33" name="TextBox 32"/>
          <p:cNvSpPr txBox="1"/>
          <p:nvPr/>
        </p:nvSpPr>
        <p:spPr>
          <a:xfrm>
            <a:off x="9082735" y="5394960"/>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Set Active once the formula, the reference source and the consuming step have all been agreed.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WHAT IT GIVES YOU</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the client assignment record captures</a:t>
            </a:r>
          </a:p>
        </p:txBody>
      </p:sp>
      <p:sp>
        <p:nvSpPr>
          <p:cNvPr id="6" name="Rounded Rectangle 5"/>
          <p:cNvSpPr/>
          <p:nvPr/>
        </p:nvSpPr>
        <p:spPr>
          <a:xfrm>
            <a:off x="566928" y="1316736"/>
            <a:ext cx="6850937"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Client assignments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One row states the company's position on a formula, in language a payroll reviewer and an auditor can both read.</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An assignment is maintained in place; the formula it points at is the part that carries versions.</a:t>
            </a:r>
          </a:p>
        </p:txBody>
      </p:sp>
      <p:sp>
        <p:nvSpPr>
          <p:cNvPr id="9" name="Rounded Rectangle 8"/>
          <p:cNvSpPr/>
          <p:nvPr/>
        </p:nvSpPr>
        <p:spPr>
          <a:xfrm>
            <a:off x="566928" y="2651760"/>
            <a:ext cx="3576218" cy="1447800"/>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26517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22376" y="28346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2" name="TextBox 11"/>
          <p:cNvSpPr txBox="1"/>
          <p:nvPr/>
        </p:nvSpPr>
        <p:spPr>
          <a:xfrm>
            <a:off x="1133856" y="28895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The business purpose</a:t>
            </a:r>
          </a:p>
        </p:txBody>
      </p:sp>
      <p:sp>
        <p:nvSpPr>
          <p:cNvPr id="13" name="TextBox 12"/>
          <p:cNvSpPr txBox="1"/>
          <p:nvPr/>
        </p:nvSpPr>
        <p:spPr>
          <a:xfrm>
            <a:off x="822960" y="3364992"/>
            <a:ext cx="3100730" cy="661416"/>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Assignment type and reference table together say what payroll is calculating and which business item it belongs to.</a:t>
            </a:r>
          </a:p>
        </p:txBody>
      </p:sp>
      <p:sp>
        <p:nvSpPr>
          <p:cNvPr id="14" name="Rounded Rectangle 13"/>
          <p:cNvSpPr/>
          <p:nvPr/>
        </p:nvSpPr>
        <p:spPr>
          <a:xfrm>
            <a:off x="4307738" y="2651760"/>
            <a:ext cx="3576218" cy="1447800"/>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07738" y="26517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463186" y="28346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7" name="TextBox 16"/>
          <p:cNvSpPr txBox="1"/>
          <p:nvPr/>
        </p:nvSpPr>
        <p:spPr>
          <a:xfrm>
            <a:off x="4874666" y="28895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The formula it uses</a:t>
            </a:r>
          </a:p>
        </p:txBody>
      </p:sp>
      <p:sp>
        <p:nvSpPr>
          <p:cNvPr id="18" name="TextBox 17"/>
          <p:cNvSpPr txBox="1"/>
          <p:nvPr/>
        </p:nvSpPr>
        <p:spPr>
          <a:xfrm>
            <a:off x="4563770" y="3364992"/>
            <a:ext cx="3100730" cy="661416"/>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Basis of computation names the code, which is the stable link between the company's governance and the library.</a:t>
            </a:r>
          </a:p>
        </p:txBody>
      </p:sp>
      <p:sp>
        <p:nvSpPr>
          <p:cNvPr id="19" name="Rounded Rectangle 18"/>
          <p:cNvSpPr/>
          <p:nvPr/>
        </p:nvSpPr>
        <p:spPr>
          <a:xfrm>
            <a:off x="8048548" y="2651760"/>
            <a:ext cx="3576218" cy="1447800"/>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48548" y="26517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203996" y="28346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2" name="TextBox 21"/>
          <p:cNvSpPr txBox="1"/>
          <p:nvPr/>
        </p:nvSpPr>
        <p:spPr>
          <a:xfrm>
            <a:off x="8615476" y="28895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Who it covers</a:t>
            </a:r>
          </a:p>
        </p:txBody>
      </p:sp>
      <p:sp>
        <p:nvSpPr>
          <p:cNvPr id="23" name="TextBox 22"/>
          <p:cNvSpPr txBox="1"/>
          <p:nvPr/>
        </p:nvSpPr>
        <p:spPr>
          <a:xfrm>
            <a:off x="8304580" y="3364992"/>
            <a:ext cx="3100730" cy="661416"/>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Employee group records the population the rule is meant for — all employees, or a narrower group that genuinely shares the rule.</a:t>
            </a:r>
          </a:p>
        </p:txBody>
      </p:sp>
      <p:sp>
        <p:nvSpPr>
          <p:cNvPr id="24" name="Rounded Rectangle 23"/>
          <p:cNvSpPr/>
          <p:nvPr/>
        </p:nvSpPr>
        <p:spPr>
          <a:xfrm>
            <a:off x="566928" y="4264152"/>
            <a:ext cx="3576218" cy="1447800"/>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6928" y="4264152"/>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722376" y="4447032"/>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7" name="TextBox 26"/>
          <p:cNvSpPr txBox="1"/>
          <p:nvPr/>
        </p:nvSpPr>
        <p:spPr>
          <a:xfrm>
            <a:off x="1133856" y="4501896"/>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When it applies</a:t>
            </a:r>
          </a:p>
        </p:txBody>
      </p:sp>
      <p:sp>
        <p:nvSpPr>
          <p:cNvPr id="28" name="TextBox 27"/>
          <p:cNvSpPr txBox="1"/>
          <p:nvPr/>
        </p:nvSpPr>
        <p:spPr>
          <a:xfrm>
            <a:off x="822960" y="4977384"/>
            <a:ext cx="3100730" cy="661416"/>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Frequency records the business event: every payroll, monthly, quarterly, annually, or on retirement.</a:t>
            </a:r>
          </a:p>
        </p:txBody>
      </p:sp>
      <p:sp>
        <p:nvSpPr>
          <p:cNvPr id="29" name="Rounded Rectangle 28"/>
          <p:cNvSpPr/>
          <p:nvPr/>
        </p:nvSpPr>
        <p:spPr>
          <a:xfrm>
            <a:off x="4307738" y="4264152"/>
            <a:ext cx="3576218" cy="1447800"/>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07738" y="4264152"/>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463186" y="4447032"/>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2" name="TextBox 31"/>
          <p:cNvSpPr txBox="1"/>
          <p:nvPr/>
        </p:nvSpPr>
        <p:spPr>
          <a:xfrm>
            <a:off x="4874666" y="4501896"/>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Whether it is in force</a:t>
            </a:r>
          </a:p>
        </p:txBody>
      </p:sp>
      <p:sp>
        <p:nvSpPr>
          <p:cNvPr id="33" name="TextBox 32"/>
          <p:cNvSpPr txBox="1"/>
          <p:nvPr/>
        </p:nvSpPr>
        <p:spPr>
          <a:xfrm>
            <a:off x="4563770" y="4977384"/>
            <a:ext cx="3100730" cy="661416"/>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Status separates a rule that is live from setup retained for reference.</a:t>
            </a:r>
          </a:p>
        </p:txBody>
      </p:sp>
      <p:sp>
        <p:nvSpPr>
          <p:cNvPr id="34" name="Rounded Rectangle 33"/>
          <p:cNvSpPr/>
          <p:nvPr/>
        </p:nvSpPr>
        <p:spPr>
          <a:xfrm>
            <a:off x="8048548" y="4264152"/>
            <a:ext cx="3576218" cy="1447800"/>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048548" y="4264152"/>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203996" y="4447032"/>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6</a:t>
            </a:r>
          </a:p>
        </p:txBody>
      </p:sp>
      <p:sp>
        <p:nvSpPr>
          <p:cNvPr id="37" name="TextBox 36"/>
          <p:cNvSpPr txBox="1"/>
          <p:nvPr/>
        </p:nvSpPr>
        <p:spPr>
          <a:xfrm>
            <a:off x="8615476" y="4501896"/>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Protection for the formula</a:t>
            </a:r>
          </a:p>
        </p:txBody>
      </p:sp>
      <p:sp>
        <p:nvSpPr>
          <p:cNvPr id="38" name="TextBox 37"/>
          <p:cNvSpPr txBox="1"/>
          <p:nvPr/>
        </p:nvSpPr>
        <p:spPr>
          <a:xfrm>
            <a:off x="8304580" y="4977384"/>
            <a:ext cx="3100730" cy="661416"/>
          </a:xfrm>
          <a:prstGeom prst="rect">
            <a:avLst/>
          </a:prstGeom>
          <a:noFill/>
        </p:spPr>
        <p:txBody>
          <a:bodyPr wrap="square" anchor="t" lIns="0" rIns="0" tIns="0" bIns="0">
            <a:spAutoFit/>
          </a:bodyPr>
          <a:lstStyle/>
          <a:p>
            <a:pPr algn="l">
              <a:lnSpc>
                <a:spcPct val="130000"/>
              </a:lnSpc>
              <a:spcBef>
                <a:spcPts val="0"/>
              </a:spcBef>
              <a:spcAft>
                <a:spcPts val="0"/>
              </a:spcAft>
            </a:pPr>
            <a:r>
              <a:rPr sz="1040" b="0" i="0">
                <a:solidFill>
                  <a:srgbClr val="6B6675"/>
                </a:solidFill>
                <a:latin typeface="Segoe UI"/>
              </a:rPr>
              <a:t>While an active assignment points at a code, ATLAS looks after that computation in the library rather than letting it be removed.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FOR THE MEETING</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Scope rules to agree before an assignment goes Active</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Each of these is a business rule about when two assignments may coexist. Agreeing them now is what makes the register trustworthy later.</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These five checks form the specification for validation at the point of saving an assignment.</a:t>
            </a:r>
          </a:p>
        </p:txBody>
      </p:sp>
      <p:sp>
        <p:nvSpPr>
          <p:cNvPr id="8" name="Rounded Rectangle 7"/>
          <p:cNvSpPr/>
          <p:nvPr/>
        </p:nvSpPr>
        <p:spPr>
          <a:xfrm>
            <a:off x="566928" y="2194560"/>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2194560"/>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377440"/>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1</a:t>
            </a:r>
          </a:p>
        </p:txBody>
      </p:sp>
      <p:sp>
        <p:nvSpPr>
          <p:cNvPr id="11" name="TextBox 10"/>
          <p:cNvSpPr txBox="1"/>
          <p:nvPr/>
        </p:nvSpPr>
        <p:spPr>
          <a:xfrm>
            <a:off x="113385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Business purpose</a:t>
            </a:r>
          </a:p>
        </p:txBody>
      </p:sp>
      <p:sp>
        <p:nvSpPr>
          <p:cNvPr id="12" name="TextBox 11"/>
          <p:cNvSpPr txBox="1"/>
          <p:nvPr/>
        </p:nvSpPr>
        <p:spPr>
          <a:xfrm>
            <a:off x="822960" y="2907792"/>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Two assignments for different earning codes sit comfortably together. Two for the same purpose and the same reference table need a decision.</a:t>
            </a:r>
          </a:p>
        </p:txBody>
      </p:sp>
      <p:sp>
        <p:nvSpPr>
          <p:cNvPr id="13" name="Rounded Rectangle 12"/>
          <p:cNvSpPr/>
          <p:nvPr/>
        </p:nvSpPr>
        <p:spPr>
          <a:xfrm>
            <a:off x="4307738" y="2194560"/>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2194560"/>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377440"/>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2</a:t>
            </a:r>
          </a:p>
        </p:txBody>
      </p:sp>
      <p:sp>
        <p:nvSpPr>
          <p:cNvPr id="16" name="TextBox 15"/>
          <p:cNvSpPr txBox="1"/>
          <p:nvPr/>
        </p:nvSpPr>
        <p:spPr>
          <a:xfrm>
            <a:off x="487466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Employee scope</a:t>
            </a:r>
          </a:p>
        </p:txBody>
      </p:sp>
      <p:sp>
        <p:nvSpPr>
          <p:cNvPr id="17" name="TextBox 16"/>
          <p:cNvSpPr txBox="1"/>
          <p:nvPr/>
        </p:nvSpPr>
        <p:spPr>
          <a:xfrm>
            <a:off x="4563770" y="2907792"/>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Decide whether All Employees sits alongside a narrower group or overrides it — and if it overrides, set the precedence order.</a:t>
            </a:r>
          </a:p>
        </p:txBody>
      </p:sp>
      <p:sp>
        <p:nvSpPr>
          <p:cNvPr id="18" name="Rounded Rectangle 17"/>
          <p:cNvSpPr/>
          <p:nvPr/>
        </p:nvSpPr>
        <p:spPr>
          <a:xfrm>
            <a:off x="8048548" y="2194560"/>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2194560"/>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377440"/>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3</a:t>
            </a:r>
          </a:p>
        </p:txBody>
      </p:sp>
      <p:sp>
        <p:nvSpPr>
          <p:cNvPr id="21" name="TextBox 20"/>
          <p:cNvSpPr txBox="1"/>
          <p:nvPr/>
        </p:nvSpPr>
        <p:spPr>
          <a:xfrm>
            <a:off x="861547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Frequency or event</a:t>
            </a:r>
          </a:p>
        </p:txBody>
      </p:sp>
      <p:sp>
        <p:nvSpPr>
          <p:cNvPr id="22" name="TextBox 21"/>
          <p:cNvSpPr txBox="1"/>
          <p:nvPr/>
        </p:nvSpPr>
        <p:spPr>
          <a:xfrm>
            <a:off x="8304580" y="2907792"/>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Two every-payroll rules for the same purpose and group need a decision. An annual rule and a per-payroll rule do not.</a:t>
            </a:r>
          </a:p>
        </p:txBody>
      </p:sp>
      <p:sp>
        <p:nvSpPr>
          <p:cNvPr id="23" name="Rounded Rectangle 22"/>
          <p:cNvSpPr/>
          <p:nvPr/>
        </p:nvSpPr>
        <p:spPr>
          <a:xfrm>
            <a:off x="566928" y="3797046"/>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797046"/>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3979926"/>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4</a:t>
            </a:r>
          </a:p>
        </p:txBody>
      </p:sp>
      <p:sp>
        <p:nvSpPr>
          <p:cNvPr id="26" name="TextBox 25"/>
          <p:cNvSpPr txBox="1"/>
          <p:nvPr/>
        </p:nvSpPr>
        <p:spPr>
          <a:xfrm>
            <a:off x="1133856" y="4034790"/>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Effective period</a:t>
            </a:r>
          </a:p>
        </p:txBody>
      </p:sp>
      <p:sp>
        <p:nvSpPr>
          <p:cNvPr id="27" name="TextBox 26"/>
          <p:cNvSpPr txBox="1"/>
          <p:nvPr/>
        </p:nvSpPr>
        <p:spPr>
          <a:xfrm>
            <a:off x="822960" y="4510278"/>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Where date ranges overlap, agree whether the later row supersedes the earlier one and how that is recorded.</a:t>
            </a:r>
          </a:p>
        </p:txBody>
      </p:sp>
      <p:sp>
        <p:nvSpPr>
          <p:cNvPr id="28" name="Rounded Rectangle 27"/>
          <p:cNvSpPr/>
          <p:nvPr/>
        </p:nvSpPr>
        <p:spPr>
          <a:xfrm>
            <a:off x="4307738" y="3797046"/>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797046"/>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3979926"/>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5</a:t>
            </a:r>
          </a:p>
        </p:txBody>
      </p:sp>
      <p:sp>
        <p:nvSpPr>
          <p:cNvPr id="31" name="TextBox 30"/>
          <p:cNvSpPr txBox="1"/>
          <p:nvPr/>
        </p:nvSpPr>
        <p:spPr>
          <a:xfrm>
            <a:off x="4874666" y="4034790"/>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Existing payroll use</a:t>
            </a:r>
          </a:p>
        </p:txBody>
      </p:sp>
      <p:sp>
        <p:nvSpPr>
          <p:cNvPr id="32" name="TextBox 31"/>
          <p:cNvSpPr txBox="1"/>
          <p:nvPr/>
        </p:nvSpPr>
        <p:spPr>
          <a:xfrm>
            <a:off x="4563770" y="4510278"/>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Once a payroll has used a version, amend by publishing a new effective version so the earlier evidence stands.</a:t>
            </a:r>
          </a:p>
        </p:txBody>
      </p:sp>
      <p:sp>
        <p:nvSpPr>
          <p:cNvPr id="33" name="Rounded Rectangle 32"/>
          <p:cNvSpPr/>
          <p:nvPr/>
        </p:nvSpPr>
        <p:spPr>
          <a:xfrm>
            <a:off x="8048548" y="3797046"/>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797046"/>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3979926"/>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6</a:t>
            </a:r>
          </a:p>
        </p:txBody>
      </p:sp>
      <p:sp>
        <p:nvSpPr>
          <p:cNvPr id="36" name="TextBox 35"/>
          <p:cNvSpPr txBox="1"/>
          <p:nvPr/>
        </p:nvSpPr>
        <p:spPr>
          <a:xfrm>
            <a:off x="8615476" y="4034790"/>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Who decides</a:t>
            </a:r>
          </a:p>
        </p:txBody>
      </p:sp>
      <p:sp>
        <p:nvSpPr>
          <p:cNvPr id="37" name="TextBox 36"/>
          <p:cNvSpPr txBox="1"/>
          <p:nvPr/>
        </p:nvSpPr>
        <p:spPr>
          <a:xfrm>
            <a:off x="8304580" y="4510278"/>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Name the owner for each rule above. A scope rule with a named owner is one that gets applied consistently.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03</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Keep the values outside the formula</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Rates, ceilings and tables change on their own schedule. Reference sources are how a rate change stops being a formula change.</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Two registers</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Source anatomy</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Change history</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EASILY CONFUSED</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Two registers with similar names, doing different jobs</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ATLAS separates them deliberately, and the posted payroll consults both as separate steps. Using the right name in a requirements conversation saves rework later.</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Both appear, separately, in the source trail of a posted payroll.</a:t>
            </a:r>
          </a:p>
        </p:txBody>
      </p:sp>
      <p:sp>
        <p:nvSpPr>
          <p:cNvPr id="8" name="Rounded Rectangle 7"/>
          <p:cNvSpPr/>
          <p:nvPr/>
        </p:nvSpPr>
        <p:spPr>
          <a:xfrm>
            <a:off x="566928" y="18836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984248"/>
            <a:ext cx="1384355"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
            </a:r>
          </a:p>
        </p:txBody>
      </p:sp>
      <p:sp>
        <p:nvSpPr>
          <p:cNvPr id="10" name="TextBox 9"/>
          <p:cNvSpPr txBox="1"/>
          <p:nvPr/>
        </p:nvSpPr>
        <p:spPr>
          <a:xfrm>
            <a:off x="2390195" y="1984248"/>
            <a:ext cx="4701707"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FORMULA REFERENCE SOURCES</a:t>
            </a:r>
          </a:p>
        </p:txBody>
      </p:sp>
      <p:sp>
        <p:nvSpPr>
          <p:cNvPr id="11" name="TextBox 10"/>
          <p:cNvSpPr txBox="1"/>
          <p:nvPr/>
        </p:nvSpPr>
        <p:spPr>
          <a:xfrm>
            <a:off x="7366222" y="1984248"/>
            <a:ext cx="4148815"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REFERENCE TABLE</a:t>
            </a:r>
          </a:p>
        </p:txBody>
      </p:sp>
      <p:sp>
        <p:nvSpPr>
          <p:cNvPr id="12" name="Rounded Rectangle 11"/>
          <p:cNvSpPr/>
          <p:nvPr/>
        </p:nvSpPr>
        <p:spPr>
          <a:xfrm>
            <a:off x="566928" y="2377440"/>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31520" y="2496312"/>
            <a:ext cx="1366067"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Where it lives</a:t>
            </a:r>
          </a:p>
        </p:txBody>
      </p:sp>
      <p:sp>
        <p:nvSpPr>
          <p:cNvPr id="14" name="TextBox 13"/>
          <p:cNvSpPr txBox="1"/>
          <p:nvPr/>
        </p:nvSpPr>
        <p:spPr>
          <a:xfrm>
            <a:off x="2390195" y="2496312"/>
            <a:ext cx="468341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Inside Computational Basis, as its own tab.</a:t>
            </a:r>
          </a:p>
        </p:txBody>
      </p:sp>
      <p:sp>
        <p:nvSpPr>
          <p:cNvPr id="15" name="TextBox 14"/>
          <p:cNvSpPr txBox="1"/>
          <p:nvPr/>
        </p:nvSpPr>
        <p:spPr>
          <a:xfrm>
            <a:off x="7366222" y="2496312"/>
            <a:ext cx="4130527"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 Settings module, company-wide.</a:t>
            </a:r>
          </a:p>
        </p:txBody>
      </p:sp>
      <p:sp>
        <p:nvSpPr>
          <p:cNvPr id="16" name="Rounded Rectangle 15"/>
          <p:cNvSpPr/>
          <p:nvPr/>
        </p:nvSpPr>
        <p:spPr>
          <a:xfrm>
            <a:off x="566928" y="3152851"/>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31520" y="3271723"/>
            <a:ext cx="1366067"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How to reach it</a:t>
            </a:r>
          </a:p>
        </p:txBody>
      </p:sp>
      <p:sp>
        <p:nvSpPr>
          <p:cNvPr id="18" name="TextBox 17"/>
          <p:cNvSpPr txBox="1"/>
          <p:nvPr/>
        </p:nvSpPr>
        <p:spPr>
          <a:xfrm>
            <a:off x="2390195" y="3271723"/>
            <a:ext cx="468341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Core › Company Configuration › Services Information › Payroll › Computational Basis › Reference sources</a:t>
            </a:r>
          </a:p>
        </p:txBody>
      </p:sp>
      <p:sp>
        <p:nvSpPr>
          <p:cNvPr id="19" name="TextBox 18"/>
          <p:cNvSpPr txBox="1"/>
          <p:nvPr/>
        </p:nvSpPr>
        <p:spPr>
          <a:xfrm>
            <a:off x="7366222" y="3271723"/>
            <a:ext cx="4130527"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Core › Reference Table</a:t>
            </a:r>
          </a:p>
        </p:txBody>
      </p:sp>
      <p:sp>
        <p:nvSpPr>
          <p:cNvPr id="20" name="Rounded Rectangle 19"/>
          <p:cNvSpPr/>
          <p:nvPr/>
        </p:nvSpPr>
        <p:spPr>
          <a:xfrm>
            <a:off x="566928" y="3928262"/>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 y="4047134"/>
            <a:ext cx="1366067"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What it holds</a:t>
            </a:r>
          </a:p>
        </p:txBody>
      </p:sp>
      <p:sp>
        <p:nvSpPr>
          <p:cNvPr id="22" name="TextBox 21"/>
          <p:cNvSpPr txBox="1"/>
          <p:nvPr/>
        </p:nvSpPr>
        <p:spPr>
          <a:xfrm>
            <a:off x="2390195" y="4047134"/>
            <a:ext cx="468341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REF-0xx sources a formula reads: tax tables, contribution tables, ceilings, premium rates and code lists.</a:t>
            </a:r>
          </a:p>
        </p:txBody>
      </p:sp>
      <p:sp>
        <p:nvSpPr>
          <p:cNvPr id="23" name="TextBox 22"/>
          <p:cNvSpPr txBox="1"/>
          <p:nvPr/>
        </p:nvSpPr>
        <p:spPr>
          <a:xfrm>
            <a:off x="7366222" y="4047134"/>
            <a:ext cx="4130527"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Shared company reference values used across modules, not only by payroll formulas.</a:t>
            </a:r>
          </a:p>
        </p:txBody>
      </p:sp>
      <p:sp>
        <p:nvSpPr>
          <p:cNvPr id="24" name="Rounded Rectangle 23"/>
          <p:cNvSpPr/>
          <p:nvPr/>
        </p:nvSpPr>
        <p:spPr>
          <a:xfrm>
            <a:off x="566928" y="4703673"/>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31520" y="4822545"/>
            <a:ext cx="1366067"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Who maintains it</a:t>
            </a:r>
          </a:p>
        </p:txBody>
      </p:sp>
      <p:sp>
        <p:nvSpPr>
          <p:cNvPr id="26" name="TextBox 25"/>
          <p:cNvSpPr txBox="1"/>
          <p:nvPr/>
        </p:nvSpPr>
        <p:spPr>
          <a:xfrm>
            <a:off x="2390195" y="4822545"/>
            <a:ext cx="468341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Company sources are edited here. Linked statutory sources offer 'Manage in Settings', so the standard table stays controlled.</a:t>
            </a:r>
          </a:p>
        </p:txBody>
      </p:sp>
      <p:sp>
        <p:nvSpPr>
          <p:cNvPr id="27" name="TextBox 26"/>
          <p:cNvSpPr txBox="1"/>
          <p:nvPr/>
        </p:nvSpPr>
        <p:spPr>
          <a:xfrm>
            <a:off x="7366222" y="4822545"/>
            <a:ext cx="4130527"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Maintained centrally as company reference data.</a:t>
            </a:r>
          </a:p>
        </p:txBody>
      </p:sp>
      <p:sp>
        <p:nvSpPr>
          <p:cNvPr id="28" name="Rounded Rectangle 27"/>
          <p:cNvSpPr/>
          <p:nvPr/>
        </p:nvSpPr>
        <p:spPr>
          <a:xfrm>
            <a:off x="566928" y="5479084"/>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31520" y="5597956"/>
            <a:ext cx="1366067"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How payroll uses it</a:t>
            </a:r>
          </a:p>
        </p:txBody>
      </p:sp>
      <p:sp>
        <p:nvSpPr>
          <p:cNvPr id="30" name="TextBox 29"/>
          <p:cNvSpPr txBox="1"/>
          <p:nvPr/>
        </p:nvSpPr>
        <p:spPr>
          <a:xfrm>
            <a:off x="2390195" y="5597956"/>
            <a:ext cx="468341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Resolves the effective version of each named source and passes the values to the computation steps.</a:t>
            </a:r>
          </a:p>
        </p:txBody>
      </p:sp>
      <p:sp>
        <p:nvSpPr>
          <p:cNvPr id="31" name="TextBox 30"/>
          <p:cNvSpPr txBox="1"/>
          <p:nvPr/>
        </p:nvSpPr>
        <p:spPr>
          <a:xfrm>
            <a:off x="7366222" y="5597956"/>
            <a:ext cx="4130527"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Cross-checks ownership, so the same value is not duplicated in two places.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REFERENCE SOURCES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Anatomy of a reference source</a:t>
            </a:r>
          </a:p>
        </p:txBody>
      </p:sp>
      <p:sp>
        <p:nvSpPr>
          <p:cNvPr id="6" name="Rounded Rectangle 5"/>
          <p:cNvSpPr/>
          <p:nvPr/>
        </p:nvSpPr>
        <p:spPr>
          <a:xfrm>
            <a:off x="566928" y="1316736"/>
            <a:ext cx="6809613"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Reference sources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Rates, tables and ceilings change on their own schedule. Keeping them here means a change of rate is not a change of formula.</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Statutory sources are linked here but maintained in Settings, then consumed read-only by Payroll.</a:t>
            </a:r>
          </a:p>
        </p:txBody>
      </p:sp>
      <p:pic>
        <p:nvPicPr>
          <p:cNvPr id="9" name="Picture 8" descr="fg-reference.png"/>
          <p:cNvPicPr>
            <a:picLocks noChangeAspect="1"/>
          </p:cNvPicPr>
          <p:nvPr/>
        </p:nvPicPr>
        <p:blipFill>
          <a:blip r:embed="rId2"/>
          <a:stretch>
            <a:fillRect/>
          </a:stretch>
        </p:blipFill>
        <p:spPr>
          <a:xfrm>
            <a:off x="566928" y="3100746"/>
            <a:ext cx="5141671" cy="2302428"/>
          </a:xfrm>
          <a:prstGeom prst="rect">
            <a:avLst/>
          </a:prstGeom>
        </p:spPr>
      </p:pic>
      <p:sp>
        <p:nvSpPr>
          <p:cNvPr id="10" name="Rounded Rectangle 9"/>
          <p:cNvSpPr/>
          <p:nvPr/>
        </p:nvSpPr>
        <p:spPr>
          <a:xfrm>
            <a:off x="6001207" y="2304288"/>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20237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657727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Code and category</a:t>
            </a:r>
          </a:p>
        </p:txBody>
      </p:sp>
      <p:sp>
        <p:nvSpPr>
          <p:cNvPr id="13" name="TextBox 12"/>
          <p:cNvSpPr txBox="1"/>
          <p:nvPr/>
        </p:nvSpPr>
        <p:spPr>
          <a:xfrm>
            <a:off x="6202375" y="2706624"/>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stable identifier and business family used when a computation or assignment points at this source.</a:t>
            </a:r>
          </a:p>
        </p:txBody>
      </p:sp>
      <p:sp>
        <p:nvSpPr>
          <p:cNvPr id="14" name="Rounded Rectangle 13"/>
          <p:cNvSpPr/>
          <p:nvPr/>
        </p:nvSpPr>
        <p:spPr>
          <a:xfrm>
            <a:off x="8881567" y="2304288"/>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908273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945763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Configured rows</a:t>
            </a:r>
          </a:p>
        </p:txBody>
      </p:sp>
      <p:sp>
        <p:nvSpPr>
          <p:cNvPr id="17" name="TextBox 16"/>
          <p:cNvSpPr txBox="1"/>
          <p:nvPr/>
        </p:nvSpPr>
        <p:spPr>
          <a:xfrm>
            <a:off x="9082735" y="2706624"/>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How many records the current version holds — a quick sense check after an upload.</a:t>
            </a:r>
          </a:p>
        </p:txBody>
      </p:sp>
      <p:sp>
        <p:nvSpPr>
          <p:cNvPr id="18" name="Rounded Rectangle 17"/>
          <p:cNvSpPr/>
          <p:nvPr/>
        </p:nvSpPr>
        <p:spPr>
          <a:xfrm>
            <a:off x="6001207" y="3648456"/>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202375"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577279" y="3794760"/>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Version</a:t>
            </a:r>
          </a:p>
        </p:txBody>
      </p:sp>
      <p:sp>
        <p:nvSpPr>
          <p:cNvPr id="21" name="TextBox 20"/>
          <p:cNvSpPr txBox="1"/>
          <p:nvPr/>
        </p:nvSpPr>
        <p:spPr>
          <a:xfrm>
            <a:off x="6202375" y="4050792"/>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Which dataset this is. The payroll trail quotes it, so it moves whenever the content moves.</a:t>
            </a:r>
          </a:p>
        </p:txBody>
      </p:sp>
      <p:sp>
        <p:nvSpPr>
          <p:cNvPr id="22" name="Rounded Rectangle 21"/>
          <p:cNvSpPr/>
          <p:nvPr/>
        </p:nvSpPr>
        <p:spPr>
          <a:xfrm>
            <a:off x="8881567" y="3648456"/>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082735"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457639" y="3794760"/>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Company status</a:t>
            </a:r>
          </a:p>
        </p:txBody>
      </p:sp>
      <p:sp>
        <p:nvSpPr>
          <p:cNvPr id="25" name="TextBox 24"/>
          <p:cNvSpPr txBox="1"/>
          <p:nvPr/>
        </p:nvSpPr>
        <p:spPr>
          <a:xfrm>
            <a:off x="9082735" y="4050792"/>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Enabled sources can be selected by this company. Disabled ones stay readable for history.</a:t>
            </a:r>
          </a:p>
        </p:txBody>
      </p:sp>
      <p:sp>
        <p:nvSpPr>
          <p:cNvPr id="26" name="Rounded Rectangle 25"/>
          <p:cNvSpPr/>
          <p:nvPr/>
        </p:nvSpPr>
        <p:spPr>
          <a:xfrm>
            <a:off x="6001207" y="4992624"/>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202375"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6577279" y="5138928"/>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Manage</a:t>
            </a:r>
          </a:p>
        </p:txBody>
      </p:sp>
      <p:sp>
        <p:nvSpPr>
          <p:cNvPr id="29" name="TextBox 28"/>
          <p:cNvSpPr txBox="1"/>
          <p:nvPr/>
        </p:nvSpPr>
        <p:spPr>
          <a:xfrm>
            <a:off x="6202375" y="5394960"/>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Opens the company-maintained rows. Linked statutory sources instead offer 'Manage in Settings', so the standard table stays centrally controlled.</a:t>
            </a:r>
          </a:p>
        </p:txBody>
      </p:sp>
      <p:sp>
        <p:nvSpPr>
          <p:cNvPr id="30" name="Rounded Rectangle 29"/>
          <p:cNvSpPr/>
          <p:nvPr/>
        </p:nvSpPr>
        <p:spPr>
          <a:xfrm>
            <a:off x="8881567" y="4992624"/>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9082735"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6</a:t>
            </a:r>
          </a:p>
        </p:txBody>
      </p:sp>
      <p:sp>
        <p:nvSpPr>
          <p:cNvPr id="32" name="TextBox 31"/>
          <p:cNvSpPr txBox="1"/>
          <p:nvPr/>
        </p:nvSpPr>
        <p:spPr>
          <a:xfrm>
            <a:off x="9457639" y="5138928"/>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Upload version</a:t>
            </a:r>
          </a:p>
        </p:txBody>
      </p:sp>
      <p:sp>
        <p:nvSpPr>
          <p:cNvPr id="33" name="TextBox 32"/>
          <p:cNvSpPr txBox="1"/>
          <p:nvPr/>
        </p:nvSpPr>
        <p:spPr>
          <a:xfrm>
            <a:off x="9082735" y="5394960"/>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Adds a new effective dataset alongside the existing one, leaving the version an earlier payroll used intact.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CHANGE HISTORY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Who changed what, when, and to which version</a:t>
            </a:r>
          </a:p>
        </p:txBody>
      </p:sp>
      <p:sp>
        <p:nvSpPr>
          <p:cNvPr id="6" name="Rounded Rectangle 5"/>
          <p:cNvSpPr/>
          <p:nvPr/>
        </p:nvSpPr>
        <p:spPr>
          <a:xfrm>
            <a:off x="566928" y="1316736"/>
            <a:ext cx="6622436"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Change history</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Formula edits, table versions, test runs and client enablement all land in the same list, so a payroll setup can be reconstructed after the fact.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Each entry carries the version, which is what ties an audit question to a specific payroll transaction.</a:t>
            </a:r>
          </a:p>
        </p:txBody>
      </p:sp>
      <p:pic>
        <p:nvPicPr>
          <p:cNvPr id="9" name="Picture 8" descr="change-history.png"/>
          <p:cNvPicPr>
            <a:picLocks noChangeAspect="1"/>
          </p:cNvPicPr>
          <p:nvPr/>
        </p:nvPicPr>
        <p:blipFill>
          <a:blip r:embed="rId2"/>
          <a:stretch>
            <a:fillRect/>
          </a:stretch>
        </p:blipFill>
        <p:spPr>
          <a:xfrm>
            <a:off x="3928042" y="2304288"/>
            <a:ext cx="4335610" cy="2706624"/>
          </a:xfrm>
          <a:prstGeom prst="rect">
            <a:avLst/>
          </a:prstGeom>
        </p:spPr>
      </p:pic>
      <p:sp>
        <p:nvSpPr>
          <p:cNvPr id="10" name="Rectangle 9"/>
          <p:cNvSpPr/>
          <p:nvPr/>
        </p:nvSpPr>
        <p:spPr>
          <a:xfrm>
            <a:off x="566928"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Three kinds of change, one list</a:t>
            </a:r>
          </a:p>
        </p:txBody>
      </p:sp>
      <p:sp>
        <p:nvSpPr>
          <p:cNvPr id="12" name="TextBox 11"/>
          <p:cNvSpPr txBox="1"/>
          <p:nvPr/>
        </p:nvSpPr>
        <p:spPr>
          <a:xfrm>
            <a:off x="713232"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Formula edits, reference table versions and client enablement all land here with the same shape.</a:t>
            </a:r>
          </a:p>
        </p:txBody>
      </p:sp>
      <p:sp>
        <p:nvSpPr>
          <p:cNvPr id="13" name="Rectangle 12"/>
          <p:cNvSpPr/>
          <p:nvPr/>
        </p:nvSpPr>
        <p:spPr>
          <a:xfrm>
            <a:off x="4301642"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47946"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Version is the link</a:t>
            </a:r>
          </a:p>
        </p:txBody>
      </p:sp>
      <p:sp>
        <p:nvSpPr>
          <p:cNvPr id="15" name="TextBox 14"/>
          <p:cNvSpPr txBox="1"/>
          <p:nvPr/>
        </p:nvSpPr>
        <p:spPr>
          <a:xfrm>
            <a:off x="4447946"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Each entry carries the version, which is what ties an audit question back to a specific payroll transaction.</a:t>
            </a:r>
          </a:p>
        </p:txBody>
      </p:sp>
      <p:sp>
        <p:nvSpPr>
          <p:cNvPr id="16" name="Rectangle 15"/>
          <p:cNvSpPr/>
          <p:nvPr/>
        </p:nvSpPr>
        <p:spPr>
          <a:xfrm>
            <a:off x="8036356"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82660"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It is the reconstruction tool</a:t>
            </a:r>
          </a:p>
        </p:txBody>
      </p:sp>
      <p:sp>
        <p:nvSpPr>
          <p:cNvPr id="18" name="TextBox 17"/>
          <p:cNvSpPr txBox="1"/>
          <p:nvPr/>
        </p:nvSpPr>
        <p:spPr>
          <a:xfrm>
            <a:off x="8182660"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When someone asks why November differed from October, this is the first screen to open.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04</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Proof: following it into payroll</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Setup is only half the story. This section opens a posted payroll and traces one employee's net pay back to the codes that produced it.</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A posted run</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source trail</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calculation ledger</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PROOF · A POSTED PAYROLL</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One employee, one posted run, one set of numbers</a:t>
            </a:r>
          </a:p>
        </p:txBody>
      </p:sp>
      <p:sp>
        <p:nvSpPr>
          <p:cNvPr id="6" name="Rounded Rectangle 5"/>
          <p:cNvSpPr/>
          <p:nvPr/>
        </p:nvSpPr>
        <p:spPr>
          <a:xfrm>
            <a:off x="566928" y="1316736"/>
            <a:ext cx="402806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Everything in this section comes from a payroll transaction after it was calculated, approved and posted.</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Screens are live captures of the ATLAS prototype. The records, codes and amounts shown are demonstration data.</a:t>
            </a:r>
          </a:p>
        </p:txBody>
      </p:sp>
      <p:pic>
        <p:nvPicPr>
          <p:cNvPr id="9" name="Picture 8" descr="fg-trail-header.png"/>
          <p:cNvPicPr>
            <a:picLocks noChangeAspect="1"/>
          </p:cNvPicPr>
          <p:nvPr/>
        </p:nvPicPr>
        <p:blipFill>
          <a:blip r:embed="rId2"/>
          <a:stretch>
            <a:fillRect/>
          </a:stretch>
        </p:blipFill>
        <p:spPr>
          <a:xfrm>
            <a:off x="1324851" y="2304288"/>
            <a:ext cx="9541992" cy="2450592"/>
          </a:xfrm>
          <a:prstGeom prst="rect">
            <a:avLst/>
          </a:prstGeom>
        </p:spPr>
      </p:pic>
      <p:sp>
        <p:nvSpPr>
          <p:cNvPr id="10" name="Rounded Rectangle 9"/>
          <p:cNvSpPr/>
          <p:nvPr/>
        </p:nvSpPr>
        <p:spPr>
          <a:xfrm>
            <a:off x="566928"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employee</a:t>
            </a:r>
          </a:p>
        </p:txBody>
      </p:sp>
      <p:sp>
        <p:nvSpPr>
          <p:cNvPr id="13" name="TextBox 12"/>
          <p:cNvSpPr txBox="1"/>
          <p:nvPr/>
        </p:nvSpPr>
        <p:spPr>
          <a:xfrm>
            <a:off x="768096"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Name, position, employee group and pay basis — the facts that decide which rules apply to this person.</a:t>
            </a:r>
          </a:p>
        </p:txBody>
      </p:sp>
      <p:sp>
        <p:nvSpPr>
          <p:cNvPr id="14" name="Rounded Rectangle 13"/>
          <p:cNvSpPr/>
          <p:nvPr/>
        </p:nvSpPr>
        <p:spPr>
          <a:xfrm>
            <a:off x="4298594"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99762" y="5148072"/>
            <a:ext cx="274320" cy="274320"/>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4874666"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result</a:t>
            </a:r>
          </a:p>
        </p:txBody>
      </p:sp>
      <p:sp>
        <p:nvSpPr>
          <p:cNvPr id="17" name="TextBox 16"/>
          <p:cNvSpPr txBox="1"/>
          <p:nvPr/>
        </p:nvSpPr>
        <p:spPr>
          <a:xfrm>
            <a:off x="4499762"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Basic pay, gross pay, statutory, withholding tax, deductions and net pay, summarised before you open the working.</a:t>
            </a:r>
          </a:p>
        </p:txBody>
      </p:sp>
      <p:sp>
        <p:nvSpPr>
          <p:cNvPr id="18" name="Rounded Rectangle 17"/>
          <p:cNvSpPr/>
          <p:nvPr/>
        </p:nvSpPr>
        <p:spPr>
          <a:xfrm>
            <a:off x="8030260"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231428" y="5148072"/>
            <a:ext cx="274320" cy="274320"/>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606332"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How it was computed</a:t>
            </a:r>
          </a:p>
        </p:txBody>
      </p:sp>
      <p:sp>
        <p:nvSpPr>
          <p:cNvPr id="21" name="TextBox 20"/>
          <p:cNvSpPr txBox="1"/>
          <p:nvPr/>
        </p:nvSpPr>
        <p:spPr>
          <a:xfrm>
            <a:off x="8231428"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tab that opens the full evidence: a step-by-step source trail followed by the calculation ledger.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PROOF · THE OPENING STEPS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Before any formula runs, ATLAS establishes the facts</a:t>
            </a:r>
          </a:p>
        </p:txBody>
      </p:sp>
      <p:sp>
        <p:nvSpPr>
          <p:cNvPr id="6" name="Rounded Rectangle 5"/>
          <p:cNvSpPr/>
          <p:nvPr/>
        </p:nvSpPr>
        <p:spPr>
          <a:xfrm>
            <a:off x="566928" y="1316736"/>
            <a:ext cx="546951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 › How it was computed</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Run settings, company pay basis, employee salary, approved time and the earnings register. Each step names the screen it read and what it produced.</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Every step quotes a real navigation path, so a reviewer can reopen the same screen and check the input.</a:t>
            </a:r>
          </a:p>
        </p:txBody>
      </p:sp>
      <p:pic>
        <p:nvPicPr>
          <p:cNvPr id="9" name="Picture 8" descr="trail-sources-a.png"/>
          <p:cNvPicPr>
            <a:picLocks noChangeAspect="1"/>
          </p:cNvPicPr>
          <p:nvPr/>
        </p:nvPicPr>
        <p:blipFill>
          <a:blip r:embed="rId2"/>
          <a:stretch>
            <a:fillRect/>
          </a:stretch>
        </p:blipFill>
        <p:spPr>
          <a:xfrm>
            <a:off x="3668541" y="2304288"/>
            <a:ext cx="4854613" cy="2706624"/>
          </a:xfrm>
          <a:prstGeom prst="rect">
            <a:avLst/>
          </a:prstGeom>
        </p:spPr>
      </p:pic>
      <p:sp>
        <p:nvSpPr>
          <p:cNvPr id="10" name="Rectangle 9"/>
          <p:cNvSpPr/>
          <p:nvPr/>
        </p:nvSpPr>
        <p:spPr>
          <a:xfrm>
            <a:off x="566928"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Each step names its screen</a:t>
            </a:r>
          </a:p>
        </p:txBody>
      </p:sp>
      <p:sp>
        <p:nvSpPr>
          <p:cNvPr id="12" name="TextBox 11"/>
          <p:cNvSpPr txBox="1"/>
          <p:nvPr/>
        </p:nvSpPr>
        <p:spPr>
          <a:xfrm>
            <a:off x="713232"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Every card carries the exact ATLAS path, so a reviewer can reopen the source and check the input.</a:t>
            </a:r>
          </a:p>
        </p:txBody>
      </p:sp>
      <p:sp>
        <p:nvSpPr>
          <p:cNvPr id="13" name="Rectangle 12"/>
          <p:cNvSpPr/>
          <p:nvPr/>
        </p:nvSpPr>
        <p:spPr>
          <a:xfrm>
            <a:off x="4301642"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47946"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Reads and produces</a:t>
            </a:r>
          </a:p>
        </p:txBody>
      </p:sp>
      <p:sp>
        <p:nvSpPr>
          <p:cNvPr id="15" name="TextBox 14"/>
          <p:cNvSpPr txBox="1"/>
          <p:nvPr/>
        </p:nvSpPr>
        <p:spPr>
          <a:xfrm>
            <a:off x="4447946"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left column is what went in, the right column is what came out. No step is a black box.</a:t>
            </a:r>
          </a:p>
        </p:txBody>
      </p:sp>
      <p:sp>
        <p:nvSpPr>
          <p:cNvPr id="16" name="Rectangle 15"/>
          <p:cNvSpPr/>
          <p:nvPr/>
        </p:nvSpPr>
        <p:spPr>
          <a:xfrm>
            <a:off x="8036356"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82660"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Codes are stamped on</a:t>
            </a:r>
          </a:p>
        </p:txBody>
      </p:sp>
      <p:sp>
        <p:nvSpPr>
          <p:cNvPr id="18" name="TextBox 17"/>
          <p:cNvSpPr txBox="1"/>
          <p:nvPr/>
        </p:nvSpPr>
        <p:spPr>
          <a:xfrm>
            <a:off x="8182660"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Where a step feeds specific computations, their codes appear as chips at the foot of the card.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PROOF · THE SOURCE TRAIL</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Where Computational Basis enters the payroll run</a:t>
            </a:r>
          </a:p>
        </p:txBody>
      </p:sp>
      <p:sp>
        <p:nvSpPr>
          <p:cNvPr id="6" name="Rounded Rectangle 5"/>
          <p:cNvSpPr/>
          <p:nvPr/>
        </p:nvSpPr>
        <p:spPr>
          <a:xfrm>
            <a:off x="566928" y="1316736"/>
            <a:ext cx="546951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 › How it was computed</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Consecutive steps in the trail name this workspace by its exact navigation path. This is how a finance user proves the setup was used.</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 two steps before these separate the formula reference sources inside Computational Basis from the company-wide Reference Table.</a:t>
            </a:r>
          </a:p>
        </p:txBody>
      </p:sp>
      <p:pic>
        <p:nvPicPr>
          <p:cNvPr id="9" name="Picture 8" descr="fg-trail-sources-b.png"/>
          <p:cNvPicPr>
            <a:picLocks noChangeAspect="1"/>
          </p:cNvPicPr>
          <p:nvPr/>
        </p:nvPicPr>
        <p:blipFill>
          <a:blip r:embed="rId2"/>
          <a:stretch>
            <a:fillRect/>
          </a:stretch>
        </p:blipFill>
        <p:spPr>
          <a:xfrm>
            <a:off x="566928" y="2799553"/>
            <a:ext cx="6675120" cy="2904813"/>
          </a:xfrm>
          <a:prstGeom prst="rect">
            <a:avLst/>
          </a:prstGeom>
        </p:spPr>
      </p:pic>
      <p:sp>
        <p:nvSpPr>
          <p:cNvPr id="10" name="Rounded Rectangle 9"/>
          <p:cNvSpPr/>
          <p:nvPr/>
        </p:nvSpPr>
        <p:spPr>
          <a:xfrm>
            <a:off x="7534656" y="2304288"/>
            <a:ext cx="4090111" cy="1879092"/>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735824" y="2441448"/>
            <a:ext cx="274320" cy="274320"/>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10</a:t>
            </a:r>
          </a:p>
        </p:txBody>
      </p:sp>
      <p:sp>
        <p:nvSpPr>
          <p:cNvPr id="12" name="TextBox 11"/>
          <p:cNvSpPr txBox="1"/>
          <p:nvPr/>
        </p:nvSpPr>
        <p:spPr>
          <a:xfrm>
            <a:off x="8110728" y="2450592"/>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Company assignment</a:t>
            </a:r>
          </a:p>
        </p:txBody>
      </p:sp>
      <p:sp>
        <p:nvSpPr>
          <p:cNvPr id="13" name="TextBox 12"/>
          <p:cNvSpPr txBox="1"/>
          <p:nvPr/>
        </p:nvSpPr>
        <p:spPr>
          <a:xfrm>
            <a:off x="7735824" y="2706624"/>
            <a:ext cx="3687775" cy="1376172"/>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Names the Client assignments tab and reports the governed codes applicable to this employee and this frequency.</a:t>
            </a:r>
          </a:p>
        </p:txBody>
      </p:sp>
      <p:sp>
        <p:nvSpPr>
          <p:cNvPr id="14" name="Rounded Rectangle 13"/>
          <p:cNvSpPr/>
          <p:nvPr/>
        </p:nvSpPr>
        <p:spPr>
          <a:xfrm>
            <a:off x="7534656" y="4320540"/>
            <a:ext cx="4090111" cy="1879092"/>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735824" y="4457700"/>
            <a:ext cx="274320" cy="274320"/>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11</a:t>
            </a:r>
          </a:p>
        </p:txBody>
      </p:sp>
      <p:sp>
        <p:nvSpPr>
          <p:cNvPr id="16" name="TextBox 15"/>
          <p:cNvSpPr txBox="1"/>
          <p:nvPr/>
        </p:nvSpPr>
        <p:spPr>
          <a:xfrm>
            <a:off x="8110728" y="4466844"/>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Governed computation</a:t>
            </a:r>
          </a:p>
        </p:txBody>
      </p:sp>
      <p:sp>
        <p:nvSpPr>
          <p:cNvPr id="17" name="TextBox 16"/>
          <p:cNvSpPr txBox="1"/>
          <p:nvPr/>
        </p:nvSpPr>
        <p:spPr>
          <a:xfrm>
            <a:off x="7735824" y="4722876"/>
            <a:ext cx="3687775" cy="1376172"/>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Names the Computations tab, executes the governed codes, and reports the ordered steps and the gross pay they produce.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PROOF · THE SOURCE TRAIL</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From calculated amount to employee and company proof</a:t>
            </a:r>
          </a:p>
        </p:txBody>
      </p:sp>
      <p:sp>
        <p:nvSpPr>
          <p:cNvPr id="6" name="Rounded Rectangle 5"/>
          <p:cNvSpPr/>
          <p:nvPr/>
        </p:nvSpPr>
        <p:spPr>
          <a:xfrm>
            <a:off x="566928" y="1316736"/>
            <a:ext cx="546951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 › How it was computed</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closing steps are what turn a number into evidence — and they are the steps auditors actually ask about.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 final steps close the loop: the employee's own payslip view and the company payroll report quote the same net pay.</a:t>
            </a:r>
          </a:p>
        </p:txBody>
      </p:sp>
      <p:pic>
        <p:nvPicPr>
          <p:cNvPr id="9" name="Picture 8" descr="fg-trail-sources-c.png"/>
          <p:cNvPicPr>
            <a:picLocks noChangeAspect="1"/>
          </p:cNvPicPr>
          <p:nvPr/>
        </p:nvPicPr>
        <p:blipFill>
          <a:blip r:embed="rId2"/>
          <a:stretch>
            <a:fillRect/>
          </a:stretch>
        </p:blipFill>
        <p:spPr>
          <a:xfrm>
            <a:off x="566928" y="2334351"/>
            <a:ext cx="6675120" cy="3835218"/>
          </a:xfrm>
          <a:prstGeom prst="rect">
            <a:avLst/>
          </a:prstGeom>
        </p:spPr>
      </p:pic>
      <p:sp>
        <p:nvSpPr>
          <p:cNvPr id="10" name="Rounded Rectangle 9"/>
          <p:cNvSpPr/>
          <p:nvPr/>
        </p:nvSpPr>
        <p:spPr>
          <a:xfrm>
            <a:off x="7534656" y="2304288"/>
            <a:ext cx="4090111" cy="1879092"/>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735824" y="2441448"/>
            <a:ext cx="274320" cy="274320"/>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15</a:t>
            </a:r>
          </a:p>
        </p:txBody>
      </p:sp>
      <p:sp>
        <p:nvSpPr>
          <p:cNvPr id="12" name="TextBox 11"/>
          <p:cNvSpPr txBox="1"/>
          <p:nvPr/>
        </p:nvSpPr>
        <p:spPr>
          <a:xfrm>
            <a:off x="8110728" y="2450592"/>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Policy engine</a:t>
            </a:r>
          </a:p>
        </p:txBody>
      </p:sp>
      <p:sp>
        <p:nvSpPr>
          <p:cNvPr id="13" name="TextBox 12"/>
          <p:cNvSpPr txBox="1"/>
          <p:nvPr/>
        </p:nvSpPr>
        <p:spPr>
          <a:xfrm>
            <a:off x="7735824" y="2706624"/>
            <a:ext cx="3687775" cy="1376172"/>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Minimum Take-Home Pay compares the controllable deductions against the protected minimum, then collects or defers accordingly.</a:t>
            </a:r>
          </a:p>
        </p:txBody>
      </p:sp>
      <p:sp>
        <p:nvSpPr>
          <p:cNvPr id="14" name="Rounded Rectangle 13"/>
          <p:cNvSpPr/>
          <p:nvPr/>
        </p:nvSpPr>
        <p:spPr>
          <a:xfrm>
            <a:off x="7534656" y="4320540"/>
            <a:ext cx="4090111" cy="1879092"/>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735824" y="4457700"/>
            <a:ext cx="274320" cy="274320"/>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16</a:t>
            </a:r>
          </a:p>
        </p:txBody>
      </p:sp>
      <p:sp>
        <p:nvSpPr>
          <p:cNvPr id="16" name="TextBox 15"/>
          <p:cNvSpPr txBox="1"/>
          <p:nvPr/>
        </p:nvSpPr>
        <p:spPr>
          <a:xfrm>
            <a:off x="8110728" y="4466844"/>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Posted evidence</a:t>
            </a:r>
          </a:p>
        </p:txBody>
      </p:sp>
      <p:sp>
        <p:nvSpPr>
          <p:cNvPr id="17" name="TextBox 16"/>
          <p:cNvSpPr txBox="1"/>
          <p:nvPr/>
        </p:nvSpPr>
        <p:spPr>
          <a:xfrm>
            <a:off x="7735824" y="4722876"/>
            <a:ext cx="3687775" cy="1376172"/>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One result is published to the payroll line, the payslip and the reports — not recalculated separately for each.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PROOF · THE CALCULATION LEDGER</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Every amount names the code that produced it</a:t>
            </a:r>
          </a:p>
        </p:txBody>
      </p:sp>
      <p:sp>
        <p:nvSpPr>
          <p:cNvPr id="6" name="Rounded Rectangle 5"/>
          <p:cNvSpPr/>
          <p:nvPr/>
        </p:nvSpPr>
        <p:spPr>
          <a:xfrm>
            <a:off x="566928" y="1316736"/>
            <a:ext cx="546951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 › How it was computed</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Rates, period pay, attendance deductions, overtime and de minimis — each step labelled with its computation code and its kind.</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Overtime appears twice because regular and rest-day hours are priced at different premiums.</a:t>
            </a:r>
          </a:p>
        </p:txBody>
      </p:sp>
      <p:pic>
        <p:nvPicPr>
          <p:cNvPr id="9" name="Picture 8" descr="trail-ledger-a.png"/>
          <p:cNvPicPr>
            <a:picLocks noChangeAspect="1"/>
          </p:cNvPicPr>
          <p:nvPr/>
        </p:nvPicPr>
        <p:blipFill>
          <a:blip r:embed="rId2"/>
          <a:stretch>
            <a:fillRect/>
          </a:stretch>
        </p:blipFill>
        <p:spPr>
          <a:xfrm>
            <a:off x="3592729" y="2304288"/>
            <a:ext cx="5006236" cy="2706624"/>
          </a:xfrm>
          <a:prstGeom prst="rect">
            <a:avLst/>
          </a:prstGeom>
        </p:spPr>
      </p:pic>
      <p:sp>
        <p:nvSpPr>
          <p:cNvPr id="10" name="Rectangle 9"/>
          <p:cNvSpPr/>
          <p:nvPr/>
        </p:nvSpPr>
        <p:spPr>
          <a:xfrm>
            <a:off x="566928"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Code first</a:t>
            </a:r>
          </a:p>
        </p:txBody>
      </p:sp>
      <p:sp>
        <p:nvSpPr>
          <p:cNvPr id="12" name="TextBox 11"/>
          <p:cNvSpPr txBox="1"/>
          <p:nvPr/>
        </p:nvSpPr>
        <p:spPr>
          <a:xfrm>
            <a:off x="713232"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Every row leads with the computation code, so the amount and the rule can never be separated.</a:t>
            </a:r>
          </a:p>
        </p:txBody>
      </p:sp>
      <p:sp>
        <p:nvSpPr>
          <p:cNvPr id="13" name="Rectangle 12"/>
          <p:cNvSpPr/>
          <p:nvPr/>
        </p:nvSpPr>
        <p:spPr>
          <a:xfrm>
            <a:off x="4301642"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47946"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Working in words</a:t>
            </a:r>
          </a:p>
        </p:txBody>
      </p:sp>
      <p:sp>
        <p:nvSpPr>
          <p:cNvPr id="15" name="TextBox 14"/>
          <p:cNvSpPr txBox="1"/>
          <p:nvPr/>
        </p:nvSpPr>
        <p:spPr>
          <a:xfrm>
            <a:off x="4447946"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middle column restates the calculation in the language finance uses to check it.</a:t>
            </a:r>
          </a:p>
        </p:txBody>
      </p:sp>
      <p:sp>
        <p:nvSpPr>
          <p:cNvPr id="16" name="Rectangle 15"/>
          <p:cNvSpPr/>
          <p:nvPr/>
        </p:nvSpPr>
        <p:spPr>
          <a:xfrm>
            <a:off x="8036356"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82660"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Kind on the right</a:t>
            </a:r>
          </a:p>
        </p:txBody>
      </p:sp>
      <p:sp>
        <p:nvSpPr>
          <p:cNvPr id="18" name="TextBox 17"/>
          <p:cNvSpPr txBox="1"/>
          <p:nvPr/>
        </p:nvSpPr>
        <p:spPr>
          <a:xfrm>
            <a:off x="8182660"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label above each amount says which of the five kinds of step produced 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PROOF · THE CALCULATION LEDGER</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Gross, statutory, tax, protection, net</a:t>
            </a:r>
          </a:p>
        </p:txBody>
      </p:sp>
      <p:sp>
        <p:nvSpPr>
          <p:cNvPr id="6" name="Rounded Rectangle 5"/>
          <p:cNvSpPr/>
          <p:nvPr/>
        </p:nvSpPr>
        <p:spPr>
          <a:xfrm>
            <a:off x="566928" y="1316736"/>
            <a:ext cx="546951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 › How it was computed</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second half turns gross pay into net pay through table lookups and a policy engine, and every line still names its code.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Take-home protection appears here as a policy engine step rather than an arithmetic formula — the distinction matters.</a:t>
            </a:r>
          </a:p>
        </p:txBody>
      </p:sp>
      <p:pic>
        <p:nvPicPr>
          <p:cNvPr id="9" name="Picture 8" descr="trail-ledger-b.png"/>
          <p:cNvPicPr>
            <a:picLocks noChangeAspect="1"/>
          </p:cNvPicPr>
          <p:nvPr/>
        </p:nvPicPr>
        <p:blipFill>
          <a:blip r:embed="rId2"/>
          <a:stretch>
            <a:fillRect/>
          </a:stretch>
        </p:blipFill>
        <p:spPr>
          <a:xfrm>
            <a:off x="3335360" y="2304288"/>
            <a:ext cx="5520974" cy="2706624"/>
          </a:xfrm>
          <a:prstGeom prst="rect">
            <a:avLst/>
          </a:prstGeom>
        </p:spPr>
      </p:pic>
      <p:sp>
        <p:nvSpPr>
          <p:cNvPr id="10" name="Rectangle 9"/>
          <p:cNvSpPr/>
          <p:nvPr/>
        </p:nvSpPr>
        <p:spPr>
          <a:xfrm>
            <a:off x="566928"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Gross is a step too</a:t>
            </a:r>
          </a:p>
        </p:txBody>
      </p:sp>
      <p:sp>
        <p:nvSpPr>
          <p:cNvPr id="12" name="TextBox 11"/>
          <p:cNvSpPr txBox="1"/>
          <p:nvPr/>
        </p:nvSpPr>
        <p:spPr>
          <a:xfrm>
            <a:off x="713232"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Gross pay is an explicit code rather than an implicit subtotal, so it can be pointed at in an audit.</a:t>
            </a:r>
          </a:p>
        </p:txBody>
      </p:sp>
      <p:sp>
        <p:nvSpPr>
          <p:cNvPr id="13" name="Rectangle 12"/>
          <p:cNvSpPr/>
          <p:nvPr/>
        </p:nvSpPr>
        <p:spPr>
          <a:xfrm>
            <a:off x="4301642"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47946"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Statutory and tax are lookups</a:t>
            </a:r>
          </a:p>
        </p:txBody>
      </p:sp>
      <p:sp>
        <p:nvSpPr>
          <p:cNvPr id="15" name="TextBox 14"/>
          <p:cNvSpPr txBox="1"/>
          <p:nvPr/>
        </p:nvSpPr>
        <p:spPr>
          <a:xfrm>
            <a:off x="4447946"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government and tax steps read the table versions in force on the payout date.</a:t>
            </a:r>
          </a:p>
        </p:txBody>
      </p:sp>
      <p:sp>
        <p:nvSpPr>
          <p:cNvPr id="16" name="Rectangle 15"/>
          <p:cNvSpPr/>
          <p:nvPr/>
        </p:nvSpPr>
        <p:spPr>
          <a:xfrm>
            <a:off x="8036356"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82660"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Net pay closes the chain</a:t>
            </a:r>
          </a:p>
        </p:txBody>
      </p:sp>
      <p:sp>
        <p:nvSpPr>
          <p:cNvPr id="18" name="TextBox 17"/>
          <p:cNvSpPr txBox="1"/>
          <p:nvPr/>
        </p:nvSpPr>
        <p:spPr>
          <a:xfrm>
            <a:off x="8182660"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final figure is the one the payslip and the company report both quote.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PROOF · READING ONE ROW</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 ledger row opens into its own working</a:t>
            </a:r>
          </a:p>
        </p:txBody>
      </p:sp>
      <p:sp>
        <p:nvSpPr>
          <p:cNvPr id="6" name="Rounded Rectangle 5"/>
          <p:cNvSpPr/>
          <p:nvPr/>
        </p:nvSpPr>
        <p:spPr>
          <a:xfrm>
            <a:off x="566928" y="1316736"/>
            <a:ext cx="546951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 › How it was computed</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Each row carries the code, the business category, the inputs that were captured, the kind of step and the resulting amount.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Example · overtime pay valuing approved rest-day hours at the applicable premium.</a:t>
            </a:r>
          </a:p>
        </p:txBody>
      </p:sp>
      <p:pic>
        <p:nvPicPr>
          <p:cNvPr id="9" name="Picture 8" descr="trail-step-open.png"/>
          <p:cNvPicPr>
            <a:picLocks noChangeAspect="1"/>
          </p:cNvPicPr>
          <p:nvPr/>
        </p:nvPicPr>
        <p:blipFill>
          <a:blip r:embed="rId2"/>
          <a:stretch>
            <a:fillRect/>
          </a:stretch>
        </p:blipFill>
        <p:spPr>
          <a:xfrm>
            <a:off x="566929" y="2316207"/>
            <a:ext cx="11057836" cy="3853217"/>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QUESTION EVERYONE ASKS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Editing a formula here changes the payroll figure</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Worth being exact about how that works, because it is what makes the library worth governing carefully.</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Behaviour confirmed in payrollEngine.js and PayrollProcessing.jsx.</a:t>
            </a:r>
          </a:p>
        </p:txBody>
      </p:sp>
      <p:sp>
        <p:nvSpPr>
          <p:cNvPr id="8" name="Rounded Rectangle 7"/>
          <p:cNvSpPr/>
          <p:nvPr/>
        </p:nvSpPr>
        <p:spPr>
          <a:xfrm>
            <a:off x="566928"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883664"/>
            <a:ext cx="5400903"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804672" y="2121408"/>
            <a:ext cx="2523744" cy="256032"/>
          </a:xfrm>
          <a:prstGeom prst="roundRect">
            <a:avLst>
              <a:gd name="adj" fmla="val 50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0F766E"/>
                </a:solidFill>
                <a:latin typeface="Segoe UI Semibold"/>
              </a:rPr>
              <a:t>HOW IT WORKS TODAY</a:t>
            </a:r>
          </a:p>
        </p:txBody>
      </p:sp>
      <p:sp>
        <p:nvSpPr>
          <p:cNvPr id="11" name="TextBox 10"/>
          <p:cNvSpPr txBox="1"/>
          <p:nvPr/>
        </p:nvSpPr>
        <p:spPr>
          <a:xfrm>
            <a:off x="804672"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Payroll reads this library</a:t>
            </a:r>
          </a:p>
        </p:txBody>
      </p:sp>
      <p:sp>
        <p:nvSpPr>
          <p:cNvPr id="12" name="TextBox 11"/>
          <p:cNvSpPr txBox="1"/>
          <p:nvPr/>
        </p:nvSpPr>
        <p:spPr>
          <a:xfrm>
            <a:off x="804672"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When a payroll transaction is calculated, Payroll Processing loads the stored computation library and passes it into the calculation.</a:t>
            </a:r>
          </a:p>
        </p:txBody>
      </p:sp>
      <p:sp>
        <p:nvSpPr>
          <p:cNvPr id="13" name="TextBox 12"/>
          <p:cNvSpPr txBox="1"/>
          <p:nvPr/>
        </p:nvSpPr>
        <p:spPr>
          <a:xfrm>
            <a:off x="804672"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It evaluates the published expression</a:t>
            </a:r>
          </a:p>
        </p:txBody>
      </p:sp>
      <p:sp>
        <p:nvSpPr>
          <p:cNvPr id="14" name="TextBox 13"/>
          <p:cNvSpPr txBox="1"/>
          <p:nvPr/>
        </p:nvSpPr>
        <p:spPr>
          <a:xfrm>
            <a:off x="804672"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Each step resolves its code, then evaluates that record's own expression against the captured inputs — the arithmetic is not written twice.</a:t>
            </a:r>
          </a:p>
        </p:txBody>
      </p:sp>
      <p:sp>
        <p:nvSpPr>
          <p:cNvPr id="15" name="TextBox 14"/>
          <p:cNvSpPr txBox="1"/>
          <p:nvPr/>
        </p:nvSpPr>
        <p:spPr>
          <a:xfrm>
            <a:off x="804672"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So an edit changes the number</a:t>
            </a:r>
          </a:p>
        </p:txBody>
      </p:sp>
      <p:sp>
        <p:nvSpPr>
          <p:cNvPr id="16" name="TextBox 15"/>
          <p:cNvSpPr txBox="1"/>
          <p:nvPr/>
        </p:nvSpPr>
        <p:spPr>
          <a:xfrm>
            <a:off x="804672"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Change a configurable formula in Computational Basis and the next calculation produces a different figure, with the trail naming the same code.</a:t>
            </a:r>
          </a:p>
        </p:txBody>
      </p:sp>
      <p:sp>
        <p:nvSpPr>
          <p:cNvPr id="17" name="Rounded Rectangle 16"/>
          <p:cNvSpPr/>
          <p:nvPr/>
        </p:nvSpPr>
        <p:spPr>
          <a:xfrm>
            <a:off x="6223863"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23863" y="1883664"/>
            <a:ext cx="5400903"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461607" y="2121408"/>
            <a:ext cx="3291840" cy="256032"/>
          </a:xfrm>
          <a:prstGeom prst="roundRect">
            <a:avLst>
              <a:gd name="adj" fmla="val 50000"/>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B45309"/>
                </a:solidFill>
                <a:latin typeface="Segoe UI Semibold"/>
              </a:rPr>
              <a:t>WHAT WE CONFIRM TOGETHER</a:t>
            </a:r>
          </a:p>
        </p:txBody>
      </p:sp>
      <p:sp>
        <p:nvSpPr>
          <p:cNvPr id="20" name="TextBox 19"/>
          <p:cNvSpPr txBox="1"/>
          <p:nvPr/>
        </p:nvSpPr>
        <p:spPr>
          <a:xfrm>
            <a:off x="6461607"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Which codes apply to whom</a:t>
            </a:r>
          </a:p>
        </p:txBody>
      </p:sp>
      <p:sp>
        <p:nvSpPr>
          <p:cNvPr id="21" name="TextBox 20"/>
          <p:cNvSpPr txBox="1"/>
          <p:nvPr/>
        </p:nvSpPr>
        <p:spPr>
          <a:xfrm>
            <a:off x="6461607"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How the client-assignment register drives selection — by purpose, employee group, frequency and effective date — is confirmed as part of integration.</a:t>
            </a:r>
          </a:p>
        </p:txBody>
      </p:sp>
      <p:sp>
        <p:nvSpPr>
          <p:cNvPr id="22" name="TextBox 21"/>
          <p:cNvSpPr txBox="1"/>
          <p:nvPr/>
        </p:nvSpPr>
        <p:spPr>
          <a:xfrm>
            <a:off x="6461607"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Who may change a formula</a:t>
            </a:r>
          </a:p>
        </p:txBody>
      </p:sp>
      <p:sp>
        <p:nvSpPr>
          <p:cNvPr id="23" name="TextBox 22"/>
          <p:cNvSpPr txBox="1"/>
          <p:nvPr/>
        </p:nvSpPr>
        <p:spPr>
          <a:xfrm>
            <a:off x="6461607"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Agree the roles that may edit a company formula, and the review a change goes through before it becomes effective.</a:t>
            </a:r>
          </a:p>
        </p:txBody>
      </p:sp>
      <p:sp>
        <p:nvSpPr>
          <p:cNvPr id="24" name="TextBox 23"/>
          <p:cNvSpPr txBox="1"/>
          <p:nvPr/>
        </p:nvSpPr>
        <p:spPr>
          <a:xfrm>
            <a:off x="6461607"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When a version is frozen</a:t>
            </a:r>
          </a:p>
        </p:txBody>
      </p:sp>
      <p:sp>
        <p:nvSpPr>
          <p:cNvPr id="25" name="TextBox 24"/>
          <p:cNvSpPr txBox="1"/>
          <p:nvPr/>
        </p:nvSpPr>
        <p:spPr>
          <a:xfrm>
            <a:off x="6461607"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Agree the point at which a used version stops changing and a successor is published instead.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CONSUMER CONTRACT</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makes a computation produce an amount</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A formula is one half of a calculation. These are the four things that have to be true for it to put a figure on a payslip — worth walking through for every new code.</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For a brand-new company code such as CUS-900, points three and four are the integration work to plan.</a:t>
            </a:r>
          </a:p>
        </p:txBody>
      </p:sp>
      <p:sp>
        <p:nvSpPr>
          <p:cNvPr id="8" name="Rounded Rectangle 7"/>
          <p:cNvSpPr/>
          <p:nvPr/>
        </p:nvSpPr>
        <p:spPr>
          <a:xfrm>
            <a:off x="566928" y="2194560"/>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1" name="TextBox 10"/>
          <p:cNvSpPr txBox="1"/>
          <p:nvPr/>
        </p:nvSpPr>
        <p:spPr>
          <a:xfrm>
            <a:off x="113385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 published version</a:t>
            </a:r>
          </a:p>
        </p:txBody>
      </p:sp>
      <p:sp>
        <p:nvSpPr>
          <p:cNvPr id="12" name="TextBox 11"/>
          <p:cNvSpPr txBox="1"/>
          <p:nvPr/>
        </p:nvSpPr>
        <p:spPr>
          <a:xfrm>
            <a:off x="822960" y="2907792"/>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The computation exists in the library with an approved expression, an effective date and a status of Active.</a:t>
            </a:r>
          </a:p>
        </p:txBody>
      </p:sp>
      <p:sp>
        <p:nvSpPr>
          <p:cNvPr id="13" name="Rounded Rectangle 12"/>
          <p:cNvSpPr/>
          <p:nvPr/>
        </p:nvSpPr>
        <p:spPr>
          <a:xfrm>
            <a:off x="4307738" y="2194560"/>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6" name="TextBox 15"/>
          <p:cNvSpPr txBox="1"/>
          <p:nvPr/>
        </p:nvSpPr>
        <p:spPr>
          <a:xfrm>
            <a:off x="487466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An assignment that says where</a:t>
            </a:r>
          </a:p>
        </p:txBody>
      </p:sp>
      <p:sp>
        <p:nvSpPr>
          <p:cNvPr id="17" name="TextBox 16"/>
          <p:cNvSpPr txBox="1"/>
          <p:nvPr/>
        </p:nvSpPr>
        <p:spPr>
          <a:xfrm>
            <a:off x="4563770" y="2907792"/>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The company has recorded the purpose, the reference item, the employee group and the frequency the rule belongs to.</a:t>
            </a:r>
          </a:p>
        </p:txBody>
      </p:sp>
      <p:sp>
        <p:nvSpPr>
          <p:cNvPr id="18" name="Rounded Rectangle 17"/>
          <p:cNvSpPr/>
          <p:nvPr/>
        </p:nvSpPr>
        <p:spPr>
          <a:xfrm>
            <a:off x="8048548" y="2194560"/>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1" name="TextBox 20"/>
          <p:cNvSpPr txBox="1"/>
          <p:nvPr/>
        </p:nvSpPr>
        <p:spPr>
          <a:xfrm>
            <a:off x="861547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 step that supplies the inputs</a:t>
            </a:r>
          </a:p>
        </p:txBody>
      </p:sp>
      <p:sp>
        <p:nvSpPr>
          <p:cNvPr id="22" name="TextBox 21"/>
          <p:cNvSpPr txBox="1"/>
          <p:nvPr/>
        </p:nvSpPr>
        <p:spPr>
          <a:xfrm>
            <a:off x="8304580" y="2907792"/>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Some module — HRM, Timekeeping or a payroll register — provides a value for every mapped field the expression names.</a:t>
            </a:r>
          </a:p>
        </p:txBody>
      </p:sp>
      <p:sp>
        <p:nvSpPr>
          <p:cNvPr id="23" name="Rounded Rectangle 22"/>
          <p:cNvSpPr/>
          <p:nvPr/>
        </p:nvSpPr>
        <p:spPr>
          <a:xfrm>
            <a:off x="566928" y="3797046"/>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797046"/>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3979926"/>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6" name="TextBox 25"/>
          <p:cNvSpPr txBox="1"/>
          <p:nvPr/>
        </p:nvSpPr>
        <p:spPr>
          <a:xfrm>
            <a:off x="1133856" y="4034790"/>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 step that calls the code</a:t>
            </a:r>
          </a:p>
        </p:txBody>
      </p:sp>
      <p:sp>
        <p:nvSpPr>
          <p:cNvPr id="27" name="TextBox 26"/>
          <p:cNvSpPr txBox="1"/>
          <p:nvPr/>
        </p:nvSpPr>
        <p:spPr>
          <a:xfrm>
            <a:off x="822960" y="4510278"/>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A point in the payroll workflow invokes the computation at the right moment in the run, with those values.</a:t>
            </a:r>
          </a:p>
        </p:txBody>
      </p:sp>
      <p:sp>
        <p:nvSpPr>
          <p:cNvPr id="28" name="Rounded Rectangle 27"/>
          <p:cNvSpPr/>
          <p:nvPr/>
        </p:nvSpPr>
        <p:spPr>
          <a:xfrm>
            <a:off x="4307738" y="3797046"/>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797046"/>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3979926"/>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1" name="TextBox 30"/>
          <p:cNvSpPr txBox="1"/>
          <p:nvPr/>
        </p:nvSpPr>
        <p:spPr>
          <a:xfrm>
            <a:off x="4874666" y="4034790"/>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Then the amount appears</a:t>
            </a:r>
          </a:p>
        </p:txBody>
      </p:sp>
      <p:sp>
        <p:nvSpPr>
          <p:cNvPr id="32" name="TextBox 31"/>
          <p:cNvSpPr txBox="1"/>
          <p:nvPr/>
        </p:nvSpPr>
        <p:spPr>
          <a:xfrm>
            <a:off x="4563770" y="4510278"/>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The result is posted to the assigned code and carried into the payroll line, the payslip, the reports and the trail.</a:t>
            </a:r>
          </a:p>
        </p:txBody>
      </p:sp>
      <p:sp>
        <p:nvSpPr>
          <p:cNvPr id="33" name="Rounded Rectangle 32"/>
          <p:cNvSpPr/>
          <p:nvPr/>
        </p:nvSpPr>
        <p:spPr>
          <a:xfrm>
            <a:off x="8048548" y="3797046"/>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797046"/>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3979926"/>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6</a:t>
            </a:r>
          </a:p>
        </p:txBody>
      </p:sp>
      <p:sp>
        <p:nvSpPr>
          <p:cNvPr id="36" name="TextBox 35"/>
          <p:cNvSpPr txBox="1"/>
          <p:nvPr/>
        </p:nvSpPr>
        <p:spPr>
          <a:xfrm>
            <a:off x="8615476" y="4034790"/>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And it is explainable</a:t>
            </a:r>
          </a:p>
        </p:txBody>
      </p:sp>
      <p:sp>
        <p:nvSpPr>
          <p:cNvPr id="37" name="TextBox 36"/>
          <p:cNvSpPr txBox="1"/>
          <p:nvPr/>
        </p:nvSpPr>
        <p:spPr>
          <a:xfrm>
            <a:off x="8304580" y="4510278"/>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Because the code, the version, the inputs and the reference versions were all captured at the moment it ran.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05</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Connecting it to the rest of ATLAS</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Where each value in a formula comes from, and what two real calculations look like end to end.</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module matrix</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Overtime, in full</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Take-home protection</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INPUT CONTRACT</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Where the values in a formula have to come from</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A formula is only as good as the modules that feed it. This is the checklist to work through for every new computation.</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Paths taken from the source trail of a posted payroll transaction.</a:t>
            </a:r>
          </a:p>
        </p:txBody>
      </p:sp>
      <p:sp>
        <p:nvSpPr>
          <p:cNvPr id="8" name="Rounded Rectangle 7"/>
          <p:cNvSpPr/>
          <p:nvPr/>
        </p:nvSpPr>
        <p:spPr>
          <a:xfrm>
            <a:off x="566928" y="18836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984248"/>
            <a:ext cx="1716091"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ATLAS AREA</a:t>
            </a:r>
          </a:p>
        </p:txBody>
      </p:sp>
      <p:sp>
        <p:nvSpPr>
          <p:cNvPr id="10" name="TextBox 9"/>
          <p:cNvSpPr txBox="1"/>
          <p:nvPr/>
        </p:nvSpPr>
        <p:spPr>
          <a:xfrm>
            <a:off x="2721931" y="1984248"/>
            <a:ext cx="2379561"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WHAT IT SUPPLIES</a:t>
            </a:r>
          </a:p>
        </p:txBody>
      </p:sp>
      <p:sp>
        <p:nvSpPr>
          <p:cNvPr id="11" name="TextBox 10"/>
          <p:cNvSpPr txBox="1"/>
          <p:nvPr/>
        </p:nvSpPr>
        <p:spPr>
          <a:xfrm>
            <a:off x="5375812" y="1984248"/>
            <a:ext cx="3264188"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WHERE THE TRAIL NAMES IT</a:t>
            </a:r>
          </a:p>
        </p:txBody>
      </p:sp>
      <p:sp>
        <p:nvSpPr>
          <p:cNvPr id="12" name="TextBox 11"/>
          <p:cNvSpPr txBox="1"/>
          <p:nvPr/>
        </p:nvSpPr>
        <p:spPr>
          <a:xfrm>
            <a:off x="8914320" y="1984248"/>
            <a:ext cx="2600718"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WHAT IT AFFECTS</a:t>
            </a:r>
          </a:p>
        </p:txBody>
      </p:sp>
      <p:sp>
        <p:nvSpPr>
          <p:cNvPr id="13" name="Rounded Rectangle 12"/>
          <p:cNvSpPr/>
          <p:nvPr/>
        </p:nvSpPr>
        <p:spPr>
          <a:xfrm>
            <a:off x="566928" y="2377440"/>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31520" y="2496312"/>
            <a:ext cx="169780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HRM / Employee Masterfile</a:t>
            </a:r>
          </a:p>
        </p:txBody>
      </p:sp>
      <p:sp>
        <p:nvSpPr>
          <p:cNvPr id="15" name="TextBox 14"/>
          <p:cNvSpPr txBox="1"/>
          <p:nvPr/>
        </p:nvSpPr>
        <p:spPr>
          <a:xfrm>
            <a:off x="2721931" y="2496312"/>
            <a:ext cx="2361273"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Salary, pay basis, employment dates, group, status, plan membership.</a:t>
            </a:r>
          </a:p>
        </p:txBody>
      </p:sp>
      <p:sp>
        <p:nvSpPr>
          <p:cNvPr id="16" name="TextBox 15"/>
          <p:cNvSpPr txBox="1"/>
          <p:nvPr/>
        </p:nvSpPr>
        <p:spPr>
          <a:xfrm>
            <a:off x="5375812" y="2496312"/>
            <a:ext cx="3245900"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HRM › Benefits › Salary Information › Employee › Basic Pay</a:t>
            </a:r>
          </a:p>
        </p:txBody>
      </p:sp>
      <p:sp>
        <p:nvSpPr>
          <p:cNvPr id="17" name="TextBox 16"/>
          <p:cNvSpPr txBox="1"/>
          <p:nvPr/>
        </p:nvSpPr>
        <p:spPr>
          <a:xfrm>
            <a:off x="8914320" y="2496312"/>
            <a:ext cx="2582430"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Rate variables, eligibility, and which assignment should apply.</a:t>
            </a:r>
          </a:p>
        </p:txBody>
      </p:sp>
      <p:sp>
        <p:nvSpPr>
          <p:cNvPr id="18" name="Rounded Rectangle 17"/>
          <p:cNvSpPr/>
          <p:nvPr/>
        </p:nvSpPr>
        <p:spPr>
          <a:xfrm>
            <a:off x="566928" y="3152851"/>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31520" y="3271723"/>
            <a:ext cx="169780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Timekeeping</a:t>
            </a:r>
          </a:p>
        </p:txBody>
      </p:sp>
      <p:sp>
        <p:nvSpPr>
          <p:cNvPr id="20" name="TextBox 19"/>
          <p:cNvSpPr txBox="1"/>
          <p:nvPr/>
        </p:nvSpPr>
        <p:spPr>
          <a:xfrm>
            <a:off x="2721931" y="3271723"/>
            <a:ext cx="2361273"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Approved days, hours, overtime, lates, undertime and approved unit counts.</a:t>
            </a:r>
          </a:p>
        </p:txBody>
      </p:sp>
      <p:sp>
        <p:nvSpPr>
          <p:cNvPr id="21" name="TextBox 20"/>
          <p:cNvSpPr txBox="1"/>
          <p:nvPr/>
        </p:nvSpPr>
        <p:spPr>
          <a:xfrm>
            <a:off x="5375812" y="3271723"/>
            <a:ext cx="3245900"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Timekeeping › Time &amp; Attendance Summary</a:t>
            </a:r>
          </a:p>
        </p:txBody>
      </p:sp>
      <p:sp>
        <p:nvSpPr>
          <p:cNvPr id="22" name="TextBox 21"/>
          <p:cNvSpPr txBox="1"/>
          <p:nvPr/>
        </p:nvSpPr>
        <p:spPr>
          <a:xfrm>
            <a:off x="8914320" y="3271723"/>
            <a:ext cx="2582430"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payable quantities that earnings and deductions are priced from.</a:t>
            </a:r>
          </a:p>
        </p:txBody>
      </p:sp>
      <p:sp>
        <p:nvSpPr>
          <p:cNvPr id="23" name="Rounded Rectangle 22"/>
          <p:cNvSpPr/>
          <p:nvPr/>
        </p:nvSpPr>
        <p:spPr>
          <a:xfrm>
            <a:off x="566928" y="3928262"/>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31520" y="4047134"/>
            <a:ext cx="169780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Payroll registers</a:t>
            </a:r>
          </a:p>
        </p:txBody>
      </p:sp>
      <p:sp>
        <p:nvSpPr>
          <p:cNvPr id="25" name="TextBox 24"/>
          <p:cNvSpPr txBox="1"/>
          <p:nvPr/>
        </p:nvSpPr>
        <p:spPr>
          <a:xfrm>
            <a:off x="2721931" y="4047134"/>
            <a:ext cx="2361273" cy="482803"/>
          </a:xfrm>
          <a:prstGeom prst="rect">
            <a:avLst/>
          </a:prstGeom>
          <a:noFill/>
        </p:spPr>
        <p:txBody>
          <a:bodyPr wrap="square" anchor="t" lIns="0" rIns="0" tIns="0" bIns="0">
            <a:spAutoFit/>
          </a:bodyPr>
          <a:lstStyle/>
          <a:p>
            <a:pPr algn="l">
              <a:lnSpc>
                <a:spcPct val="130000"/>
              </a:lnSpc>
              <a:spcBef>
                <a:spcPts val="0"/>
              </a:spcBef>
              <a:spcAft>
                <a:spcPts val="0"/>
              </a:spcAft>
            </a:pPr>
            <a:r>
              <a:rPr sz="975" b="0" i="0">
                <a:solidFill>
                  <a:srgbClr val="6B6675"/>
                </a:solidFill>
                <a:latin typeface="Segoe UI"/>
              </a:rPr>
              <a:t>Earning, deduction and loan configuration with balances and schedules.</a:t>
            </a:r>
          </a:p>
        </p:txBody>
      </p:sp>
      <p:sp>
        <p:nvSpPr>
          <p:cNvPr id="26" name="TextBox 25"/>
          <p:cNvSpPr txBox="1"/>
          <p:nvPr/>
        </p:nvSpPr>
        <p:spPr>
          <a:xfrm>
            <a:off x="5375812" y="4047134"/>
            <a:ext cx="3245900"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Payroll › Earning Management · Deduction Management</a:t>
            </a:r>
          </a:p>
        </p:txBody>
      </p:sp>
      <p:sp>
        <p:nvSpPr>
          <p:cNvPr id="27" name="TextBox 26"/>
          <p:cNvSpPr txBox="1"/>
          <p:nvPr/>
        </p:nvSpPr>
        <p:spPr>
          <a:xfrm>
            <a:off x="8914320" y="4047134"/>
            <a:ext cx="2582430"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business items a computation is valuing.</a:t>
            </a:r>
          </a:p>
        </p:txBody>
      </p:sp>
      <p:sp>
        <p:nvSpPr>
          <p:cNvPr id="28" name="Rounded Rectangle 27"/>
          <p:cNvSpPr/>
          <p:nvPr/>
        </p:nvSpPr>
        <p:spPr>
          <a:xfrm>
            <a:off x="566928" y="4703673"/>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31520" y="4822545"/>
            <a:ext cx="169780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Reference and statutory</a:t>
            </a:r>
          </a:p>
        </p:txBody>
      </p:sp>
      <p:sp>
        <p:nvSpPr>
          <p:cNvPr id="30" name="TextBox 29"/>
          <p:cNvSpPr txBox="1"/>
          <p:nvPr/>
        </p:nvSpPr>
        <p:spPr>
          <a:xfrm>
            <a:off x="2721931" y="4822545"/>
            <a:ext cx="2361273"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Effective-dated tables, ceilings, premium rates and code lists.</a:t>
            </a:r>
          </a:p>
        </p:txBody>
      </p:sp>
      <p:sp>
        <p:nvSpPr>
          <p:cNvPr id="31" name="TextBox 30"/>
          <p:cNvSpPr txBox="1"/>
          <p:nvPr/>
        </p:nvSpPr>
        <p:spPr>
          <a:xfrm>
            <a:off x="5375812" y="4822545"/>
            <a:ext cx="3245900"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Computational Basis › Reference sources; Settings › Statutory Table</a:t>
            </a:r>
          </a:p>
        </p:txBody>
      </p:sp>
      <p:sp>
        <p:nvSpPr>
          <p:cNvPr id="32" name="TextBox 31"/>
          <p:cNvSpPr txBox="1"/>
          <p:nvPr/>
        </p:nvSpPr>
        <p:spPr>
          <a:xfrm>
            <a:off x="8914320" y="4822545"/>
            <a:ext cx="2582430"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rates a formula reads instead of carrying the number itself.</a:t>
            </a:r>
          </a:p>
        </p:txBody>
      </p:sp>
      <p:sp>
        <p:nvSpPr>
          <p:cNvPr id="33" name="Rounded Rectangle 32"/>
          <p:cNvSpPr/>
          <p:nvPr/>
        </p:nvSpPr>
        <p:spPr>
          <a:xfrm>
            <a:off x="566928" y="5479084"/>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31520" y="5597956"/>
            <a:ext cx="169780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Payroll processing</a:t>
            </a:r>
          </a:p>
        </p:txBody>
      </p:sp>
      <p:sp>
        <p:nvSpPr>
          <p:cNvPr id="35" name="TextBox 34"/>
          <p:cNvSpPr txBox="1"/>
          <p:nvPr/>
        </p:nvSpPr>
        <p:spPr>
          <a:xfrm>
            <a:off x="2721931" y="5597956"/>
            <a:ext cx="2361273"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Company, population, period, cutoff and payout date.</a:t>
            </a:r>
          </a:p>
        </p:txBody>
      </p:sp>
      <p:sp>
        <p:nvSpPr>
          <p:cNvPr id="36" name="TextBox 35"/>
          <p:cNvSpPr txBox="1"/>
          <p:nvPr/>
        </p:nvSpPr>
        <p:spPr>
          <a:xfrm>
            <a:off x="5375812" y="5597956"/>
            <a:ext cx="3245900"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Payroll › Payroll Processing › Transaction › Computation settings</a:t>
            </a:r>
          </a:p>
        </p:txBody>
      </p:sp>
      <p:sp>
        <p:nvSpPr>
          <p:cNvPr id="37" name="TextBox 36"/>
          <p:cNvSpPr txBox="1"/>
          <p:nvPr/>
        </p:nvSpPr>
        <p:spPr>
          <a:xfrm>
            <a:off x="8914320" y="5597956"/>
            <a:ext cx="2582430"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Which version of every rule is the effective one.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WORKED EXAMPLE 1</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Overtime pay, from punch to payslip</a:t>
            </a:r>
          </a:p>
        </p:txBody>
      </p:sp>
      <p:sp>
        <p:nvSpPr>
          <p:cNvPr id="6" name="Rounded Rectangle 5"/>
          <p:cNvSpPr/>
          <p:nvPr/>
        </p:nvSpPr>
        <p:spPr>
          <a:xfrm>
            <a:off x="566928" y="1316736"/>
            <a:ext cx="546951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 › How it was computed</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One computation code, four modules, and two ledger rows — because regular and rest-day overtime are priced separately.</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data from a posted payroll transaction.</a:t>
            </a:r>
          </a:p>
        </p:txBody>
      </p:sp>
      <p:sp>
        <p:nvSpPr>
          <p:cNvPr id="9" name="Rounded Rectangle 8"/>
          <p:cNvSpPr/>
          <p:nvPr/>
        </p:nvSpPr>
        <p:spPr>
          <a:xfrm>
            <a:off x="566928" y="23408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1520" y="2441448"/>
            <a:ext cx="1716091"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STAGE</a:t>
            </a:r>
          </a:p>
        </p:txBody>
      </p:sp>
      <p:sp>
        <p:nvSpPr>
          <p:cNvPr id="11" name="TextBox 10"/>
          <p:cNvSpPr txBox="1"/>
          <p:nvPr/>
        </p:nvSpPr>
        <p:spPr>
          <a:xfrm>
            <a:off x="2721931" y="2441448"/>
            <a:ext cx="4591129"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WHAT HAPPENS</a:t>
            </a:r>
          </a:p>
        </p:txBody>
      </p:sp>
      <p:sp>
        <p:nvSpPr>
          <p:cNvPr id="12" name="TextBox 11"/>
          <p:cNvSpPr txBox="1"/>
          <p:nvPr/>
        </p:nvSpPr>
        <p:spPr>
          <a:xfrm>
            <a:off x="7587380" y="2441448"/>
            <a:ext cx="3927658"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IN THIS DEMONSTRATION</a:t>
            </a:r>
          </a:p>
        </p:txBody>
      </p:sp>
      <p:sp>
        <p:nvSpPr>
          <p:cNvPr id="13" name="Rounded Rectangle 12"/>
          <p:cNvSpPr/>
          <p:nvPr/>
        </p:nvSpPr>
        <p:spPr>
          <a:xfrm>
            <a:off x="566928" y="2834640"/>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31520" y="2953512"/>
            <a:ext cx="1697803"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Employee files</a:t>
            </a:r>
          </a:p>
        </p:txBody>
      </p:sp>
      <p:sp>
        <p:nvSpPr>
          <p:cNvPr id="15" name="TextBox 14"/>
          <p:cNvSpPr txBox="1"/>
          <p:nvPr/>
        </p:nvSpPr>
        <p:spPr>
          <a:xfrm>
            <a:off x="2721931" y="2953512"/>
            <a:ext cx="457284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An overtime request is raised against the real punch record.</a:t>
            </a:r>
          </a:p>
        </p:txBody>
      </p:sp>
      <p:sp>
        <p:nvSpPr>
          <p:cNvPr id="16" name="TextBox 15"/>
          <p:cNvSpPr txBox="1"/>
          <p:nvPr/>
        </p:nvSpPr>
        <p:spPr>
          <a:xfrm>
            <a:off x="7587380" y="2953512"/>
            <a:ext cx="390937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2 hours, plus 3.5 hours on a rest day.</a:t>
            </a:r>
          </a:p>
        </p:txBody>
      </p:sp>
      <p:sp>
        <p:nvSpPr>
          <p:cNvPr id="17" name="Rounded Rectangle 16"/>
          <p:cNvSpPr/>
          <p:nvPr/>
        </p:nvSpPr>
        <p:spPr>
          <a:xfrm>
            <a:off x="566928" y="3518611"/>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31520" y="3637483"/>
            <a:ext cx="1697803"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Approver approves</a:t>
            </a:r>
          </a:p>
        </p:txBody>
      </p:sp>
      <p:sp>
        <p:nvSpPr>
          <p:cNvPr id="19" name="TextBox 18"/>
          <p:cNvSpPr txBox="1"/>
          <p:nvPr/>
        </p:nvSpPr>
        <p:spPr>
          <a:xfrm>
            <a:off x="2721931" y="3637483"/>
            <a:ext cx="457284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Only approved hours become payroll input; unapproved time is not payable.</a:t>
            </a:r>
          </a:p>
        </p:txBody>
      </p:sp>
      <p:sp>
        <p:nvSpPr>
          <p:cNvPr id="20" name="TextBox 19"/>
          <p:cNvSpPr txBox="1"/>
          <p:nvPr/>
        </p:nvSpPr>
        <p:spPr>
          <a:xfrm>
            <a:off x="7587380" y="3637483"/>
            <a:ext cx="390937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5.5 approved overtime hours in total.</a:t>
            </a:r>
          </a:p>
        </p:txBody>
      </p:sp>
      <p:sp>
        <p:nvSpPr>
          <p:cNvPr id="21" name="Rounded Rectangle 20"/>
          <p:cNvSpPr/>
          <p:nvPr/>
        </p:nvSpPr>
        <p:spPr>
          <a:xfrm>
            <a:off x="566928" y="4202582"/>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31520" y="4321454"/>
            <a:ext cx="1697803"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HRM supplies the rate</a:t>
            </a:r>
          </a:p>
        </p:txBody>
      </p:sp>
      <p:sp>
        <p:nvSpPr>
          <p:cNvPr id="23" name="TextBox 22"/>
          <p:cNvSpPr txBox="1"/>
          <p:nvPr/>
        </p:nvSpPr>
        <p:spPr>
          <a:xfrm>
            <a:off x="2721931" y="4321454"/>
            <a:ext cx="457284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hourly rate is derived from the company pay basis and the employee's salary.</a:t>
            </a:r>
          </a:p>
        </p:txBody>
      </p:sp>
      <p:sp>
        <p:nvSpPr>
          <p:cNvPr id="24" name="TextBox 23"/>
          <p:cNvSpPr txBox="1"/>
          <p:nvPr/>
        </p:nvSpPr>
        <p:spPr>
          <a:xfrm>
            <a:off x="7587380" y="4321454"/>
            <a:ext cx="390937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Monthly salary → daily rate → hourly rate.</a:t>
            </a:r>
          </a:p>
        </p:txBody>
      </p:sp>
      <p:sp>
        <p:nvSpPr>
          <p:cNvPr id="25" name="Rounded Rectangle 24"/>
          <p:cNvSpPr/>
          <p:nvPr/>
        </p:nvSpPr>
        <p:spPr>
          <a:xfrm>
            <a:off x="566928" y="4886553"/>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31520" y="5005425"/>
            <a:ext cx="1697803"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The formula runs</a:t>
            </a:r>
          </a:p>
        </p:txBody>
      </p:sp>
      <p:sp>
        <p:nvSpPr>
          <p:cNvPr id="27" name="TextBox 26"/>
          <p:cNvSpPr txBox="1"/>
          <p:nvPr/>
        </p:nvSpPr>
        <p:spPr>
          <a:xfrm>
            <a:off x="2721931" y="5005425"/>
            <a:ext cx="457284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Overtime Pay evaluates hourly rate × hours × premium, once per premium band.</a:t>
            </a:r>
          </a:p>
        </p:txBody>
      </p:sp>
      <p:sp>
        <p:nvSpPr>
          <p:cNvPr id="28" name="TextBox 27"/>
          <p:cNvSpPr txBox="1"/>
          <p:nvPr/>
        </p:nvSpPr>
        <p:spPr>
          <a:xfrm>
            <a:off x="7587380" y="5005425"/>
            <a:ext cx="390937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1.25× on the regular hours; 1.3× on the rest-day hours.</a:t>
            </a:r>
          </a:p>
        </p:txBody>
      </p:sp>
      <p:sp>
        <p:nvSpPr>
          <p:cNvPr id="29" name="Rounded Rectangle 28"/>
          <p:cNvSpPr/>
          <p:nvPr/>
        </p:nvSpPr>
        <p:spPr>
          <a:xfrm>
            <a:off x="566928" y="5570524"/>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31520" y="5689396"/>
            <a:ext cx="1697803"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Payroll posts it</a:t>
            </a:r>
          </a:p>
        </p:txBody>
      </p:sp>
      <p:sp>
        <p:nvSpPr>
          <p:cNvPr id="31" name="TextBox 30"/>
          <p:cNvSpPr txBox="1"/>
          <p:nvPr/>
        </p:nvSpPr>
        <p:spPr>
          <a:xfrm>
            <a:off x="2721931" y="5689396"/>
            <a:ext cx="457284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Both amounts land on the overtime earning line and flow into gross pay.</a:t>
            </a:r>
          </a:p>
        </p:txBody>
      </p:sp>
      <p:sp>
        <p:nvSpPr>
          <p:cNvPr id="32" name="TextBox 31"/>
          <p:cNvSpPr txBox="1"/>
          <p:nvPr/>
        </p:nvSpPr>
        <p:spPr>
          <a:xfrm>
            <a:off x="7587380" y="5689396"/>
            <a:ext cx="390937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Two ledger rows, each naming the same computation code.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WORKED EXAMPLE 2</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Minimum take-home pay, a policy engine at work</a:t>
            </a:r>
          </a:p>
        </p:txBody>
      </p:sp>
      <p:sp>
        <p:nvSpPr>
          <p:cNvPr id="6" name="Rounded Rectangle 5"/>
          <p:cNvSpPr/>
          <p:nvPr/>
        </p:nvSpPr>
        <p:spPr>
          <a:xfrm>
            <a:off x="566928" y="1316736"/>
            <a:ext cx="8282515"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Policy engines › Minimum Take-Home Pay</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This one calculates nothing. It looks at what has already been calculated and decides how much of it may be collected this cutoff.</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data from a posted payroll transaction.</a:t>
            </a:r>
          </a:p>
        </p:txBody>
      </p:sp>
      <p:sp>
        <p:nvSpPr>
          <p:cNvPr id="9" name="Rounded Rectangle 8"/>
          <p:cNvSpPr/>
          <p:nvPr/>
        </p:nvSpPr>
        <p:spPr>
          <a:xfrm>
            <a:off x="566928" y="23408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1520" y="2441448"/>
            <a:ext cx="1716091"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STAGE</a:t>
            </a:r>
          </a:p>
        </p:txBody>
      </p:sp>
      <p:sp>
        <p:nvSpPr>
          <p:cNvPr id="11" name="TextBox 10"/>
          <p:cNvSpPr txBox="1"/>
          <p:nvPr/>
        </p:nvSpPr>
        <p:spPr>
          <a:xfrm>
            <a:off x="2721931" y="2441448"/>
            <a:ext cx="4591129"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WHAT HAPPENS</a:t>
            </a:r>
          </a:p>
        </p:txBody>
      </p:sp>
      <p:sp>
        <p:nvSpPr>
          <p:cNvPr id="12" name="TextBox 11"/>
          <p:cNvSpPr txBox="1"/>
          <p:nvPr/>
        </p:nvSpPr>
        <p:spPr>
          <a:xfrm>
            <a:off x="7587380" y="2441448"/>
            <a:ext cx="3927658"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IN THIS DEMONSTRATION</a:t>
            </a:r>
          </a:p>
        </p:txBody>
      </p:sp>
      <p:sp>
        <p:nvSpPr>
          <p:cNvPr id="13" name="Rounded Rectangle 12"/>
          <p:cNvSpPr/>
          <p:nvPr/>
        </p:nvSpPr>
        <p:spPr>
          <a:xfrm>
            <a:off x="566928" y="2834640"/>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31520" y="2953512"/>
            <a:ext cx="1697803"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Deductions are scheduled</a:t>
            </a:r>
          </a:p>
        </p:txBody>
      </p:sp>
      <p:sp>
        <p:nvSpPr>
          <p:cNvPr id="15" name="TextBox 14"/>
          <p:cNvSpPr txBox="1"/>
          <p:nvPr/>
        </p:nvSpPr>
        <p:spPr>
          <a:xfrm>
            <a:off x="2721931" y="2953512"/>
            <a:ext cx="457284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Every controllable deduction and loan amortisation for the cutoff is totalled.</a:t>
            </a:r>
          </a:p>
        </p:txBody>
      </p:sp>
      <p:sp>
        <p:nvSpPr>
          <p:cNvPr id="16" name="TextBox 15"/>
          <p:cNvSpPr txBox="1"/>
          <p:nvPr/>
        </p:nvSpPr>
        <p:spPr>
          <a:xfrm>
            <a:off x="7587380" y="2953512"/>
            <a:ext cx="390937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Five deduction rows and one loan row.</a:t>
            </a:r>
          </a:p>
        </p:txBody>
      </p:sp>
      <p:sp>
        <p:nvSpPr>
          <p:cNvPr id="17" name="Rounded Rectangle 16"/>
          <p:cNvSpPr/>
          <p:nvPr/>
        </p:nvSpPr>
        <p:spPr>
          <a:xfrm>
            <a:off x="566928" y="3518611"/>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31520" y="3637483"/>
            <a:ext cx="1697803"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They are put in order</a:t>
            </a:r>
          </a:p>
        </p:txBody>
      </p:sp>
      <p:sp>
        <p:nvSpPr>
          <p:cNvPr id="19" name="TextBox 18"/>
          <p:cNvSpPr txBox="1"/>
          <p:nvPr/>
        </p:nvSpPr>
        <p:spPr>
          <a:xfrm>
            <a:off x="2721931" y="3637483"/>
            <a:ext cx="457284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deduction and loan hierarchy supplies the priority, so if something gives way it is the right thing.</a:t>
            </a:r>
          </a:p>
        </p:txBody>
      </p:sp>
      <p:sp>
        <p:nvSpPr>
          <p:cNvPr id="20" name="TextBox 19"/>
          <p:cNvSpPr txBox="1"/>
          <p:nvPr/>
        </p:nvSpPr>
        <p:spPr>
          <a:xfrm>
            <a:off x="7587380" y="3637483"/>
            <a:ext cx="390937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Statutory never adjusted; company loans and optional deductions ranked below.</a:t>
            </a:r>
          </a:p>
        </p:txBody>
      </p:sp>
      <p:sp>
        <p:nvSpPr>
          <p:cNvPr id="21" name="Rounded Rectangle 20"/>
          <p:cNvSpPr/>
          <p:nvPr/>
        </p:nvSpPr>
        <p:spPr>
          <a:xfrm>
            <a:off x="566928" y="4202582"/>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31520" y="4321454"/>
            <a:ext cx="1697803"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The floor is calculated</a:t>
            </a:r>
          </a:p>
        </p:txBody>
      </p:sp>
      <p:sp>
        <p:nvSpPr>
          <p:cNvPr id="23" name="TextBox 22"/>
          <p:cNvSpPr txBox="1"/>
          <p:nvPr/>
        </p:nvSpPr>
        <p:spPr>
          <a:xfrm>
            <a:off x="2721931" y="4321454"/>
            <a:ext cx="457284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protected minimum is derived from the configured percentage of the applicable base.</a:t>
            </a:r>
          </a:p>
        </p:txBody>
      </p:sp>
      <p:sp>
        <p:nvSpPr>
          <p:cNvPr id="24" name="TextBox 23"/>
          <p:cNvSpPr txBox="1"/>
          <p:nvPr/>
        </p:nvSpPr>
        <p:spPr>
          <a:xfrm>
            <a:off x="7587380" y="4321454"/>
            <a:ext cx="390937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 protected minimum net pay for this employee.</a:t>
            </a:r>
          </a:p>
        </p:txBody>
      </p:sp>
      <p:sp>
        <p:nvSpPr>
          <p:cNvPr id="25" name="Rounded Rectangle 24"/>
          <p:cNvSpPr/>
          <p:nvPr/>
        </p:nvSpPr>
        <p:spPr>
          <a:xfrm>
            <a:off x="566928" y="4886553"/>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31520" y="5005425"/>
            <a:ext cx="1697803"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The engine decides</a:t>
            </a:r>
          </a:p>
        </p:txBody>
      </p:sp>
      <p:sp>
        <p:nvSpPr>
          <p:cNvPr id="27" name="TextBox 26"/>
          <p:cNvSpPr txBox="1"/>
          <p:nvPr/>
        </p:nvSpPr>
        <p:spPr>
          <a:xfrm>
            <a:off x="2721931" y="5005425"/>
            <a:ext cx="457284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Collect in full while net pay stays above the floor; otherwise defer the lowest-priority items.</a:t>
            </a:r>
          </a:p>
        </p:txBody>
      </p:sp>
      <p:sp>
        <p:nvSpPr>
          <p:cNvPr id="28" name="TextBox 27"/>
          <p:cNvSpPr txBox="1"/>
          <p:nvPr/>
        </p:nvSpPr>
        <p:spPr>
          <a:xfrm>
            <a:off x="7587380" y="5005425"/>
            <a:ext cx="390937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Collected in full, with nothing deferred on this line.</a:t>
            </a:r>
          </a:p>
        </p:txBody>
      </p:sp>
      <p:sp>
        <p:nvSpPr>
          <p:cNvPr id="29" name="Rounded Rectangle 28"/>
          <p:cNvSpPr/>
          <p:nvPr/>
        </p:nvSpPr>
        <p:spPr>
          <a:xfrm>
            <a:off x="566928" y="5570524"/>
            <a:ext cx="11057839" cy="61081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31520" y="5689396"/>
            <a:ext cx="1697803" cy="39136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Across the whole run</a:t>
            </a:r>
          </a:p>
        </p:txBody>
      </p:sp>
      <p:sp>
        <p:nvSpPr>
          <p:cNvPr id="31" name="TextBox 30"/>
          <p:cNvSpPr txBox="1"/>
          <p:nvPr/>
        </p:nvSpPr>
        <p:spPr>
          <a:xfrm>
            <a:off x="2721931" y="5689396"/>
            <a:ext cx="4572841"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same engine deferred value for other employees in the same transaction.</a:t>
            </a:r>
          </a:p>
        </p:txBody>
      </p:sp>
      <p:sp>
        <p:nvSpPr>
          <p:cNvPr id="32" name="TextBox 31"/>
          <p:cNvSpPr txBox="1"/>
          <p:nvPr/>
        </p:nvSpPr>
        <p:spPr>
          <a:xfrm>
            <a:off x="7587380" y="5689396"/>
            <a:ext cx="3909370" cy="39136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Deferred amounts are shown on the payslip with the remaining balance.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FOR THE MEETING</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Five decisions to agree before go-live</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Each one has come up somewhere in this walkthrough. They are business choices for finance and implementation to make together.</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Every item traces back to a screen or a page earlier in this deck.</a:t>
            </a:r>
          </a:p>
        </p:txBody>
      </p:sp>
      <p:sp>
        <p:nvSpPr>
          <p:cNvPr id="8" name="Rounded Rectangle 7"/>
          <p:cNvSpPr/>
          <p:nvPr/>
        </p:nvSpPr>
        <p:spPr>
          <a:xfrm>
            <a:off x="566928" y="2194560"/>
            <a:ext cx="3576218" cy="16062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2194560"/>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377440"/>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1</a:t>
            </a:r>
          </a:p>
        </p:txBody>
      </p:sp>
      <p:sp>
        <p:nvSpPr>
          <p:cNvPr id="11" name="TextBox 10"/>
          <p:cNvSpPr txBox="1"/>
          <p:nvPr/>
        </p:nvSpPr>
        <p:spPr>
          <a:xfrm>
            <a:off x="113385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Which step calls each code</a:t>
            </a:r>
          </a:p>
        </p:txBody>
      </p:sp>
      <p:sp>
        <p:nvSpPr>
          <p:cNvPr id="12" name="TextBox 11"/>
          <p:cNvSpPr txBox="1"/>
          <p:nvPr/>
        </p:nvSpPr>
        <p:spPr>
          <a:xfrm>
            <a:off x="822960" y="2907792"/>
            <a:ext cx="3100730" cy="819912"/>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For every new company computation, name the module and the exact point in its workflow that supplies the inputs and invokes it.</a:t>
            </a:r>
          </a:p>
        </p:txBody>
      </p:sp>
      <p:sp>
        <p:nvSpPr>
          <p:cNvPr id="13" name="Rounded Rectangle 12"/>
          <p:cNvSpPr/>
          <p:nvPr/>
        </p:nvSpPr>
        <p:spPr>
          <a:xfrm>
            <a:off x="4307738" y="2194560"/>
            <a:ext cx="3576218" cy="16062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2194560"/>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377440"/>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2</a:t>
            </a:r>
          </a:p>
        </p:txBody>
      </p:sp>
      <p:sp>
        <p:nvSpPr>
          <p:cNvPr id="16" name="TextBox 15"/>
          <p:cNvSpPr txBox="1"/>
          <p:nvPr/>
        </p:nvSpPr>
        <p:spPr>
          <a:xfrm>
            <a:off x="487466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Where every variable comes from</a:t>
            </a:r>
          </a:p>
        </p:txBody>
      </p:sp>
      <p:sp>
        <p:nvSpPr>
          <p:cNvPr id="17" name="TextBox 16"/>
          <p:cNvSpPr txBox="1"/>
          <p:nvPr/>
        </p:nvSpPr>
        <p:spPr>
          <a:xfrm>
            <a:off x="4563770" y="2907792"/>
            <a:ext cx="3100730" cy="819912"/>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For each mapped field: the owning module, data type, unit of measure, when it becomes available, and what payroll should do if it is not.</a:t>
            </a:r>
          </a:p>
        </p:txBody>
      </p:sp>
      <p:sp>
        <p:nvSpPr>
          <p:cNvPr id="18" name="Rounded Rectangle 17"/>
          <p:cNvSpPr/>
          <p:nvPr/>
        </p:nvSpPr>
        <p:spPr>
          <a:xfrm>
            <a:off x="8048548" y="2194560"/>
            <a:ext cx="3576218" cy="16062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2194560"/>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377440"/>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3</a:t>
            </a:r>
          </a:p>
        </p:txBody>
      </p:sp>
      <p:sp>
        <p:nvSpPr>
          <p:cNvPr id="21" name="TextBox 20"/>
          <p:cNvSpPr txBox="1"/>
          <p:nvPr/>
        </p:nvSpPr>
        <p:spPr>
          <a:xfrm>
            <a:off x="861547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How assignment drives selection</a:t>
            </a:r>
          </a:p>
        </p:txBody>
      </p:sp>
      <p:sp>
        <p:nvSpPr>
          <p:cNvPr id="22" name="TextBox 21"/>
          <p:cNvSpPr txBox="1"/>
          <p:nvPr/>
        </p:nvSpPr>
        <p:spPr>
          <a:xfrm>
            <a:off x="8304580" y="2907792"/>
            <a:ext cx="3100730" cy="819912"/>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Confirm how purpose, employee group, frequency and effective date combine to decide which codes apply to an employee on a given run.</a:t>
            </a:r>
          </a:p>
        </p:txBody>
      </p:sp>
      <p:sp>
        <p:nvSpPr>
          <p:cNvPr id="23" name="Rounded Rectangle 22"/>
          <p:cNvSpPr/>
          <p:nvPr/>
        </p:nvSpPr>
        <p:spPr>
          <a:xfrm>
            <a:off x="566928" y="3965448"/>
            <a:ext cx="3576218" cy="16062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965448"/>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4148328"/>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4</a:t>
            </a:r>
          </a:p>
        </p:txBody>
      </p:sp>
      <p:sp>
        <p:nvSpPr>
          <p:cNvPr id="26" name="TextBox 25"/>
          <p:cNvSpPr txBox="1"/>
          <p:nvPr/>
        </p:nvSpPr>
        <p:spPr>
          <a:xfrm>
            <a:off x="1133856" y="4203192"/>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How scope rules are enforced</a:t>
            </a:r>
          </a:p>
        </p:txBody>
      </p:sp>
      <p:sp>
        <p:nvSpPr>
          <p:cNvPr id="27" name="TextBox 26"/>
          <p:cNvSpPr txBox="1"/>
          <p:nvPr/>
        </p:nvSpPr>
        <p:spPr>
          <a:xfrm>
            <a:off x="822960" y="4678680"/>
            <a:ext cx="3100730" cy="819912"/>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Turn the five scope checks into validation at the point of saving an assignment, and name the owner of each.</a:t>
            </a:r>
          </a:p>
        </p:txBody>
      </p:sp>
      <p:sp>
        <p:nvSpPr>
          <p:cNvPr id="28" name="Rounded Rectangle 27"/>
          <p:cNvSpPr/>
          <p:nvPr/>
        </p:nvSpPr>
        <p:spPr>
          <a:xfrm>
            <a:off x="4307738" y="3965448"/>
            <a:ext cx="3576218" cy="16062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965448"/>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4148328"/>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5</a:t>
            </a:r>
          </a:p>
        </p:txBody>
      </p:sp>
      <p:sp>
        <p:nvSpPr>
          <p:cNvPr id="31" name="TextBox 30"/>
          <p:cNvSpPr txBox="1"/>
          <p:nvPr/>
        </p:nvSpPr>
        <p:spPr>
          <a:xfrm>
            <a:off x="4874666" y="4203192"/>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When a version is frozen</a:t>
            </a:r>
          </a:p>
        </p:txBody>
      </p:sp>
      <p:sp>
        <p:nvSpPr>
          <p:cNvPr id="32" name="TextBox 31"/>
          <p:cNvSpPr txBox="1"/>
          <p:nvPr/>
        </p:nvSpPr>
        <p:spPr>
          <a:xfrm>
            <a:off x="4563770" y="4678680"/>
            <a:ext cx="3100730" cy="819912"/>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Once a payroll transaction has used a version, publish a new effective version and leave the earlier evidence untouched. Agree who enforces this.</a:t>
            </a:r>
          </a:p>
        </p:txBody>
      </p:sp>
      <p:sp>
        <p:nvSpPr>
          <p:cNvPr id="33" name="Rounded Rectangle 32"/>
          <p:cNvSpPr/>
          <p:nvPr/>
        </p:nvSpPr>
        <p:spPr>
          <a:xfrm>
            <a:off x="8048548" y="3965448"/>
            <a:ext cx="3576218" cy="1606296"/>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965448"/>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4148328"/>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6</a:t>
            </a:r>
          </a:p>
        </p:txBody>
      </p:sp>
      <p:sp>
        <p:nvSpPr>
          <p:cNvPr id="36" name="TextBox 35"/>
          <p:cNvSpPr txBox="1"/>
          <p:nvPr/>
        </p:nvSpPr>
        <p:spPr>
          <a:xfrm>
            <a:off x="8615476" y="4203192"/>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Who approves a release</a:t>
            </a:r>
          </a:p>
        </p:txBody>
      </p:sp>
      <p:sp>
        <p:nvSpPr>
          <p:cNvPr id="37" name="TextBox 36"/>
          <p:cNvSpPr txBox="1"/>
          <p:nvPr/>
        </p:nvSpPr>
        <p:spPr>
          <a:xfrm>
            <a:off x="8304580" y="4678680"/>
            <a:ext cx="3100730" cy="819912"/>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Define the finance owner, the reviewer, the test evidence required, and the deployment date — for formula, assignment and reference-source changes alike.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SUMMARY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this walkthrough covered</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A fair reading of what we demonstrated, so the meeting starts from a shared picture.</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Prototype captured 24 August 2026.</a:t>
            </a:r>
          </a:p>
        </p:txBody>
      </p:sp>
      <p:sp>
        <p:nvSpPr>
          <p:cNvPr id="8" name="Rounded Rectangle 7"/>
          <p:cNvSpPr/>
          <p:nvPr/>
        </p:nvSpPr>
        <p:spPr>
          <a:xfrm>
            <a:off x="566928"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883664"/>
            <a:ext cx="5400903"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804672" y="2121408"/>
            <a:ext cx="2907792" cy="256032"/>
          </a:xfrm>
          <a:prstGeom prst="roundRect">
            <a:avLst>
              <a:gd name="adj" fmla="val 50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0F766E"/>
                </a:solidFill>
                <a:latin typeface="Segoe UI Semibold"/>
              </a:rPr>
              <a:t>SHOWN ON LIVE SCREENS</a:t>
            </a:r>
          </a:p>
        </p:txBody>
      </p:sp>
      <p:sp>
        <p:nvSpPr>
          <p:cNvPr id="11" name="TextBox 10"/>
          <p:cNvSpPr txBox="1"/>
          <p:nvPr/>
        </p:nvSpPr>
        <p:spPr>
          <a:xfrm>
            <a:off x="804672"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A controlled, versioned formula library</a:t>
            </a:r>
          </a:p>
        </p:txBody>
      </p:sp>
      <p:sp>
        <p:nvSpPr>
          <p:cNvPr id="12" name="TextBox 11"/>
          <p:cNvSpPr txBox="1"/>
          <p:nvPr/>
        </p:nvSpPr>
        <p:spPr>
          <a:xfrm>
            <a:off x="804672" y="2834640"/>
            <a:ext cx="4925415" cy="544068"/>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Codes, expressions, effective dates, change notes and history, with ATLAS standards and company rules clearly distinguished.</a:t>
            </a:r>
          </a:p>
        </p:txBody>
      </p:sp>
      <p:sp>
        <p:nvSpPr>
          <p:cNvPr id="13" name="TextBox 12"/>
          <p:cNvSpPr txBox="1"/>
          <p:nvPr/>
        </p:nvSpPr>
        <p:spPr>
          <a:xfrm>
            <a:off x="804672" y="345186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A guarded authoring path</a:t>
            </a:r>
          </a:p>
        </p:txBody>
      </p:sp>
      <p:sp>
        <p:nvSpPr>
          <p:cNvPr id="14" name="TextBox 13"/>
          <p:cNvSpPr txBox="1"/>
          <p:nvPr/>
        </p:nvSpPr>
        <p:spPr>
          <a:xfrm>
            <a:off x="804672" y="3707892"/>
            <a:ext cx="4925415" cy="544068"/>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An approved-field palette, expression validation, in-form testing, and protection for a code an active assignment points at.</a:t>
            </a:r>
          </a:p>
        </p:txBody>
      </p:sp>
      <p:sp>
        <p:nvSpPr>
          <p:cNvPr id="15" name="TextBox 14"/>
          <p:cNvSpPr txBox="1"/>
          <p:nvPr/>
        </p:nvSpPr>
        <p:spPr>
          <a:xfrm>
            <a:off x="804672" y="4325112"/>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Live execution from the library</a:t>
            </a:r>
          </a:p>
        </p:txBody>
      </p:sp>
      <p:sp>
        <p:nvSpPr>
          <p:cNvPr id="16" name="TextBox 15"/>
          <p:cNvSpPr txBox="1"/>
          <p:nvPr/>
        </p:nvSpPr>
        <p:spPr>
          <a:xfrm>
            <a:off x="804672" y="4581144"/>
            <a:ext cx="4925415" cy="544068"/>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The payroll engine evaluates the stored expressions; every coded step in the ledger names the computation that produced it.</a:t>
            </a:r>
          </a:p>
        </p:txBody>
      </p:sp>
      <p:sp>
        <p:nvSpPr>
          <p:cNvPr id="17" name="TextBox 16"/>
          <p:cNvSpPr txBox="1"/>
          <p:nvPr/>
        </p:nvSpPr>
        <p:spPr>
          <a:xfrm>
            <a:off x="804672" y="519836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End-to-end evidence</a:t>
            </a:r>
          </a:p>
        </p:txBody>
      </p:sp>
      <p:sp>
        <p:nvSpPr>
          <p:cNvPr id="18" name="TextBox 17"/>
          <p:cNvSpPr txBox="1"/>
          <p:nvPr/>
        </p:nvSpPr>
        <p:spPr>
          <a:xfrm>
            <a:off x="804672" y="5454396"/>
            <a:ext cx="4925415" cy="544068"/>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A source trail from run settings through to the employee's payslip and the company report, each step naming its screen.</a:t>
            </a:r>
          </a:p>
        </p:txBody>
      </p:sp>
      <p:sp>
        <p:nvSpPr>
          <p:cNvPr id="19" name="Rounded Rectangle 18"/>
          <p:cNvSpPr/>
          <p:nvPr/>
        </p:nvSpPr>
        <p:spPr>
          <a:xfrm>
            <a:off x="6223863"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23863" y="1883664"/>
            <a:ext cx="5400903" cy="45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461607" y="2121408"/>
            <a:ext cx="3675888" cy="256032"/>
          </a:xfrm>
          <a:prstGeom prst="roundRect">
            <a:avLst>
              <a:gd name="adj" fmla="val 50000"/>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B45309"/>
                </a:solidFill>
                <a:latin typeface="Segoe UI Semibold"/>
              </a:rPr>
              <a:t>WHAT WE TAKE INTO THE BUILD</a:t>
            </a:r>
          </a:p>
        </p:txBody>
      </p:sp>
      <p:sp>
        <p:nvSpPr>
          <p:cNvPr id="22" name="TextBox 21"/>
          <p:cNvSpPr txBox="1"/>
          <p:nvPr/>
        </p:nvSpPr>
        <p:spPr>
          <a:xfrm>
            <a:off x="6461607"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The consumer for each new code</a:t>
            </a:r>
          </a:p>
        </p:txBody>
      </p:sp>
      <p:sp>
        <p:nvSpPr>
          <p:cNvPr id="23" name="TextBox 22"/>
          <p:cNvSpPr txBox="1"/>
          <p:nvPr/>
        </p:nvSpPr>
        <p:spPr>
          <a:xfrm>
            <a:off x="6461607" y="2834640"/>
            <a:ext cx="4925415" cy="544068"/>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Which workflow step supplies the inputs and calls a newly created company computation.</a:t>
            </a:r>
          </a:p>
        </p:txBody>
      </p:sp>
      <p:sp>
        <p:nvSpPr>
          <p:cNvPr id="24" name="TextBox 23"/>
          <p:cNvSpPr txBox="1"/>
          <p:nvPr/>
        </p:nvSpPr>
        <p:spPr>
          <a:xfrm>
            <a:off x="6461607" y="345186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The input contract</a:t>
            </a:r>
          </a:p>
        </p:txBody>
      </p:sp>
      <p:sp>
        <p:nvSpPr>
          <p:cNvPr id="25" name="TextBox 24"/>
          <p:cNvSpPr txBox="1"/>
          <p:nvPr/>
        </p:nvSpPr>
        <p:spPr>
          <a:xfrm>
            <a:off x="6461607" y="3707892"/>
            <a:ext cx="4925415" cy="544068"/>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Owning module, data type, unit and timing for every mapped field.</a:t>
            </a:r>
          </a:p>
        </p:txBody>
      </p:sp>
      <p:sp>
        <p:nvSpPr>
          <p:cNvPr id="26" name="TextBox 25"/>
          <p:cNvSpPr txBox="1"/>
          <p:nvPr/>
        </p:nvSpPr>
        <p:spPr>
          <a:xfrm>
            <a:off x="6461607" y="4325112"/>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Assignment-driven selection</a:t>
            </a:r>
          </a:p>
        </p:txBody>
      </p:sp>
      <p:sp>
        <p:nvSpPr>
          <p:cNvPr id="27" name="TextBox 26"/>
          <p:cNvSpPr txBox="1"/>
          <p:nvPr/>
        </p:nvSpPr>
        <p:spPr>
          <a:xfrm>
            <a:off x="6461607" y="4581144"/>
            <a:ext cx="4925415" cy="544068"/>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How the register decides which codes apply to an employee on a given run.</a:t>
            </a:r>
          </a:p>
        </p:txBody>
      </p:sp>
      <p:sp>
        <p:nvSpPr>
          <p:cNvPr id="28" name="TextBox 27"/>
          <p:cNvSpPr txBox="1"/>
          <p:nvPr/>
        </p:nvSpPr>
        <p:spPr>
          <a:xfrm>
            <a:off x="6461607" y="519836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Scope validation and approval</a:t>
            </a:r>
          </a:p>
        </p:txBody>
      </p:sp>
      <p:sp>
        <p:nvSpPr>
          <p:cNvPr id="29" name="TextBox 28"/>
          <p:cNvSpPr txBox="1"/>
          <p:nvPr/>
        </p:nvSpPr>
        <p:spPr>
          <a:xfrm>
            <a:off x="6461607" y="5454396"/>
            <a:ext cx="4925415" cy="544068"/>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The scope checks and the release workflow that surround a change.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APPENDIX</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How every screen in this deck was produced</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So that anything here can be reproduced or challenged.</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Callout markers are positioned from the live screen, so every number sits on the control it describes.</a:t>
            </a:r>
          </a:p>
        </p:txBody>
      </p:sp>
      <p:sp>
        <p:nvSpPr>
          <p:cNvPr id="8" name="Rounded Rectangle 7"/>
          <p:cNvSpPr/>
          <p:nvPr/>
        </p:nvSpPr>
        <p:spPr>
          <a:xfrm>
            <a:off x="566928" y="18836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984248"/>
            <a:ext cx="1716091"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SOURCE</a:t>
            </a:r>
          </a:p>
        </p:txBody>
      </p:sp>
      <p:sp>
        <p:nvSpPr>
          <p:cNvPr id="10" name="TextBox 9"/>
          <p:cNvSpPr txBox="1"/>
          <p:nvPr/>
        </p:nvSpPr>
        <p:spPr>
          <a:xfrm>
            <a:off x="2721931" y="1984248"/>
            <a:ext cx="4812285"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WHAT WAS USED</a:t>
            </a:r>
          </a:p>
        </p:txBody>
      </p:sp>
      <p:sp>
        <p:nvSpPr>
          <p:cNvPr id="11" name="TextBox 10"/>
          <p:cNvSpPr txBox="1"/>
          <p:nvPr/>
        </p:nvSpPr>
        <p:spPr>
          <a:xfrm>
            <a:off x="7808536" y="1984248"/>
            <a:ext cx="3706502"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WHERE IT APPEARS</a:t>
            </a:r>
          </a:p>
        </p:txBody>
      </p:sp>
      <p:sp>
        <p:nvSpPr>
          <p:cNvPr id="12" name="Rounded Rectangle 11"/>
          <p:cNvSpPr/>
          <p:nvPr/>
        </p:nvSpPr>
        <p:spPr>
          <a:xfrm>
            <a:off x="566928" y="2377440"/>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31520" y="2496312"/>
            <a:ext cx="1697803"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Live prototype</a:t>
            </a:r>
          </a:p>
        </p:txBody>
      </p:sp>
      <p:sp>
        <p:nvSpPr>
          <p:cNvPr id="14" name="TextBox 13"/>
          <p:cNvSpPr txBox="1"/>
          <p:nvPr/>
        </p:nvSpPr>
        <p:spPr>
          <a:xfrm>
            <a:off x="2721931" y="2496312"/>
            <a:ext cx="4793997"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ATLAS local application, captured 24 August 2026 at 2× resolution directly from the running app.</a:t>
            </a:r>
          </a:p>
        </p:txBody>
      </p:sp>
      <p:sp>
        <p:nvSpPr>
          <p:cNvPr id="15" name="TextBox 14"/>
          <p:cNvSpPr txBox="1"/>
          <p:nvPr/>
        </p:nvSpPr>
        <p:spPr>
          <a:xfrm>
            <a:off x="7808536" y="2496312"/>
            <a:ext cx="3688214"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Every screenshot and both animated walkthroughs.</a:t>
            </a:r>
          </a:p>
        </p:txBody>
      </p:sp>
      <p:sp>
        <p:nvSpPr>
          <p:cNvPr id="16" name="Rounded Rectangle 15"/>
          <p:cNvSpPr/>
          <p:nvPr/>
        </p:nvSpPr>
        <p:spPr>
          <a:xfrm>
            <a:off x="566928" y="3346704"/>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31520" y="3465576"/>
            <a:ext cx="1697803"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Posted payroll</a:t>
            </a:r>
          </a:p>
        </p:txBody>
      </p:sp>
      <p:sp>
        <p:nvSpPr>
          <p:cNvPr id="18" name="TextBox 17"/>
          <p:cNvSpPr txBox="1"/>
          <p:nvPr/>
        </p:nvSpPr>
        <p:spPr>
          <a:xfrm>
            <a:off x="2721931" y="3465576"/>
            <a:ext cx="4793997"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 semi-monthly payroll transaction, calculated, approved and posted inside the prototype using demonstration employees.</a:t>
            </a:r>
          </a:p>
        </p:txBody>
      </p:sp>
      <p:sp>
        <p:nvSpPr>
          <p:cNvPr id="19" name="TextBox 18"/>
          <p:cNvSpPr txBox="1"/>
          <p:nvPr/>
        </p:nvSpPr>
        <p:spPr>
          <a:xfrm>
            <a:off x="7808536" y="3465576"/>
            <a:ext cx="3688214"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whole proof section and both worked examples.</a:t>
            </a:r>
          </a:p>
        </p:txBody>
      </p:sp>
      <p:sp>
        <p:nvSpPr>
          <p:cNvPr id="20" name="Rounded Rectangle 19"/>
          <p:cNvSpPr/>
          <p:nvPr/>
        </p:nvSpPr>
        <p:spPr>
          <a:xfrm>
            <a:off x="566928" y="4315968"/>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 y="4434840"/>
            <a:ext cx="1697803"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Application source</a:t>
            </a:r>
          </a:p>
        </p:txBody>
      </p:sp>
      <p:sp>
        <p:nvSpPr>
          <p:cNvPr id="22" name="TextBox 21"/>
          <p:cNvSpPr txBox="1"/>
          <p:nvPr/>
        </p:nvSpPr>
        <p:spPr>
          <a:xfrm>
            <a:off x="2721931" y="4434840"/>
            <a:ext cx="4793997"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ComputationalBasis.jsx, computationCatalog.js, payrollEngine.js, payrollTraceability.js, PayrollProcessing.jsx.</a:t>
            </a:r>
          </a:p>
        </p:txBody>
      </p:sp>
      <p:sp>
        <p:nvSpPr>
          <p:cNvPr id="23" name="TextBox 22"/>
          <p:cNvSpPr txBox="1"/>
          <p:nvPr/>
        </p:nvSpPr>
        <p:spPr>
          <a:xfrm>
            <a:off x="7808536" y="4434840"/>
            <a:ext cx="3688214"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Every statement about behaviour that is not visible on a screen.</a:t>
            </a:r>
          </a:p>
        </p:txBody>
      </p:sp>
      <p:sp>
        <p:nvSpPr>
          <p:cNvPr id="24" name="Rounded Rectangle 23"/>
          <p:cNvSpPr/>
          <p:nvPr/>
        </p:nvSpPr>
        <p:spPr>
          <a:xfrm>
            <a:off x="566928" y="5285232"/>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31520" y="5404104"/>
            <a:ext cx="1697803"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Demonstration data</a:t>
            </a:r>
          </a:p>
        </p:txBody>
      </p:sp>
      <p:sp>
        <p:nvSpPr>
          <p:cNvPr id="26" name="TextBox 25"/>
          <p:cNvSpPr txBox="1"/>
          <p:nvPr/>
        </p:nvSpPr>
        <p:spPr>
          <a:xfrm>
            <a:off x="2721931" y="5404104"/>
            <a:ext cx="4793997"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CUS-900 · {{allowance_units}} × {{allowance_unit_rate}} · 8 × ₱250 = ₱2,000.</a:t>
            </a:r>
          </a:p>
        </p:txBody>
      </p:sp>
      <p:sp>
        <p:nvSpPr>
          <p:cNvPr id="27" name="TextBox 26"/>
          <p:cNvSpPr txBox="1"/>
          <p:nvPr/>
        </p:nvSpPr>
        <p:spPr>
          <a:xfrm>
            <a:off x="7808536" y="5404104"/>
            <a:ext cx="3688214"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creation and assignment walkthroughs. Sample values, not production payroll.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841248"/>
            <a:ext cx="9509760" cy="822960"/>
          </a:xfrm>
          <a:prstGeom prst="rect">
            <a:avLst/>
          </a:prstGeom>
          <a:noFill/>
        </p:spPr>
        <p:txBody>
          <a:bodyPr wrap="square" anchor="t" lIns="0" rIns="0" tIns="0" bIns="0">
            <a:spAutoFit/>
          </a:bodyPr>
          <a:lstStyle/>
          <a:p>
            <a:pPr algn="l">
              <a:lnSpc>
                <a:spcPct val="106000"/>
              </a:lnSpc>
              <a:spcBef>
                <a:spcPts val="0"/>
              </a:spcBef>
              <a:spcAft>
                <a:spcPts val="0"/>
              </a:spcAft>
            </a:pPr>
            <a:r>
              <a:rPr sz="3400" b="1" i="0">
                <a:solidFill>
                  <a:srgbClr val="FFFFFF"/>
                </a:solidFill>
                <a:latin typeface="Segoe UI Semibold"/>
              </a:rPr>
              <a:t>Four things to take away</a:t>
            </a:r>
          </a:p>
        </p:txBody>
      </p:sp>
      <p:sp>
        <p:nvSpPr>
          <p:cNvPr id="5" name="Oval 4"/>
          <p:cNvSpPr/>
          <p:nvPr/>
        </p:nvSpPr>
        <p:spPr>
          <a:xfrm>
            <a:off x="795528" y="1892808"/>
            <a:ext cx="420624" cy="420624"/>
          </a:xfrm>
          <a:prstGeom prst="ellipse">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1</a:t>
            </a:r>
          </a:p>
        </p:txBody>
      </p:sp>
      <p:sp>
        <p:nvSpPr>
          <p:cNvPr id="6" name="TextBox 5"/>
          <p:cNvSpPr txBox="1"/>
          <p:nvPr/>
        </p:nvSpPr>
        <p:spPr>
          <a:xfrm>
            <a:off x="1499616" y="1883664"/>
            <a:ext cx="9692640" cy="292608"/>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FFFFFF"/>
                </a:solidFill>
                <a:latin typeface="Segoe UI Semibold"/>
              </a:rPr>
              <a:t>A computation is a controlled rule, not a spreadsheet cell</a:t>
            </a:r>
          </a:p>
        </p:txBody>
      </p:sp>
      <p:sp>
        <p:nvSpPr>
          <p:cNvPr id="7" name="TextBox 6"/>
          <p:cNvSpPr txBox="1"/>
          <p:nvPr/>
        </p:nvSpPr>
        <p:spPr>
          <a:xfrm>
            <a:off x="1499616" y="2176272"/>
            <a:ext cx="9509760" cy="548640"/>
          </a:xfrm>
          <a:prstGeom prst="rect">
            <a:avLst/>
          </a:prstGeom>
          <a:noFill/>
        </p:spPr>
        <p:txBody>
          <a:bodyPr wrap="square" anchor="t" lIns="0" rIns="0" tIns="0" bIns="0">
            <a:spAutoFit/>
          </a:bodyPr>
          <a:lstStyle/>
          <a:p>
            <a:pPr algn="l">
              <a:lnSpc>
                <a:spcPct val="134000"/>
              </a:lnSpc>
              <a:spcBef>
                <a:spcPts val="0"/>
              </a:spcBef>
              <a:spcAft>
                <a:spcPts val="0"/>
              </a:spcAft>
            </a:pPr>
            <a:r>
              <a:rPr sz="1160" b="0" i="0">
                <a:solidFill>
                  <a:srgbClr val="C5B8DC"/>
                </a:solidFill>
                <a:latin typeface="Segoe UI"/>
              </a:rPr>
              <a:t>Permanent code, approved inputs, an expression, a test, an effective date and a change note — and it can build on a rule you have already published.</a:t>
            </a:r>
          </a:p>
        </p:txBody>
      </p:sp>
      <p:sp>
        <p:nvSpPr>
          <p:cNvPr id="8" name="Oval 7"/>
          <p:cNvSpPr/>
          <p:nvPr/>
        </p:nvSpPr>
        <p:spPr>
          <a:xfrm>
            <a:off x="795528" y="2916936"/>
            <a:ext cx="420624" cy="420624"/>
          </a:xfrm>
          <a:prstGeom prst="ellipse">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2</a:t>
            </a:r>
          </a:p>
        </p:txBody>
      </p:sp>
      <p:sp>
        <p:nvSpPr>
          <p:cNvPr id="9" name="TextBox 8"/>
          <p:cNvSpPr txBox="1"/>
          <p:nvPr/>
        </p:nvSpPr>
        <p:spPr>
          <a:xfrm>
            <a:off x="1499616" y="2907792"/>
            <a:ext cx="9692640" cy="292608"/>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FFFFFF"/>
                </a:solidFill>
                <a:latin typeface="Segoe UI Semibold"/>
              </a:rPr>
              <a:t>The formula library drives the payroll figure</a:t>
            </a:r>
          </a:p>
        </p:txBody>
      </p:sp>
      <p:sp>
        <p:nvSpPr>
          <p:cNvPr id="10" name="TextBox 9"/>
          <p:cNvSpPr txBox="1"/>
          <p:nvPr/>
        </p:nvSpPr>
        <p:spPr>
          <a:xfrm>
            <a:off x="1499616" y="3200400"/>
            <a:ext cx="9509760" cy="548640"/>
          </a:xfrm>
          <a:prstGeom prst="rect">
            <a:avLst/>
          </a:prstGeom>
          <a:noFill/>
        </p:spPr>
        <p:txBody>
          <a:bodyPr wrap="square" anchor="t" lIns="0" rIns="0" tIns="0" bIns="0">
            <a:spAutoFit/>
          </a:bodyPr>
          <a:lstStyle/>
          <a:p>
            <a:pPr algn="l">
              <a:lnSpc>
                <a:spcPct val="134000"/>
              </a:lnSpc>
              <a:spcBef>
                <a:spcPts val="0"/>
              </a:spcBef>
              <a:spcAft>
                <a:spcPts val="0"/>
              </a:spcAft>
            </a:pPr>
            <a:r>
              <a:rPr sz="1160" b="0" i="0">
                <a:solidFill>
                  <a:srgbClr val="C5B8DC"/>
                </a:solidFill>
                <a:latin typeface="Segoe UI"/>
              </a:rPr>
              <a:t>The engine evaluates the published expression, and every coded step in the ledger names the computation behind it.</a:t>
            </a:r>
          </a:p>
        </p:txBody>
      </p:sp>
      <p:sp>
        <p:nvSpPr>
          <p:cNvPr id="11" name="Oval 10"/>
          <p:cNvSpPr/>
          <p:nvPr/>
        </p:nvSpPr>
        <p:spPr>
          <a:xfrm>
            <a:off x="795528" y="3941064"/>
            <a:ext cx="420624" cy="420624"/>
          </a:xfrm>
          <a:prstGeom prst="ellipse">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3</a:t>
            </a:r>
          </a:p>
        </p:txBody>
      </p:sp>
      <p:sp>
        <p:nvSpPr>
          <p:cNvPr id="12" name="TextBox 11"/>
          <p:cNvSpPr txBox="1"/>
          <p:nvPr/>
        </p:nvSpPr>
        <p:spPr>
          <a:xfrm>
            <a:off x="1499616" y="3931920"/>
            <a:ext cx="9692640" cy="292608"/>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FFFFFF"/>
                </a:solidFill>
                <a:latin typeface="Segoe UI Semibold"/>
              </a:rPr>
              <a:t>An assignment states the company's intent</a:t>
            </a:r>
          </a:p>
        </p:txBody>
      </p:sp>
      <p:sp>
        <p:nvSpPr>
          <p:cNvPr id="13" name="TextBox 12"/>
          <p:cNvSpPr txBox="1"/>
          <p:nvPr/>
        </p:nvSpPr>
        <p:spPr>
          <a:xfrm>
            <a:off x="1499616" y="4224528"/>
            <a:ext cx="9509760" cy="548640"/>
          </a:xfrm>
          <a:prstGeom prst="rect">
            <a:avLst/>
          </a:prstGeom>
          <a:noFill/>
        </p:spPr>
        <p:txBody>
          <a:bodyPr wrap="square" anchor="t" lIns="0" rIns="0" tIns="0" bIns="0">
            <a:spAutoFit/>
          </a:bodyPr>
          <a:lstStyle/>
          <a:p>
            <a:pPr algn="l">
              <a:lnSpc>
                <a:spcPct val="134000"/>
              </a:lnSpc>
              <a:spcBef>
                <a:spcPts val="0"/>
              </a:spcBef>
              <a:spcAft>
                <a:spcPts val="0"/>
              </a:spcAft>
            </a:pPr>
            <a:r>
              <a:rPr sz="1160" b="0" i="0">
                <a:solidFill>
                  <a:srgbClr val="C5B8DC"/>
                </a:solidFill>
                <a:latin typeface="Segoe UI"/>
              </a:rPr>
              <a:t>What a rule is for, who it covers and how often — the record a reviewer reads to understand why a formula applies here.</a:t>
            </a:r>
          </a:p>
        </p:txBody>
      </p:sp>
      <p:sp>
        <p:nvSpPr>
          <p:cNvPr id="14" name="Oval 13"/>
          <p:cNvSpPr/>
          <p:nvPr/>
        </p:nvSpPr>
        <p:spPr>
          <a:xfrm>
            <a:off x="795528" y="4965192"/>
            <a:ext cx="420624" cy="420624"/>
          </a:xfrm>
          <a:prstGeom prst="ellipse">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4</a:t>
            </a:r>
          </a:p>
        </p:txBody>
      </p:sp>
      <p:sp>
        <p:nvSpPr>
          <p:cNvPr id="15" name="TextBox 14"/>
          <p:cNvSpPr txBox="1"/>
          <p:nvPr/>
        </p:nvSpPr>
        <p:spPr>
          <a:xfrm>
            <a:off x="1499616" y="4956048"/>
            <a:ext cx="9692640" cy="292608"/>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FFFFFF"/>
                </a:solidFill>
                <a:latin typeface="Segoe UI Semibold"/>
              </a:rPr>
              <a:t>The evidence is the product</a:t>
            </a:r>
          </a:p>
        </p:txBody>
      </p:sp>
      <p:sp>
        <p:nvSpPr>
          <p:cNvPr id="16" name="TextBox 15"/>
          <p:cNvSpPr txBox="1"/>
          <p:nvPr/>
        </p:nvSpPr>
        <p:spPr>
          <a:xfrm>
            <a:off x="1499616" y="5248656"/>
            <a:ext cx="9509760" cy="548640"/>
          </a:xfrm>
          <a:prstGeom prst="rect">
            <a:avLst/>
          </a:prstGeom>
          <a:noFill/>
        </p:spPr>
        <p:txBody>
          <a:bodyPr wrap="square" anchor="t" lIns="0" rIns="0" tIns="0" bIns="0">
            <a:spAutoFit/>
          </a:bodyPr>
          <a:lstStyle/>
          <a:p>
            <a:pPr algn="l">
              <a:lnSpc>
                <a:spcPct val="134000"/>
              </a:lnSpc>
              <a:spcBef>
                <a:spcPts val="0"/>
              </a:spcBef>
              <a:spcAft>
                <a:spcPts val="0"/>
              </a:spcAft>
            </a:pPr>
            <a:r>
              <a:rPr sz="1160" b="0" i="0">
                <a:solidFill>
                  <a:srgbClr val="C5B8DC"/>
                </a:solidFill>
                <a:latin typeface="Segoe UI"/>
              </a:rPr>
              <a:t>The source trail and the calculation ledger are what let finance answer an audit question without reverse-engineering a payslip.</a:t>
            </a:r>
          </a:p>
        </p:txBody>
      </p:sp>
      <p:sp>
        <p:nvSpPr>
          <p:cNvPr id="17" name="TextBox 16"/>
          <p:cNvSpPr txBox="1"/>
          <p:nvPr/>
        </p:nvSpPr>
        <p:spPr>
          <a:xfrm>
            <a:off x="841248" y="6199632"/>
            <a:ext cx="10424160" cy="365760"/>
          </a:xfrm>
          <a:prstGeom prst="rect">
            <a:avLst/>
          </a:prstGeom>
          <a:noFill/>
        </p:spPr>
        <p:txBody>
          <a:bodyPr wrap="square" anchor="t" lIns="0" rIns="0" tIns="0" bIns="0">
            <a:spAutoFit/>
          </a:bodyPr>
          <a:lstStyle/>
          <a:p>
            <a:pPr algn="l">
              <a:lnSpc>
                <a:spcPct val="132000"/>
              </a:lnSpc>
              <a:spcBef>
                <a:spcPts val="0"/>
              </a:spcBef>
              <a:spcAft>
                <a:spcPts val="0"/>
              </a:spcAft>
            </a:pPr>
            <a:r>
              <a:rPr sz="1000" b="0" i="1">
                <a:solidFill>
                  <a:srgbClr val="7C3FC2"/>
                </a:solidFill>
                <a:latin typeface="Segoe UI"/>
              </a:rPr>
              <a:t>ATLAS Phase 2 · Computational Basis · pre-meeting walkthrough · 24 August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