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six things that changed, then say the deck follows them in order.</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agenda. Ask which of the six the client wants most time on.</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once that amounts on screen are demonstration data, so it does not need repeating.</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left column only. The client wrote it; they will recognise it.</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are the ones with the largest build behind them.</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section. Part 1 said an edit changes the next result; this is what protects the last one.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plainly: the behaviour Part 1 described was right, and this closes the gap it left.</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version chip. It is the whole change in one control.</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audit answer. It is captured, not derived on open.</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protection of history, not restriction of users.</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code on this screen was used by the posted run, which is why every row is locked.</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reasons name the transaction. Nothing has to be taken on trust.</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row is the one to dwell on: Inactive replaces delete once payroll has used the code.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the largest unresolved item from the review.</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payroll-usage column is aggregated here, because one edit would reach every company.</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screen used during company setup, and revisited when a new standard is published.</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phrase 'a company never holds its own copy of a standard' — it is the point of the section.</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Part 1 example deliberately. The client already knows the business rule.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with Part 1: CUS-900 typed by hand, Active on save, description required.</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GIF does not play, the four notes carry the same sequence.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answer to the owner/type/unit/timing/missing-value item.</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evidence card is stored with the version. It is not recomputed when the record is opened.</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contrast slide: nothing has used this rule, so every action is still available.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section, but it is what makes a formula sign-off reviewable months later.</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versions, each with its own expression and its own test. This is the audit evidence.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reviewer sees what the save will change before committing it.</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change list is written into the log, per company.</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smaller items from the review, grouped.</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card the next slide opens.</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versions, two effective dates, two sets of rows. Payroll picks by payout date.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import change is the one to call out: it creates records now, which it did not in Part 1.</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 all applies to everything the filter returned, not only the page on screen.</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meeting on this page. Agree owners and dates rather than debating each item here.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one-minute recap if time is short.</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needed if someone asks how the evidence was produced.</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here.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payrollEngine.js, payrollRuns.js, ComputationalBasis.jsx, StandardComputationAdmin.jsx.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gif"/><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59775" y="0"/>
            <a:ext cx="3931920"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1417320"/>
            <a:ext cx="7680960" cy="274320"/>
          </a:xfrm>
          <a:prstGeom prst="rect">
            <a:avLst/>
          </a:prstGeom>
          <a:noFill/>
        </p:spPr>
        <p:txBody>
          <a:bodyPr wrap="square" anchor="t" lIns="0" rIns="0" tIns="0" bIns="0">
            <a:spAutoFit/>
          </a:bodyPr>
          <a:lstStyle/>
          <a:p>
            <a:pPr algn="l">
              <a:lnSpc>
                <a:spcPct val="132000"/>
              </a:lnSpc>
              <a:spcBef>
                <a:spcPts val="0"/>
              </a:spcBef>
              <a:spcAft>
                <a:spcPts val="0"/>
              </a:spcAft>
            </a:pPr>
            <a:r>
              <a:rPr sz="1150" b="1" i="0">
                <a:solidFill>
                  <a:srgbClr val="7C3FC2"/>
                </a:solidFill>
                <a:latin typeface="Segoe UI Semibold"/>
              </a:rPr>
              <a:t>ATLAS PHASE 2 · PAYROLL · PART 2</a:t>
            </a:r>
          </a:p>
        </p:txBody>
      </p:sp>
      <p:sp>
        <p:nvSpPr>
          <p:cNvPr id="6" name="TextBox 5"/>
          <p:cNvSpPr txBox="1"/>
          <p:nvPr/>
        </p:nvSpPr>
        <p:spPr>
          <a:xfrm>
            <a:off x="841248" y="1847088"/>
            <a:ext cx="7863840" cy="1371600"/>
          </a:xfrm>
          <a:prstGeom prst="rect">
            <a:avLst/>
          </a:prstGeom>
          <a:noFill/>
        </p:spPr>
        <p:txBody>
          <a:bodyPr wrap="square" anchor="t" lIns="0" rIns="0" tIns="0" bIns="0">
            <a:spAutoFit/>
          </a:bodyPr>
          <a:lstStyle/>
          <a:p>
            <a:pPr algn="l">
              <a:lnSpc>
                <a:spcPct val="102000"/>
              </a:lnSpc>
              <a:spcBef>
                <a:spcPts val="0"/>
              </a:spcBef>
              <a:spcAft>
                <a:spcPts val="0"/>
              </a:spcAft>
            </a:pPr>
            <a:r>
              <a:rPr sz="5200" b="1" i="0">
                <a:solidFill>
                  <a:srgbClr val="FFFFFF"/>
                </a:solidFill>
                <a:latin typeface="Segoe UI Semibold"/>
              </a:rPr>
              <a:t>Computational Basis</a:t>
            </a:r>
          </a:p>
        </p:txBody>
      </p:sp>
      <p:sp>
        <p:nvSpPr>
          <p:cNvPr id="7" name="TextBox 6"/>
          <p:cNvSpPr txBox="1"/>
          <p:nvPr/>
        </p:nvSpPr>
        <p:spPr>
          <a:xfrm>
            <a:off x="841248" y="3127248"/>
            <a:ext cx="7223760" cy="914400"/>
          </a:xfrm>
          <a:prstGeom prst="rect">
            <a:avLst/>
          </a:prstGeom>
          <a:noFill/>
        </p:spPr>
        <p:txBody>
          <a:bodyPr wrap="square" anchor="t" lIns="0" rIns="0" tIns="0" bIns="0">
            <a:spAutoFit/>
          </a:bodyPr>
          <a:lstStyle/>
          <a:p>
            <a:pPr algn="l">
              <a:lnSpc>
                <a:spcPct val="140000"/>
              </a:lnSpc>
              <a:spcBef>
                <a:spcPts val="0"/>
              </a:spcBef>
              <a:spcAft>
                <a:spcPts val="0"/>
              </a:spcAft>
            </a:pPr>
            <a:r>
              <a:rPr sz="1500" b="0" i="0">
                <a:solidFill>
                  <a:srgbClr val="C5B8DC"/>
                </a:solidFill>
                <a:latin typeface="Segoe UI"/>
              </a:rPr>
              <a:t>What changed after your review: how payroll keeps its history, what can no longer be deleted, and how one standard formula reaches many companies.</a:t>
            </a:r>
          </a:p>
        </p:txBody>
      </p:sp>
      <p:sp>
        <p:nvSpPr>
          <p:cNvPr id="8" name="Rounded Rectangle 7"/>
          <p:cNvSpPr/>
          <p:nvPr/>
        </p:nvSpPr>
        <p:spPr>
          <a:xfrm>
            <a:off x="841248" y="4224528"/>
            <a:ext cx="1591056" cy="420624"/>
          </a:xfrm>
          <a:prstGeom prst="roundRect">
            <a:avLst>
              <a:gd name="adj" fmla="val 40000"/>
            </a:avLst>
          </a:prstGeom>
          <a:noFill/>
          <a:ln w="12700">
            <a:solidFill>
              <a:srgbClr val="7C3F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latin typeface="Segoe UI Semibold"/>
              </a:rPr>
              <a:t>1   1  Protect</a:t>
            </a:r>
          </a:p>
        </p:txBody>
      </p:sp>
      <p:sp>
        <p:nvSpPr>
          <p:cNvPr id="9" name="Rounded Rectangle 8"/>
          <p:cNvSpPr/>
          <p:nvPr/>
        </p:nvSpPr>
        <p:spPr>
          <a:xfrm>
            <a:off x="2578608" y="4224528"/>
            <a:ext cx="1492300" cy="420624"/>
          </a:xfrm>
          <a:prstGeom prst="roundRect">
            <a:avLst>
              <a:gd name="adj" fmla="val 40000"/>
            </a:avLst>
          </a:prstGeom>
          <a:noFill/>
          <a:ln w="12700">
            <a:solidFill>
              <a:srgbClr val="7C3F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latin typeface="Segoe UI Semibold"/>
              </a:rPr>
              <a:t>2   2  Govern</a:t>
            </a:r>
          </a:p>
        </p:txBody>
      </p:sp>
      <p:sp>
        <p:nvSpPr>
          <p:cNvPr id="10" name="Rounded Rectangle 9"/>
          <p:cNvSpPr/>
          <p:nvPr/>
        </p:nvSpPr>
        <p:spPr>
          <a:xfrm>
            <a:off x="4217212" y="4224528"/>
            <a:ext cx="1591056" cy="420624"/>
          </a:xfrm>
          <a:prstGeom prst="roundRect">
            <a:avLst>
              <a:gd name="adj" fmla="val 40000"/>
            </a:avLst>
          </a:prstGeom>
          <a:noFill/>
          <a:ln w="12700">
            <a:solidFill>
              <a:srgbClr val="7C3F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latin typeface="Segoe UI Semibold"/>
              </a:rPr>
              <a:t>3   3  Version</a:t>
            </a:r>
          </a:p>
        </p:txBody>
      </p:sp>
      <p:sp>
        <p:nvSpPr>
          <p:cNvPr id="11" name="Rounded Rectangle 10"/>
          <p:cNvSpPr/>
          <p:nvPr/>
        </p:nvSpPr>
        <p:spPr>
          <a:xfrm>
            <a:off x="5954572" y="4224528"/>
            <a:ext cx="1689811" cy="420624"/>
          </a:xfrm>
          <a:prstGeom prst="roundRect">
            <a:avLst>
              <a:gd name="adj" fmla="val 40000"/>
            </a:avLst>
          </a:prstGeom>
          <a:noFill/>
          <a:ln w="12700">
            <a:solidFill>
              <a:srgbClr val="7C3F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latin typeface="Segoe UI Semibold"/>
              </a:rPr>
              <a:t>4   4  Maintain</a:t>
            </a:r>
          </a:p>
        </p:txBody>
      </p:sp>
      <p:sp>
        <p:nvSpPr>
          <p:cNvPr id="12" name="TextBox 11"/>
          <p:cNvSpPr txBox="1"/>
          <p:nvPr/>
        </p:nvSpPr>
        <p:spPr>
          <a:xfrm>
            <a:off x="841248" y="5175504"/>
            <a:ext cx="7863840" cy="822960"/>
          </a:xfrm>
          <a:prstGeom prst="rect">
            <a:avLst/>
          </a:prstGeom>
          <a:noFill/>
        </p:spPr>
        <p:txBody>
          <a:bodyPr wrap="square" anchor="t" lIns="0" rIns="0" tIns="0" bIns="0">
            <a:spAutoFit/>
          </a:bodyPr>
          <a:lstStyle/>
          <a:p>
            <a:pPr algn="l">
              <a:lnSpc>
                <a:spcPct val="150000"/>
              </a:lnSpc>
              <a:spcBef>
                <a:spcPts val="0"/>
              </a:spcBef>
              <a:spcAft>
                <a:spcPts val="0"/>
              </a:spcAft>
            </a:pPr>
            <a:r>
              <a:rPr sz="1100" b="0" i="0">
                <a:solidFill>
                  <a:srgbClr val="7C3FC2"/>
                </a:solidFill>
                <a:latin typeface="Segoe UI"/>
              </a:rPr>
              <a:t>Continues the Part 1 walkthrough · prototype screens captured on 27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WHAT CHANGED</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Six changes since your review</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Each one came out of the review, and each has a live screen behind it in this deck.</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Every claim in this deck is a live screen capture or a named source file.</a:t>
            </a:r>
          </a:p>
        </p:txBody>
      </p:sp>
      <p:sp>
        <p:nvSpPr>
          <p:cNvPr id="8" name="Rounded Rectangle 7"/>
          <p:cNvSpPr/>
          <p:nvPr/>
        </p:nvSpPr>
        <p:spPr>
          <a:xfrm>
            <a:off x="566928" y="21945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2237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1</a:t>
            </a:r>
          </a:p>
        </p:txBody>
      </p:sp>
      <p:sp>
        <p:nvSpPr>
          <p:cNvPr id="11" name="TextBox 10"/>
          <p:cNvSpPr txBox="1"/>
          <p:nvPr/>
        </p:nvSpPr>
        <p:spPr>
          <a:xfrm>
            <a:off x="113385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Payroll keeps the version it ran on</a:t>
            </a:r>
          </a:p>
        </p:txBody>
      </p:sp>
      <p:sp>
        <p:nvSpPr>
          <p:cNvPr id="12" name="TextBox 11"/>
          <p:cNvSpPr txBox="1"/>
          <p:nvPr/>
        </p:nvSpPr>
        <p:spPr>
          <a:xfrm>
            <a:off x="822960" y="29077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Part 1 left this open. A transaction now records the exact formula version behind every amount, and keeps resolving it after the formula moves on.</a:t>
            </a:r>
          </a:p>
        </p:txBody>
      </p:sp>
      <p:sp>
        <p:nvSpPr>
          <p:cNvPr id="13" name="Rounded Rectangle 12"/>
          <p:cNvSpPr/>
          <p:nvPr/>
        </p:nvSpPr>
        <p:spPr>
          <a:xfrm>
            <a:off x="4307738" y="21945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0773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6318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2</a:t>
            </a:r>
          </a:p>
        </p:txBody>
      </p:sp>
      <p:sp>
        <p:nvSpPr>
          <p:cNvPr id="16" name="TextBox 15"/>
          <p:cNvSpPr txBox="1"/>
          <p:nvPr/>
        </p:nvSpPr>
        <p:spPr>
          <a:xfrm>
            <a:off x="487466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Used rules stop being editable</a:t>
            </a:r>
          </a:p>
        </p:txBody>
      </p:sp>
      <p:sp>
        <p:nvSpPr>
          <p:cNvPr id="17" name="TextBox 16"/>
          <p:cNvSpPr txBox="1"/>
          <p:nvPr/>
        </p:nvSpPr>
        <p:spPr>
          <a:xfrm>
            <a:off x="4563770" y="29077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Once a posted payroll has applied a computation, edit and delete close — for the Super Admin too. Inactive replaces delete.</a:t>
            </a:r>
          </a:p>
        </p:txBody>
      </p:sp>
      <p:sp>
        <p:nvSpPr>
          <p:cNvPr id="18" name="Rounded Rectangle 17"/>
          <p:cNvSpPr/>
          <p:nvPr/>
        </p:nvSpPr>
        <p:spPr>
          <a:xfrm>
            <a:off x="8048548" y="21945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4854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820399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3</a:t>
            </a:r>
          </a:p>
        </p:txBody>
      </p:sp>
      <p:sp>
        <p:nvSpPr>
          <p:cNvPr id="21" name="TextBox 20"/>
          <p:cNvSpPr txBox="1"/>
          <p:nvPr/>
        </p:nvSpPr>
        <p:spPr>
          <a:xfrm>
            <a:off x="861547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One standard, applied per company</a:t>
            </a:r>
          </a:p>
        </p:txBody>
      </p:sp>
      <p:sp>
        <p:nvSpPr>
          <p:cNvPr id="22" name="TextBox 21"/>
          <p:cNvSpPr txBox="1"/>
          <p:nvPr/>
        </p:nvSpPr>
        <p:spPr>
          <a:xfrm>
            <a:off x="8304580" y="29077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An Atlas standard is defined once and applied to selected companies. No company holds its own copy of a standard formula.</a:t>
            </a:r>
          </a:p>
        </p:txBody>
      </p:sp>
      <p:sp>
        <p:nvSpPr>
          <p:cNvPr id="23" name="Rounded Rectangle 22"/>
          <p:cNvSpPr/>
          <p:nvPr/>
        </p:nvSpPr>
        <p:spPr>
          <a:xfrm>
            <a:off x="566928" y="37871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787139"/>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22376" y="3970019"/>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4</a:t>
            </a:r>
          </a:p>
        </p:txBody>
      </p:sp>
      <p:sp>
        <p:nvSpPr>
          <p:cNvPr id="26" name="TextBox 25"/>
          <p:cNvSpPr txBox="1"/>
          <p:nvPr/>
        </p:nvSpPr>
        <p:spPr>
          <a:xfrm>
            <a:off x="1133856" y="40248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Codes, status and categories</a:t>
            </a:r>
          </a:p>
        </p:txBody>
      </p:sp>
      <p:sp>
        <p:nvSpPr>
          <p:cNvPr id="27" name="TextBox 26"/>
          <p:cNvSpPr txBox="1"/>
          <p:nvPr/>
        </p:nvSpPr>
        <p:spPr>
          <a:xfrm>
            <a:off x="822960" y="45003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Codes are generated from the category, new rules start Inactive, and the category list is a controlled reference table.</a:t>
            </a:r>
          </a:p>
        </p:txBody>
      </p:sp>
      <p:sp>
        <p:nvSpPr>
          <p:cNvPr id="28" name="Rounded Rectangle 27"/>
          <p:cNvSpPr/>
          <p:nvPr/>
        </p:nvSpPr>
        <p:spPr>
          <a:xfrm>
            <a:off x="4307738" y="37871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307738" y="3787139"/>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463186" y="3970019"/>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5</a:t>
            </a:r>
          </a:p>
        </p:txBody>
      </p:sp>
      <p:sp>
        <p:nvSpPr>
          <p:cNvPr id="31" name="TextBox 30"/>
          <p:cNvSpPr txBox="1"/>
          <p:nvPr/>
        </p:nvSpPr>
        <p:spPr>
          <a:xfrm>
            <a:off x="4874666" y="40248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Evidence that stays with the record</a:t>
            </a:r>
          </a:p>
        </p:txBody>
      </p:sp>
      <p:sp>
        <p:nvSpPr>
          <p:cNvPr id="32" name="TextBox 31"/>
          <p:cNvSpPr txBox="1"/>
          <p:nvPr/>
        </p:nvSpPr>
        <p:spPr>
          <a:xfrm>
            <a:off x="4563770" y="45003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Test results are stored against the version they tested, and change history carries the before and after values.</a:t>
            </a:r>
          </a:p>
        </p:txBody>
      </p:sp>
      <p:sp>
        <p:nvSpPr>
          <p:cNvPr id="33" name="Rounded Rectangle 32"/>
          <p:cNvSpPr/>
          <p:nvPr/>
        </p:nvSpPr>
        <p:spPr>
          <a:xfrm>
            <a:off x="8048548" y="37871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048548" y="3787139"/>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8203996" y="3970019"/>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6</a:t>
            </a:r>
          </a:p>
        </p:txBody>
      </p:sp>
      <p:sp>
        <p:nvSpPr>
          <p:cNvPr id="36" name="TextBox 35"/>
          <p:cNvSpPr txBox="1"/>
          <p:nvPr/>
        </p:nvSpPr>
        <p:spPr>
          <a:xfrm>
            <a:off x="8615476" y="40248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Values that change on a date</a:t>
            </a:r>
          </a:p>
        </p:txBody>
      </p:sp>
      <p:sp>
        <p:nvSpPr>
          <p:cNvPr id="37" name="TextBox 36"/>
          <p:cNvSpPr txBox="1"/>
          <p:nvPr/>
        </p:nvSpPr>
        <p:spPr>
          <a:xfrm>
            <a:off x="8304580" y="45003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Reference sources keep every published version, and payroll resolves the one effective on its payout date.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HOW TO READ THIS DECK</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How the deck is organised</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Most pages walk through a screen. A few set up a decision to agree in the meeting.</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Screens are live captures of the ATLAS prototype. The records, codes and amounts shown are demonstration data.</a:t>
            </a:r>
          </a:p>
        </p:txBody>
      </p:sp>
      <p:sp>
        <p:nvSpPr>
          <p:cNvPr id="8" name="Rounded Rectangle 7"/>
          <p:cNvSpPr/>
          <p:nvPr/>
        </p:nvSpPr>
        <p:spPr>
          <a:xfrm>
            <a:off x="566928" y="2194560"/>
            <a:ext cx="3576218" cy="141808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2237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1</a:t>
            </a:r>
          </a:p>
        </p:txBody>
      </p:sp>
      <p:sp>
        <p:nvSpPr>
          <p:cNvPr id="11" name="TextBox 10"/>
          <p:cNvSpPr txBox="1"/>
          <p:nvPr/>
        </p:nvSpPr>
        <p:spPr>
          <a:xfrm>
            <a:off x="113385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Continues Part 1</a:t>
            </a:r>
          </a:p>
        </p:txBody>
      </p:sp>
      <p:sp>
        <p:nvSpPr>
          <p:cNvPr id="12" name="TextBox 11"/>
          <p:cNvSpPr txBox="1"/>
          <p:nvPr/>
        </p:nvSpPr>
        <p:spPr>
          <a:xfrm>
            <a:off x="822960" y="2907792"/>
            <a:ext cx="3100730" cy="631698"/>
          </a:xfrm>
          <a:prstGeom prst="rect">
            <a:avLst/>
          </a:prstGeom>
          <a:noFill/>
        </p:spPr>
        <p:txBody>
          <a:bodyPr wrap="square" anchor="t" lIns="0" rIns="0" tIns="0" bIns="0">
            <a:spAutoFit/>
          </a:bodyPr>
          <a:lstStyle/>
          <a:p>
            <a:pPr algn="l">
              <a:lnSpc>
                <a:spcPct val="130000"/>
              </a:lnSpc>
              <a:spcBef>
                <a:spcPts val="0"/>
              </a:spcBef>
              <a:spcAft>
                <a:spcPts val="0"/>
              </a:spcAft>
            </a:pPr>
            <a:r>
              <a:rPr sz="980" b="0" i="0">
                <a:solidFill>
                  <a:srgbClr val="6B6675"/>
                </a:solidFill>
                <a:latin typeface="Segoe UI"/>
              </a:rPr>
              <a:t>This deck assumes the Part 1 walkthrough. It covers what changed after your review rather than repeating the module tour.</a:t>
            </a:r>
          </a:p>
        </p:txBody>
      </p:sp>
      <p:sp>
        <p:nvSpPr>
          <p:cNvPr id="13" name="Rounded Rectangle 12"/>
          <p:cNvSpPr/>
          <p:nvPr/>
        </p:nvSpPr>
        <p:spPr>
          <a:xfrm>
            <a:off x="4307738" y="2194560"/>
            <a:ext cx="3576218" cy="141808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0773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6318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2</a:t>
            </a:r>
          </a:p>
        </p:txBody>
      </p:sp>
      <p:sp>
        <p:nvSpPr>
          <p:cNvPr id="16" name="TextBox 15"/>
          <p:cNvSpPr txBox="1"/>
          <p:nvPr/>
        </p:nvSpPr>
        <p:spPr>
          <a:xfrm>
            <a:off x="487466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Walkthrough</a:t>
            </a:r>
          </a:p>
        </p:txBody>
      </p:sp>
      <p:sp>
        <p:nvSpPr>
          <p:cNvPr id="17" name="TextBox 16"/>
          <p:cNvSpPr txBox="1"/>
          <p:nvPr/>
        </p:nvSpPr>
        <p:spPr>
          <a:xfrm>
            <a:off x="4563770" y="2907792"/>
            <a:ext cx="3100730" cy="631698"/>
          </a:xfrm>
          <a:prstGeom prst="rect">
            <a:avLst/>
          </a:prstGeom>
          <a:noFill/>
        </p:spPr>
        <p:txBody>
          <a:bodyPr wrap="square" anchor="t" lIns="0" rIns="0" tIns="0" bIns="0">
            <a:spAutoFit/>
          </a:bodyPr>
          <a:lstStyle/>
          <a:p>
            <a:pPr algn="l">
              <a:lnSpc>
                <a:spcPct val="130000"/>
              </a:lnSpc>
              <a:spcBef>
                <a:spcPts val="0"/>
              </a:spcBef>
              <a:spcAft>
                <a:spcPts val="0"/>
              </a:spcAft>
            </a:pPr>
            <a:r>
              <a:rPr sz="980" b="0" i="0">
                <a:solidFill>
                  <a:srgbClr val="6B6675"/>
                </a:solidFill>
                <a:latin typeface="Segoe UI"/>
              </a:rPr>
              <a:t>Screens captured from the running prototype on 27 August 2026, with numbered callouts on the controls they describe.</a:t>
            </a:r>
          </a:p>
        </p:txBody>
      </p:sp>
      <p:sp>
        <p:nvSpPr>
          <p:cNvPr id="18" name="Rounded Rectangle 17"/>
          <p:cNvSpPr/>
          <p:nvPr/>
        </p:nvSpPr>
        <p:spPr>
          <a:xfrm>
            <a:off x="8048548" y="2194560"/>
            <a:ext cx="3576218" cy="141808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4854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820399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3</a:t>
            </a:r>
          </a:p>
        </p:txBody>
      </p:sp>
      <p:sp>
        <p:nvSpPr>
          <p:cNvPr id="21" name="TextBox 20"/>
          <p:cNvSpPr txBox="1"/>
          <p:nvPr/>
        </p:nvSpPr>
        <p:spPr>
          <a:xfrm>
            <a:off x="861547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Navigation path</a:t>
            </a:r>
          </a:p>
        </p:txBody>
      </p:sp>
      <p:sp>
        <p:nvSpPr>
          <p:cNvPr id="22" name="TextBox 21"/>
          <p:cNvSpPr txBox="1"/>
          <p:nvPr/>
        </p:nvSpPr>
        <p:spPr>
          <a:xfrm>
            <a:off x="8304580" y="2907792"/>
            <a:ext cx="3100730" cy="631698"/>
          </a:xfrm>
          <a:prstGeom prst="rect">
            <a:avLst/>
          </a:prstGeom>
          <a:noFill/>
        </p:spPr>
        <p:txBody>
          <a:bodyPr wrap="square" anchor="t" lIns="0" rIns="0" tIns="0" bIns="0">
            <a:spAutoFit/>
          </a:bodyPr>
          <a:lstStyle/>
          <a:p>
            <a:pPr algn="l">
              <a:lnSpc>
                <a:spcPct val="130000"/>
              </a:lnSpc>
              <a:spcBef>
                <a:spcPts val="0"/>
              </a:spcBef>
              <a:spcAft>
                <a:spcPts val="0"/>
              </a:spcAft>
            </a:pPr>
            <a:r>
              <a:rPr sz="980" b="0" i="0">
                <a:solidFill>
                  <a:srgbClr val="6B6675"/>
                </a:solidFill>
                <a:latin typeface="Segoe UI"/>
              </a:rPr>
              <a:t>Every screen page carries the path needed to reopen it in ATLAS.</a:t>
            </a:r>
          </a:p>
        </p:txBody>
      </p:sp>
      <p:sp>
        <p:nvSpPr>
          <p:cNvPr id="23" name="Rounded Rectangle 22"/>
          <p:cNvSpPr/>
          <p:nvPr/>
        </p:nvSpPr>
        <p:spPr>
          <a:xfrm>
            <a:off x="566928" y="3777234"/>
            <a:ext cx="3576218" cy="141808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777234"/>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22376" y="3960114"/>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4</a:t>
            </a:r>
          </a:p>
        </p:txBody>
      </p:sp>
      <p:sp>
        <p:nvSpPr>
          <p:cNvPr id="26" name="TextBox 25"/>
          <p:cNvSpPr txBox="1"/>
          <p:nvPr/>
        </p:nvSpPr>
        <p:spPr>
          <a:xfrm>
            <a:off x="1133856" y="4014978"/>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For the meeting</a:t>
            </a:r>
          </a:p>
        </p:txBody>
      </p:sp>
      <p:sp>
        <p:nvSpPr>
          <p:cNvPr id="27" name="TextBox 26"/>
          <p:cNvSpPr txBox="1"/>
          <p:nvPr/>
        </p:nvSpPr>
        <p:spPr>
          <a:xfrm>
            <a:off x="822960" y="4490466"/>
            <a:ext cx="3100730" cy="631698"/>
          </a:xfrm>
          <a:prstGeom prst="rect">
            <a:avLst/>
          </a:prstGeom>
          <a:noFill/>
        </p:spPr>
        <p:txBody>
          <a:bodyPr wrap="square" anchor="t" lIns="0" rIns="0" tIns="0" bIns="0">
            <a:spAutoFit/>
          </a:bodyPr>
          <a:lstStyle/>
          <a:p>
            <a:pPr algn="l">
              <a:lnSpc>
                <a:spcPct val="130000"/>
              </a:lnSpc>
              <a:spcBef>
                <a:spcPts val="0"/>
              </a:spcBef>
              <a:spcAft>
                <a:spcPts val="0"/>
              </a:spcAft>
            </a:pPr>
            <a:r>
              <a:rPr sz="980" b="0" i="0">
                <a:solidFill>
                  <a:srgbClr val="6B6675"/>
                </a:solidFill>
                <a:latin typeface="Segoe UI"/>
              </a:rPr>
              <a:t>A few pages carry decisions to agree together. They are marked, and gathered again at the end.</a:t>
            </a:r>
          </a:p>
        </p:txBody>
      </p:sp>
      <p:sp>
        <p:nvSpPr>
          <p:cNvPr id="28" name="Rounded Rectangle 27"/>
          <p:cNvSpPr/>
          <p:nvPr/>
        </p:nvSpPr>
        <p:spPr>
          <a:xfrm>
            <a:off x="4307738" y="3777234"/>
            <a:ext cx="3576218" cy="141808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307738" y="3777234"/>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463186" y="3960114"/>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5</a:t>
            </a:r>
          </a:p>
        </p:txBody>
      </p:sp>
      <p:sp>
        <p:nvSpPr>
          <p:cNvPr id="31" name="TextBox 30"/>
          <p:cNvSpPr txBox="1"/>
          <p:nvPr/>
        </p:nvSpPr>
        <p:spPr>
          <a:xfrm>
            <a:off x="4874666" y="4014978"/>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Demonstration data</a:t>
            </a:r>
          </a:p>
        </p:txBody>
      </p:sp>
      <p:sp>
        <p:nvSpPr>
          <p:cNvPr id="32" name="TextBox 31"/>
          <p:cNvSpPr txBox="1"/>
          <p:nvPr/>
        </p:nvSpPr>
        <p:spPr>
          <a:xfrm>
            <a:off x="4563770" y="4490466"/>
            <a:ext cx="3100730" cy="631698"/>
          </a:xfrm>
          <a:prstGeom prst="rect">
            <a:avLst/>
          </a:prstGeom>
          <a:noFill/>
        </p:spPr>
        <p:txBody>
          <a:bodyPr wrap="square" anchor="t" lIns="0" rIns="0" tIns="0" bIns="0">
            <a:spAutoFit/>
          </a:bodyPr>
          <a:lstStyle/>
          <a:p>
            <a:pPr algn="l">
              <a:lnSpc>
                <a:spcPct val="130000"/>
              </a:lnSpc>
              <a:spcBef>
                <a:spcPts val="0"/>
              </a:spcBef>
              <a:spcAft>
                <a:spcPts val="0"/>
              </a:spcAft>
            </a:pPr>
            <a:r>
              <a:rPr sz="980" b="0" i="0">
                <a:solidFill>
                  <a:srgbClr val="6B6675"/>
                </a:solidFill>
                <a:latin typeface="Segoe UI"/>
              </a:rPr>
              <a:t>Records, codes and amounts are samples from the prototype, including the worked example carried over from Part 1.</a:t>
            </a:r>
          </a:p>
        </p:txBody>
      </p:sp>
      <p:sp>
        <p:nvSpPr>
          <p:cNvPr id="33" name="Rounded Rectangle 32"/>
          <p:cNvSpPr/>
          <p:nvPr/>
        </p:nvSpPr>
        <p:spPr>
          <a:xfrm>
            <a:off x="8048548" y="3777234"/>
            <a:ext cx="3576218" cy="141808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048548" y="3777234"/>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8203996" y="3960114"/>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6</a:t>
            </a:r>
          </a:p>
        </p:txBody>
      </p:sp>
      <p:sp>
        <p:nvSpPr>
          <p:cNvPr id="36" name="TextBox 35"/>
          <p:cNvSpPr txBox="1"/>
          <p:nvPr/>
        </p:nvSpPr>
        <p:spPr>
          <a:xfrm>
            <a:off x="8615476" y="4014978"/>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One company, one pass</a:t>
            </a:r>
          </a:p>
        </p:txBody>
      </p:sp>
      <p:sp>
        <p:nvSpPr>
          <p:cNvPr id="37" name="TextBox 36"/>
          <p:cNvSpPr txBox="1"/>
          <p:nvPr/>
        </p:nvSpPr>
        <p:spPr>
          <a:xfrm>
            <a:off x="8304580" y="4490466"/>
            <a:ext cx="3100730" cy="631698"/>
          </a:xfrm>
          <a:prstGeom prst="rect">
            <a:avLst/>
          </a:prstGeom>
          <a:noFill/>
        </p:spPr>
        <p:txBody>
          <a:bodyPr wrap="square" anchor="t" lIns="0" rIns="0" tIns="0" bIns="0">
            <a:spAutoFit/>
          </a:bodyPr>
          <a:lstStyle/>
          <a:p>
            <a:pPr algn="l">
              <a:lnSpc>
                <a:spcPct val="130000"/>
              </a:lnSpc>
              <a:spcBef>
                <a:spcPts val="0"/>
              </a:spcBef>
              <a:spcAft>
                <a:spcPts val="0"/>
              </a:spcAft>
            </a:pPr>
            <a:r>
              <a:rPr sz="980" b="0" i="0">
                <a:solidFill>
                  <a:srgbClr val="6B6675"/>
                </a:solidFill>
                <a:latin typeface="Segoe UI"/>
              </a:rPr>
              <a:t>Every screen comes from the same sandbox company and the same posted transaction, PR-2025-11-E2E.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YOUR REVIEW · 1 OF 2</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What you asked for, and where it now lives</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review items on authoring and inputs, and the change each one produced.</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The remaining items are on the next page.</a:t>
            </a:r>
          </a:p>
        </p:txBody>
      </p:sp>
      <p:sp>
        <p:nvSpPr>
          <p:cNvPr id="8" name="Rounded Rectangle 7"/>
          <p:cNvSpPr/>
          <p:nvPr/>
        </p:nvSpPr>
        <p:spPr>
          <a:xfrm>
            <a:off x="566928" y="1883664"/>
            <a:ext cx="11057839" cy="402336"/>
          </a:xfrm>
          <a:prstGeom prst="roundRect">
            <a:avLst>
              <a:gd name="adj" fmla="val 4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31520" y="1984248"/>
            <a:ext cx="3043031"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YOU ASKED FOR</a:t>
            </a:r>
          </a:p>
        </p:txBody>
      </p:sp>
      <p:sp>
        <p:nvSpPr>
          <p:cNvPr id="10" name="TextBox 9"/>
          <p:cNvSpPr txBox="1"/>
          <p:nvPr/>
        </p:nvSpPr>
        <p:spPr>
          <a:xfrm>
            <a:off x="4048871" y="1984248"/>
            <a:ext cx="5254599"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WHAT NOW HAPPENS</a:t>
            </a:r>
          </a:p>
        </p:txBody>
      </p:sp>
      <p:sp>
        <p:nvSpPr>
          <p:cNvPr id="11" name="TextBox 10"/>
          <p:cNvSpPr txBox="1"/>
          <p:nvPr/>
        </p:nvSpPr>
        <p:spPr>
          <a:xfrm>
            <a:off x="9577790" y="1984248"/>
            <a:ext cx="1937247"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SHOWN IN</a:t>
            </a:r>
          </a:p>
        </p:txBody>
      </p:sp>
      <p:sp>
        <p:nvSpPr>
          <p:cNvPr id="12" name="Rounded Rectangle 11"/>
          <p:cNvSpPr/>
          <p:nvPr/>
        </p:nvSpPr>
        <p:spPr>
          <a:xfrm>
            <a:off x="566928" y="2377440"/>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31520" y="2496312"/>
            <a:ext cx="3024743"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Computation code should follow the category</a:t>
            </a:r>
          </a:p>
        </p:txBody>
      </p:sp>
      <p:sp>
        <p:nvSpPr>
          <p:cNvPr id="14" name="TextBox 13"/>
          <p:cNvSpPr txBox="1"/>
          <p:nvPr/>
        </p:nvSpPr>
        <p:spPr>
          <a:xfrm>
            <a:off x="4048871" y="2496312"/>
            <a:ext cx="5236311"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Generated from the category and the next free sequence — ERN-007 for an earning, DED-004 for a deduction — then locked.</a:t>
            </a:r>
          </a:p>
        </p:txBody>
      </p:sp>
      <p:sp>
        <p:nvSpPr>
          <p:cNvPr id="15" name="TextBox 14"/>
          <p:cNvSpPr txBox="1"/>
          <p:nvPr/>
        </p:nvSpPr>
        <p:spPr>
          <a:xfrm>
            <a:off x="9577790" y="2496312"/>
            <a:ext cx="1918959"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Creating a computation</a:t>
            </a:r>
          </a:p>
        </p:txBody>
      </p:sp>
      <p:sp>
        <p:nvSpPr>
          <p:cNvPr id="16" name="Rounded Rectangle 15"/>
          <p:cNvSpPr/>
          <p:nvPr/>
        </p:nvSpPr>
        <p:spPr>
          <a:xfrm>
            <a:off x="566928" y="3152851"/>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31520" y="3271723"/>
            <a:ext cx="3024743"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A new rule should start inactive</a:t>
            </a:r>
          </a:p>
        </p:txBody>
      </p:sp>
      <p:sp>
        <p:nvSpPr>
          <p:cNvPr id="18" name="TextBox 17"/>
          <p:cNvSpPr txBox="1"/>
          <p:nvPr/>
        </p:nvSpPr>
        <p:spPr>
          <a:xfrm>
            <a:off x="4048871" y="3271723"/>
            <a:ext cx="5236311"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New computations are created Inactive, in the company and central libraries alike, and are activated deliberately.</a:t>
            </a:r>
          </a:p>
        </p:txBody>
      </p:sp>
      <p:sp>
        <p:nvSpPr>
          <p:cNvPr id="19" name="TextBox 18"/>
          <p:cNvSpPr txBox="1"/>
          <p:nvPr/>
        </p:nvSpPr>
        <p:spPr>
          <a:xfrm>
            <a:off x="9577790" y="3271723"/>
            <a:ext cx="1918959"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Creating a computation</a:t>
            </a:r>
          </a:p>
        </p:txBody>
      </p:sp>
      <p:sp>
        <p:nvSpPr>
          <p:cNvPr id="20" name="Rounded Rectangle 19"/>
          <p:cNvSpPr/>
          <p:nvPr/>
        </p:nvSpPr>
        <p:spPr>
          <a:xfrm>
            <a:off x="566928" y="3928262"/>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31520" y="4047134"/>
            <a:ext cx="3024743"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Description should be optional</a:t>
            </a:r>
          </a:p>
        </p:txBody>
      </p:sp>
      <p:sp>
        <p:nvSpPr>
          <p:cNvPr id="22" name="TextBox 21"/>
          <p:cNvSpPr txBox="1"/>
          <p:nvPr/>
        </p:nvSpPr>
        <p:spPr>
          <a:xfrm>
            <a:off x="4048871" y="4047134"/>
            <a:ext cx="5236311"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Description no longer blocks a save. It stays the recommended place to record inclusions and exclusions.</a:t>
            </a:r>
          </a:p>
        </p:txBody>
      </p:sp>
      <p:sp>
        <p:nvSpPr>
          <p:cNvPr id="23" name="TextBox 22"/>
          <p:cNvSpPr txBox="1"/>
          <p:nvPr/>
        </p:nvSpPr>
        <p:spPr>
          <a:xfrm>
            <a:off x="9577790" y="4047134"/>
            <a:ext cx="1918959"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Creating a computation</a:t>
            </a:r>
          </a:p>
        </p:txBody>
      </p:sp>
      <p:sp>
        <p:nvSpPr>
          <p:cNvPr id="24" name="Rounded Rectangle 23"/>
          <p:cNvSpPr/>
          <p:nvPr/>
        </p:nvSpPr>
        <p:spPr>
          <a:xfrm>
            <a:off x="566928" y="4703673"/>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31520" y="4822545"/>
            <a:ext cx="3024743"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Categories should come from a reference table</a:t>
            </a:r>
          </a:p>
        </p:txBody>
      </p:sp>
      <p:sp>
        <p:nvSpPr>
          <p:cNvPr id="26" name="TextBox 25"/>
          <p:cNvSpPr txBox="1"/>
          <p:nvPr/>
        </p:nvSpPr>
        <p:spPr>
          <a:xfrm>
            <a:off x="4048871" y="4822545"/>
            <a:ext cx="5236311"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Computation Category reference table owns the list and the code prefix each category generates.</a:t>
            </a:r>
          </a:p>
        </p:txBody>
      </p:sp>
      <p:sp>
        <p:nvSpPr>
          <p:cNvPr id="27" name="TextBox 26"/>
          <p:cNvSpPr txBox="1"/>
          <p:nvPr/>
        </p:nvSpPr>
        <p:spPr>
          <a:xfrm>
            <a:off x="9577790" y="4822545"/>
            <a:ext cx="1918959"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Creating a computation</a:t>
            </a:r>
          </a:p>
        </p:txBody>
      </p:sp>
      <p:sp>
        <p:nvSpPr>
          <p:cNvPr id="28" name="Rounded Rectangle 27"/>
          <p:cNvSpPr/>
          <p:nvPr/>
        </p:nvSpPr>
        <p:spPr>
          <a:xfrm>
            <a:off x="566928" y="5479084"/>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31520" y="5597956"/>
            <a:ext cx="3024743"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Map fields need owner, type, unit, timing and missing-value</a:t>
            </a:r>
          </a:p>
        </p:txBody>
      </p:sp>
      <p:sp>
        <p:nvSpPr>
          <p:cNvPr id="30" name="TextBox 29"/>
          <p:cNvSpPr txBox="1"/>
          <p:nvPr/>
        </p:nvSpPr>
        <p:spPr>
          <a:xfrm>
            <a:off x="4048871" y="5597956"/>
            <a:ext cx="5236311"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All five are declared for every approved field, and shown on the map-field table and the record view.</a:t>
            </a:r>
          </a:p>
        </p:txBody>
      </p:sp>
      <p:sp>
        <p:nvSpPr>
          <p:cNvPr id="31" name="TextBox 30"/>
          <p:cNvSpPr txBox="1"/>
          <p:nvPr/>
        </p:nvSpPr>
        <p:spPr>
          <a:xfrm>
            <a:off x="9577790" y="5597956"/>
            <a:ext cx="1918959"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Map fields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YOUR REVIEW · 2 OF 2</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What you asked for, and where it now lives</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review items on history, protection and scope — the structural half of the change.</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Business decisions still open are gathered near the end of the deck.</a:t>
            </a:r>
          </a:p>
        </p:txBody>
      </p:sp>
      <p:sp>
        <p:nvSpPr>
          <p:cNvPr id="8" name="Rounded Rectangle 7"/>
          <p:cNvSpPr/>
          <p:nvPr/>
        </p:nvSpPr>
        <p:spPr>
          <a:xfrm>
            <a:off x="566928" y="1883664"/>
            <a:ext cx="11057839" cy="402336"/>
          </a:xfrm>
          <a:prstGeom prst="roundRect">
            <a:avLst>
              <a:gd name="adj" fmla="val 4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31520" y="1984248"/>
            <a:ext cx="3043031"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YOU ASKED FOR</a:t>
            </a:r>
          </a:p>
        </p:txBody>
      </p:sp>
      <p:sp>
        <p:nvSpPr>
          <p:cNvPr id="10" name="TextBox 9"/>
          <p:cNvSpPr txBox="1"/>
          <p:nvPr/>
        </p:nvSpPr>
        <p:spPr>
          <a:xfrm>
            <a:off x="4048871" y="1984248"/>
            <a:ext cx="5254599"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WHAT NOW HAPPENS</a:t>
            </a:r>
          </a:p>
        </p:txBody>
      </p:sp>
      <p:sp>
        <p:nvSpPr>
          <p:cNvPr id="11" name="TextBox 10"/>
          <p:cNvSpPr txBox="1"/>
          <p:nvPr/>
        </p:nvSpPr>
        <p:spPr>
          <a:xfrm>
            <a:off x="9577790" y="1984248"/>
            <a:ext cx="1937247"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SHOWN IN</a:t>
            </a:r>
          </a:p>
        </p:txBody>
      </p:sp>
      <p:sp>
        <p:nvSpPr>
          <p:cNvPr id="12" name="Rounded Rectangle 11"/>
          <p:cNvSpPr/>
          <p:nvPr/>
        </p:nvSpPr>
        <p:spPr>
          <a:xfrm>
            <a:off x="566928" y="2377440"/>
            <a:ext cx="11057839" cy="896112"/>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31520" y="2496312"/>
            <a:ext cx="3024743" cy="676656"/>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Payroll must keep the version it used</a:t>
            </a:r>
          </a:p>
        </p:txBody>
      </p:sp>
      <p:sp>
        <p:nvSpPr>
          <p:cNvPr id="14" name="TextBox 13"/>
          <p:cNvSpPr txBox="1"/>
          <p:nvPr/>
        </p:nvSpPr>
        <p:spPr>
          <a:xfrm>
            <a:off x="4048871" y="2496312"/>
            <a:ext cx="5236311"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Each step records its version; the transaction stores a snapshot of every formula it applied and resolves through it.</a:t>
            </a:r>
          </a:p>
        </p:txBody>
      </p:sp>
      <p:sp>
        <p:nvSpPr>
          <p:cNvPr id="15" name="TextBox 14"/>
          <p:cNvSpPr txBox="1"/>
          <p:nvPr/>
        </p:nvSpPr>
        <p:spPr>
          <a:xfrm>
            <a:off x="9577790" y="2496312"/>
            <a:ext cx="1918959"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Historical protection</a:t>
            </a:r>
          </a:p>
        </p:txBody>
      </p:sp>
      <p:sp>
        <p:nvSpPr>
          <p:cNvPr id="16" name="Rounded Rectangle 15"/>
          <p:cNvSpPr/>
          <p:nvPr/>
        </p:nvSpPr>
        <p:spPr>
          <a:xfrm>
            <a:off x="566928" y="3346704"/>
            <a:ext cx="11057839" cy="896112"/>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31520" y="3465576"/>
            <a:ext cx="3024743" cy="676656"/>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Deletion should close once a code has been used</a:t>
            </a:r>
          </a:p>
        </p:txBody>
      </p:sp>
      <p:sp>
        <p:nvSpPr>
          <p:cNvPr id="18" name="TextBox 17"/>
          <p:cNvSpPr txBox="1"/>
          <p:nvPr/>
        </p:nvSpPr>
        <p:spPr>
          <a:xfrm>
            <a:off x="4048871" y="3465576"/>
            <a:ext cx="5236311"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Edit and delete close on posted usage; deactivation closes on any linked transaction. Version history blocks deletion.</a:t>
            </a:r>
          </a:p>
        </p:txBody>
      </p:sp>
      <p:sp>
        <p:nvSpPr>
          <p:cNvPr id="19" name="TextBox 18"/>
          <p:cNvSpPr txBox="1"/>
          <p:nvPr/>
        </p:nvSpPr>
        <p:spPr>
          <a:xfrm>
            <a:off x="9577790" y="3465576"/>
            <a:ext cx="1918959"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Delete protection</a:t>
            </a:r>
          </a:p>
        </p:txBody>
      </p:sp>
      <p:sp>
        <p:nvSpPr>
          <p:cNvPr id="20" name="Rounded Rectangle 19"/>
          <p:cNvSpPr/>
          <p:nvPr/>
        </p:nvSpPr>
        <p:spPr>
          <a:xfrm>
            <a:off x="566928" y="4315968"/>
            <a:ext cx="11057839" cy="896112"/>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31520" y="4434840"/>
            <a:ext cx="3024743" cy="676656"/>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Computations should be company-scoped</a:t>
            </a:r>
          </a:p>
        </p:txBody>
      </p:sp>
      <p:sp>
        <p:nvSpPr>
          <p:cNvPr id="22" name="TextBox 21"/>
          <p:cNvSpPr txBox="1"/>
          <p:nvPr/>
        </p:nvSpPr>
        <p:spPr>
          <a:xfrm>
            <a:off x="4048871" y="4434840"/>
            <a:ext cx="5236311"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Computations, assignments, reference sources, versions and history are all stored per company.</a:t>
            </a:r>
          </a:p>
        </p:txBody>
      </p:sp>
      <p:sp>
        <p:nvSpPr>
          <p:cNvPr id="23" name="TextBox 22"/>
          <p:cNvSpPr txBox="1"/>
          <p:nvPr/>
        </p:nvSpPr>
        <p:spPr>
          <a:xfrm>
            <a:off x="9577790" y="4434840"/>
            <a:ext cx="1918959"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Company scope</a:t>
            </a:r>
          </a:p>
        </p:txBody>
      </p:sp>
      <p:sp>
        <p:nvSpPr>
          <p:cNvPr id="24" name="Rounded Rectangle 23"/>
          <p:cNvSpPr/>
          <p:nvPr/>
        </p:nvSpPr>
        <p:spPr>
          <a:xfrm>
            <a:off x="566928" y="5285232"/>
            <a:ext cx="11057839" cy="896112"/>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31520" y="5404104"/>
            <a:ext cx="3024743" cy="676656"/>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Reference sources should keep old versions</a:t>
            </a:r>
          </a:p>
        </p:txBody>
      </p:sp>
      <p:sp>
        <p:nvSpPr>
          <p:cNvPr id="26" name="TextBox 25"/>
          <p:cNvSpPr txBox="1"/>
          <p:nvPr/>
        </p:nvSpPr>
        <p:spPr>
          <a:xfrm>
            <a:off x="4048871" y="5404104"/>
            <a:ext cx="5236311"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Every published version is retained with its own effective date, and payroll resolves by payout date.</a:t>
            </a:r>
          </a:p>
        </p:txBody>
      </p:sp>
      <p:sp>
        <p:nvSpPr>
          <p:cNvPr id="27" name="TextBox 26"/>
          <p:cNvSpPr txBox="1"/>
          <p:nvPr/>
        </p:nvSpPr>
        <p:spPr>
          <a:xfrm>
            <a:off x="9577790" y="5404104"/>
            <a:ext cx="1918959"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Effective-dated values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06</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Payroll keeps the version it ran on</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Part 1 ended on this question. A transaction now records the exact formula behind every amount.</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version on the line</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snapshot</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Why it matters</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QUESTION FROM PART 1</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What happens to a payroll when the formula changes</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Part 1 confirmed that payroll evaluates the stored library. The open question was what that meant for a run that had already gone out.</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Confirmed in payrollEngine.js and payrollRuns.js, and covered by the governance test suite.</a:t>
            </a:r>
          </a:p>
        </p:txBody>
      </p:sp>
      <p:sp>
        <p:nvSpPr>
          <p:cNvPr id="8" name="Rounded Rectangle 7"/>
          <p:cNvSpPr/>
          <p:nvPr/>
        </p:nvSpPr>
        <p:spPr>
          <a:xfrm>
            <a:off x="566928" y="1883664"/>
            <a:ext cx="5400903" cy="4297680"/>
          </a:xfrm>
          <a:prstGeom prst="roundRect">
            <a:avLst>
              <a:gd name="adj" fmla="val 4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883664"/>
            <a:ext cx="5400903" cy="4572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804672" y="2121408"/>
            <a:ext cx="3547872" cy="256032"/>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000" b="1">
                <a:solidFill>
                  <a:srgbClr val="54248F"/>
                </a:solidFill>
                <a:latin typeface="Segoe UI Semibold"/>
              </a:rPr>
              <a:t>PART 1 · THE POSITION THEN</a:t>
            </a:r>
          </a:p>
        </p:txBody>
      </p:sp>
      <p:sp>
        <p:nvSpPr>
          <p:cNvPr id="11" name="TextBox 10"/>
          <p:cNvSpPr txBox="1"/>
          <p:nvPr/>
        </p:nvSpPr>
        <p:spPr>
          <a:xfrm>
            <a:off x="804672" y="2578608"/>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Payroll read the library at run time</a:t>
            </a:r>
          </a:p>
        </p:txBody>
      </p:sp>
      <p:sp>
        <p:nvSpPr>
          <p:cNvPr id="12" name="TextBox 11"/>
          <p:cNvSpPr txBox="1"/>
          <p:nvPr/>
        </p:nvSpPr>
        <p:spPr>
          <a:xfrm>
            <a:off x="804672" y="2834640"/>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Each step resolved its code and evaluated whatever expression the library held.</a:t>
            </a:r>
          </a:p>
        </p:txBody>
      </p:sp>
      <p:sp>
        <p:nvSpPr>
          <p:cNvPr id="13" name="TextBox 12"/>
          <p:cNvSpPr txBox="1"/>
          <p:nvPr/>
        </p:nvSpPr>
        <p:spPr>
          <a:xfrm>
            <a:off x="804672" y="3742944"/>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The trail named the code</a:t>
            </a:r>
          </a:p>
        </p:txBody>
      </p:sp>
      <p:sp>
        <p:nvSpPr>
          <p:cNvPr id="14" name="TextBox 13"/>
          <p:cNvSpPr txBox="1"/>
          <p:nvPr/>
        </p:nvSpPr>
        <p:spPr>
          <a:xfrm>
            <a:off x="804672" y="3998976"/>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A ledger row proved which code produced an amount, but not which version of it.</a:t>
            </a:r>
          </a:p>
        </p:txBody>
      </p:sp>
      <p:sp>
        <p:nvSpPr>
          <p:cNvPr id="15" name="TextBox 14"/>
          <p:cNvSpPr txBox="1"/>
          <p:nvPr/>
        </p:nvSpPr>
        <p:spPr>
          <a:xfrm>
            <a:off x="804672" y="4907280"/>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An edit changed the next result</a:t>
            </a:r>
          </a:p>
        </p:txBody>
      </p:sp>
      <p:sp>
        <p:nvSpPr>
          <p:cNvPr id="16" name="TextBox 15"/>
          <p:cNvSpPr txBox="1"/>
          <p:nvPr/>
        </p:nvSpPr>
        <p:spPr>
          <a:xfrm>
            <a:off x="804672" y="5163312"/>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Correct, and expected. The concern was what it meant for a result already posted.</a:t>
            </a:r>
          </a:p>
        </p:txBody>
      </p:sp>
      <p:sp>
        <p:nvSpPr>
          <p:cNvPr id="17" name="Rounded Rectangle 16"/>
          <p:cNvSpPr/>
          <p:nvPr/>
        </p:nvSpPr>
        <p:spPr>
          <a:xfrm>
            <a:off x="6223863" y="1883664"/>
            <a:ext cx="5400903" cy="4297680"/>
          </a:xfrm>
          <a:prstGeom prst="roundRect">
            <a:avLst>
              <a:gd name="adj" fmla="val 4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23863" y="1883664"/>
            <a:ext cx="5400903"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461607" y="2121408"/>
            <a:ext cx="3419856" cy="256032"/>
          </a:xfrm>
          <a:prstGeom prst="roundRect">
            <a:avLst>
              <a:gd name="adj" fmla="val 50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000" b="1">
                <a:solidFill>
                  <a:srgbClr val="0F766E"/>
                </a:solidFill>
                <a:latin typeface="Segoe UI Semibold"/>
              </a:rPr>
              <a:t>PART 2 · THE POSITION NOW</a:t>
            </a:r>
          </a:p>
        </p:txBody>
      </p:sp>
      <p:sp>
        <p:nvSpPr>
          <p:cNvPr id="20" name="TextBox 19"/>
          <p:cNvSpPr txBox="1"/>
          <p:nvPr/>
        </p:nvSpPr>
        <p:spPr>
          <a:xfrm>
            <a:off x="6461607" y="2578608"/>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The step records its version</a:t>
            </a:r>
          </a:p>
        </p:txBody>
      </p:sp>
      <p:sp>
        <p:nvSpPr>
          <p:cNvPr id="21" name="TextBox 20"/>
          <p:cNvSpPr txBox="1"/>
          <p:nvPr/>
        </p:nvSpPr>
        <p:spPr>
          <a:xfrm>
            <a:off x="6461607" y="2834640"/>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Every calculation step stores the version and effective date of the formula it applied.</a:t>
            </a:r>
          </a:p>
        </p:txBody>
      </p:sp>
      <p:sp>
        <p:nvSpPr>
          <p:cNvPr id="22" name="TextBox 21"/>
          <p:cNvSpPr txBox="1"/>
          <p:nvPr/>
        </p:nvSpPr>
        <p:spPr>
          <a:xfrm>
            <a:off x="6461607" y="3742944"/>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The transaction keeps a snapshot</a:t>
            </a:r>
          </a:p>
        </p:txBody>
      </p:sp>
      <p:sp>
        <p:nvSpPr>
          <p:cNvPr id="23" name="TextBox 22"/>
          <p:cNvSpPr txBox="1"/>
          <p:nvPr/>
        </p:nvSpPr>
        <p:spPr>
          <a:xfrm>
            <a:off x="6461607" y="3998976"/>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At calculation time ATLAS stores every code applied, with its expression as it stood.</a:t>
            </a:r>
          </a:p>
        </p:txBody>
      </p:sp>
      <p:sp>
        <p:nvSpPr>
          <p:cNvPr id="24" name="TextBox 23"/>
          <p:cNvSpPr txBox="1"/>
          <p:nvPr/>
        </p:nvSpPr>
        <p:spPr>
          <a:xfrm>
            <a:off x="6461607" y="4907280"/>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A posted run resolves its own snapshot</a:t>
            </a:r>
          </a:p>
        </p:txBody>
      </p:sp>
      <p:sp>
        <p:nvSpPr>
          <p:cNvPr id="25" name="TextBox 24"/>
          <p:cNvSpPr txBox="1"/>
          <p:nvPr/>
        </p:nvSpPr>
        <p:spPr>
          <a:xfrm>
            <a:off x="6461607" y="5163312"/>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Publish version 1.4 tomorrow and the run that used 1.3 still reads, and reproduces,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ANSWER TO PART 1'S OPEN QUESTION</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Every amount now names the version that produced it</a:t>
            </a:r>
          </a:p>
        </p:txBody>
      </p:sp>
      <p:sp>
        <p:nvSpPr>
          <p:cNvPr id="6" name="Rounded Rectangle 5"/>
          <p:cNvSpPr/>
          <p:nvPr/>
        </p:nvSpPr>
        <p:spPr>
          <a:xfrm>
            <a:off x="566928" y="1316736"/>
            <a:ext cx="5469514"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Payroll › Payroll Processing › Transaction › Employee result › How it was computed</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Part 1 ended on a question: if a formula is edited, what happens to the payroll that already ran? A payroll line now records the version it applied, not just the code.</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Source · the posted transaction PR-2025-11-E2E, first employee result.</a:t>
            </a:r>
          </a:p>
        </p:txBody>
      </p:sp>
      <p:pic>
        <p:nvPicPr>
          <p:cNvPr id="9" name="Picture 8" descr="fg-trail-versions.png"/>
          <p:cNvPicPr>
            <a:picLocks noChangeAspect="1"/>
          </p:cNvPicPr>
          <p:nvPr/>
        </p:nvPicPr>
        <p:blipFill>
          <a:blip r:embed="rId2"/>
          <a:stretch>
            <a:fillRect/>
          </a:stretch>
        </p:blipFill>
        <p:spPr>
          <a:xfrm>
            <a:off x="1779144" y="2304288"/>
            <a:ext cx="8633407" cy="2450592"/>
          </a:xfrm>
          <a:prstGeom prst="rect">
            <a:avLst/>
          </a:prstGeom>
        </p:spPr>
      </p:pic>
      <p:sp>
        <p:nvSpPr>
          <p:cNvPr id="10" name="Rounded Rectangle 9"/>
          <p:cNvSpPr/>
          <p:nvPr/>
        </p:nvSpPr>
        <p:spPr>
          <a:xfrm>
            <a:off x="566928"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The code, as before</a:t>
            </a:r>
          </a:p>
        </p:txBody>
      </p:sp>
      <p:sp>
        <p:nvSpPr>
          <p:cNvPr id="13" name="TextBox 12"/>
          <p:cNvSpPr txBox="1"/>
          <p:nvPr/>
        </p:nvSpPr>
        <p:spPr>
          <a:xfrm>
            <a:off x="768096"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governed code the step applied. This is what Part 1 showed, and it has not changed.</a:t>
            </a:r>
          </a:p>
        </p:txBody>
      </p:sp>
      <p:sp>
        <p:nvSpPr>
          <p:cNvPr id="14" name="Rounded Rectangle 13"/>
          <p:cNvSpPr/>
          <p:nvPr/>
        </p:nvSpPr>
        <p:spPr>
          <a:xfrm>
            <a:off x="4298594"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99762"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4874666"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The version, which is new</a:t>
            </a:r>
          </a:p>
        </p:txBody>
      </p:sp>
      <p:sp>
        <p:nvSpPr>
          <p:cNvPr id="17" name="TextBox 16"/>
          <p:cNvSpPr txBox="1"/>
          <p:nvPr/>
        </p:nvSpPr>
        <p:spPr>
          <a:xfrm>
            <a:off x="4499762"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exact published version this line evaluated. Edit the formula tomorrow and this figure still points at the version that produced it.</a:t>
            </a:r>
          </a:p>
        </p:txBody>
      </p:sp>
      <p:sp>
        <p:nvSpPr>
          <p:cNvPr id="18" name="Rounded Rectangle 17"/>
          <p:cNvSpPr/>
          <p:nvPr/>
        </p:nvSpPr>
        <p:spPr>
          <a:xfrm>
            <a:off x="8030260"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231428"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606332"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The amount it produced</a:t>
            </a:r>
          </a:p>
        </p:txBody>
      </p:sp>
      <p:sp>
        <p:nvSpPr>
          <p:cNvPr id="21" name="TextBox 20"/>
          <p:cNvSpPr txBox="1"/>
          <p:nvPr/>
        </p:nvSpPr>
        <p:spPr>
          <a:xfrm>
            <a:off x="8231428"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Because the version travels with the step, the amount stays reproducible from the formula that was in force, not the current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VERSION SNAPSHOT</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A transaction keeps the formulas it was computed with</a:t>
            </a:r>
          </a:p>
        </p:txBody>
      </p:sp>
      <p:sp>
        <p:nvSpPr>
          <p:cNvPr id="6" name="Rounded Rectangle 5"/>
          <p:cNvSpPr/>
          <p:nvPr/>
        </p:nvSpPr>
        <p:spPr>
          <a:xfrm>
            <a:off x="566928" y="1316736"/>
            <a:ext cx="5469514"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Payroll › Payroll Processing › Transaction › Employee result › How it was computed</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When a transaction is calculated, ATLAS stores every code it applied together with that code's expression and version. The transaction then explains itself from its own record.</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Captured at calculation time on PR-2025-11-E2E. Sample amounts throughout.</a:t>
            </a:r>
          </a:p>
        </p:txBody>
      </p:sp>
      <p:pic>
        <p:nvPicPr>
          <p:cNvPr id="9" name="Picture 8" descr="fg-trail-snapshot.png"/>
          <p:cNvPicPr>
            <a:picLocks noChangeAspect="1"/>
          </p:cNvPicPr>
          <p:nvPr/>
        </p:nvPicPr>
        <p:blipFill>
          <a:blip r:embed="rId2"/>
          <a:stretch>
            <a:fillRect/>
          </a:stretch>
        </p:blipFill>
        <p:spPr>
          <a:xfrm>
            <a:off x="566928" y="3165103"/>
            <a:ext cx="5141671" cy="2173714"/>
          </a:xfrm>
          <a:prstGeom prst="rect">
            <a:avLst/>
          </a:prstGeom>
        </p:spPr>
      </p:pic>
      <p:sp>
        <p:nvSpPr>
          <p:cNvPr id="10" name="Rounded Rectangle 9"/>
          <p:cNvSpPr/>
          <p:nvPr/>
        </p:nvSpPr>
        <p:spPr>
          <a:xfrm>
            <a:off x="6001207" y="2304288"/>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202375"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6577279" y="2450592"/>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Every code applied</a:t>
            </a:r>
          </a:p>
        </p:txBody>
      </p:sp>
      <p:sp>
        <p:nvSpPr>
          <p:cNvPr id="13" name="TextBox 12"/>
          <p:cNvSpPr txBox="1"/>
          <p:nvPr/>
        </p:nvSpPr>
        <p:spPr>
          <a:xfrm>
            <a:off x="6202375" y="2706624"/>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One row per computation the run touched, whether it produced an earning, a deduction or a table lookup.</a:t>
            </a:r>
          </a:p>
        </p:txBody>
      </p:sp>
      <p:sp>
        <p:nvSpPr>
          <p:cNvPr id="14" name="Rounded Rectangle 13"/>
          <p:cNvSpPr/>
          <p:nvPr/>
        </p:nvSpPr>
        <p:spPr>
          <a:xfrm>
            <a:off x="8881567" y="2304288"/>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9082735"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9457639" y="2450592"/>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version applied</a:t>
            </a:r>
          </a:p>
        </p:txBody>
      </p:sp>
      <p:sp>
        <p:nvSpPr>
          <p:cNvPr id="17" name="TextBox 16"/>
          <p:cNvSpPr txBox="1"/>
          <p:nvPr/>
        </p:nvSpPr>
        <p:spPr>
          <a:xfrm>
            <a:off x="9082735" y="2706624"/>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Captured at calculation time. Publishing a new version later does not reach back into this transaction.</a:t>
            </a:r>
          </a:p>
        </p:txBody>
      </p:sp>
      <p:sp>
        <p:nvSpPr>
          <p:cNvPr id="18" name="Rounded Rectangle 17"/>
          <p:cNvSpPr/>
          <p:nvPr/>
        </p:nvSpPr>
        <p:spPr>
          <a:xfrm>
            <a:off x="6001207" y="3648456"/>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202375"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577279" y="3794760"/>
            <a:ext cx="1965960" cy="67665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date it was effective from</a:t>
            </a:r>
          </a:p>
        </p:txBody>
      </p:sp>
      <p:sp>
        <p:nvSpPr>
          <p:cNvPr id="21" name="TextBox 20"/>
          <p:cNvSpPr txBox="1"/>
          <p:nvPr/>
        </p:nvSpPr>
        <p:spPr>
          <a:xfrm>
            <a:off x="6202375" y="4325112"/>
            <a:ext cx="2340864" cy="429768"/>
          </a:xfrm>
          <a:prstGeom prst="rect">
            <a:avLst/>
          </a:prstGeom>
          <a:noFill/>
        </p:spPr>
        <p:txBody>
          <a:bodyPr wrap="square" anchor="t" lIns="0" rIns="0" tIns="0" bIns="0">
            <a:spAutoFit/>
          </a:bodyPr>
          <a:lstStyle/>
          <a:p>
            <a:pPr algn="l">
              <a:lnSpc>
                <a:spcPct val="126000"/>
              </a:lnSpc>
              <a:spcBef>
                <a:spcPts val="0"/>
              </a:spcBef>
              <a:spcAft>
                <a:spcPts val="0"/>
              </a:spcAft>
            </a:pPr>
            <a:r>
              <a:rPr sz="880" b="0" i="0">
                <a:solidFill>
                  <a:srgbClr val="6B6675"/>
                </a:solidFill>
                <a:latin typeface="Segoe UI"/>
              </a:rPr>
              <a:t>Shows which dated version was in force on the payout date, so the choice can be checked rather than assumed.</a:t>
            </a:r>
          </a:p>
        </p:txBody>
      </p:sp>
      <p:sp>
        <p:nvSpPr>
          <p:cNvPr id="22" name="Rounded Rectangle 21"/>
          <p:cNvSpPr/>
          <p:nvPr/>
        </p:nvSpPr>
        <p:spPr>
          <a:xfrm>
            <a:off x="8881567" y="3648456"/>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9082735"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457639" y="3794760"/>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Who owns the formula</a:t>
            </a:r>
          </a:p>
        </p:txBody>
      </p:sp>
      <p:sp>
        <p:nvSpPr>
          <p:cNvPr id="25" name="TextBox 24"/>
          <p:cNvSpPr txBox="1"/>
          <p:nvPr/>
        </p:nvSpPr>
        <p:spPr>
          <a:xfrm>
            <a:off x="9082735" y="4050792"/>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Separates the Atlas standards from anything the company defined itself, which decides who a change has to go through.</a:t>
            </a:r>
          </a:p>
        </p:txBody>
      </p:sp>
      <p:sp>
        <p:nvSpPr>
          <p:cNvPr id="26" name="Rounded Rectangle 25"/>
          <p:cNvSpPr/>
          <p:nvPr/>
        </p:nvSpPr>
        <p:spPr>
          <a:xfrm>
            <a:off x="6001207" y="4992624"/>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202375" y="51297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5</a:t>
            </a:r>
          </a:p>
        </p:txBody>
      </p:sp>
      <p:sp>
        <p:nvSpPr>
          <p:cNvPr id="28" name="TextBox 27"/>
          <p:cNvSpPr txBox="1"/>
          <p:nvPr/>
        </p:nvSpPr>
        <p:spPr>
          <a:xfrm>
            <a:off x="6577279" y="5138928"/>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expression as applied</a:t>
            </a:r>
          </a:p>
        </p:txBody>
      </p:sp>
      <p:sp>
        <p:nvSpPr>
          <p:cNvPr id="29" name="TextBox 28"/>
          <p:cNvSpPr txBox="1"/>
          <p:nvPr/>
        </p:nvSpPr>
        <p:spPr>
          <a:xfrm>
            <a:off x="6202375" y="5394960"/>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The arithmetic exactly as it stood when the run was calculated. This is the line to read out when someone asks how the figure arose.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07</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What can no longer be deleted</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Once a posted payroll has used a computation, the actions available on it change.</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register</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reasons</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rules</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DELETE PROTECTION</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The register now shows what payroll has already used</a:t>
            </a:r>
          </a:p>
        </p:txBody>
      </p:sp>
      <p:sp>
        <p:nvSpPr>
          <p:cNvPr id="6" name="Rounded Rectangle 5"/>
          <p:cNvSpPr/>
          <p:nvPr/>
        </p:nvSpPr>
        <p:spPr>
          <a:xfrm>
            <a:off x="566928" y="1316736"/>
            <a:ext cx="656836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A computation that has been through a payroll run stays fixed for the runs that used it. The register names those codes before anyone opens one.</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Every basic-pay code shown was applied by PR-2025-11-E2E, which is why each one is protected.</a:t>
            </a:r>
          </a:p>
        </p:txBody>
      </p:sp>
      <p:pic>
        <p:nvPicPr>
          <p:cNvPr id="9" name="Picture 8" descr="fg-usage.png"/>
          <p:cNvPicPr>
            <a:picLocks noChangeAspect="1"/>
          </p:cNvPicPr>
          <p:nvPr/>
        </p:nvPicPr>
        <p:blipFill>
          <a:blip r:embed="rId2"/>
          <a:stretch>
            <a:fillRect/>
          </a:stretch>
        </p:blipFill>
        <p:spPr>
          <a:xfrm>
            <a:off x="2443748" y="2304288"/>
            <a:ext cx="7304198" cy="2395728"/>
          </a:xfrm>
          <a:prstGeom prst="rect">
            <a:avLst/>
          </a:prstGeom>
        </p:spPr>
      </p:pic>
      <p:sp>
        <p:nvSpPr>
          <p:cNvPr id="10" name="Rounded Rectangle 9"/>
          <p:cNvSpPr/>
          <p:nvPr/>
        </p:nvSpPr>
        <p:spPr>
          <a:xfrm>
            <a:off x="566928"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Payroll usage</a:t>
            </a:r>
          </a:p>
        </p:txBody>
      </p:sp>
      <p:sp>
        <p:nvSpPr>
          <p:cNvPr id="13" name="TextBox 12"/>
          <p:cNvSpPr txBox="1"/>
          <p:nvPr/>
        </p:nvSpPr>
        <p:spPr>
          <a:xfrm>
            <a:off x="768096"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How many transactions have applied this code, and how many of those were posted. Hover a chip to see the transaction numbers.</a:t>
            </a:r>
          </a:p>
        </p:txBody>
      </p:sp>
      <p:sp>
        <p:nvSpPr>
          <p:cNvPr id="14" name="Rounded Rectangle 13"/>
          <p:cNvSpPr/>
          <p:nvPr/>
        </p:nvSpPr>
        <p:spPr>
          <a:xfrm>
            <a:off x="3365677"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3566845"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3941749"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Status</a:t>
            </a:r>
          </a:p>
        </p:txBody>
      </p:sp>
      <p:sp>
        <p:nvSpPr>
          <p:cNvPr id="17" name="TextBox 16"/>
          <p:cNvSpPr txBox="1"/>
          <p:nvPr/>
        </p:nvSpPr>
        <p:spPr>
          <a:xfrm>
            <a:off x="3566845"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Active means payroll may select it now. Inactive keeps it available to explain earlier payrolls without offering it for new work.</a:t>
            </a:r>
          </a:p>
        </p:txBody>
      </p:sp>
      <p:sp>
        <p:nvSpPr>
          <p:cNvPr id="18" name="Rounded Rectangle 17"/>
          <p:cNvSpPr/>
          <p:nvPr/>
        </p:nvSpPr>
        <p:spPr>
          <a:xfrm>
            <a:off x="6164426"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365594"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740498"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What the row offers</a:t>
            </a:r>
          </a:p>
        </p:txBody>
      </p:sp>
      <p:sp>
        <p:nvSpPr>
          <p:cNvPr id="21" name="TextBox 20"/>
          <p:cNvSpPr txBox="1"/>
          <p:nvPr/>
        </p:nvSpPr>
        <p:spPr>
          <a:xfrm>
            <a:off x="6365594"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View and activate stay available. Edit is replaced by a lock, and deactivate is greyed, because a posted transaction depends on this code.</a:t>
            </a:r>
          </a:p>
        </p:txBody>
      </p:sp>
      <p:sp>
        <p:nvSpPr>
          <p:cNvPr id="22" name="Rounded Rectangle 21"/>
          <p:cNvSpPr/>
          <p:nvPr/>
        </p:nvSpPr>
        <p:spPr>
          <a:xfrm>
            <a:off x="8963175"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9164343"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539247"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Where it is maintained</a:t>
            </a:r>
          </a:p>
        </p:txBody>
      </p:sp>
      <p:sp>
        <p:nvSpPr>
          <p:cNvPr id="25" name="TextBox 24"/>
          <p:cNvSpPr txBox="1"/>
          <p:nvPr/>
        </p:nvSpPr>
        <p:spPr>
          <a:xfrm>
            <a:off x="9164343"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An Atlas standard is defined centrally and reaches this company by applicability. A company rule is maintained here.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DELETE PROTECTION</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The record says which transactions hold it, and why</a:t>
            </a:r>
          </a:p>
        </p:txBody>
      </p:sp>
      <p:sp>
        <p:nvSpPr>
          <p:cNvPr id="6" name="Rounded Rectangle 5"/>
          <p:cNvSpPr/>
          <p:nvPr/>
        </p:nvSpPr>
        <p:spPr>
          <a:xfrm>
            <a:off x="566928" y="1316736"/>
            <a:ext cx="69811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View</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Opening a computation gives the reviewer the evidence behind the lock, in the same words the tooltip uses, so a refusal never has to be taken on trust.</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Delete protection now checks payroll history, not only whether an assignment exists.</a:t>
            </a:r>
          </a:p>
        </p:txBody>
      </p:sp>
      <p:pic>
        <p:nvPicPr>
          <p:cNvPr id="9" name="Picture 8" descr="fg-protected.png"/>
          <p:cNvPicPr>
            <a:picLocks noChangeAspect="1"/>
          </p:cNvPicPr>
          <p:nvPr/>
        </p:nvPicPr>
        <p:blipFill>
          <a:blip r:embed="rId2"/>
          <a:stretch>
            <a:fillRect/>
          </a:stretch>
        </p:blipFill>
        <p:spPr>
          <a:xfrm>
            <a:off x="566928" y="2932460"/>
            <a:ext cx="6675120" cy="2639000"/>
          </a:xfrm>
          <a:prstGeom prst="rect">
            <a:avLst/>
          </a:prstGeom>
        </p:spPr>
      </p:pic>
      <p:sp>
        <p:nvSpPr>
          <p:cNvPr id="10" name="Rounded Rectangle 9"/>
          <p:cNvSpPr/>
          <p:nvPr/>
        </p:nvSpPr>
        <p:spPr>
          <a:xfrm>
            <a:off x="7534656" y="2304288"/>
            <a:ext cx="4090111"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735824"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8110728" y="2450592"/>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Payroll usage</a:t>
            </a:r>
          </a:p>
        </p:txBody>
      </p:sp>
      <p:sp>
        <p:nvSpPr>
          <p:cNvPr id="13" name="TextBox 12"/>
          <p:cNvSpPr txBox="1"/>
          <p:nvPr/>
        </p:nvSpPr>
        <p:spPr>
          <a:xfrm>
            <a:off x="7735824" y="2706624"/>
            <a:ext cx="3687775"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The transactions that applied this code, with the period and the status of each.</a:t>
            </a:r>
          </a:p>
        </p:txBody>
      </p:sp>
      <p:sp>
        <p:nvSpPr>
          <p:cNvPr id="14" name="Rounded Rectangle 13"/>
          <p:cNvSpPr/>
          <p:nvPr/>
        </p:nvSpPr>
        <p:spPr>
          <a:xfrm>
            <a:off x="7534656" y="3648456"/>
            <a:ext cx="4090111"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735824"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8110728" y="3794760"/>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Version used</a:t>
            </a:r>
          </a:p>
        </p:txBody>
      </p:sp>
      <p:sp>
        <p:nvSpPr>
          <p:cNvPr id="17" name="TextBox 16"/>
          <p:cNvSpPr txBox="1"/>
          <p:nvPr/>
        </p:nvSpPr>
        <p:spPr>
          <a:xfrm>
            <a:off x="7735824" y="4050792"/>
            <a:ext cx="3687775"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The version that transaction ran on. Read across the row to see which formula produced the amounts in it.</a:t>
            </a:r>
          </a:p>
        </p:txBody>
      </p:sp>
      <p:sp>
        <p:nvSpPr>
          <p:cNvPr id="18" name="Rounded Rectangle 17"/>
          <p:cNvSpPr/>
          <p:nvPr/>
        </p:nvSpPr>
        <p:spPr>
          <a:xfrm>
            <a:off x="7534656" y="4992624"/>
            <a:ext cx="4090111"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7735824" y="51297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110728" y="5138928"/>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What is protected</a:t>
            </a:r>
          </a:p>
        </p:txBody>
      </p:sp>
      <p:sp>
        <p:nvSpPr>
          <p:cNvPr id="21" name="TextBox 20"/>
          <p:cNvSpPr txBox="1"/>
          <p:nvPr/>
        </p:nvSpPr>
        <p:spPr>
          <a:xfrm>
            <a:off x="7735824" y="5394960"/>
            <a:ext cx="3687775"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Each restriction with its reason and the transaction that causes it. When nothing has used the code, this section does not appear at all.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RULES</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What may be edited, and what may be deleted</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same rule applies to a Client Admin and a Super Admin. What decides it is payroll history, not the role.</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Deactivation is stricter than deletion on purpose: it stops a code mid-cycle.</a:t>
            </a:r>
          </a:p>
        </p:txBody>
      </p:sp>
      <p:sp>
        <p:nvSpPr>
          <p:cNvPr id="8" name="Rounded Rectangle 7"/>
          <p:cNvSpPr/>
          <p:nvPr/>
        </p:nvSpPr>
        <p:spPr>
          <a:xfrm>
            <a:off x="566928" y="1883664"/>
            <a:ext cx="11057839" cy="402336"/>
          </a:xfrm>
          <a:prstGeom prst="roundRect">
            <a:avLst>
              <a:gd name="adj" fmla="val 4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31520" y="1984248"/>
            <a:ext cx="2600718"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THE COMPUTATION</a:t>
            </a:r>
          </a:p>
        </p:txBody>
      </p:sp>
      <p:sp>
        <p:nvSpPr>
          <p:cNvPr id="10" name="TextBox 9"/>
          <p:cNvSpPr txBox="1"/>
          <p:nvPr/>
        </p:nvSpPr>
        <p:spPr>
          <a:xfrm>
            <a:off x="3606558" y="1984248"/>
            <a:ext cx="1826669"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CAN BE EDITED</a:t>
            </a:r>
          </a:p>
        </p:txBody>
      </p:sp>
      <p:sp>
        <p:nvSpPr>
          <p:cNvPr id="11" name="TextBox 10"/>
          <p:cNvSpPr txBox="1"/>
          <p:nvPr/>
        </p:nvSpPr>
        <p:spPr>
          <a:xfrm>
            <a:off x="5707547" y="1984248"/>
            <a:ext cx="1826669"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CAN BE DELETED</a:t>
            </a:r>
          </a:p>
        </p:txBody>
      </p:sp>
      <p:sp>
        <p:nvSpPr>
          <p:cNvPr id="12" name="TextBox 11"/>
          <p:cNvSpPr txBox="1"/>
          <p:nvPr/>
        </p:nvSpPr>
        <p:spPr>
          <a:xfrm>
            <a:off x="7808536" y="1984248"/>
            <a:ext cx="3706502"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WHY</a:t>
            </a:r>
          </a:p>
        </p:txBody>
      </p:sp>
      <p:sp>
        <p:nvSpPr>
          <p:cNvPr id="13" name="Rounded Rectangle 12"/>
          <p:cNvSpPr/>
          <p:nvPr/>
        </p:nvSpPr>
        <p:spPr>
          <a:xfrm>
            <a:off x="566928" y="2377440"/>
            <a:ext cx="11057839" cy="573024"/>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31520" y="2496312"/>
            <a:ext cx="2582430" cy="353568"/>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Atlas standard, in a company</a:t>
            </a:r>
          </a:p>
        </p:txBody>
      </p:sp>
      <p:sp>
        <p:nvSpPr>
          <p:cNvPr id="15" name="TextBox 14"/>
          <p:cNvSpPr txBox="1"/>
          <p:nvPr/>
        </p:nvSpPr>
        <p:spPr>
          <a:xfrm>
            <a:off x="3606558" y="2496312"/>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Activate or deactivate only</a:t>
            </a:r>
          </a:p>
        </p:txBody>
      </p:sp>
      <p:sp>
        <p:nvSpPr>
          <p:cNvPr id="16" name="TextBox 15"/>
          <p:cNvSpPr txBox="1"/>
          <p:nvPr/>
        </p:nvSpPr>
        <p:spPr>
          <a:xfrm>
            <a:off x="5707547" y="2496312"/>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Never</a:t>
            </a:r>
          </a:p>
        </p:txBody>
      </p:sp>
      <p:sp>
        <p:nvSpPr>
          <p:cNvPr id="17" name="TextBox 16"/>
          <p:cNvSpPr txBox="1"/>
          <p:nvPr/>
        </p:nvSpPr>
        <p:spPr>
          <a:xfrm>
            <a:off x="7808536" y="2496312"/>
            <a:ext cx="3688214" cy="35356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Formula changes belong to Settings. The company decides whether the standard applies and whether it is on.</a:t>
            </a:r>
          </a:p>
        </p:txBody>
      </p:sp>
      <p:sp>
        <p:nvSpPr>
          <p:cNvPr id="18" name="Rounded Rectangle 17"/>
          <p:cNvSpPr/>
          <p:nvPr/>
        </p:nvSpPr>
        <p:spPr>
          <a:xfrm>
            <a:off x="566928" y="3023616"/>
            <a:ext cx="11057839" cy="573024"/>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31520" y="3142488"/>
            <a:ext cx="2582430" cy="353568"/>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Atlas standard, in Settings</a:t>
            </a:r>
          </a:p>
        </p:txBody>
      </p:sp>
      <p:sp>
        <p:nvSpPr>
          <p:cNvPr id="20" name="TextBox 19"/>
          <p:cNvSpPr txBox="1"/>
          <p:nvPr/>
        </p:nvSpPr>
        <p:spPr>
          <a:xfrm>
            <a:off x="3606558" y="3142488"/>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While no posted transaction has used it</a:t>
            </a:r>
          </a:p>
        </p:txBody>
      </p:sp>
      <p:sp>
        <p:nvSpPr>
          <p:cNvPr id="21" name="TextBox 20"/>
          <p:cNvSpPr txBox="1"/>
          <p:nvPr/>
        </p:nvSpPr>
        <p:spPr>
          <a:xfrm>
            <a:off x="5707547" y="3142488"/>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While no posted transaction has used it</a:t>
            </a:r>
          </a:p>
        </p:txBody>
      </p:sp>
      <p:sp>
        <p:nvSpPr>
          <p:cNvPr id="22" name="TextBox 21"/>
          <p:cNvSpPr txBox="1"/>
          <p:nvPr/>
        </p:nvSpPr>
        <p:spPr>
          <a:xfrm>
            <a:off x="7808536" y="3142488"/>
            <a:ext cx="3688214" cy="35356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One central definition. Once payroll has applied it, publish a new version instead.</a:t>
            </a:r>
          </a:p>
        </p:txBody>
      </p:sp>
      <p:sp>
        <p:nvSpPr>
          <p:cNvPr id="23" name="Rounded Rectangle 22"/>
          <p:cNvSpPr/>
          <p:nvPr/>
        </p:nvSpPr>
        <p:spPr>
          <a:xfrm>
            <a:off x="566928" y="3669792"/>
            <a:ext cx="11057839" cy="573024"/>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31520" y="3788664"/>
            <a:ext cx="2582430" cy="353568"/>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Company-defined, unused</a:t>
            </a:r>
          </a:p>
        </p:txBody>
      </p:sp>
      <p:sp>
        <p:nvSpPr>
          <p:cNvPr id="25" name="TextBox 24"/>
          <p:cNvSpPr txBox="1"/>
          <p:nvPr/>
        </p:nvSpPr>
        <p:spPr>
          <a:xfrm>
            <a:off x="3606558" y="3788664"/>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Yes</a:t>
            </a:r>
          </a:p>
        </p:txBody>
      </p:sp>
      <p:sp>
        <p:nvSpPr>
          <p:cNvPr id="26" name="TextBox 25"/>
          <p:cNvSpPr txBox="1"/>
          <p:nvPr/>
        </p:nvSpPr>
        <p:spPr>
          <a:xfrm>
            <a:off x="5707547" y="3788664"/>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Yes</a:t>
            </a:r>
          </a:p>
        </p:txBody>
      </p:sp>
      <p:sp>
        <p:nvSpPr>
          <p:cNvPr id="27" name="TextBox 26"/>
          <p:cNvSpPr txBox="1"/>
          <p:nvPr/>
        </p:nvSpPr>
        <p:spPr>
          <a:xfrm>
            <a:off x="7808536" y="3788664"/>
            <a:ext cx="3688214" cy="35356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Nothing depends on it yet, so it can be corrected or removed outright.</a:t>
            </a:r>
          </a:p>
        </p:txBody>
      </p:sp>
      <p:sp>
        <p:nvSpPr>
          <p:cNvPr id="28" name="Rounded Rectangle 27"/>
          <p:cNvSpPr/>
          <p:nvPr/>
        </p:nvSpPr>
        <p:spPr>
          <a:xfrm>
            <a:off x="566928" y="4315968"/>
            <a:ext cx="11057839" cy="573024"/>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31520" y="4434840"/>
            <a:ext cx="2582430" cy="353568"/>
          </a:xfrm>
          <a:prstGeom prst="rect">
            <a:avLst/>
          </a:prstGeom>
          <a:noFill/>
        </p:spPr>
        <p:txBody>
          <a:bodyPr wrap="square" anchor="t" lIns="0" rIns="0" tIns="0" bIns="0">
            <a:spAutoFit/>
          </a:bodyPr>
          <a:lstStyle/>
          <a:p>
            <a:pPr algn="l">
              <a:lnSpc>
                <a:spcPct val="130000"/>
              </a:lnSpc>
              <a:spcBef>
                <a:spcPts val="0"/>
              </a:spcBef>
              <a:spcAft>
                <a:spcPts val="0"/>
              </a:spcAft>
            </a:pPr>
            <a:r>
              <a:rPr sz="1019" b="1" i="0">
                <a:solidFill>
                  <a:srgbClr val="241243"/>
                </a:solidFill>
                <a:latin typeface="Segoe UI Semibold"/>
              </a:rPr>
              <a:t>Company-defined, used by a posted payroll</a:t>
            </a:r>
          </a:p>
        </p:txBody>
      </p:sp>
      <p:sp>
        <p:nvSpPr>
          <p:cNvPr id="30" name="TextBox 29"/>
          <p:cNvSpPr txBox="1"/>
          <p:nvPr/>
        </p:nvSpPr>
        <p:spPr>
          <a:xfrm>
            <a:off x="3606558" y="4434840"/>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No — publish a new version</a:t>
            </a:r>
          </a:p>
        </p:txBody>
      </p:sp>
      <p:sp>
        <p:nvSpPr>
          <p:cNvPr id="31" name="TextBox 30"/>
          <p:cNvSpPr txBox="1"/>
          <p:nvPr/>
        </p:nvSpPr>
        <p:spPr>
          <a:xfrm>
            <a:off x="5707547" y="4434840"/>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No — set it Inactive</a:t>
            </a:r>
          </a:p>
        </p:txBody>
      </p:sp>
      <p:sp>
        <p:nvSpPr>
          <p:cNvPr id="32" name="TextBox 31"/>
          <p:cNvSpPr txBox="1"/>
          <p:nvPr/>
        </p:nvSpPr>
        <p:spPr>
          <a:xfrm>
            <a:off x="7808536" y="4434840"/>
            <a:ext cx="3688214" cy="35356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The historical transaction must keep resolving the version it ran on.</a:t>
            </a:r>
          </a:p>
        </p:txBody>
      </p:sp>
      <p:sp>
        <p:nvSpPr>
          <p:cNvPr id="33" name="Rounded Rectangle 32"/>
          <p:cNvSpPr/>
          <p:nvPr/>
        </p:nvSpPr>
        <p:spPr>
          <a:xfrm>
            <a:off x="566928" y="4962144"/>
            <a:ext cx="11057839" cy="573024"/>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31520" y="5081016"/>
            <a:ext cx="2582430" cy="353568"/>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Anything linked to an open transaction</a:t>
            </a:r>
          </a:p>
        </p:txBody>
      </p:sp>
      <p:sp>
        <p:nvSpPr>
          <p:cNvPr id="35" name="TextBox 34"/>
          <p:cNvSpPr txBox="1"/>
          <p:nvPr/>
        </p:nvSpPr>
        <p:spPr>
          <a:xfrm>
            <a:off x="3606558" y="5081016"/>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Yes</a:t>
            </a:r>
          </a:p>
        </p:txBody>
      </p:sp>
      <p:sp>
        <p:nvSpPr>
          <p:cNvPr id="36" name="TextBox 35"/>
          <p:cNvSpPr txBox="1"/>
          <p:nvPr/>
        </p:nvSpPr>
        <p:spPr>
          <a:xfrm>
            <a:off x="5707547" y="5081016"/>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No</a:t>
            </a:r>
          </a:p>
        </p:txBody>
      </p:sp>
      <p:sp>
        <p:nvSpPr>
          <p:cNvPr id="37" name="TextBox 36"/>
          <p:cNvSpPr txBox="1"/>
          <p:nvPr/>
        </p:nvSpPr>
        <p:spPr>
          <a:xfrm>
            <a:off x="7808536" y="5081016"/>
            <a:ext cx="3688214" cy="35356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Deactivation is refused while any non-cancelled transaction references the code.</a:t>
            </a:r>
          </a:p>
        </p:txBody>
      </p:sp>
      <p:sp>
        <p:nvSpPr>
          <p:cNvPr id="38" name="Rounded Rectangle 37"/>
          <p:cNvSpPr/>
          <p:nvPr/>
        </p:nvSpPr>
        <p:spPr>
          <a:xfrm>
            <a:off x="566928" y="5608320"/>
            <a:ext cx="11057839" cy="573024"/>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31520" y="5727192"/>
            <a:ext cx="2582430" cy="353568"/>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Anything with published version history</a:t>
            </a:r>
          </a:p>
        </p:txBody>
      </p:sp>
      <p:sp>
        <p:nvSpPr>
          <p:cNvPr id="40" name="TextBox 39"/>
          <p:cNvSpPr txBox="1"/>
          <p:nvPr/>
        </p:nvSpPr>
        <p:spPr>
          <a:xfrm>
            <a:off x="3606558" y="5727192"/>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Yes</a:t>
            </a:r>
          </a:p>
        </p:txBody>
      </p:sp>
      <p:sp>
        <p:nvSpPr>
          <p:cNvPr id="41" name="TextBox 40"/>
          <p:cNvSpPr txBox="1"/>
          <p:nvPr/>
        </p:nvSpPr>
        <p:spPr>
          <a:xfrm>
            <a:off x="5707547" y="5727192"/>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No</a:t>
            </a:r>
          </a:p>
        </p:txBody>
      </p:sp>
      <p:sp>
        <p:nvSpPr>
          <p:cNvPr id="42" name="TextBox 41"/>
          <p:cNvSpPr txBox="1"/>
          <p:nvPr/>
        </p:nvSpPr>
        <p:spPr>
          <a:xfrm>
            <a:off x="7808536" y="5727192"/>
            <a:ext cx="3688214" cy="35356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Earlier payrolls resolve against those versions, so the code is retired rather than deleted.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08</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One standard, applied per company</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How a standard formula reaches many companies without any of them holding a copy.</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central library</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Applicability</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model</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ONE STANDARD, APPLIED PER COMPANY</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An Atlas standard is defined once, in Settings</a:t>
            </a:r>
          </a:p>
        </p:txBody>
      </p:sp>
      <p:sp>
        <p:nvSpPr>
          <p:cNvPr id="6" name="Rounded Rectangle 5"/>
          <p:cNvSpPr/>
          <p:nvPr/>
        </p:nvSpPr>
        <p:spPr>
          <a:xfrm>
            <a:off x="566928" y="1316736"/>
            <a:ext cx="40601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Settings › Standard Computation Library › P&amp;A Admin view</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A standard formula exists in exactly one place. A company does not receive a copy of it — it receives a decision about whether the standard applies there.</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P&amp;A Admin view, filtered to the rate formulas. Client Admins see this library read-only.</a:t>
            </a:r>
          </a:p>
        </p:txBody>
      </p:sp>
      <p:pic>
        <p:nvPicPr>
          <p:cNvPr id="9" name="Picture 8" descr="fg-std-library.png"/>
          <p:cNvPicPr>
            <a:picLocks noChangeAspect="1"/>
          </p:cNvPicPr>
          <p:nvPr/>
        </p:nvPicPr>
        <p:blipFill>
          <a:blip r:embed="rId2"/>
          <a:stretch>
            <a:fillRect/>
          </a:stretch>
        </p:blipFill>
        <p:spPr>
          <a:xfrm>
            <a:off x="1446652" y="2304288"/>
            <a:ext cx="9298390" cy="2450592"/>
          </a:xfrm>
          <a:prstGeom prst="rect">
            <a:avLst/>
          </a:prstGeom>
        </p:spPr>
      </p:pic>
      <p:sp>
        <p:nvSpPr>
          <p:cNvPr id="10" name="Rounded Rectangle 9"/>
          <p:cNvSpPr/>
          <p:nvPr/>
        </p:nvSpPr>
        <p:spPr>
          <a:xfrm>
            <a:off x="566928" y="5010912"/>
            <a:ext cx="2661589"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57216"/>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Companies</a:t>
            </a:r>
          </a:p>
        </p:txBody>
      </p:sp>
      <p:sp>
        <p:nvSpPr>
          <p:cNvPr id="13" name="TextBox 12"/>
          <p:cNvSpPr txBox="1"/>
          <p:nvPr/>
        </p:nvSpPr>
        <p:spPr>
          <a:xfrm>
            <a:off x="768096" y="5413248"/>
            <a:ext cx="2259253"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How many companies this standard is applied to. Opening it gives the per-company view on the next page.</a:t>
            </a:r>
          </a:p>
        </p:txBody>
      </p:sp>
      <p:sp>
        <p:nvSpPr>
          <p:cNvPr id="14" name="Rounded Rectangle 13"/>
          <p:cNvSpPr/>
          <p:nvPr/>
        </p:nvSpPr>
        <p:spPr>
          <a:xfrm>
            <a:off x="3365677" y="5010912"/>
            <a:ext cx="2661589"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3566845"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3941749" y="5157216"/>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Payroll usage</a:t>
            </a:r>
          </a:p>
        </p:txBody>
      </p:sp>
      <p:sp>
        <p:nvSpPr>
          <p:cNvPr id="17" name="TextBox 16"/>
          <p:cNvSpPr txBox="1"/>
          <p:nvPr/>
        </p:nvSpPr>
        <p:spPr>
          <a:xfrm>
            <a:off x="3566845" y="5413248"/>
            <a:ext cx="2259253"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Aggregated across every company, because one edit here would reach all of them.</a:t>
            </a:r>
          </a:p>
        </p:txBody>
      </p:sp>
      <p:sp>
        <p:nvSpPr>
          <p:cNvPr id="18" name="Rounded Rectangle 17"/>
          <p:cNvSpPr/>
          <p:nvPr/>
        </p:nvSpPr>
        <p:spPr>
          <a:xfrm>
            <a:off x="6164426" y="5010912"/>
            <a:ext cx="2661589"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365594"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740498" y="5157216"/>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A standard payroll has used</a:t>
            </a:r>
          </a:p>
        </p:txBody>
      </p:sp>
      <p:sp>
        <p:nvSpPr>
          <p:cNvPr id="21" name="TextBox 20"/>
          <p:cNvSpPr txBox="1"/>
          <p:nvPr/>
        </p:nvSpPr>
        <p:spPr>
          <a:xfrm>
            <a:off x="6365594" y="5413248"/>
            <a:ext cx="2259253"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Edit and delete close once a posted transaction has applied the code — for a Super Admin as much as anyone.</a:t>
            </a:r>
          </a:p>
        </p:txBody>
      </p:sp>
      <p:sp>
        <p:nvSpPr>
          <p:cNvPr id="22" name="Rounded Rectangle 21"/>
          <p:cNvSpPr/>
          <p:nvPr/>
        </p:nvSpPr>
        <p:spPr>
          <a:xfrm>
            <a:off x="8963175" y="5010912"/>
            <a:ext cx="2661589"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9164343"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539247" y="5157216"/>
            <a:ext cx="1884349" cy="67665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A standard payroll has not used</a:t>
            </a:r>
          </a:p>
        </p:txBody>
      </p:sp>
      <p:sp>
        <p:nvSpPr>
          <p:cNvPr id="25" name="TextBox 24"/>
          <p:cNvSpPr txBox="1"/>
          <p:nvPr/>
        </p:nvSpPr>
        <p:spPr>
          <a:xfrm>
            <a:off x="9164343" y="5687568"/>
            <a:ext cx="2259253" cy="411480"/>
          </a:xfrm>
          <a:prstGeom prst="rect">
            <a:avLst/>
          </a:prstGeom>
          <a:noFill/>
        </p:spPr>
        <p:txBody>
          <a:bodyPr wrap="square" anchor="t" lIns="0" rIns="0" tIns="0" bIns="0">
            <a:spAutoFit/>
          </a:bodyPr>
          <a:lstStyle/>
          <a:p>
            <a:pPr algn="l">
              <a:lnSpc>
                <a:spcPct val="126000"/>
              </a:lnSpc>
              <a:spcBef>
                <a:spcPts val="0"/>
              </a:spcBef>
              <a:spcAft>
                <a:spcPts val="0"/>
              </a:spcAft>
            </a:pPr>
            <a:r>
              <a:rPr sz="850" b="0" i="0">
                <a:solidFill>
                  <a:srgbClr val="6B6675"/>
                </a:solidFill>
                <a:latin typeface="Segoe UI"/>
              </a:rPr>
              <a:t>Holiday premium, on the same screen, stays fully maintainable. The rule is payroll history, not the role signed 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ONE STANDARD, APPLIED PER COMPANY</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Choosing which companies a standard applies to</a:t>
            </a:r>
          </a:p>
        </p:txBody>
      </p:sp>
      <p:sp>
        <p:nvSpPr>
          <p:cNvPr id="6" name="Rounded Rectangle 5"/>
          <p:cNvSpPr/>
          <p:nvPr/>
        </p:nvSpPr>
        <p:spPr>
          <a:xfrm>
            <a:off x="566928" y="1316736"/>
            <a:ext cx="37172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Settings › Standard Computation Library › Companies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This is the company-assignment model in one screen: select the companies, and each one then activates or deactivates the standard in its own Computational Basis.</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Demonstration companies. Applicability is stored per code, per company.</a:t>
            </a:r>
          </a:p>
        </p:txBody>
      </p:sp>
      <p:pic>
        <p:nvPicPr>
          <p:cNvPr id="9" name="Picture 8" descr="fg-applicability.png"/>
          <p:cNvPicPr>
            <a:picLocks noChangeAspect="1"/>
          </p:cNvPicPr>
          <p:nvPr/>
        </p:nvPicPr>
        <p:blipFill>
          <a:blip r:embed="rId2"/>
          <a:stretch>
            <a:fillRect/>
          </a:stretch>
        </p:blipFill>
        <p:spPr>
          <a:xfrm>
            <a:off x="566928" y="2304288"/>
            <a:ext cx="4865987" cy="3895343"/>
          </a:xfrm>
          <a:prstGeom prst="rect">
            <a:avLst/>
          </a:prstGeom>
        </p:spPr>
      </p:pic>
      <p:sp>
        <p:nvSpPr>
          <p:cNvPr id="10" name="Rounded Rectangle 9"/>
          <p:cNvSpPr/>
          <p:nvPr/>
        </p:nvSpPr>
        <p:spPr>
          <a:xfrm>
            <a:off x="5725523" y="2304288"/>
            <a:ext cx="2881042"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5926691"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6301595" y="2450592"/>
            <a:ext cx="2103802"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Apply, or withdraw</a:t>
            </a:r>
          </a:p>
        </p:txBody>
      </p:sp>
      <p:sp>
        <p:nvSpPr>
          <p:cNvPr id="13" name="TextBox 12"/>
          <p:cNvSpPr txBox="1"/>
          <p:nvPr/>
        </p:nvSpPr>
        <p:spPr>
          <a:xfrm>
            <a:off x="5926691" y="2706624"/>
            <a:ext cx="2478706"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Apply to every company is the usual setup case. Withdraw where unused skips any company whose payroll depends on the code.</a:t>
            </a:r>
          </a:p>
        </p:txBody>
      </p:sp>
      <p:sp>
        <p:nvSpPr>
          <p:cNvPr id="14" name="Rounded Rectangle 13"/>
          <p:cNvSpPr/>
          <p:nvPr/>
        </p:nvSpPr>
        <p:spPr>
          <a:xfrm>
            <a:off x="8743725" y="2304288"/>
            <a:ext cx="2881042"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8944893"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9319797" y="2450592"/>
            <a:ext cx="2103802"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companies on the platform</a:t>
            </a:r>
          </a:p>
        </p:txBody>
      </p:sp>
      <p:sp>
        <p:nvSpPr>
          <p:cNvPr id="17" name="TextBox 16"/>
          <p:cNvSpPr txBox="1"/>
          <p:nvPr/>
        </p:nvSpPr>
        <p:spPr>
          <a:xfrm>
            <a:off x="8944893" y="2706624"/>
            <a:ext cx="2478706"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One row per company. Set during company setup, and revisited whenever a new standard is published.</a:t>
            </a:r>
          </a:p>
        </p:txBody>
      </p:sp>
      <p:sp>
        <p:nvSpPr>
          <p:cNvPr id="18" name="Rounded Rectangle 17"/>
          <p:cNvSpPr/>
          <p:nvPr/>
        </p:nvSpPr>
        <p:spPr>
          <a:xfrm>
            <a:off x="5725523" y="3648456"/>
            <a:ext cx="2881042"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5926691"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301595" y="3794760"/>
            <a:ext cx="2103802"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Applied</a:t>
            </a:r>
          </a:p>
        </p:txBody>
      </p:sp>
      <p:sp>
        <p:nvSpPr>
          <p:cNvPr id="21" name="TextBox 20"/>
          <p:cNvSpPr txBox="1"/>
          <p:nvPr/>
        </p:nvSpPr>
        <p:spPr>
          <a:xfrm>
            <a:off x="5926691" y="4050792"/>
            <a:ext cx="2478706"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Whether the standard reaches this company at all. Clearing it removes the code from that company's library without touching the central definition.</a:t>
            </a:r>
          </a:p>
        </p:txBody>
      </p:sp>
      <p:sp>
        <p:nvSpPr>
          <p:cNvPr id="22" name="Rounded Rectangle 21"/>
          <p:cNvSpPr/>
          <p:nvPr/>
        </p:nvSpPr>
        <p:spPr>
          <a:xfrm>
            <a:off x="8743725" y="3648456"/>
            <a:ext cx="2881042"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8944893"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319797" y="3794760"/>
            <a:ext cx="2103802"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Status in company</a:t>
            </a:r>
          </a:p>
        </p:txBody>
      </p:sp>
      <p:sp>
        <p:nvSpPr>
          <p:cNvPr id="25" name="TextBox 24"/>
          <p:cNvSpPr txBox="1"/>
          <p:nvPr/>
        </p:nvSpPr>
        <p:spPr>
          <a:xfrm>
            <a:off x="8944893" y="4050792"/>
            <a:ext cx="2478706"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Each company activates or deactivates independently. One company switching a standard off does not affect any other.</a:t>
            </a:r>
          </a:p>
        </p:txBody>
      </p:sp>
      <p:sp>
        <p:nvSpPr>
          <p:cNvPr id="26" name="Rounded Rectangle 25"/>
          <p:cNvSpPr/>
          <p:nvPr/>
        </p:nvSpPr>
        <p:spPr>
          <a:xfrm>
            <a:off x="5725523" y="4992624"/>
            <a:ext cx="2881042"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5926691" y="51297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5</a:t>
            </a:r>
          </a:p>
        </p:txBody>
      </p:sp>
      <p:sp>
        <p:nvSpPr>
          <p:cNvPr id="28" name="TextBox 27"/>
          <p:cNvSpPr txBox="1"/>
          <p:nvPr/>
        </p:nvSpPr>
        <p:spPr>
          <a:xfrm>
            <a:off x="6301595" y="5138928"/>
            <a:ext cx="2103802"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Payroll usage</a:t>
            </a:r>
          </a:p>
        </p:txBody>
      </p:sp>
      <p:sp>
        <p:nvSpPr>
          <p:cNvPr id="29" name="TextBox 28"/>
          <p:cNvSpPr txBox="1"/>
          <p:nvPr/>
        </p:nvSpPr>
        <p:spPr>
          <a:xfrm>
            <a:off x="5926691" y="5394960"/>
            <a:ext cx="2478706"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Withdrawal and deactivation are refused for a company whose payroll has already applied the code, and the refusal names the transaction.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MODEL</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How a standard reaches a company</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One definition, applied to selected companies, activated by each of them independently.</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A company that needs different arithmetic creates its own computation rather than editing the standard.</a:t>
            </a:r>
          </a:p>
        </p:txBody>
      </p:sp>
      <p:sp>
        <p:nvSpPr>
          <p:cNvPr id="8" name="Rounded Rectangle 7"/>
          <p:cNvSpPr/>
          <p:nvPr/>
        </p:nvSpPr>
        <p:spPr>
          <a:xfrm>
            <a:off x="566928" y="21945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2237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1</a:t>
            </a:r>
          </a:p>
        </p:txBody>
      </p:sp>
      <p:sp>
        <p:nvSpPr>
          <p:cNvPr id="11" name="TextBox 10"/>
          <p:cNvSpPr txBox="1"/>
          <p:nvPr/>
        </p:nvSpPr>
        <p:spPr>
          <a:xfrm>
            <a:off x="113385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Defined once</a:t>
            </a:r>
          </a:p>
        </p:txBody>
      </p:sp>
      <p:sp>
        <p:nvSpPr>
          <p:cNvPr id="12" name="TextBox 11"/>
          <p:cNvSpPr txBox="1"/>
          <p:nvPr/>
        </p:nvSpPr>
        <p:spPr>
          <a:xfrm>
            <a:off x="822960" y="29077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An Atlas standard formula exists in exactly one record, in Settings. Nothing copies it into a company.</a:t>
            </a:r>
          </a:p>
        </p:txBody>
      </p:sp>
      <p:sp>
        <p:nvSpPr>
          <p:cNvPr id="13" name="Rounded Rectangle 12"/>
          <p:cNvSpPr/>
          <p:nvPr/>
        </p:nvSpPr>
        <p:spPr>
          <a:xfrm>
            <a:off x="4307738" y="21945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0773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6318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2</a:t>
            </a:r>
          </a:p>
        </p:txBody>
      </p:sp>
      <p:sp>
        <p:nvSpPr>
          <p:cNvPr id="16" name="TextBox 15"/>
          <p:cNvSpPr txBox="1"/>
          <p:nvPr/>
        </p:nvSpPr>
        <p:spPr>
          <a:xfrm>
            <a:off x="487466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Applied to companies</a:t>
            </a:r>
          </a:p>
        </p:txBody>
      </p:sp>
      <p:sp>
        <p:nvSpPr>
          <p:cNvPr id="17" name="TextBox 16"/>
          <p:cNvSpPr txBox="1"/>
          <p:nvPr/>
        </p:nvSpPr>
        <p:spPr>
          <a:xfrm>
            <a:off x="4563770" y="29077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During company setup, a Super Admin selects which companies a standard applies to. It can be revisited at any time.</a:t>
            </a:r>
          </a:p>
        </p:txBody>
      </p:sp>
      <p:sp>
        <p:nvSpPr>
          <p:cNvPr id="18" name="Rounded Rectangle 17"/>
          <p:cNvSpPr/>
          <p:nvPr/>
        </p:nvSpPr>
        <p:spPr>
          <a:xfrm>
            <a:off x="8048548" y="21945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4854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820399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3</a:t>
            </a:r>
          </a:p>
        </p:txBody>
      </p:sp>
      <p:sp>
        <p:nvSpPr>
          <p:cNvPr id="21" name="TextBox 20"/>
          <p:cNvSpPr txBox="1"/>
          <p:nvPr/>
        </p:nvSpPr>
        <p:spPr>
          <a:xfrm>
            <a:off x="861547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Activated per company</a:t>
            </a:r>
          </a:p>
        </p:txBody>
      </p:sp>
      <p:sp>
        <p:nvSpPr>
          <p:cNvPr id="22" name="TextBox 21"/>
          <p:cNvSpPr txBox="1"/>
          <p:nvPr/>
        </p:nvSpPr>
        <p:spPr>
          <a:xfrm>
            <a:off x="8304580" y="29077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Each company switches the standards applied to it on or off in its own Computational Basis, without affecting any other company.</a:t>
            </a:r>
          </a:p>
        </p:txBody>
      </p:sp>
      <p:sp>
        <p:nvSpPr>
          <p:cNvPr id="23" name="Rounded Rectangle 22"/>
          <p:cNvSpPr/>
          <p:nvPr/>
        </p:nvSpPr>
        <p:spPr>
          <a:xfrm>
            <a:off x="566928" y="37871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787139"/>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22376" y="3970019"/>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4</a:t>
            </a:r>
          </a:p>
        </p:txBody>
      </p:sp>
      <p:sp>
        <p:nvSpPr>
          <p:cNvPr id="26" name="TextBox 25"/>
          <p:cNvSpPr txBox="1"/>
          <p:nvPr/>
        </p:nvSpPr>
        <p:spPr>
          <a:xfrm>
            <a:off x="1133856" y="40248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Customised by variant</a:t>
            </a:r>
          </a:p>
        </p:txBody>
      </p:sp>
      <p:sp>
        <p:nvSpPr>
          <p:cNvPr id="27" name="TextBox 26"/>
          <p:cNvSpPr txBox="1"/>
          <p:nvPr/>
        </p:nvSpPr>
        <p:spPr>
          <a:xfrm>
            <a:off x="822960" y="45003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 company that needs different arithmetic creates its own computation rather than editing the standard, so the standard stays one definition.</a:t>
            </a:r>
          </a:p>
        </p:txBody>
      </p:sp>
      <p:sp>
        <p:nvSpPr>
          <p:cNvPr id="28" name="Rounded Rectangle 27"/>
          <p:cNvSpPr/>
          <p:nvPr/>
        </p:nvSpPr>
        <p:spPr>
          <a:xfrm>
            <a:off x="4307738" y="37871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307738" y="3787139"/>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463186" y="3970019"/>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5</a:t>
            </a:r>
          </a:p>
        </p:txBody>
      </p:sp>
      <p:sp>
        <p:nvSpPr>
          <p:cNvPr id="31" name="TextBox 30"/>
          <p:cNvSpPr txBox="1"/>
          <p:nvPr/>
        </p:nvSpPr>
        <p:spPr>
          <a:xfrm>
            <a:off x="4874666" y="40248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Scoped storage</a:t>
            </a:r>
          </a:p>
        </p:txBody>
      </p:sp>
      <p:sp>
        <p:nvSpPr>
          <p:cNvPr id="32" name="TextBox 31"/>
          <p:cNvSpPr txBox="1"/>
          <p:nvPr/>
        </p:nvSpPr>
        <p:spPr>
          <a:xfrm>
            <a:off x="4563770" y="45003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Computations, assignments, reference sources, versions and change history are all held per company.</a:t>
            </a:r>
          </a:p>
        </p:txBody>
      </p:sp>
      <p:sp>
        <p:nvSpPr>
          <p:cNvPr id="33" name="Rounded Rectangle 32"/>
          <p:cNvSpPr/>
          <p:nvPr/>
        </p:nvSpPr>
        <p:spPr>
          <a:xfrm>
            <a:off x="8048548" y="37871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048548" y="3787139"/>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8203996" y="3970019"/>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6</a:t>
            </a:r>
          </a:p>
        </p:txBody>
      </p:sp>
      <p:sp>
        <p:nvSpPr>
          <p:cNvPr id="36" name="TextBox 35"/>
          <p:cNvSpPr txBox="1"/>
          <p:nvPr/>
        </p:nvSpPr>
        <p:spPr>
          <a:xfrm>
            <a:off x="8615476" y="40248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Protected by usage</a:t>
            </a:r>
          </a:p>
        </p:txBody>
      </p:sp>
      <p:sp>
        <p:nvSpPr>
          <p:cNvPr id="37" name="TextBox 36"/>
          <p:cNvSpPr txBox="1"/>
          <p:nvPr/>
        </p:nvSpPr>
        <p:spPr>
          <a:xfrm>
            <a:off x="8304580" y="45003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Withdrawing or deactivating is refused where that company's payroll already applied the code, and the refusal names the transaction.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09</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Creating a computation, revised</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The same rule as Part 1, built again — with the code, the status and the inputs behaving differently.</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form</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map fields</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test</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CREATING A COMPUTATION</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The same rule as Part 1, with three fields behaving differently</a:t>
            </a:r>
          </a:p>
        </p:txBody>
      </p:sp>
      <p:sp>
        <p:nvSpPr>
          <p:cNvPr id="6" name="Rounded Rectangle 5"/>
          <p:cNvSpPr/>
          <p:nvPr/>
        </p:nvSpPr>
        <p:spPr>
          <a:xfrm>
            <a:off x="566928" y="1316736"/>
            <a:ext cx="88861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Create computation › Formula setup</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This is the allowance from Part 1, built again. The code, the status and the description have all changed how they work.</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Demonstration record ERN-007, Variable Allowance by Approved Units.</a:t>
            </a:r>
          </a:p>
        </p:txBody>
      </p:sp>
      <p:pic>
        <p:nvPicPr>
          <p:cNvPr id="9" name="Picture 8" descr="fg-create-details.png"/>
          <p:cNvPicPr>
            <a:picLocks noChangeAspect="1"/>
          </p:cNvPicPr>
          <p:nvPr/>
        </p:nvPicPr>
        <p:blipFill>
          <a:blip r:embed="rId2"/>
          <a:stretch>
            <a:fillRect/>
          </a:stretch>
        </p:blipFill>
        <p:spPr>
          <a:xfrm>
            <a:off x="2131285" y="2304288"/>
            <a:ext cx="7929125" cy="2235708"/>
          </a:xfrm>
          <a:prstGeom prst="rect">
            <a:avLst/>
          </a:prstGeom>
        </p:spPr>
      </p:pic>
      <p:sp>
        <p:nvSpPr>
          <p:cNvPr id="10" name="Rounded Rectangle 9"/>
          <p:cNvSpPr/>
          <p:nvPr/>
        </p:nvSpPr>
        <p:spPr>
          <a:xfrm>
            <a:off x="566928" y="4796028"/>
            <a:ext cx="2101839" cy="140360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493318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4942332"/>
            <a:ext cx="1324599" cy="67665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Generated, not typed</a:t>
            </a:r>
          </a:p>
        </p:txBody>
      </p:sp>
      <p:sp>
        <p:nvSpPr>
          <p:cNvPr id="13" name="TextBox 12"/>
          <p:cNvSpPr txBox="1"/>
          <p:nvPr/>
        </p:nvSpPr>
        <p:spPr>
          <a:xfrm>
            <a:off x="768096" y="5472684"/>
            <a:ext cx="1699503" cy="626364"/>
          </a:xfrm>
          <a:prstGeom prst="rect">
            <a:avLst/>
          </a:prstGeom>
          <a:noFill/>
        </p:spPr>
        <p:txBody>
          <a:bodyPr wrap="square" anchor="t" lIns="0" rIns="0" tIns="0" bIns="0">
            <a:spAutoFit/>
          </a:bodyPr>
          <a:lstStyle/>
          <a:p>
            <a:pPr algn="l">
              <a:lnSpc>
                <a:spcPct val="126000"/>
              </a:lnSpc>
              <a:spcBef>
                <a:spcPts val="0"/>
              </a:spcBef>
              <a:spcAft>
                <a:spcPts val="0"/>
              </a:spcAft>
            </a:pPr>
            <a:r>
              <a:rPr sz="975" b="0" i="0">
                <a:solidFill>
                  <a:srgbClr val="6B6675"/>
                </a:solidFill>
                <a:latin typeface="Segoe UI"/>
              </a:rPr>
              <a:t>Derived from the category and the next free sequence, then locked. Part 1 had you invent CUS-900; this is ERN-007.</a:t>
            </a:r>
          </a:p>
        </p:txBody>
      </p:sp>
      <p:sp>
        <p:nvSpPr>
          <p:cNvPr id="14" name="Rounded Rectangle 13"/>
          <p:cNvSpPr/>
          <p:nvPr/>
        </p:nvSpPr>
        <p:spPr>
          <a:xfrm>
            <a:off x="2805927" y="4796028"/>
            <a:ext cx="2101839" cy="140360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3007095" y="493318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3381999" y="4942332"/>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Computation name</a:t>
            </a:r>
          </a:p>
        </p:txBody>
      </p:sp>
      <p:sp>
        <p:nvSpPr>
          <p:cNvPr id="17" name="TextBox 16"/>
          <p:cNvSpPr txBox="1"/>
          <p:nvPr/>
        </p:nvSpPr>
        <p:spPr>
          <a:xfrm>
            <a:off x="3007095" y="5198364"/>
            <a:ext cx="1699503" cy="90068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Unchanged. Name the amount being calculated, in the words Finance reviews it in.</a:t>
            </a:r>
          </a:p>
        </p:txBody>
      </p:sp>
      <p:sp>
        <p:nvSpPr>
          <p:cNvPr id="18" name="Rounded Rectangle 17"/>
          <p:cNvSpPr/>
          <p:nvPr/>
        </p:nvSpPr>
        <p:spPr>
          <a:xfrm>
            <a:off x="5044926" y="4796028"/>
            <a:ext cx="2101839" cy="140360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5246094" y="493318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5620998" y="4942332"/>
            <a:ext cx="1324599" cy="67665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Category is controlled</a:t>
            </a:r>
          </a:p>
        </p:txBody>
      </p:sp>
      <p:sp>
        <p:nvSpPr>
          <p:cNvPr id="21" name="TextBox 20"/>
          <p:cNvSpPr txBox="1"/>
          <p:nvPr/>
        </p:nvSpPr>
        <p:spPr>
          <a:xfrm>
            <a:off x="5246094" y="5472684"/>
            <a:ext cx="1699503" cy="626364"/>
          </a:xfrm>
          <a:prstGeom prst="rect">
            <a:avLst/>
          </a:prstGeom>
          <a:noFill/>
        </p:spPr>
        <p:txBody>
          <a:bodyPr wrap="square" anchor="t" lIns="0" rIns="0" tIns="0" bIns="0">
            <a:spAutoFit/>
          </a:bodyPr>
          <a:lstStyle/>
          <a:p>
            <a:pPr algn="l">
              <a:lnSpc>
                <a:spcPct val="126000"/>
              </a:lnSpc>
              <a:spcBef>
                <a:spcPts val="0"/>
              </a:spcBef>
              <a:spcAft>
                <a:spcPts val="0"/>
              </a:spcAft>
            </a:pPr>
            <a:r>
              <a:rPr sz="900" b="0" i="0">
                <a:solidFill>
                  <a:srgbClr val="6B6675"/>
                </a:solidFill>
                <a:latin typeface="Segoe UI"/>
              </a:rPr>
              <a:t>The list comes from the Computation Category reference table, so a category is governed like any other reference value.</a:t>
            </a:r>
          </a:p>
        </p:txBody>
      </p:sp>
      <p:sp>
        <p:nvSpPr>
          <p:cNvPr id="22" name="Rounded Rectangle 21"/>
          <p:cNvSpPr/>
          <p:nvPr/>
        </p:nvSpPr>
        <p:spPr>
          <a:xfrm>
            <a:off x="7283925" y="4796028"/>
            <a:ext cx="2101839" cy="140360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485093" y="493318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7859997" y="4942332"/>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It starts Inactive</a:t>
            </a:r>
          </a:p>
        </p:txBody>
      </p:sp>
      <p:sp>
        <p:nvSpPr>
          <p:cNvPr id="25" name="TextBox 24"/>
          <p:cNvSpPr txBox="1"/>
          <p:nvPr/>
        </p:nvSpPr>
        <p:spPr>
          <a:xfrm>
            <a:off x="7485093" y="5198364"/>
            <a:ext cx="1699503" cy="90068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A rule under construction is not selectable by payroll. Somebody activates it once it has been reviewed.</a:t>
            </a:r>
          </a:p>
        </p:txBody>
      </p:sp>
      <p:sp>
        <p:nvSpPr>
          <p:cNvPr id="26" name="Rounded Rectangle 25"/>
          <p:cNvSpPr/>
          <p:nvPr/>
        </p:nvSpPr>
        <p:spPr>
          <a:xfrm>
            <a:off x="9522924" y="4796028"/>
            <a:ext cx="2101839" cy="140360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9724092" y="493318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5</a:t>
            </a:r>
          </a:p>
        </p:txBody>
      </p:sp>
      <p:sp>
        <p:nvSpPr>
          <p:cNvPr id="28" name="TextBox 27"/>
          <p:cNvSpPr txBox="1"/>
          <p:nvPr/>
        </p:nvSpPr>
        <p:spPr>
          <a:xfrm>
            <a:off x="10098996" y="4942332"/>
            <a:ext cx="1324599" cy="67665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Description is optional</a:t>
            </a:r>
          </a:p>
        </p:txBody>
      </p:sp>
      <p:sp>
        <p:nvSpPr>
          <p:cNvPr id="29" name="TextBox 28"/>
          <p:cNvSpPr txBox="1"/>
          <p:nvPr/>
        </p:nvSpPr>
        <p:spPr>
          <a:xfrm>
            <a:off x="9724092" y="5472684"/>
            <a:ext cx="1699503" cy="626364"/>
          </a:xfrm>
          <a:prstGeom prst="rect">
            <a:avLst/>
          </a:prstGeom>
          <a:noFill/>
        </p:spPr>
        <p:txBody>
          <a:bodyPr wrap="square" anchor="t" lIns="0" rIns="0" tIns="0" bIns="0">
            <a:spAutoFit/>
          </a:bodyPr>
          <a:lstStyle/>
          <a:p>
            <a:pPr algn="l">
              <a:lnSpc>
                <a:spcPct val="126000"/>
              </a:lnSpc>
              <a:spcBef>
                <a:spcPts val="0"/>
              </a:spcBef>
              <a:spcAft>
                <a:spcPts val="0"/>
              </a:spcAft>
            </a:pPr>
            <a:r>
              <a:rPr sz="975" b="0" i="0">
                <a:solidFill>
                  <a:srgbClr val="6B6675"/>
                </a:solidFill>
                <a:latin typeface="Segoe UI"/>
              </a:rPr>
              <a:t>Still the best place to record what the rule includes and excludes, but it no longer blocks a save.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CREATING A COMPUTATION</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The code follows the category until it is saved</a:t>
            </a:r>
          </a:p>
        </p:txBody>
      </p:sp>
      <p:sp>
        <p:nvSpPr>
          <p:cNvPr id="6" name="Rounded Rectangle 5"/>
          <p:cNvSpPr/>
          <p:nvPr/>
        </p:nvSpPr>
        <p:spPr>
          <a:xfrm>
            <a:off x="566928" y="1316736"/>
            <a:ext cx="78955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Create computation</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Changing the category regenerates the code. After the first save it is fixed, because payroll transactions print it.</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Recorded from the prototype. The animation plays in slideshow view.</a:t>
            </a:r>
          </a:p>
        </p:txBody>
      </p:sp>
      <p:pic>
        <p:nvPicPr>
          <p:cNvPr id="9" name="Picture 8" descr="create-walkthrough.gif"/>
          <p:cNvPicPr>
            <a:picLocks noChangeAspect="1"/>
          </p:cNvPicPr>
          <p:nvPr/>
        </p:nvPicPr>
        <p:blipFill>
          <a:blip r:embed="rId2"/>
          <a:stretch>
            <a:fillRect/>
          </a:stretch>
        </p:blipFill>
        <p:spPr>
          <a:xfrm>
            <a:off x="566928" y="2340864"/>
            <a:ext cx="5401452" cy="3803903"/>
          </a:xfrm>
          <a:prstGeom prst="rect">
            <a:avLst/>
          </a:prstGeom>
        </p:spPr>
      </p:pic>
      <p:sp>
        <p:nvSpPr>
          <p:cNvPr id="10" name="Oval 9"/>
          <p:cNvSpPr/>
          <p:nvPr/>
        </p:nvSpPr>
        <p:spPr>
          <a:xfrm>
            <a:off x="8220456" y="2340864"/>
            <a:ext cx="310896" cy="310896"/>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Semibold"/>
              </a:rPr>
              <a:t>1</a:t>
            </a:r>
          </a:p>
        </p:txBody>
      </p:sp>
      <p:sp>
        <p:nvSpPr>
          <p:cNvPr id="11" name="TextBox 10"/>
          <p:cNvSpPr txBox="1"/>
          <p:nvPr/>
        </p:nvSpPr>
        <p:spPr>
          <a:xfrm>
            <a:off x="8622792" y="2359152"/>
            <a:ext cx="2947111" cy="274320"/>
          </a:xfrm>
          <a:prstGeom prst="rect">
            <a:avLst/>
          </a:prstGeom>
          <a:noFill/>
        </p:spPr>
        <p:txBody>
          <a:bodyPr wrap="square" anchor="t" lIns="0" rIns="0" tIns="0" bIns="0">
            <a:spAutoFit/>
          </a:bodyPr>
          <a:lstStyle/>
          <a:p>
            <a:pPr algn="l">
              <a:lnSpc>
                <a:spcPct val="115000"/>
              </a:lnSpc>
              <a:spcBef>
                <a:spcPts val="0"/>
              </a:spcBef>
              <a:spcAft>
                <a:spcPts val="0"/>
              </a:spcAft>
            </a:pPr>
            <a:r>
              <a:rPr sz="1220" b="1" i="0">
                <a:solidFill>
                  <a:srgbClr val="241243"/>
                </a:solidFill>
                <a:latin typeface="Segoe UI Semibold"/>
              </a:rPr>
              <a:t>Pick the category first</a:t>
            </a:r>
          </a:p>
        </p:txBody>
      </p:sp>
      <p:sp>
        <p:nvSpPr>
          <p:cNvPr id="12" name="TextBox 11"/>
          <p:cNvSpPr txBox="1"/>
          <p:nvPr/>
        </p:nvSpPr>
        <p:spPr>
          <a:xfrm>
            <a:off x="8622792" y="2615184"/>
            <a:ext cx="2947111" cy="566928"/>
          </a:xfrm>
          <a:prstGeom prst="rect">
            <a:avLst/>
          </a:prstGeom>
          <a:noFill/>
        </p:spPr>
        <p:txBody>
          <a:bodyPr wrap="square" anchor="t" lIns="0" rIns="0" tIns="0" bIns="0">
            <a:spAutoFit/>
          </a:bodyPr>
          <a:lstStyle/>
          <a:p>
            <a:pPr algn="l">
              <a:lnSpc>
                <a:spcPct val="128000"/>
              </a:lnSpc>
              <a:spcBef>
                <a:spcPts val="0"/>
              </a:spcBef>
              <a:spcAft>
                <a:spcPts val="0"/>
              </a:spcAft>
            </a:pPr>
            <a:r>
              <a:rPr sz="1019" b="0" i="0">
                <a:solidFill>
                  <a:srgbClr val="6B6675"/>
                </a:solidFill>
                <a:latin typeface="Segoe UI"/>
              </a:rPr>
              <a:t>The category decides the code family — ERN for an earning, DED for a deduction, BEN for a benefit.</a:t>
            </a:r>
          </a:p>
        </p:txBody>
      </p:sp>
      <p:sp>
        <p:nvSpPr>
          <p:cNvPr id="13" name="Oval 12"/>
          <p:cNvSpPr/>
          <p:nvPr/>
        </p:nvSpPr>
        <p:spPr>
          <a:xfrm>
            <a:off x="8220456" y="3182112"/>
            <a:ext cx="310896" cy="310896"/>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Semibold"/>
              </a:rPr>
              <a:t>2</a:t>
            </a:r>
          </a:p>
        </p:txBody>
      </p:sp>
      <p:sp>
        <p:nvSpPr>
          <p:cNvPr id="14" name="TextBox 13"/>
          <p:cNvSpPr txBox="1"/>
          <p:nvPr/>
        </p:nvSpPr>
        <p:spPr>
          <a:xfrm>
            <a:off x="8622792" y="3200400"/>
            <a:ext cx="2947111" cy="274320"/>
          </a:xfrm>
          <a:prstGeom prst="rect">
            <a:avLst/>
          </a:prstGeom>
          <a:noFill/>
        </p:spPr>
        <p:txBody>
          <a:bodyPr wrap="square" anchor="t" lIns="0" rIns="0" tIns="0" bIns="0">
            <a:spAutoFit/>
          </a:bodyPr>
          <a:lstStyle/>
          <a:p>
            <a:pPr algn="l">
              <a:lnSpc>
                <a:spcPct val="115000"/>
              </a:lnSpc>
              <a:spcBef>
                <a:spcPts val="0"/>
              </a:spcBef>
              <a:spcAft>
                <a:spcPts val="0"/>
              </a:spcAft>
            </a:pPr>
            <a:r>
              <a:rPr sz="1220" b="1" i="0">
                <a:solidFill>
                  <a:srgbClr val="241243"/>
                </a:solidFill>
                <a:latin typeface="Segoe UI Semibold"/>
              </a:rPr>
              <a:t>The code follows</a:t>
            </a:r>
          </a:p>
        </p:txBody>
      </p:sp>
      <p:sp>
        <p:nvSpPr>
          <p:cNvPr id="15" name="TextBox 14"/>
          <p:cNvSpPr txBox="1"/>
          <p:nvPr/>
        </p:nvSpPr>
        <p:spPr>
          <a:xfrm>
            <a:off x="8622792" y="3456432"/>
            <a:ext cx="2947111" cy="566928"/>
          </a:xfrm>
          <a:prstGeom prst="rect">
            <a:avLst/>
          </a:prstGeom>
          <a:noFill/>
        </p:spPr>
        <p:txBody>
          <a:bodyPr wrap="square" anchor="t" lIns="0" rIns="0" tIns="0" bIns="0">
            <a:spAutoFit/>
          </a:bodyPr>
          <a:lstStyle/>
          <a:p>
            <a:pPr algn="l">
              <a:lnSpc>
                <a:spcPct val="128000"/>
              </a:lnSpc>
              <a:spcBef>
                <a:spcPts val="0"/>
              </a:spcBef>
              <a:spcAft>
                <a:spcPts val="0"/>
              </a:spcAft>
            </a:pPr>
            <a:r>
              <a:rPr sz="1019" b="0" i="0">
                <a:solidFill>
                  <a:srgbClr val="6B6675"/>
                </a:solidFill>
                <a:latin typeface="Segoe UI"/>
              </a:rPr>
              <a:t>ATLAS takes the category's prefix and the first free three-digit sequence.</a:t>
            </a:r>
          </a:p>
        </p:txBody>
      </p:sp>
      <p:sp>
        <p:nvSpPr>
          <p:cNvPr id="16" name="Oval 15"/>
          <p:cNvSpPr/>
          <p:nvPr/>
        </p:nvSpPr>
        <p:spPr>
          <a:xfrm>
            <a:off x="8220456" y="4023360"/>
            <a:ext cx="310896" cy="310896"/>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Semibold"/>
              </a:rPr>
              <a:t>3</a:t>
            </a:r>
          </a:p>
        </p:txBody>
      </p:sp>
      <p:sp>
        <p:nvSpPr>
          <p:cNvPr id="17" name="TextBox 16"/>
          <p:cNvSpPr txBox="1"/>
          <p:nvPr/>
        </p:nvSpPr>
        <p:spPr>
          <a:xfrm>
            <a:off x="8622792" y="4041648"/>
            <a:ext cx="2947111" cy="274320"/>
          </a:xfrm>
          <a:prstGeom prst="rect">
            <a:avLst/>
          </a:prstGeom>
          <a:noFill/>
        </p:spPr>
        <p:txBody>
          <a:bodyPr wrap="square" anchor="t" lIns="0" rIns="0" tIns="0" bIns="0">
            <a:spAutoFit/>
          </a:bodyPr>
          <a:lstStyle/>
          <a:p>
            <a:pPr algn="l">
              <a:lnSpc>
                <a:spcPct val="115000"/>
              </a:lnSpc>
              <a:spcBef>
                <a:spcPts val="0"/>
              </a:spcBef>
              <a:spcAft>
                <a:spcPts val="0"/>
              </a:spcAft>
            </a:pPr>
            <a:r>
              <a:rPr sz="1220" b="1" i="0">
                <a:solidFill>
                  <a:srgbClr val="241243"/>
                </a:solidFill>
                <a:latin typeface="Segoe UI Semibold"/>
              </a:rPr>
              <a:t>Then it locks</a:t>
            </a:r>
          </a:p>
        </p:txBody>
      </p:sp>
      <p:sp>
        <p:nvSpPr>
          <p:cNvPr id="18" name="TextBox 17"/>
          <p:cNvSpPr txBox="1"/>
          <p:nvPr/>
        </p:nvSpPr>
        <p:spPr>
          <a:xfrm>
            <a:off x="8622792" y="4297680"/>
            <a:ext cx="2947111" cy="566928"/>
          </a:xfrm>
          <a:prstGeom prst="rect">
            <a:avLst/>
          </a:prstGeom>
          <a:noFill/>
        </p:spPr>
        <p:txBody>
          <a:bodyPr wrap="square" anchor="t" lIns="0" rIns="0" tIns="0" bIns="0">
            <a:spAutoFit/>
          </a:bodyPr>
          <a:lstStyle/>
          <a:p>
            <a:pPr algn="l">
              <a:lnSpc>
                <a:spcPct val="128000"/>
              </a:lnSpc>
              <a:spcBef>
                <a:spcPts val="0"/>
              </a:spcBef>
              <a:spcAft>
                <a:spcPts val="0"/>
              </a:spcAft>
            </a:pPr>
            <a:r>
              <a:rPr sz="1019" b="0" i="0">
                <a:solidFill>
                  <a:srgbClr val="6B6675"/>
                </a:solidFill>
                <a:latin typeface="Segoe UI"/>
              </a:rPr>
              <a:t>From the first save the code is read-only. Nothing downstream has to cope with a code that moved.</a:t>
            </a:r>
          </a:p>
        </p:txBody>
      </p:sp>
      <p:sp>
        <p:nvSpPr>
          <p:cNvPr id="19" name="Oval 18"/>
          <p:cNvSpPr/>
          <p:nvPr/>
        </p:nvSpPr>
        <p:spPr>
          <a:xfrm>
            <a:off x="8220456" y="4864608"/>
            <a:ext cx="310896" cy="310896"/>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Semibold"/>
              </a:rPr>
              <a:t>4</a:t>
            </a:r>
          </a:p>
        </p:txBody>
      </p:sp>
      <p:sp>
        <p:nvSpPr>
          <p:cNvPr id="20" name="TextBox 19"/>
          <p:cNvSpPr txBox="1"/>
          <p:nvPr/>
        </p:nvSpPr>
        <p:spPr>
          <a:xfrm>
            <a:off x="8622792" y="4882896"/>
            <a:ext cx="2947111" cy="274320"/>
          </a:xfrm>
          <a:prstGeom prst="rect">
            <a:avLst/>
          </a:prstGeom>
          <a:noFill/>
        </p:spPr>
        <p:txBody>
          <a:bodyPr wrap="square" anchor="t" lIns="0" rIns="0" tIns="0" bIns="0">
            <a:spAutoFit/>
          </a:bodyPr>
          <a:lstStyle/>
          <a:p>
            <a:pPr algn="l">
              <a:lnSpc>
                <a:spcPct val="115000"/>
              </a:lnSpc>
              <a:spcBef>
                <a:spcPts val="0"/>
              </a:spcBef>
              <a:spcAft>
                <a:spcPts val="0"/>
              </a:spcAft>
            </a:pPr>
            <a:r>
              <a:rPr sz="1220" b="1" i="0">
                <a:solidFill>
                  <a:srgbClr val="241243"/>
                </a:solidFill>
                <a:latin typeface="Segoe UI Semibold"/>
              </a:rPr>
              <a:t>Built, tested, then published</a:t>
            </a:r>
          </a:p>
        </p:txBody>
      </p:sp>
      <p:sp>
        <p:nvSpPr>
          <p:cNvPr id="21" name="TextBox 20"/>
          <p:cNvSpPr txBox="1"/>
          <p:nvPr/>
        </p:nvSpPr>
        <p:spPr>
          <a:xfrm>
            <a:off x="8622792" y="5138928"/>
            <a:ext cx="2947111" cy="566928"/>
          </a:xfrm>
          <a:prstGeom prst="rect">
            <a:avLst/>
          </a:prstGeom>
          <a:noFill/>
        </p:spPr>
        <p:txBody>
          <a:bodyPr wrap="square" anchor="t" lIns="0" rIns="0" tIns="0" bIns="0">
            <a:spAutoFit/>
          </a:bodyPr>
          <a:lstStyle/>
          <a:p>
            <a:pPr algn="l">
              <a:lnSpc>
                <a:spcPct val="128000"/>
              </a:lnSpc>
              <a:spcBef>
                <a:spcPts val="0"/>
              </a:spcBef>
              <a:spcAft>
                <a:spcPts val="0"/>
              </a:spcAft>
            </a:pPr>
            <a:r>
              <a:rPr sz="1019" b="0" i="0">
                <a:solidFill>
                  <a:srgbClr val="6B6675"/>
                </a:solidFill>
                <a:latin typeface="Segoe UI"/>
              </a:rPr>
              <a:t>The record is created Inactive at version 1.0, with the test evidence filed against it.</a:t>
            </a:r>
          </a:p>
        </p:txBody>
      </p:sp>
      <p:sp>
        <p:nvSpPr>
          <p:cNvPr id="22" name="Rounded Rectangle 21"/>
          <p:cNvSpPr/>
          <p:nvPr/>
        </p:nvSpPr>
        <p:spPr>
          <a:xfrm>
            <a:off x="8220456" y="5559552"/>
            <a:ext cx="3404311" cy="512064"/>
          </a:xfrm>
          <a:prstGeom prst="roundRect">
            <a:avLst>
              <a:gd name="adj" fmla="val 8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050" b="1">
                <a:solidFill>
                  <a:srgbClr val="54248F"/>
                </a:solidFill>
                <a:latin typeface="Segoe UI Semibold"/>
              </a:rPr>
              <a:t>ANIMATED CAPTURE  ·  PLAYS IN SLIDE SHOW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MAP FIELDS</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Every input now declares where it comes from</a:t>
            </a:r>
          </a:p>
        </p:txBody>
      </p:sp>
      <p:sp>
        <p:nvSpPr>
          <p:cNvPr id="6" name="Rounded Rectangle 5"/>
          <p:cNvSpPr/>
          <p:nvPr/>
        </p:nvSpPr>
        <p:spPr>
          <a:xfrm>
            <a:off x="566928" y="1316736"/>
            <a:ext cx="88861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Create computation › Formula setup</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Part 1 showed the token, its kind and a sample value. The five columns the meeting asked for are the contract between this formula and the module that supplies each value.</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Every approved field in the palette carries all five, not only the ones shown here.</a:t>
            </a:r>
          </a:p>
        </p:txBody>
      </p:sp>
      <p:pic>
        <p:nvPicPr>
          <p:cNvPr id="9" name="Picture 8" descr="fg-mapfields.png"/>
          <p:cNvPicPr>
            <a:picLocks noChangeAspect="1"/>
          </p:cNvPicPr>
          <p:nvPr/>
        </p:nvPicPr>
        <p:blipFill>
          <a:blip r:embed="rId2"/>
          <a:stretch>
            <a:fillRect/>
          </a:stretch>
        </p:blipFill>
        <p:spPr>
          <a:xfrm>
            <a:off x="566929" y="2566054"/>
            <a:ext cx="11057836" cy="1552155"/>
          </a:xfrm>
          <a:prstGeom prst="rect">
            <a:avLst/>
          </a:prstGeom>
        </p:spPr>
      </p:pic>
      <p:sp>
        <p:nvSpPr>
          <p:cNvPr id="10" name="Rounded Rectangle 9"/>
          <p:cNvSpPr/>
          <p:nvPr/>
        </p:nvSpPr>
        <p:spPr>
          <a:xfrm>
            <a:off x="566928" y="4374241"/>
            <a:ext cx="2101839" cy="156362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4511401"/>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4520545"/>
            <a:ext cx="1324599" cy="67665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Owner / source module</a:t>
            </a:r>
          </a:p>
        </p:txBody>
      </p:sp>
      <p:sp>
        <p:nvSpPr>
          <p:cNvPr id="13" name="TextBox 12"/>
          <p:cNvSpPr txBox="1"/>
          <p:nvPr/>
        </p:nvSpPr>
        <p:spPr>
          <a:xfrm>
            <a:off x="768096" y="5050897"/>
            <a:ext cx="1699503" cy="786384"/>
          </a:xfrm>
          <a:prstGeom prst="rect">
            <a:avLst/>
          </a:prstGeom>
          <a:noFill/>
        </p:spPr>
        <p:txBody>
          <a:bodyPr wrap="square" anchor="t" lIns="0" rIns="0" tIns="0" bIns="0">
            <a:spAutoFit/>
          </a:bodyPr>
          <a:lstStyle/>
          <a:p>
            <a:pPr algn="l">
              <a:lnSpc>
                <a:spcPct val="126000"/>
              </a:lnSpc>
              <a:spcBef>
                <a:spcPts val="0"/>
              </a:spcBef>
              <a:spcAft>
                <a:spcPts val="0"/>
              </a:spcAft>
            </a:pPr>
            <a:r>
              <a:rPr sz="975" b="0" i="0">
                <a:solidFill>
                  <a:srgbClr val="6B6675"/>
                </a:solidFill>
                <a:latin typeface="Segoe UI"/>
              </a:rPr>
              <a:t>Which part of ATLAS produces this value at run time — the masterfile, timekeeping, a reference source, a statutory table, or another computation.</a:t>
            </a:r>
          </a:p>
        </p:txBody>
      </p:sp>
      <p:sp>
        <p:nvSpPr>
          <p:cNvPr id="14" name="Rounded Rectangle 13"/>
          <p:cNvSpPr/>
          <p:nvPr/>
        </p:nvSpPr>
        <p:spPr>
          <a:xfrm>
            <a:off x="2805927" y="4374241"/>
            <a:ext cx="2101839" cy="156362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3007095" y="4511401"/>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3381999" y="4520545"/>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Data type</a:t>
            </a:r>
          </a:p>
        </p:txBody>
      </p:sp>
      <p:sp>
        <p:nvSpPr>
          <p:cNvPr id="17" name="TextBox 16"/>
          <p:cNvSpPr txBox="1"/>
          <p:nvPr/>
        </p:nvSpPr>
        <p:spPr>
          <a:xfrm>
            <a:off x="3007095" y="4776577"/>
            <a:ext cx="1699503" cy="106070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Currency, decimal, integer or rate. It decides how the value is read and how it should be rounded.</a:t>
            </a:r>
          </a:p>
        </p:txBody>
      </p:sp>
      <p:sp>
        <p:nvSpPr>
          <p:cNvPr id="18" name="Rounded Rectangle 17"/>
          <p:cNvSpPr/>
          <p:nvPr/>
        </p:nvSpPr>
        <p:spPr>
          <a:xfrm>
            <a:off x="5044926" y="4374241"/>
            <a:ext cx="2101839" cy="156362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5246094" y="4511401"/>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5620998" y="4520545"/>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Unit</a:t>
            </a:r>
          </a:p>
        </p:txBody>
      </p:sp>
      <p:sp>
        <p:nvSpPr>
          <p:cNvPr id="21" name="TextBox 20"/>
          <p:cNvSpPr txBox="1"/>
          <p:nvPr/>
        </p:nvSpPr>
        <p:spPr>
          <a:xfrm>
            <a:off x="5246094" y="4776577"/>
            <a:ext cx="1699503" cy="106070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Pesos, hours, minutes, days, units or a multiplier. Two numbers of the same type still only combine when their units agree.</a:t>
            </a:r>
          </a:p>
        </p:txBody>
      </p:sp>
      <p:sp>
        <p:nvSpPr>
          <p:cNvPr id="22" name="Rounded Rectangle 21"/>
          <p:cNvSpPr/>
          <p:nvPr/>
        </p:nvSpPr>
        <p:spPr>
          <a:xfrm>
            <a:off x="7283925" y="4374241"/>
            <a:ext cx="2101839" cy="156362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485093" y="4511401"/>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7859997" y="4520545"/>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Timing</a:t>
            </a:r>
          </a:p>
        </p:txBody>
      </p:sp>
      <p:sp>
        <p:nvSpPr>
          <p:cNvPr id="25" name="TextBox 24"/>
          <p:cNvSpPr txBox="1"/>
          <p:nvPr/>
        </p:nvSpPr>
        <p:spPr>
          <a:xfrm>
            <a:off x="7485093" y="4776577"/>
            <a:ext cx="1699503" cy="106070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When the value is resolved: effective on the payout date, per cutoff, year to date, or computed inside this run.</a:t>
            </a:r>
          </a:p>
        </p:txBody>
      </p:sp>
      <p:sp>
        <p:nvSpPr>
          <p:cNvPr id="26" name="Rounded Rectangle 25"/>
          <p:cNvSpPr/>
          <p:nvPr/>
        </p:nvSpPr>
        <p:spPr>
          <a:xfrm>
            <a:off x="9522924" y="4374241"/>
            <a:ext cx="2101839" cy="156362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9724092" y="4511401"/>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5</a:t>
            </a:r>
          </a:p>
        </p:txBody>
      </p:sp>
      <p:sp>
        <p:nvSpPr>
          <p:cNvPr id="28" name="TextBox 27"/>
          <p:cNvSpPr txBox="1"/>
          <p:nvPr/>
        </p:nvSpPr>
        <p:spPr>
          <a:xfrm>
            <a:off x="10098996" y="4520545"/>
            <a:ext cx="1324599" cy="67665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If the value is missing</a:t>
            </a:r>
          </a:p>
        </p:txBody>
      </p:sp>
      <p:sp>
        <p:nvSpPr>
          <p:cNvPr id="29" name="TextBox 28"/>
          <p:cNvSpPr txBox="1"/>
          <p:nvPr/>
        </p:nvSpPr>
        <p:spPr>
          <a:xfrm>
            <a:off x="9724092" y="5050897"/>
            <a:ext cx="1699503" cy="786384"/>
          </a:xfrm>
          <a:prstGeom prst="rect">
            <a:avLst/>
          </a:prstGeom>
          <a:noFill/>
        </p:spPr>
        <p:txBody>
          <a:bodyPr wrap="square" anchor="t" lIns="0" rIns="0" tIns="0" bIns="0">
            <a:spAutoFit/>
          </a:bodyPr>
          <a:lstStyle/>
          <a:p>
            <a:pPr algn="l">
              <a:lnSpc>
                <a:spcPct val="126000"/>
              </a:lnSpc>
              <a:spcBef>
                <a:spcPts val="0"/>
              </a:spcBef>
              <a:spcAft>
                <a:spcPts val="0"/>
              </a:spcAft>
            </a:pPr>
            <a:r>
              <a:rPr sz="850" b="0" i="0">
                <a:solidFill>
                  <a:srgbClr val="6B6675"/>
                </a:solidFill>
                <a:latin typeface="Segoe UI"/>
              </a:rPr>
              <a:t>What payroll does when the owning module supplies nothing. Treated as zero, or required and the run stops — the distinction the meeting asked to settle per field.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TEST EVIDENCE</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The test result is kept, not recalculated later</a:t>
            </a:r>
          </a:p>
        </p:txBody>
      </p:sp>
      <p:sp>
        <p:nvSpPr>
          <p:cNvPr id="6" name="Rounded Rectangle 5"/>
          <p:cNvSpPr/>
          <p:nvPr/>
        </p:nvSpPr>
        <p:spPr>
          <a:xfrm>
            <a:off x="566928" y="1316736"/>
            <a:ext cx="8958939"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Create computation › Test calculation</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Part 1 ran the test and showed the answer. The evidence is now stored against the version you publish, so a reviewer reads what was tested rather than a fresh sample.</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In this demonstration · 8 units × ₱250 = ₱2,000, matching the manual check.</a:t>
            </a:r>
          </a:p>
        </p:txBody>
      </p:sp>
      <p:pic>
        <p:nvPicPr>
          <p:cNvPr id="9" name="Picture 8" descr="fg-test.png"/>
          <p:cNvPicPr>
            <a:picLocks noChangeAspect="1"/>
          </p:cNvPicPr>
          <p:nvPr/>
        </p:nvPicPr>
        <p:blipFill>
          <a:blip r:embed="rId2"/>
          <a:stretch>
            <a:fillRect/>
          </a:stretch>
        </p:blipFill>
        <p:spPr>
          <a:xfrm>
            <a:off x="2545928" y="2304288"/>
            <a:ext cx="7099839" cy="2395728"/>
          </a:xfrm>
          <a:prstGeom prst="rect">
            <a:avLst/>
          </a:prstGeom>
        </p:spPr>
      </p:pic>
      <p:sp>
        <p:nvSpPr>
          <p:cNvPr id="10" name="Rounded Rectangle 9"/>
          <p:cNvSpPr/>
          <p:nvPr/>
        </p:nvSpPr>
        <p:spPr>
          <a:xfrm>
            <a:off x="566928"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One input per mapped field</a:t>
            </a:r>
          </a:p>
        </p:txBody>
      </p:sp>
      <p:sp>
        <p:nvSpPr>
          <p:cNvPr id="13" name="TextBox 12"/>
          <p:cNvSpPr txBox="1"/>
          <p:nvPr/>
        </p:nvSpPr>
        <p:spPr>
          <a:xfrm>
            <a:off x="768096"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Unchanged. Use values a reviewer can verify by hand — here, eight approved units at ₱250.</a:t>
            </a:r>
          </a:p>
        </p:txBody>
      </p:sp>
      <p:sp>
        <p:nvSpPr>
          <p:cNvPr id="14" name="Rounded Rectangle 13"/>
          <p:cNvSpPr/>
          <p:nvPr/>
        </p:nvSpPr>
        <p:spPr>
          <a:xfrm>
            <a:off x="3365677"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3566845"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3941749"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Expected result</a:t>
            </a:r>
          </a:p>
        </p:txBody>
      </p:sp>
      <p:sp>
        <p:nvSpPr>
          <p:cNvPr id="17" name="TextBox 16"/>
          <p:cNvSpPr txBox="1"/>
          <p:nvPr/>
        </p:nvSpPr>
        <p:spPr>
          <a:xfrm>
            <a:off x="3566845"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New, and optional. State the amount you expect and ATLAS records Passed or Failed against it instead of only the figure it produced.</a:t>
            </a:r>
          </a:p>
        </p:txBody>
      </p:sp>
      <p:sp>
        <p:nvSpPr>
          <p:cNvPr id="18" name="Rounded Rectangle 17"/>
          <p:cNvSpPr/>
          <p:nvPr/>
        </p:nvSpPr>
        <p:spPr>
          <a:xfrm>
            <a:off x="6164426"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365594"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740498"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The run</a:t>
            </a:r>
          </a:p>
        </p:txBody>
      </p:sp>
      <p:sp>
        <p:nvSpPr>
          <p:cNvPr id="21" name="TextBox 20"/>
          <p:cNvSpPr txBox="1"/>
          <p:nvPr/>
        </p:nvSpPr>
        <p:spPr>
          <a:xfrm>
            <a:off x="6365594"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Evaluates the draft. It does not save the record, create payroll, or touch any employee.</a:t>
            </a:r>
          </a:p>
        </p:txBody>
      </p:sp>
      <p:sp>
        <p:nvSpPr>
          <p:cNvPr id="22" name="Rounded Rectangle 21"/>
          <p:cNvSpPr/>
          <p:nvPr/>
        </p:nvSpPr>
        <p:spPr>
          <a:xfrm>
            <a:off x="8963175"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9164343"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539247"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The evidence that is stored</a:t>
            </a:r>
          </a:p>
        </p:txBody>
      </p:sp>
      <p:sp>
        <p:nvSpPr>
          <p:cNvPr id="25" name="TextBox 24"/>
          <p:cNvSpPr txBox="1"/>
          <p:nvPr/>
        </p:nvSpPr>
        <p:spPr>
          <a:xfrm>
            <a:off x="9164343"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Inputs, expected amount, actual amount, result, who tested it and when. This is filed with the version, and shown against it afterwards.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COMPANY-DEFINED COMPUTATIONS</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A rule nothing has used stays fully editable</a:t>
            </a:r>
          </a:p>
        </p:txBody>
      </p:sp>
      <p:sp>
        <p:nvSpPr>
          <p:cNvPr id="6" name="Rounded Rectangle 5"/>
          <p:cNvSpPr/>
          <p:nvPr/>
        </p:nvSpPr>
        <p:spPr>
          <a:xfrm>
            <a:off x="566928" y="1316736"/>
            <a:ext cx="656836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protections are about payroll history, not about locking the library. A company rule no transaction has touched can still be changed or removed.</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Demonstration record created during this walkthrough.</a:t>
            </a:r>
          </a:p>
        </p:txBody>
      </p:sp>
      <p:pic>
        <p:nvPicPr>
          <p:cNvPr id="9" name="Picture 8" descr="fg-newrow.png"/>
          <p:cNvPicPr>
            <a:picLocks noChangeAspect="1"/>
          </p:cNvPicPr>
          <p:nvPr/>
        </p:nvPicPr>
        <p:blipFill>
          <a:blip r:embed="rId2"/>
          <a:stretch>
            <a:fillRect/>
          </a:stretch>
        </p:blipFill>
        <p:spPr>
          <a:xfrm>
            <a:off x="566931" y="2653701"/>
            <a:ext cx="11057833" cy="1696902"/>
          </a:xfrm>
          <a:prstGeom prst="rect">
            <a:avLst/>
          </a:prstGeom>
        </p:spPr>
      </p:pic>
      <p:sp>
        <p:nvSpPr>
          <p:cNvPr id="10" name="Rounded Rectangle 9"/>
          <p:cNvSpPr/>
          <p:nvPr/>
        </p:nvSpPr>
        <p:spPr>
          <a:xfrm>
            <a:off x="566928" y="4606635"/>
            <a:ext cx="210183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4743795"/>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4752939"/>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Generated code</a:t>
            </a:r>
          </a:p>
        </p:txBody>
      </p:sp>
      <p:sp>
        <p:nvSpPr>
          <p:cNvPr id="13" name="TextBox 12"/>
          <p:cNvSpPr txBox="1"/>
          <p:nvPr/>
        </p:nvSpPr>
        <p:spPr>
          <a:xfrm>
            <a:off x="768096" y="5008971"/>
            <a:ext cx="169950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ERN-007, from the Earnings category. It sorts and reads beside the Atlas earnings standards.</a:t>
            </a:r>
          </a:p>
        </p:txBody>
      </p:sp>
      <p:sp>
        <p:nvSpPr>
          <p:cNvPr id="14" name="Rounded Rectangle 13"/>
          <p:cNvSpPr/>
          <p:nvPr/>
        </p:nvSpPr>
        <p:spPr>
          <a:xfrm>
            <a:off x="2805927" y="4606635"/>
            <a:ext cx="210183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3007095" y="4743795"/>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3381999" y="4752939"/>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Company-defined</a:t>
            </a:r>
          </a:p>
        </p:txBody>
      </p:sp>
      <p:sp>
        <p:nvSpPr>
          <p:cNvPr id="17" name="TextBox 16"/>
          <p:cNvSpPr txBox="1"/>
          <p:nvPr/>
        </p:nvSpPr>
        <p:spPr>
          <a:xfrm>
            <a:off x="3007095" y="5008971"/>
            <a:ext cx="169950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Created for this company and maintained here, unlike an Atlas standard.</a:t>
            </a:r>
          </a:p>
        </p:txBody>
      </p:sp>
      <p:sp>
        <p:nvSpPr>
          <p:cNvPr id="18" name="Rounded Rectangle 17"/>
          <p:cNvSpPr/>
          <p:nvPr/>
        </p:nvSpPr>
        <p:spPr>
          <a:xfrm>
            <a:off x="5044926" y="4606635"/>
            <a:ext cx="210183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5246094" y="4743795"/>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5620998" y="4752939"/>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Inactive on creation</a:t>
            </a:r>
          </a:p>
        </p:txBody>
      </p:sp>
      <p:sp>
        <p:nvSpPr>
          <p:cNvPr id="21" name="TextBox 20"/>
          <p:cNvSpPr txBox="1"/>
          <p:nvPr/>
        </p:nvSpPr>
        <p:spPr>
          <a:xfrm>
            <a:off x="5246094" y="5008971"/>
            <a:ext cx="169950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It was created Inactive. Nothing selects it for payroll until somebody activates it.</a:t>
            </a:r>
          </a:p>
        </p:txBody>
      </p:sp>
      <p:sp>
        <p:nvSpPr>
          <p:cNvPr id="22" name="Rounded Rectangle 21"/>
          <p:cNvSpPr/>
          <p:nvPr/>
        </p:nvSpPr>
        <p:spPr>
          <a:xfrm>
            <a:off x="7283925" y="4606635"/>
            <a:ext cx="210183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485093" y="4743795"/>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7859997" y="4752939"/>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Not used yet</a:t>
            </a:r>
          </a:p>
        </p:txBody>
      </p:sp>
      <p:sp>
        <p:nvSpPr>
          <p:cNvPr id="25" name="TextBox 24"/>
          <p:cNvSpPr txBox="1"/>
          <p:nvPr/>
        </p:nvSpPr>
        <p:spPr>
          <a:xfrm>
            <a:off x="7485093" y="5008971"/>
            <a:ext cx="169950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No payroll transaction references it, which is what keeps the next column open.</a:t>
            </a:r>
          </a:p>
        </p:txBody>
      </p:sp>
      <p:sp>
        <p:nvSpPr>
          <p:cNvPr id="26" name="Rounded Rectangle 25"/>
          <p:cNvSpPr/>
          <p:nvPr/>
        </p:nvSpPr>
        <p:spPr>
          <a:xfrm>
            <a:off x="9522924" y="4606635"/>
            <a:ext cx="210183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9724092" y="4743795"/>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5</a:t>
            </a:r>
          </a:p>
        </p:txBody>
      </p:sp>
      <p:sp>
        <p:nvSpPr>
          <p:cNvPr id="28" name="TextBox 27"/>
          <p:cNvSpPr txBox="1"/>
          <p:nvPr/>
        </p:nvSpPr>
        <p:spPr>
          <a:xfrm>
            <a:off x="10098996" y="4752939"/>
            <a:ext cx="1324599" cy="67665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Every action available</a:t>
            </a:r>
          </a:p>
        </p:txBody>
      </p:sp>
      <p:sp>
        <p:nvSpPr>
          <p:cNvPr id="29" name="TextBox 28"/>
          <p:cNvSpPr txBox="1"/>
          <p:nvPr/>
        </p:nvSpPr>
        <p:spPr>
          <a:xfrm>
            <a:off x="9724092" y="5283291"/>
            <a:ext cx="1699503" cy="466344"/>
          </a:xfrm>
          <a:prstGeom prst="rect">
            <a:avLst/>
          </a:prstGeom>
          <a:noFill/>
        </p:spPr>
        <p:txBody>
          <a:bodyPr wrap="square" anchor="t" lIns="0" rIns="0" tIns="0" bIns="0">
            <a:spAutoFit/>
          </a:bodyPr>
          <a:lstStyle/>
          <a:p>
            <a:pPr algn="l">
              <a:lnSpc>
                <a:spcPct val="126000"/>
              </a:lnSpc>
              <a:spcBef>
                <a:spcPts val="0"/>
              </a:spcBef>
              <a:spcAft>
                <a:spcPts val="0"/>
              </a:spcAft>
            </a:pPr>
            <a:r>
              <a:rPr sz="850" b="0" i="0">
                <a:solidFill>
                  <a:srgbClr val="6B6675"/>
                </a:solidFill>
                <a:latin typeface="Segoe UI"/>
              </a:rPr>
              <a:t>View, activate, edit and delete. Compare this row with the protected standards shown earlier.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10</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Evidence that stays with the record</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Versions keep their own formula and their own proof, and the log carries the values that changed.</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Version history</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diff</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log</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VERSION HISTORY</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Each version keeps its formula and its proof</a:t>
            </a:r>
          </a:p>
        </p:txBody>
      </p:sp>
      <p:sp>
        <p:nvSpPr>
          <p:cNvPr id="6" name="Rounded Rectangle 5"/>
          <p:cNvSpPr/>
          <p:nvPr/>
        </p:nvSpPr>
        <p:spPr>
          <a:xfrm>
            <a:off x="566928" y="1316736"/>
            <a:ext cx="8009763"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View › Version history</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Editing the rule published version 1.1 and left 1.0 intact. Both versions carry the expression they published and the test that was run against it.</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Editing the expression retires the earlier test, so each version publishes with proof of the formula it contains.</a:t>
            </a:r>
          </a:p>
        </p:txBody>
      </p:sp>
      <p:pic>
        <p:nvPicPr>
          <p:cNvPr id="9" name="Picture 8" descr="fg-versions.png"/>
          <p:cNvPicPr>
            <a:picLocks noChangeAspect="1"/>
          </p:cNvPicPr>
          <p:nvPr/>
        </p:nvPicPr>
        <p:blipFill>
          <a:blip r:embed="rId2"/>
          <a:stretch>
            <a:fillRect/>
          </a:stretch>
        </p:blipFill>
        <p:spPr>
          <a:xfrm>
            <a:off x="566928" y="2304288"/>
            <a:ext cx="5318111" cy="3895343"/>
          </a:xfrm>
          <a:prstGeom prst="rect">
            <a:avLst/>
          </a:prstGeom>
        </p:spPr>
      </p:pic>
      <p:sp>
        <p:nvSpPr>
          <p:cNvPr id="10" name="Rounded Rectangle 9"/>
          <p:cNvSpPr/>
          <p:nvPr/>
        </p:nvSpPr>
        <p:spPr>
          <a:xfrm>
            <a:off x="6177647" y="2304288"/>
            <a:ext cx="5447120" cy="1879092"/>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378815"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6753719" y="2450592"/>
            <a:ext cx="466988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current version</a:t>
            </a:r>
          </a:p>
        </p:txBody>
      </p:sp>
      <p:sp>
        <p:nvSpPr>
          <p:cNvPr id="13" name="TextBox 12"/>
          <p:cNvSpPr txBox="1"/>
          <p:nvPr/>
        </p:nvSpPr>
        <p:spPr>
          <a:xfrm>
            <a:off x="6378815" y="2706624"/>
            <a:ext cx="5044784" cy="1376172"/>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Its expression, the change note, who published it and when, what changed against the version before it, and the test evidence recorded for this formula.</a:t>
            </a:r>
          </a:p>
        </p:txBody>
      </p:sp>
      <p:sp>
        <p:nvSpPr>
          <p:cNvPr id="14" name="Rounded Rectangle 13"/>
          <p:cNvSpPr/>
          <p:nvPr/>
        </p:nvSpPr>
        <p:spPr>
          <a:xfrm>
            <a:off x="6177647" y="4320540"/>
            <a:ext cx="5447120" cy="1879092"/>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378815" y="4457700"/>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6753719" y="4466844"/>
            <a:ext cx="466988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version it replaced</a:t>
            </a:r>
          </a:p>
        </p:txBody>
      </p:sp>
      <p:sp>
        <p:nvSpPr>
          <p:cNvPr id="17" name="TextBox 16"/>
          <p:cNvSpPr txBox="1"/>
          <p:nvPr/>
        </p:nvSpPr>
        <p:spPr>
          <a:xfrm>
            <a:off x="6378815" y="4722876"/>
            <a:ext cx="5044784" cy="1376172"/>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Kept in full, with its own expression and its own evidence. This is what a payroll computed before the change still resolves against.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CHANGE HISTORY</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You see what the save will change before you make it</a:t>
            </a:r>
          </a:p>
        </p:txBody>
      </p:sp>
      <p:sp>
        <p:nvSpPr>
          <p:cNvPr id="6" name="Rounded Rectangle 5"/>
          <p:cNvSpPr/>
          <p:nvPr/>
        </p:nvSpPr>
        <p:spPr>
          <a:xfrm>
            <a:off x="566928" y="1316736"/>
            <a:ext cx="87464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Edit computation › Change details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Change details now compares the draft against the published record and lists the fields that will move, with their values on both sides.</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Demonstration edit: adding a rest-day premium and moving the effective date.</a:t>
            </a:r>
          </a:p>
        </p:txBody>
      </p:sp>
      <p:pic>
        <p:nvPicPr>
          <p:cNvPr id="9" name="Picture 8" descr="fg-diff.png"/>
          <p:cNvPicPr>
            <a:picLocks noChangeAspect="1"/>
          </p:cNvPicPr>
          <p:nvPr/>
        </p:nvPicPr>
        <p:blipFill>
          <a:blip r:embed="rId2"/>
          <a:stretch>
            <a:fillRect/>
          </a:stretch>
        </p:blipFill>
        <p:spPr>
          <a:xfrm>
            <a:off x="1579573" y="2304288"/>
            <a:ext cx="9032548" cy="2450592"/>
          </a:xfrm>
          <a:prstGeom prst="rect">
            <a:avLst/>
          </a:prstGeom>
        </p:spPr>
      </p:pic>
      <p:sp>
        <p:nvSpPr>
          <p:cNvPr id="10" name="Rounded Rectangle 9"/>
          <p:cNvSpPr/>
          <p:nvPr/>
        </p:nvSpPr>
        <p:spPr>
          <a:xfrm>
            <a:off x="566928"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The fields tracked</a:t>
            </a:r>
          </a:p>
        </p:txBody>
      </p:sp>
      <p:sp>
        <p:nvSpPr>
          <p:cNvPr id="13" name="TextBox 12"/>
          <p:cNvSpPr txBox="1"/>
          <p:nvPr/>
        </p:nvSpPr>
        <p:spPr>
          <a:xfrm>
            <a:off x="768096"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Expression, status, effective date, name, category and description. A change to any of them is recorded.</a:t>
            </a:r>
          </a:p>
        </p:txBody>
      </p:sp>
      <p:sp>
        <p:nvSpPr>
          <p:cNvPr id="14" name="Rounded Rectangle 13"/>
          <p:cNvSpPr/>
          <p:nvPr/>
        </p:nvSpPr>
        <p:spPr>
          <a:xfrm>
            <a:off x="4298594"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99762"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4874666"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Before</a:t>
            </a:r>
          </a:p>
        </p:txBody>
      </p:sp>
      <p:sp>
        <p:nvSpPr>
          <p:cNvPr id="17" name="TextBox 16"/>
          <p:cNvSpPr txBox="1"/>
          <p:nvPr/>
        </p:nvSpPr>
        <p:spPr>
          <a:xfrm>
            <a:off x="4499762"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value on the published record, as payroll would resolve it until this save goes through.</a:t>
            </a:r>
          </a:p>
        </p:txBody>
      </p:sp>
      <p:sp>
        <p:nvSpPr>
          <p:cNvPr id="18" name="Rounded Rectangle 17"/>
          <p:cNvSpPr/>
          <p:nvPr/>
        </p:nvSpPr>
        <p:spPr>
          <a:xfrm>
            <a:off x="8030260"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231428"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606332"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After</a:t>
            </a:r>
          </a:p>
        </p:txBody>
      </p:sp>
      <p:sp>
        <p:nvSpPr>
          <p:cNvPr id="21" name="TextBox 20"/>
          <p:cNvSpPr txBox="1"/>
          <p:nvPr/>
        </p:nvSpPr>
        <p:spPr>
          <a:xfrm>
            <a:off x="8231428"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value the draft will publish. The same list is written into change history when you save.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CHANGE HISTORY</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The log records the change, not only that something changed</a:t>
            </a:r>
          </a:p>
        </p:txBody>
      </p:sp>
      <p:sp>
        <p:nvSpPr>
          <p:cNvPr id="6" name="Rounded Rectangle 5"/>
          <p:cNvSpPr/>
          <p:nvPr/>
        </p:nvSpPr>
        <p:spPr>
          <a:xfrm>
            <a:off x="566928" y="1316736"/>
            <a:ext cx="6622436"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Change history</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Part 1's history gave the item, action, version, user and date. It now carries the before and after values on the same entry.</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Entries are recorded per company. Reference source versions and activations appear in the same list.</a:t>
            </a:r>
          </a:p>
        </p:txBody>
      </p:sp>
      <p:pic>
        <p:nvPicPr>
          <p:cNvPr id="9" name="Picture 8" descr="fg-history.png"/>
          <p:cNvPicPr>
            <a:picLocks noChangeAspect="1"/>
          </p:cNvPicPr>
          <p:nvPr/>
        </p:nvPicPr>
        <p:blipFill>
          <a:blip r:embed="rId2"/>
          <a:stretch>
            <a:fillRect/>
          </a:stretch>
        </p:blipFill>
        <p:spPr>
          <a:xfrm>
            <a:off x="1984299" y="2304288"/>
            <a:ext cx="8223097" cy="2450592"/>
          </a:xfrm>
          <a:prstGeom prst="rect">
            <a:avLst/>
          </a:prstGeom>
        </p:spPr>
      </p:pic>
      <p:sp>
        <p:nvSpPr>
          <p:cNvPr id="10" name="Rounded Rectangle 9"/>
          <p:cNvSpPr/>
          <p:nvPr/>
        </p:nvSpPr>
        <p:spPr>
          <a:xfrm>
            <a:off x="566928"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What was changed</a:t>
            </a:r>
          </a:p>
        </p:txBody>
      </p:sp>
      <p:sp>
        <p:nvSpPr>
          <p:cNvPr id="13" name="TextBox 12"/>
          <p:cNvSpPr txBox="1"/>
          <p:nvPr/>
        </p:nvSpPr>
        <p:spPr>
          <a:xfrm>
            <a:off x="768096"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code and name of the record, and the kind of thing it is — a computation, an assignment or a reference source.</a:t>
            </a:r>
          </a:p>
        </p:txBody>
      </p:sp>
      <p:sp>
        <p:nvSpPr>
          <p:cNvPr id="14" name="Rounded Rectangle 13"/>
          <p:cNvSpPr/>
          <p:nvPr/>
        </p:nvSpPr>
        <p:spPr>
          <a:xfrm>
            <a:off x="4298594"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99762"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4874666"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Before and after</a:t>
            </a:r>
          </a:p>
        </p:txBody>
      </p:sp>
      <p:sp>
        <p:nvSpPr>
          <p:cNvPr id="17" name="TextBox 16"/>
          <p:cNvSpPr txBox="1"/>
          <p:nvPr/>
        </p:nvSpPr>
        <p:spPr>
          <a:xfrm>
            <a:off x="4499762"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Each changed field with its previous and new value, so an edit can be reconstructed without opening the record.</a:t>
            </a:r>
          </a:p>
        </p:txBody>
      </p:sp>
      <p:sp>
        <p:nvSpPr>
          <p:cNvPr id="18" name="Rounded Rectangle 17"/>
          <p:cNvSpPr/>
          <p:nvPr/>
        </p:nvSpPr>
        <p:spPr>
          <a:xfrm>
            <a:off x="8030260"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231428"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606332"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Who, when, which version</a:t>
            </a:r>
          </a:p>
        </p:txBody>
      </p:sp>
      <p:sp>
        <p:nvSpPr>
          <p:cNvPr id="21" name="TextBox 20"/>
          <p:cNvSpPr txBox="1"/>
          <p:nvPr/>
        </p:nvSpPr>
        <p:spPr>
          <a:xfrm>
            <a:off x="8231428"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actor, the timestamp and the version the change produced — the three facts an audit asks for.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11</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Values and volume</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Rates that change on a date, and maintaining a register once it grows.</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Reference versions</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Bulk maintenance</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Import</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EFFECTIVE-DATED VALUES</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A reference source now carries its published versions</a:t>
            </a:r>
          </a:p>
        </p:txBody>
      </p:sp>
      <p:sp>
        <p:nvSpPr>
          <p:cNvPr id="6" name="Rounded Rectangle 5"/>
          <p:cNvSpPr/>
          <p:nvPr/>
        </p:nvSpPr>
        <p:spPr>
          <a:xfrm>
            <a:off x="566928" y="1316736"/>
            <a:ext cx="6809613"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Reference sources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card shows how many versions exist, and opens the history beside the usual manage, template and upload actions.</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Statutory sources stay linked here and maintained in Settings.</a:t>
            </a:r>
          </a:p>
        </p:txBody>
      </p:sp>
      <p:pic>
        <p:nvPicPr>
          <p:cNvPr id="9" name="Picture 8" descr="ref-card.png"/>
          <p:cNvPicPr>
            <a:picLocks noChangeAspect="1"/>
          </p:cNvPicPr>
          <p:nvPr/>
        </p:nvPicPr>
        <p:blipFill>
          <a:blip r:embed="rId2"/>
          <a:stretch>
            <a:fillRect/>
          </a:stretch>
        </p:blipFill>
        <p:spPr>
          <a:xfrm>
            <a:off x="4213554" y="2304288"/>
            <a:ext cx="3764587" cy="2706624"/>
          </a:xfrm>
          <a:prstGeom prst="rect">
            <a:avLst/>
          </a:prstGeom>
        </p:spPr>
      </p:pic>
      <p:sp>
        <p:nvSpPr>
          <p:cNvPr id="10" name="Rectangle 9"/>
          <p:cNvSpPr/>
          <p:nvPr/>
        </p:nvSpPr>
        <p:spPr>
          <a:xfrm>
            <a:off x="566928"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2"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Published versions</a:t>
            </a:r>
          </a:p>
        </p:txBody>
      </p:sp>
      <p:sp>
        <p:nvSpPr>
          <p:cNvPr id="12" name="TextBox 11"/>
          <p:cNvSpPr txBox="1"/>
          <p:nvPr/>
        </p:nvSpPr>
        <p:spPr>
          <a:xfrm>
            <a:off x="713232"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Every version that has been issued, not just the current one.</a:t>
            </a:r>
          </a:p>
        </p:txBody>
      </p:sp>
      <p:sp>
        <p:nvSpPr>
          <p:cNvPr id="13" name="Rectangle 12"/>
          <p:cNvSpPr/>
          <p:nvPr/>
        </p:nvSpPr>
        <p:spPr>
          <a:xfrm>
            <a:off x="4301642"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447946"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Versions</a:t>
            </a:r>
          </a:p>
        </p:txBody>
      </p:sp>
      <p:sp>
        <p:nvSpPr>
          <p:cNvPr id="15" name="TextBox 14"/>
          <p:cNvSpPr txBox="1"/>
          <p:nvPr/>
        </p:nvSpPr>
        <p:spPr>
          <a:xfrm>
            <a:off x="4447946"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Opens the full history with each version's rows.</a:t>
            </a:r>
          </a:p>
        </p:txBody>
      </p:sp>
      <p:sp>
        <p:nvSpPr>
          <p:cNvPr id="16" name="Rectangle 15"/>
          <p:cNvSpPr/>
          <p:nvPr/>
        </p:nvSpPr>
        <p:spPr>
          <a:xfrm>
            <a:off x="8036356"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82660"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Upload version</a:t>
            </a:r>
          </a:p>
        </p:txBody>
      </p:sp>
      <p:sp>
        <p:nvSpPr>
          <p:cNvPr id="18" name="TextBox 17"/>
          <p:cNvSpPr txBox="1"/>
          <p:nvPr/>
        </p:nvSpPr>
        <p:spPr>
          <a:xfrm>
            <a:off x="8182660"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Publishes a new version and keeps the one it supersedes.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EFFECTIVE-DATED VALUES</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A new rate does not overwrite the old one</a:t>
            </a:r>
          </a:p>
        </p:txBody>
      </p:sp>
      <p:sp>
        <p:nvSpPr>
          <p:cNvPr id="6" name="Rounded Rectangle 5"/>
          <p:cNvSpPr/>
          <p:nvPr/>
        </p:nvSpPr>
        <p:spPr>
          <a:xfrm>
            <a:off x="566928" y="1316736"/>
            <a:ext cx="7444464"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Reference sources › Versions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Publishing a new version of a reference source keeps the version it supersedes, so a payroll computed under the old ceiling still resolves the old ceiling.</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Demonstration: a De Minimis ceiling republished with a January effective date.</a:t>
            </a:r>
          </a:p>
        </p:txBody>
      </p:sp>
      <p:pic>
        <p:nvPicPr>
          <p:cNvPr id="9" name="Picture 8" descr="fg-ref-versions.png"/>
          <p:cNvPicPr>
            <a:picLocks noChangeAspect="1"/>
          </p:cNvPicPr>
          <p:nvPr/>
        </p:nvPicPr>
        <p:blipFill>
          <a:blip r:embed="rId2"/>
          <a:stretch>
            <a:fillRect/>
          </a:stretch>
        </p:blipFill>
        <p:spPr>
          <a:xfrm>
            <a:off x="566928" y="2304288"/>
            <a:ext cx="6569375" cy="3895343"/>
          </a:xfrm>
          <a:prstGeom prst="rect">
            <a:avLst/>
          </a:prstGeom>
        </p:spPr>
      </p:pic>
      <p:sp>
        <p:nvSpPr>
          <p:cNvPr id="10" name="Rounded Rectangle 9"/>
          <p:cNvSpPr/>
          <p:nvPr/>
        </p:nvSpPr>
        <p:spPr>
          <a:xfrm>
            <a:off x="7428911" y="2304288"/>
            <a:ext cx="4195856" cy="1879092"/>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30079"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8004983" y="2450592"/>
            <a:ext cx="3418616"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current version</a:t>
            </a:r>
          </a:p>
        </p:txBody>
      </p:sp>
      <p:sp>
        <p:nvSpPr>
          <p:cNvPr id="13" name="TextBox 12"/>
          <p:cNvSpPr txBox="1"/>
          <p:nvPr/>
        </p:nvSpPr>
        <p:spPr>
          <a:xfrm>
            <a:off x="7630079" y="2706624"/>
            <a:ext cx="3793520" cy="1376172"/>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Effective from its own date, with the rows as they now stand. Payroll uses this for any payout date on or after that date.</a:t>
            </a:r>
          </a:p>
        </p:txBody>
      </p:sp>
      <p:sp>
        <p:nvSpPr>
          <p:cNvPr id="14" name="Rounded Rectangle 13"/>
          <p:cNvSpPr/>
          <p:nvPr/>
        </p:nvSpPr>
        <p:spPr>
          <a:xfrm>
            <a:off x="7428911" y="4320540"/>
            <a:ext cx="4195856" cy="1879092"/>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630079" y="4457700"/>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8004983" y="4466844"/>
            <a:ext cx="3418616"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version it replaced</a:t>
            </a:r>
          </a:p>
        </p:txBody>
      </p:sp>
      <p:sp>
        <p:nvSpPr>
          <p:cNvPr id="17" name="TextBox 16"/>
          <p:cNvSpPr txBox="1"/>
          <p:nvPr/>
        </p:nvSpPr>
        <p:spPr>
          <a:xfrm>
            <a:off x="7630079" y="4722876"/>
            <a:ext cx="3793520" cy="1376172"/>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Kept with its own rows and its own effective date. A payout date before the change still resolves these values.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BULK MAINTENANCE</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Maintaining the register once it grows</a:t>
            </a:r>
          </a:p>
        </p:txBody>
      </p:sp>
      <p:sp>
        <p:nvSpPr>
          <p:cNvPr id="6" name="Rounded Rectangle 5"/>
          <p:cNvSpPr/>
          <p:nvPr/>
        </p:nvSpPr>
        <p:spPr>
          <a:xfrm>
            <a:off x="566928" y="1316736"/>
            <a:ext cx="656836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Filtering, selecting and moving a set of rules together, and loading a migration in one file.</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A bulk action reports the codes it could not move, and why, rather than skipping them silently.</a:t>
            </a:r>
          </a:p>
        </p:txBody>
      </p:sp>
      <p:sp>
        <p:nvSpPr>
          <p:cNvPr id="9" name="Rounded Rectangle 8"/>
          <p:cNvSpPr/>
          <p:nvPr/>
        </p:nvSpPr>
        <p:spPr>
          <a:xfrm>
            <a:off x="566928" y="26517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26517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22376" y="28346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1</a:t>
            </a:r>
          </a:p>
        </p:txBody>
      </p:sp>
      <p:sp>
        <p:nvSpPr>
          <p:cNvPr id="12" name="TextBox 11"/>
          <p:cNvSpPr txBox="1"/>
          <p:nvPr/>
        </p:nvSpPr>
        <p:spPr>
          <a:xfrm>
            <a:off x="1133856" y="28895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Select what the filter found</a:t>
            </a:r>
          </a:p>
        </p:txBody>
      </p:sp>
      <p:sp>
        <p:nvSpPr>
          <p:cNvPr id="13" name="TextBox 12"/>
          <p:cNvSpPr txBox="1"/>
          <p:nvPr/>
        </p:nvSpPr>
        <p:spPr>
          <a:xfrm>
            <a:off x="822960" y="33649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Search and filter the register, then select every row the filter returned — not only the page on screen.</a:t>
            </a:r>
          </a:p>
        </p:txBody>
      </p:sp>
      <p:sp>
        <p:nvSpPr>
          <p:cNvPr id="14" name="Rounded Rectangle 13"/>
          <p:cNvSpPr/>
          <p:nvPr/>
        </p:nvSpPr>
        <p:spPr>
          <a:xfrm>
            <a:off x="4307738" y="26517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07738" y="26517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463186" y="28346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2</a:t>
            </a:r>
          </a:p>
        </p:txBody>
      </p:sp>
      <p:sp>
        <p:nvSpPr>
          <p:cNvPr id="17" name="TextBox 16"/>
          <p:cNvSpPr txBox="1"/>
          <p:nvPr/>
        </p:nvSpPr>
        <p:spPr>
          <a:xfrm>
            <a:off x="4874666" y="28895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Move a set together</a:t>
            </a:r>
          </a:p>
        </p:txBody>
      </p:sp>
      <p:sp>
        <p:nvSpPr>
          <p:cNvPr id="18" name="TextBox 17"/>
          <p:cNvSpPr txBox="1"/>
          <p:nvPr/>
        </p:nvSpPr>
        <p:spPr>
          <a:xfrm>
            <a:off x="4563770" y="33649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Activate or deactivate the whole selection in one action, with the codes that could not move reported by code and reason.</a:t>
            </a:r>
          </a:p>
        </p:txBody>
      </p:sp>
      <p:sp>
        <p:nvSpPr>
          <p:cNvPr id="19" name="Rounded Rectangle 18"/>
          <p:cNvSpPr/>
          <p:nvPr/>
        </p:nvSpPr>
        <p:spPr>
          <a:xfrm>
            <a:off x="8048548" y="26517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48548" y="26517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8203996" y="28346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3</a:t>
            </a:r>
          </a:p>
        </p:txBody>
      </p:sp>
      <p:sp>
        <p:nvSpPr>
          <p:cNvPr id="22" name="TextBox 21"/>
          <p:cNvSpPr txBox="1"/>
          <p:nvPr/>
        </p:nvSpPr>
        <p:spPr>
          <a:xfrm>
            <a:off x="8615476" y="28895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Import creates as well as updates</a:t>
            </a:r>
          </a:p>
        </p:txBody>
      </p:sp>
      <p:sp>
        <p:nvSpPr>
          <p:cNvPr id="23" name="TextBox 22"/>
          <p:cNvSpPr txBox="1"/>
          <p:nvPr/>
        </p:nvSpPr>
        <p:spPr>
          <a:xfrm>
            <a:off x="8304580" y="33649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 row whose code exists updates that computation. A row whose code is new — or blank — creates one, generated from its category.</a:t>
            </a:r>
          </a:p>
        </p:txBody>
      </p:sp>
      <p:sp>
        <p:nvSpPr>
          <p:cNvPr id="24" name="Rounded Rectangle 23"/>
          <p:cNvSpPr/>
          <p:nvPr/>
        </p:nvSpPr>
        <p:spPr>
          <a:xfrm>
            <a:off x="566928" y="42443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66928" y="4244339"/>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722376" y="4427219"/>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4</a:t>
            </a:r>
          </a:p>
        </p:txBody>
      </p:sp>
      <p:sp>
        <p:nvSpPr>
          <p:cNvPr id="27" name="TextBox 26"/>
          <p:cNvSpPr txBox="1"/>
          <p:nvPr/>
        </p:nvSpPr>
        <p:spPr>
          <a:xfrm>
            <a:off x="1133856" y="44820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New rows arrive Inactive</a:t>
            </a:r>
          </a:p>
        </p:txBody>
      </p:sp>
      <p:sp>
        <p:nvSpPr>
          <p:cNvPr id="28" name="TextBox 27"/>
          <p:cNvSpPr txBox="1"/>
          <p:nvPr/>
        </p:nvSpPr>
        <p:spPr>
          <a:xfrm>
            <a:off x="822960" y="49575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Imported records are created Inactive so a migration can be reviewed before any of it computes.</a:t>
            </a:r>
          </a:p>
        </p:txBody>
      </p:sp>
      <p:sp>
        <p:nvSpPr>
          <p:cNvPr id="29" name="Rounded Rectangle 28"/>
          <p:cNvSpPr/>
          <p:nvPr/>
        </p:nvSpPr>
        <p:spPr>
          <a:xfrm>
            <a:off x="4307738" y="42443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307738" y="4244339"/>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463186" y="4427219"/>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5</a:t>
            </a:r>
          </a:p>
        </p:txBody>
      </p:sp>
      <p:sp>
        <p:nvSpPr>
          <p:cNvPr id="32" name="TextBox 31"/>
          <p:cNvSpPr txBox="1"/>
          <p:nvPr/>
        </p:nvSpPr>
        <p:spPr>
          <a:xfrm>
            <a:off x="4874666" y="44820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Standards stay as they are</a:t>
            </a:r>
          </a:p>
        </p:txBody>
      </p:sp>
      <p:sp>
        <p:nvSpPr>
          <p:cNvPr id="33" name="TextBox 32"/>
          <p:cNvSpPr txBox="1"/>
          <p:nvPr/>
        </p:nvSpPr>
        <p:spPr>
          <a:xfrm>
            <a:off x="4563770" y="49575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 company import leaves every Atlas standard untouched, and reports those rows as unchanged rather than passing over them in silence.</a:t>
            </a:r>
          </a:p>
        </p:txBody>
      </p:sp>
      <p:sp>
        <p:nvSpPr>
          <p:cNvPr id="34" name="Rounded Rectangle 33"/>
          <p:cNvSpPr/>
          <p:nvPr/>
        </p:nvSpPr>
        <p:spPr>
          <a:xfrm>
            <a:off x="8048548" y="42443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048548" y="4244339"/>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203996" y="4427219"/>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6</a:t>
            </a:r>
          </a:p>
        </p:txBody>
      </p:sp>
      <p:sp>
        <p:nvSpPr>
          <p:cNvPr id="37" name="TextBox 36"/>
          <p:cNvSpPr txBox="1"/>
          <p:nvPr/>
        </p:nvSpPr>
        <p:spPr>
          <a:xfrm>
            <a:off x="8615476" y="44820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The template matches the importer</a:t>
            </a:r>
          </a:p>
        </p:txBody>
      </p:sp>
      <p:sp>
        <p:nvSpPr>
          <p:cNvPr id="38" name="TextBox 37"/>
          <p:cNvSpPr txBox="1"/>
          <p:nvPr/>
        </p:nvSpPr>
        <p:spPr>
          <a:xfrm>
            <a:off x="8304580" y="49575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Download template carries the real headers, rows from this company, and a commented key of every category, status and approved field.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BULK MAINTENANCE</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Filter, select, and move a set of rules together</a:t>
            </a:r>
          </a:p>
        </p:txBody>
      </p:sp>
      <p:sp>
        <p:nvSpPr>
          <p:cNvPr id="6" name="Rounded Rectangle 5"/>
          <p:cNvSpPr/>
          <p:nvPr/>
        </p:nvSpPr>
        <p:spPr>
          <a:xfrm>
            <a:off x="566928" y="1316736"/>
            <a:ext cx="656836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Filtering the register down and acting on what the filter found, which is how the register is maintained once a company has more than a handful of rules.</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Bulk import also creates records now, not only updates: see the next page.</a:t>
            </a:r>
          </a:p>
        </p:txBody>
      </p:sp>
      <p:pic>
        <p:nvPicPr>
          <p:cNvPr id="9" name="Picture 8" descr="fg-bulk.png"/>
          <p:cNvPicPr>
            <a:picLocks noChangeAspect="1"/>
          </p:cNvPicPr>
          <p:nvPr/>
        </p:nvPicPr>
        <p:blipFill>
          <a:blip r:embed="rId2"/>
          <a:stretch>
            <a:fillRect/>
          </a:stretch>
        </p:blipFill>
        <p:spPr>
          <a:xfrm>
            <a:off x="2267591" y="2304288"/>
            <a:ext cx="7656512" cy="2450592"/>
          </a:xfrm>
          <a:prstGeom prst="rect">
            <a:avLst/>
          </a:prstGeom>
        </p:spPr>
      </p:pic>
      <p:sp>
        <p:nvSpPr>
          <p:cNvPr id="10" name="Rounded Rectangle 9"/>
          <p:cNvSpPr/>
          <p:nvPr/>
        </p:nvSpPr>
        <p:spPr>
          <a:xfrm>
            <a:off x="566928"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Act on the selection</a:t>
            </a:r>
          </a:p>
        </p:txBody>
      </p:sp>
      <p:sp>
        <p:nvSpPr>
          <p:cNvPr id="13" name="TextBox 12"/>
          <p:cNvSpPr txBox="1"/>
          <p:nvPr/>
        </p:nvSpPr>
        <p:spPr>
          <a:xfrm>
            <a:off x="768096"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Activate or deactivate everything selected. Anything a payroll transaction holds is reported by code rather than skipped silently.</a:t>
            </a:r>
          </a:p>
        </p:txBody>
      </p:sp>
      <p:sp>
        <p:nvSpPr>
          <p:cNvPr id="14" name="Rounded Rectangle 13"/>
          <p:cNvSpPr/>
          <p:nvPr/>
        </p:nvSpPr>
        <p:spPr>
          <a:xfrm>
            <a:off x="4298594"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99762"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4874666"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Select all filtered</a:t>
            </a:r>
          </a:p>
        </p:txBody>
      </p:sp>
      <p:sp>
        <p:nvSpPr>
          <p:cNvPr id="17" name="TextBox 16"/>
          <p:cNvSpPr txBox="1"/>
          <p:nvPr/>
        </p:nvSpPr>
        <p:spPr>
          <a:xfrm>
            <a:off x="4499762"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Selects every row the current search and filters return, not only the page on screen.</a:t>
            </a:r>
          </a:p>
        </p:txBody>
      </p:sp>
      <p:sp>
        <p:nvSpPr>
          <p:cNvPr id="18" name="Rounded Rectangle 17"/>
          <p:cNvSpPr/>
          <p:nvPr/>
        </p:nvSpPr>
        <p:spPr>
          <a:xfrm>
            <a:off x="8030260"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231428"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606332"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Select individually</a:t>
            </a:r>
          </a:p>
        </p:txBody>
      </p:sp>
      <p:sp>
        <p:nvSpPr>
          <p:cNvPr id="21" name="TextBox 20"/>
          <p:cNvSpPr txBox="1"/>
          <p:nvPr/>
        </p:nvSpPr>
        <p:spPr>
          <a:xfrm>
            <a:off x="8231428"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Pick specific rules out of the filtered set when only some of them are moving.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FOR THE MEETING</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Decisions to agree before go-live</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These are the business decisions still open. Each one has a screen behind it in this deck.</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The build proceeded on the defaults described here so the screens could be shown; each remains a decision to confirm.</a:t>
            </a:r>
          </a:p>
        </p:txBody>
      </p:sp>
      <p:sp>
        <p:nvSpPr>
          <p:cNvPr id="8" name="Rounded Rectangle 7"/>
          <p:cNvSpPr/>
          <p:nvPr/>
        </p:nvSpPr>
        <p:spPr>
          <a:xfrm>
            <a:off x="566928" y="2194560"/>
            <a:ext cx="3576218" cy="1593088"/>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2194560"/>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22376" y="2377440"/>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1</a:t>
            </a:r>
          </a:p>
        </p:txBody>
      </p:sp>
      <p:sp>
        <p:nvSpPr>
          <p:cNvPr id="11" name="TextBox 10"/>
          <p:cNvSpPr txBox="1"/>
          <p:nvPr/>
        </p:nvSpPr>
        <p:spPr>
          <a:xfrm>
            <a:off x="113385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Owner and fallback per field</a:t>
            </a:r>
          </a:p>
        </p:txBody>
      </p:sp>
      <p:sp>
        <p:nvSpPr>
          <p:cNvPr id="12" name="TextBox 11"/>
          <p:cNvSpPr txBox="1"/>
          <p:nvPr/>
        </p:nvSpPr>
        <p:spPr>
          <a:xfrm>
            <a:off x="822960" y="2907792"/>
            <a:ext cx="3100730" cy="806704"/>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The map-field table now declares owner, type, unit, timing and missing-value for every approved field. Confirm those defaults against how your source modules actually behave.</a:t>
            </a:r>
          </a:p>
        </p:txBody>
      </p:sp>
      <p:sp>
        <p:nvSpPr>
          <p:cNvPr id="13" name="Rounded Rectangle 12"/>
          <p:cNvSpPr/>
          <p:nvPr/>
        </p:nvSpPr>
        <p:spPr>
          <a:xfrm>
            <a:off x="4307738" y="2194560"/>
            <a:ext cx="3576218" cy="1593088"/>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07738" y="2194560"/>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63186" y="2377440"/>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2</a:t>
            </a:r>
          </a:p>
        </p:txBody>
      </p:sp>
      <p:sp>
        <p:nvSpPr>
          <p:cNvPr id="16" name="TextBox 15"/>
          <p:cNvSpPr txBox="1"/>
          <p:nvPr/>
        </p:nvSpPr>
        <p:spPr>
          <a:xfrm>
            <a:off x="487466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250" b="1" i="0">
                <a:solidFill>
                  <a:srgbClr val="241243"/>
                </a:solidFill>
                <a:latin typeface="Segoe UI Semibold"/>
              </a:rPr>
              <a:t>Which companies get which standards</a:t>
            </a:r>
          </a:p>
        </p:txBody>
      </p:sp>
      <p:sp>
        <p:nvSpPr>
          <p:cNvPr id="17" name="TextBox 16"/>
          <p:cNvSpPr txBox="1"/>
          <p:nvPr/>
        </p:nvSpPr>
        <p:spPr>
          <a:xfrm>
            <a:off x="4563770" y="2907792"/>
            <a:ext cx="3100730" cy="806704"/>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Applicability defaults to every company. Decide whether that is right at go-live, or whether standards should be applied selectively per client.</a:t>
            </a:r>
          </a:p>
        </p:txBody>
      </p:sp>
      <p:sp>
        <p:nvSpPr>
          <p:cNvPr id="18" name="Rounded Rectangle 17"/>
          <p:cNvSpPr/>
          <p:nvPr/>
        </p:nvSpPr>
        <p:spPr>
          <a:xfrm>
            <a:off x="8048548" y="2194560"/>
            <a:ext cx="3576218" cy="1593088"/>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48548" y="2194560"/>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8203996" y="2377440"/>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3</a:t>
            </a:r>
          </a:p>
        </p:txBody>
      </p:sp>
      <p:sp>
        <p:nvSpPr>
          <p:cNvPr id="21" name="TextBox 20"/>
          <p:cNvSpPr txBox="1"/>
          <p:nvPr/>
        </p:nvSpPr>
        <p:spPr>
          <a:xfrm>
            <a:off x="861547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Approval before activation</a:t>
            </a:r>
          </a:p>
        </p:txBody>
      </p:sp>
      <p:sp>
        <p:nvSpPr>
          <p:cNvPr id="22" name="TextBox 21"/>
          <p:cNvSpPr txBox="1"/>
          <p:nvPr/>
        </p:nvSpPr>
        <p:spPr>
          <a:xfrm>
            <a:off x="8304580" y="2907792"/>
            <a:ext cx="3100730" cy="806704"/>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Today a rule is validated, tested and then activated. Confirm whether that is enough, or whether Draft → For Approval → Active is required.</a:t>
            </a:r>
          </a:p>
        </p:txBody>
      </p:sp>
      <p:sp>
        <p:nvSpPr>
          <p:cNvPr id="23" name="Rounded Rectangle 22"/>
          <p:cNvSpPr/>
          <p:nvPr/>
        </p:nvSpPr>
        <p:spPr>
          <a:xfrm>
            <a:off x="566928" y="3952240"/>
            <a:ext cx="3576218" cy="1593088"/>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952240"/>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22376" y="4135120"/>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4</a:t>
            </a:r>
          </a:p>
        </p:txBody>
      </p:sp>
      <p:sp>
        <p:nvSpPr>
          <p:cNvPr id="26" name="TextBox 25"/>
          <p:cNvSpPr txBox="1"/>
          <p:nvPr/>
        </p:nvSpPr>
        <p:spPr>
          <a:xfrm>
            <a:off x="1133856" y="418998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250" b="1" i="0">
                <a:solidFill>
                  <a:srgbClr val="241243"/>
                </a:solidFill>
                <a:latin typeface="Segoe UI Semibold"/>
              </a:rPr>
              <a:t>Timekeeping and Computational Basis</a:t>
            </a:r>
          </a:p>
        </p:txBody>
      </p:sp>
      <p:sp>
        <p:nvSpPr>
          <p:cNvPr id="27" name="TextBox 26"/>
          <p:cNvSpPr txBox="1"/>
          <p:nvPr/>
        </p:nvSpPr>
        <p:spPr>
          <a:xfrm>
            <a:off x="822960" y="4665472"/>
            <a:ext cx="3100730" cy="806704"/>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Timekeeping produces the quantities; Computational Basis prices them. Confirm the boundary for absences, lates, undertime and approved overtime.</a:t>
            </a:r>
          </a:p>
        </p:txBody>
      </p:sp>
      <p:sp>
        <p:nvSpPr>
          <p:cNvPr id="28" name="Rounded Rectangle 27"/>
          <p:cNvSpPr/>
          <p:nvPr/>
        </p:nvSpPr>
        <p:spPr>
          <a:xfrm>
            <a:off x="4307738" y="3952240"/>
            <a:ext cx="3576218" cy="1593088"/>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307738" y="3952240"/>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463186" y="4135120"/>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5</a:t>
            </a:r>
          </a:p>
        </p:txBody>
      </p:sp>
      <p:sp>
        <p:nvSpPr>
          <p:cNvPr id="31" name="TextBox 30"/>
          <p:cNvSpPr txBox="1"/>
          <p:nvPr/>
        </p:nvSpPr>
        <p:spPr>
          <a:xfrm>
            <a:off x="4874666" y="418998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200" b="1" i="0">
                <a:solidFill>
                  <a:srgbClr val="241243"/>
                </a:solidFill>
                <a:latin typeface="Segoe UI Semibold"/>
              </a:rPr>
              <a:t>Where company Computational Basis lives</a:t>
            </a:r>
          </a:p>
        </p:txBody>
      </p:sp>
      <p:sp>
        <p:nvSpPr>
          <p:cNvPr id="32" name="TextBox 31"/>
          <p:cNvSpPr txBox="1"/>
          <p:nvPr/>
        </p:nvSpPr>
        <p:spPr>
          <a:xfrm>
            <a:off x="4563770" y="4665472"/>
            <a:ext cx="3100730" cy="806704"/>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It sits under Services Information, with the standard library in Settings. Confirm that split, or move the company view.</a:t>
            </a:r>
          </a:p>
        </p:txBody>
      </p:sp>
      <p:sp>
        <p:nvSpPr>
          <p:cNvPr id="33" name="Rounded Rectangle 32"/>
          <p:cNvSpPr/>
          <p:nvPr/>
        </p:nvSpPr>
        <p:spPr>
          <a:xfrm>
            <a:off x="8048548" y="3952240"/>
            <a:ext cx="3576218" cy="1593088"/>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048548" y="3952240"/>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8203996" y="4135120"/>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6</a:t>
            </a:r>
          </a:p>
        </p:txBody>
      </p:sp>
      <p:sp>
        <p:nvSpPr>
          <p:cNvPr id="36" name="TextBox 35"/>
          <p:cNvSpPr txBox="1"/>
          <p:nvPr/>
        </p:nvSpPr>
        <p:spPr>
          <a:xfrm>
            <a:off x="8615476" y="418998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Reference source ownership</a:t>
            </a:r>
          </a:p>
        </p:txBody>
      </p:sp>
      <p:sp>
        <p:nvSpPr>
          <p:cNvPr id="37" name="TextBox 36"/>
          <p:cNvSpPr txBox="1"/>
          <p:nvPr/>
        </p:nvSpPr>
        <p:spPr>
          <a:xfrm>
            <a:off x="8304580" y="4665472"/>
            <a:ext cx="3100730" cy="806704"/>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Statutory sources are maintained in Settings and read here. Confirm who publishes a new version of each company-owned source, and on what notice.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SUMMARY</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What this walkthrough covered</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Six changes, each shown on a live screen, so the meeting starts from the same baseline.</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Screens are live captures of the ATLAS prototype. The records, codes and amounts shown are demonstration data.</a:t>
            </a:r>
          </a:p>
        </p:txBody>
      </p:sp>
      <p:sp>
        <p:nvSpPr>
          <p:cNvPr id="8" name="Rounded Rectangle 7"/>
          <p:cNvSpPr/>
          <p:nvPr/>
        </p:nvSpPr>
        <p:spPr>
          <a:xfrm>
            <a:off x="566928" y="21945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2194560"/>
            <a:ext cx="3576218"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22376" y="2377440"/>
            <a:ext cx="310896" cy="310896"/>
          </a:xfrm>
          <a:prstGeom prst="ellipse">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F766E"/>
                </a:solidFill>
                <a:latin typeface="Segoe UI Semibold"/>
              </a:rPr>
              <a:t>1</a:t>
            </a:r>
          </a:p>
        </p:txBody>
      </p:sp>
      <p:sp>
        <p:nvSpPr>
          <p:cNvPr id="11" name="TextBox 10"/>
          <p:cNvSpPr txBox="1"/>
          <p:nvPr/>
        </p:nvSpPr>
        <p:spPr>
          <a:xfrm>
            <a:off x="113385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Payroll history is protected</a:t>
            </a:r>
          </a:p>
        </p:txBody>
      </p:sp>
      <p:sp>
        <p:nvSpPr>
          <p:cNvPr id="12" name="TextBox 11"/>
          <p:cNvSpPr txBox="1"/>
          <p:nvPr/>
        </p:nvSpPr>
        <p:spPr>
          <a:xfrm>
            <a:off x="822960" y="29077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Every step records its version, and a transaction resolves the snapshot it captured rather than the current library.</a:t>
            </a:r>
          </a:p>
        </p:txBody>
      </p:sp>
      <p:sp>
        <p:nvSpPr>
          <p:cNvPr id="13" name="Rounded Rectangle 12"/>
          <p:cNvSpPr/>
          <p:nvPr/>
        </p:nvSpPr>
        <p:spPr>
          <a:xfrm>
            <a:off x="4307738" y="21945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07738" y="2194560"/>
            <a:ext cx="3576218"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63186" y="2377440"/>
            <a:ext cx="310896" cy="310896"/>
          </a:xfrm>
          <a:prstGeom prst="ellipse">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F766E"/>
                </a:solidFill>
                <a:latin typeface="Segoe UI Semibold"/>
              </a:rPr>
              <a:t>2</a:t>
            </a:r>
          </a:p>
        </p:txBody>
      </p:sp>
      <p:sp>
        <p:nvSpPr>
          <p:cNvPr id="16" name="TextBox 15"/>
          <p:cNvSpPr txBox="1"/>
          <p:nvPr/>
        </p:nvSpPr>
        <p:spPr>
          <a:xfrm>
            <a:off x="487466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Protection is provable</a:t>
            </a:r>
          </a:p>
        </p:txBody>
      </p:sp>
      <p:sp>
        <p:nvSpPr>
          <p:cNvPr id="17" name="TextBox 16"/>
          <p:cNvSpPr txBox="1"/>
          <p:nvPr/>
        </p:nvSpPr>
        <p:spPr>
          <a:xfrm>
            <a:off x="4563770" y="29077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The register, the record view and the Settings library all name the transactions that hold a code, and refuse with a reason.</a:t>
            </a:r>
          </a:p>
        </p:txBody>
      </p:sp>
      <p:sp>
        <p:nvSpPr>
          <p:cNvPr id="18" name="Rounded Rectangle 17"/>
          <p:cNvSpPr/>
          <p:nvPr/>
        </p:nvSpPr>
        <p:spPr>
          <a:xfrm>
            <a:off x="8048548" y="21945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48548" y="2194560"/>
            <a:ext cx="3576218"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8203996" y="2377440"/>
            <a:ext cx="310896" cy="310896"/>
          </a:xfrm>
          <a:prstGeom prst="ellipse">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F766E"/>
                </a:solidFill>
                <a:latin typeface="Segoe UI Semibold"/>
              </a:rPr>
              <a:t>3</a:t>
            </a:r>
          </a:p>
        </p:txBody>
      </p:sp>
      <p:sp>
        <p:nvSpPr>
          <p:cNvPr id="21" name="TextBox 20"/>
          <p:cNvSpPr txBox="1"/>
          <p:nvPr/>
        </p:nvSpPr>
        <p:spPr>
          <a:xfrm>
            <a:off x="861547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One standard, many companies</a:t>
            </a:r>
          </a:p>
        </p:txBody>
      </p:sp>
      <p:sp>
        <p:nvSpPr>
          <p:cNvPr id="22" name="TextBox 21"/>
          <p:cNvSpPr txBox="1"/>
          <p:nvPr/>
        </p:nvSpPr>
        <p:spPr>
          <a:xfrm>
            <a:off x="8304580" y="29077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 standard is defined once and applied per company, with each company controlling activation independently.</a:t>
            </a:r>
          </a:p>
        </p:txBody>
      </p:sp>
      <p:sp>
        <p:nvSpPr>
          <p:cNvPr id="23" name="Rounded Rectangle 22"/>
          <p:cNvSpPr/>
          <p:nvPr/>
        </p:nvSpPr>
        <p:spPr>
          <a:xfrm>
            <a:off x="566928" y="37871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787139"/>
            <a:ext cx="3576218"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22376" y="3970019"/>
            <a:ext cx="310896" cy="310896"/>
          </a:xfrm>
          <a:prstGeom prst="ellipse">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F766E"/>
                </a:solidFill>
                <a:latin typeface="Segoe UI Semibold"/>
              </a:rPr>
              <a:t>4</a:t>
            </a:r>
          </a:p>
        </p:txBody>
      </p:sp>
      <p:sp>
        <p:nvSpPr>
          <p:cNvPr id="26" name="TextBox 25"/>
          <p:cNvSpPr txBox="1"/>
          <p:nvPr/>
        </p:nvSpPr>
        <p:spPr>
          <a:xfrm>
            <a:off x="1133856" y="40248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Authoring is governed</a:t>
            </a:r>
          </a:p>
        </p:txBody>
      </p:sp>
      <p:sp>
        <p:nvSpPr>
          <p:cNvPr id="27" name="TextBox 26"/>
          <p:cNvSpPr txBox="1"/>
          <p:nvPr/>
        </p:nvSpPr>
        <p:spPr>
          <a:xfrm>
            <a:off x="822960" y="45003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Category-driven codes, Inactive on creation, controlled categories, optional description, and map fields that declare their contract.</a:t>
            </a:r>
          </a:p>
        </p:txBody>
      </p:sp>
      <p:sp>
        <p:nvSpPr>
          <p:cNvPr id="28" name="Rounded Rectangle 27"/>
          <p:cNvSpPr/>
          <p:nvPr/>
        </p:nvSpPr>
        <p:spPr>
          <a:xfrm>
            <a:off x="4307738" y="37871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307738" y="3787139"/>
            <a:ext cx="3576218"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463186" y="3970019"/>
            <a:ext cx="310896" cy="310896"/>
          </a:xfrm>
          <a:prstGeom prst="ellipse">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F766E"/>
                </a:solidFill>
                <a:latin typeface="Segoe UI Semibold"/>
              </a:rPr>
              <a:t>5</a:t>
            </a:r>
          </a:p>
        </p:txBody>
      </p:sp>
      <p:sp>
        <p:nvSpPr>
          <p:cNvPr id="31" name="TextBox 30"/>
          <p:cNvSpPr txBox="1"/>
          <p:nvPr/>
        </p:nvSpPr>
        <p:spPr>
          <a:xfrm>
            <a:off x="4874666" y="40248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Evidence stays with the record</a:t>
            </a:r>
          </a:p>
        </p:txBody>
      </p:sp>
      <p:sp>
        <p:nvSpPr>
          <p:cNvPr id="32" name="TextBox 31"/>
          <p:cNvSpPr txBox="1"/>
          <p:nvPr/>
        </p:nvSpPr>
        <p:spPr>
          <a:xfrm>
            <a:off x="4563770" y="45003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Test evidence is filed against the version it tested; change history carries before and after values.</a:t>
            </a:r>
          </a:p>
        </p:txBody>
      </p:sp>
      <p:sp>
        <p:nvSpPr>
          <p:cNvPr id="33" name="Rounded Rectangle 32"/>
          <p:cNvSpPr/>
          <p:nvPr/>
        </p:nvSpPr>
        <p:spPr>
          <a:xfrm>
            <a:off x="8048548" y="37871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048548" y="3787139"/>
            <a:ext cx="3576218"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8203996" y="3970019"/>
            <a:ext cx="310896" cy="310896"/>
          </a:xfrm>
          <a:prstGeom prst="ellipse">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F766E"/>
                </a:solidFill>
                <a:latin typeface="Segoe UI Semibold"/>
              </a:rPr>
              <a:t>6</a:t>
            </a:r>
          </a:p>
        </p:txBody>
      </p:sp>
      <p:sp>
        <p:nvSpPr>
          <p:cNvPr id="36" name="TextBox 35"/>
          <p:cNvSpPr txBox="1"/>
          <p:nvPr/>
        </p:nvSpPr>
        <p:spPr>
          <a:xfrm>
            <a:off x="8615476" y="40248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Values are effective-dated</a:t>
            </a:r>
          </a:p>
        </p:txBody>
      </p:sp>
      <p:sp>
        <p:nvSpPr>
          <p:cNvPr id="37" name="TextBox 36"/>
          <p:cNvSpPr txBox="1"/>
          <p:nvPr/>
        </p:nvSpPr>
        <p:spPr>
          <a:xfrm>
            <a:off x="8304580" y="45003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Reference sources keep every published version, and payroll resolves the version in force on the payout date.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APPENDIX</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How this deck was prepared</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So the screens and the claims behind them can be checked.</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Callout markers were placed from the element rectangles recorded when each screen was captured.</a:t>
            </a:r>
          </a:p>
        </p:txBody>
      </p:sp>
      <p:sp>
        <p:nvSpPr>
          <p:cNvPr id="8" name="Rounded Rectangle 7"/>
          <p:cNvSpPr/>
          <p:nvPr/>
        </p:nvSpPr>
        <p:spPr>
          <a:xfrm>
            <a:off x="566928" y="1883664"/>
            <a:ext cx="11057839" cy="402336"/>
          </a:xfrm>
          <a:prstGeom prst="roundRect">
            <a:avLst>
              <a:gd name="adj" fmla="val 4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31520" y="1984248"/>
            <a:ext cx="1937247"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SOURCE</a:t>
            </a:r>
          </a:p>
        </p:txBody>
      </p:sp>
      <p:sp>
        <p:nvSpPr>
          <p:cNvPr id="10" name="TextBox 9"/>
          <p:cNvSpPr txBox="1"/>
          <p:nvPr/>
        </p:nvSpPr>
        <p:spPr>
          <a:xfrm>
            <a:off x="2943087" y="1984248"/>
            <a:ext cx="5254599"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WHAT WAS USED</a:t>
            </a:r>
          </a:p>
        </p:txBody>
      </p:sp>
      <p:sp>
        <p:nvSpPr>
          <p:cNvPr id="11" name="TextBox 10"/>
          <p:cNvSpPr txBox="1"/>
          <p:nvPr/>
        </p:nvSpPr>
        <p:spPr>
          <a:xfrm>
            <a:off x="8472006" y="1984248"/>
            <a:ext cx="3043031"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WHERE IT APPEARS</a:t>
            </a:r>
          </a:p>
        </p:txBody>
      </p:sp>
      <p:sp>
        <p:nvSpPr>
          <p:cNvPr id="12" name="Rounded Rectangle 11"/>
          <p:cNvSpPr/>
          <p:nvPr/>
        </p:nvSpPr>
        <p:spPr>
          <a:xfrm>
            <a:off x="566928" y="2377440"/>
            <a:ext cx="11057839" cy="896112"/>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31520" y="2496312"/>
            <a:ext cx="1918959" cy="676656"/>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Live prototype</a:t>
            </a:r>
          </a:p>
        </p:txBody>
      </p:sp>
      <p:sp>
        <p:nvSpPr>
          <p:cNvPr id="14" name="TextBox 13"/>
          <p:cNvSpPr txBox="1"/>
          <p:nvPr/>
        </p:nvSpPr>
        <p:spPr>
          <a:xfrm>
            <a:off x="2943087" y="2496312"/>
            <a:ext cx="5236311"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ATLAS local application, captured on 27 August 2026 from the running build.</a:t>
            </a:r>
          </a:p>
        </p:txBody>
      </p:sp>
      <p:sp>
        <p:nvSpPr>
          <p:cNvPr id="15" name="TextBox 14"/>
          <p:cNvSpPr txBox="1"/>
          <p:nvPr/>
        </p:nvSpPr>
        <p:spPr>
          <a:xfrm>
            <a:off x="8472006" y="2496312"/>
            <a:ext cx="3024743"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Every screenshot and the animated walkthrough.</a:t>
            </a:r>
          </a:p>
        </p:txBody>
      </p:sp>
      <p:sp>
        <p:nvSpPr>
          <p:cNvPr id="16" name="Rounded Rectangle 15"/>
          <p:cNvSpPr/>
          <p:nvPr/>
        </p:nvSpPr>
        <p:spPr>
          <a:xfrm>
            <a:off x="566928" y="3346704"/>
            <a:ext cx="11057839" cy="896112"/>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31520" y="3465576"/>
            <a:ext cx="1918959" cy="676656"/>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Posted payroll</a:t>
            </a:r>
          </a:p>
        </p:txBody>
      </p:sp>
      <p:sp>
        <p:nvSpPr>
          <p:cNvPr id="18" name="TextBox 17"/>
          <p:cNvSpPr txBox="1"/>
          <p:nvPr/>
        </p:nvSpPr>
        <p:spPr>
          <a:xfrm>
            <a:off x="2943087" y="3465576"/>
            <a:ext cx="5236311"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PR-2025-11-E2E, a semi-monthly run calculated, reviewed, approved and posted in the prototype through its own workflow.</a:t>
            </a:r>
          </a:p>
        </p:txBody>
      </p:sp>
      <p:sp>
        <p:nvSpPr>
          <p:cNvPr id="19" name="TextBox 18"/>
          <p:cNvSpPr txBox="1"/>
          <p:nvPr/>
        </p:nvSpPr>
        <p:spPr>
          <a:xfrm>
            <a:off x="8472006" y="3465576"/>
            <a:ext cx="3024743"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version snapshot, and every payroll-usage figure.</a:t>
            </a:r>
          </a:p>
        </p:txBody>
      </p:sp>
      <p:sp>
        <p:nvSpPr>
          <p:cNvPr id="20" name="Rounded Rectangle 19"/>
          <p:cNvSpPr/>
          <p:nvPr/>
        </p:nvSpPr>
        <p:spPr>
          <a:xfrm>
            <a:off x="566928" y="4315968"/>
            <a:ext cx="11057839" cy="896112"/>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31520" y="4434840"/>
            <a:ext cx="1918959" cy="676656"/>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Application source</a:t>
            </a:r>
          </a:p>
        </p:txBody>
      </p:sp>
      <p:sp>
        <p:nvSpPr>
          <p:cNvPr id="22" name="TextBox 21"/>
          <p:cNvSpPr txBox="1"/>
          <p:nvPr/>
        </p:nvSpPr>
        <p:spPr>
          <a:xfrm>
            <a:off x="2943087" y="4434840"/>
            <a:ext cx="5236311"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computationGovernance.js, computationCatalog.js, payrollEngine.js, payrollRuns.js, ComputationalBasis.jsx, StandardComputationAdmin.jsx.</a:t>
            </a:r>
          </a:p>
        </p:txBody>
      </p:sp>
      <p:sp>
        <p:nvSpPr>
          <p:cNvPr id="23" name="TextBox 22"/>
          <p:cNvSpPr txBox="1"/>
          <p:nvPr/>
        </p:nvSpPr>
        <p:spPr>
          <a:xfrm>
            <a:off x="8472006" y="4434840"/>
            <a:ext cx="3024743"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rules described on the protection and company-scope pages.</a:t>
            </a:r>
          </a:p>
        </p:txBody>
      </p:sp>
      <p:sp>
        <p:nvSpPr>
          <p:cNvPr id="24" name="Rounded Rectangle 23"/>
          <p:cNvSpPr/>
          <p:nvPr/>
        </p:nvSpPr>
        <p:spPr>
          <a:xfrm>
            <a:off x="566928" y="5285232"/>
            <a:ext cx="11057839" cy="896112"/>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31520" y="5404104"/>
            <a:ext cx="1918959" cy="676656"/>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Automated checks</a:t>
            </a:r>
          </a:p>
        </p:txBody>
      </p:sp>
      <p:sp>
        <p:nvSpPr>
          <p:cNvPr id="26" name="TextBox 25"/>
          <p:cNvSpPr txBox="1"/>
          <p:nvPr/>
        </p:nvSpPr>
        <p:spPr>
          <a:xfrm>
            <a:off x="2943087" y="5404104"/>
            <a:ext cx="5236311"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prototype's test suite, including a governance suite covering delete protection, company isolation and version resolution.</a:t>
            </a:r>
          </a:p>
        </p:txBody>
      </p:sp>
      <p:sp>
        <p:nvSpPr>
          <p:cNvPr id="27" name="TextBox 26"/>
          <p:cNvSpPr txBox="1"/>
          <p:nvPr/>
        </p:nvSpPr>
        <p:spPr>
          <a:xfrm>
            <a:off x="8472006" y="5404104"/>
            <a:ext cx="3024743"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Confirmation that the rules hold outside the screens shown.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841248"/>
            <a:ext cx="9509760" cy="822960"/>
          </a:xfrm>
          <a:prstGeom prst="rect">
            <a:avLst/>
          </a:prstGeom>
          <a:noFill/>
        </p:spPr>
        <p:txBody>
          <a:bodyPr wrap="square" anchor="t" lIns="0" rIns="0" tIns="0" bIns="0">
            <a:spAutoFit/>
          </a:bodyPr>
          <a:lstStyle/>
          <a:p>
            <a:pPr algn="l">
              <a:lnSpc>
                <a:spcPct val="106000"/>
              </a:lnSpc>
              <a:spcBef>
                <a:spcPts val="0"/>
              </a:spcBef>
              <a:spcAft>
                <a:spcPts val="0"/>
              </a:spcAft>
            </a:pPr>
            <a:r>
              <a:rPr sz="3400" b="1" i="0">
                <a:solidFill>
                  <a:srgbClr val="FFFFFF"/>
                </a:solidFill>
                <a:latin typeface="Segoe UI Semibold"/>
              </a:rPr>
              <a:t>Key takeaways</a:t>
            </a:r>
          </a:p>
        </p:txBody>
      </p:sp>
      <p:sp>
        <p:nvSpPr>
          <p:cNvPr id="5" name="Oval 4"/>
          <p:cNvSpPr/>
          <p:nvPr/>
        </p:nvSpPr>
        <p:spPr>
          <a:xfrm>
            <a:off x="795528" y="1892808"/>
            <a:ext cx="420624" cy="420624"/>
          </a:xfrm>
          <a:prstGeom prst="ellipse">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Segoe UI Semibold"/>
              </a:rPr>
              <a:t>1</a:t>
            </a:r>
          </a:p>
        </p:txBody>
      </p:sp>
      <p:sp>
        <p:nvSpPr>
          <p:cNvPr id="6" name="TextBox 5"/>
          <p:cNvSpPr txBox="1"/>
          <p:nvPr/>
        </p:nvSpPr>
        <p:spPr>
          <a:xfrm>
            <a:off x="1499616" y="1883664"/>
            <a:ext cx="9692640" cy="292608"/>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FFFFFF"/>
                </a:solidFill>
                <a:latin typeface="Segoe UI Semibold"/>
              </a:rPr>
              <a:t>Payroll explains itself from its own record</a:t>
            </a:r>
          </a:p>
        </p:txBody>
      </p:sp>
      <p:sp>
        <p:nvSpPr>
          <p:cNvPr id="7" name="TextBox 6"/>
          <p:cNvSpPr txBox="1"/>
          <p:nvPr/>
        </p:nvSpPr>
        <p:spPr>
          <a:xfrm>
            <a:off x="1499616" y="2176272"/>
            <a:ext cx="9509760" cy="548640"/>
          </a:xfrm>
          <a:prstGeom prst="rect">
            <a:avLst/>
          </a:prstGeom>
          <a:noFill/>
        </p:spPr>
        <p:txBody>
          <a:bodyPr wrap="square" anchor="t" lIns="0" rIns="0" tIns="0" bIns="0">
            <a:spAutoFit/>
          </a:bodyPr>
          <a:lstStyle/>
          <a:p>
            <a:pPr algn="l">
              <a:lnSpc>
                <a:spcPct val="134000"/>
              </a:lnSpc>
              <a:spcBef>
                <a:spcPts val="0"/>
              </a:spcBef>
              <a:spcAft>
                <a:spcPts val="0"/>
              </a:spcAft>
            </a:pPr>
            <a:r>
              <a:rPr sz="1160" b="0" i="0">
                <a:solidFill>
                  <a:srgbClr val="C5B8DC"/>
                </a:solidFill>
                <a:latin typeface="Segoe UI"/>
              </a:rPr>
              <a:t>A transaction stores the version and expression behind every amount, so an earlier payroll stays reproducible after the formula changes.</a:t>
            </a:r>
          </a:p>
        </p:txBody>
      </p:sp>
      <p:sp>
        <p:nvSpPr>
          <p:cNvPr id="8" name="Oval 7"/>
          <p:cNvSpPr/>
          <p:nvPr/>
        </p:nvSpPr>
        <p:spPr>
          <a:xfrm>
            <a:off x="795528" y="2916936"/>
            <a:ext cx="420624" cy="420624"/>
          </a:xfrm>
          <a:prstGeom prst="ellipse">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Segoe UI Semibold"/>
              </a:rPr>
              <a:t>2</a:t>
            </a:r>
          </a:p>
        </p:txBody>
      </p:sp>
      <p:sp>
        <p:nvSpPr>
          <p:cNvPr id="9" name="TextBox 8"/>
          <p:cNvSpPr txBox="1"/>
          <p:nvPr/>
        </p:nvSpPr>
        <p:spPr>
          <a:xfrm>
            <a:off x="1499616" y="2907792"/>
            <a:ext cx="9692640" cy="292608"/>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FFFFFF"/>
                </a:solidFill>
                <a:latin typeface="Segoe UI Semibold"/>
              </a:rPr>
              <a:t>Use closes the door, not the role</a:t>
            </a:r>
          </a:p>
        </p:txBody>
      </p:sp>
      <p:sp>
        <p:nvSpPr>
          <p:cNvPr id="10" name="TextBox 9"/>
          <p:cNvSpPr txBox="1"/>
          <p:nvPr/>
        </p:nvSpPr>
        <p:spPr>
          <a:xfrm>
            <a:off x="1499616" y="3200400"/>
            <a:ext cx="9509760" cy="548640"/>
          </a:xfrm>
          <a:prstGeom prst="rect">
            <a:avLst/>
          </a:prstGeom>
          <a:noFill/>
        </p:spPr>
        <p:txBody>
          <a:bodyPr wrap="square" anchor="t" lIns="0" rIns="0" tIns="0" bIns="0">
            <a:spAutoFit/>
          </a:bodyPr>
          <a:lstStyle/>
          <a:p>
            <a:pPr algn="l">
              <a:lnSpc>
                <a:spcPct val="134000"/>
              </a:lnSpc>
              <a:spcBef>
                <a:spcPts val="0"/>
              </a:spcBef>
              <a:spcAft>
                <a:spcPts val="0"/>
              </a:spcAft>
            </a:pPr>
            <a:r>
              <a:rPr sz="1160" b="0" i="0">
                <a:solidFill>
                  <a:srgbClr val="C5B8DC"/>
                </a:solidFill>
                <a:latin typeface="Segoe UI"/>
              </a:rPr>
              <a:t>What may be edited or deleted depends on whether a posted payroll applied the code — the same rule for a Client Admin and a Super Admin.</a:t>
            </a:r>
          </a:p>
        </p:txBody>
      </p:sp>
      <p:sp>
        <p:nvSpPr>
          <p:cNvPr id="11" name="Oval 10"/>
          <p:cNvSpPr/>
          <p:nvPr/>
        </p:nvSpPr>
        <p:spPr>
          <a:xfrm>
            <a:off x="795528" y="3941064"/>
            <a:ext cx="420624" cy="420624"/>
          </a:xfrm>
          <a:prstGeom prst="ellipse">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Segoe UI Semibold"/>
              </a:rPr>
              <a:t>3</a:t>
            </a:r>
          </a:p>
        </p:txBody>
      </p:sp>
      <p:sp>
        <p:nvSpPr>
          <p:cNvPr id="12" name="TextBox 11"/>
          <p:cNvSpPr txBox="1"/>
          <p:nvPr/>
        </p:nvSpPr>
        <p:spPr>
          <a:xfrm>
            <a:off x="1499616" y="3931920"/>
            <a:ext cx="9692640" cy="292608"/>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FFFFFF"/>
                </a:solidFill>
                <a:latin typeface="Segoe UI Semibold"/>
              </a:rPr>
              <a:t>A standard is one record</a:t>
            </a:r>
          </a:p>
        </p:txBody>
      </p:sp>
      <p:sp>
        <p:nvSpPr>
          <p:cNvPr id="13" name="TextBox 12"/>
          <p:cNvSpPr txBox="1"/>
          <p:nvPr/>
        </p:nvSpPr>
        <p:spPr>
          <a:xfrm>
            <a:off x="1499616" y="4224528"/>
            <a:ext cx="9509760" cy="548640"/>
          </a:xfrm>
          <a:prstGeom prst="rect">
            <a:avLst/>
          </a:prstGeom>
          <a:noFill/>
        </p:spPr>
        <p:txBody>
          <a:bodyPr wrap="square" anchor="t" lIns="0" rIns="0" tIns="0" bIns="0">
            <a:spAutoFit/>
          </a:bodyPr>
          <a:lstStyle/>
          <a:p>
            <a:pPr algn="l">
              <a:lnSpc>
                <a:spcPct val="134000"/>
              </a:lnSpc>
              <a:spcBef>
                <a:spcPts val="0"/>
              </a:spcBef>
              <a:spcAft>
                <a:spcPts val="0"/>
              </a:spcAft>
            </a:pPr>
            <a:r>
              <a:rPr sz="1160" b="0" i="0">
                <a:solidFill>
                  <a:srgbClr val="C5B8DC"/>
                </a:solidFill>
                <a:latin typeface="Segoe UI"/>
              </a:rPr>
              <a:t>Defined centrally, applied to selected companies, activated by each. No company holds its own copy.</a:t>
            </a:r>
          </a:p>
        </p:txBody>
      </p:sp>
      <p:sp>
        <p:nvSpPr>
          <p:cNvPr id="14" name="Oval 13"/>
          <p:cNvSpPr/>
          <p:nvPr/>
        </p:nvSpPr>
        <p:spPr>
          <a:xfrm>
            <a:off x="795528" y="4965192"/>
            <a:ext cx="420624" cy="420624"/>
          </a:xfrm>
          <a:prstGeom prst="ellipse">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Segoe UI Semibold"/>
              </a:rPr>
              <a:t>4</a:t>
            </a:r>
          </a:p>
        </p:txBody>
      </p:sp>
      <p:sp>
        <p:nvSpPr>
          <p:cNvPr id="15" name="TextBox 14"/>
          <p:cNvSpPr txBox="1"/>
          <p:nvPr/>
        </p:nvSpPr>
        <p:spPr>
          <a:xfrm>
            <a:off x="1499616" y="4956048"/>
            <a:ext cx="9692640" cy="292608"/>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FFFFFF"/>
                </a:solidFill>
                <a:latin typeface="Segoe UI Semibold"/>
              </a:rPr>
              <a:t>Evidence is filed, not recomputed</a:t>
            </a:r>
          </a:p>
        </p:txBody>
      </p:sp>
      <p:sp>
        <p:nvSpPr>
          <p:cNvPr id="16" name="TextBox 15"/>
          <p:cNvSpPr txBox="1"/>
          <p:nvPr/>
        </p:nvSpPr>
        <p:spPr>
          <a:xfrm>
            <a:off x="1499616" y="5248656"/>
            <a:ext cx="9509760" cy="548640"/>
          </a:xfrm>
          <a:prstGeom prst="rect">
            <a:avLst/>
          </a:prstGeom>
          <a:noFill/>
        </p:spPr>
        <p:txBody>
          <a:bodyPr wrap="square" anchor="t" lIns="0" rIns="0" tIns="0" bIns="0">
            <a:spAutoFit/>
          </a:bodyPr>
          <a:lstStyle/>
          <a:p>
            <a:pPr algn="l">
              <a:lnSpc>
                <a:spcPct val="134000"/>
              </a:lnSpc>
              <a:spcBef>
                <a:spcPts val="0"/>
              </a:spcBef>
              <a:spcAft>
                <a:spcPts val="0"/>
              </a:spcAft>
            </a:pPr>
            <a:r>
              <a:rPr sz="1160" b="0" i="0">
                <a:solidFill>
                  <a:srgbClr val="C5B8DC"/>
                </a:solidFill>
                <a:latin typeface="Segoe UI"/>
              </a:rPr>
              <a:t>Test results, change diffs and superseded versions are all kept with the record they belong to.</a:t>
            </a:r>
          </a:p>
        </p:txBody>
      </p:sp>
      <p:sp>
        <p:nvSpPr>
          <p:cNvPr id="17" name="TextBox 16"/>
          <p:cNvSpPr txBox="1"/>
          <p:nvPr/>
        </p:nvSpPr>
        <p:spPr>
          <a:xfrm>
            <a:off x="841248" y="6199632"/>
            <a:ext cx="10424160" cy="365760"/>
          </a:xfrm>
          <a:prstGeom prst="rect">
            <a:avLst/>
          </a:prstGeom>
          <a:noFill/>
        </p:spPr>
        <p:txBody>
          <a:bodyPr wrap="square" anchor="t" lIns="0" rIns="0" tIns="0" bIns="0">
            <a:spAutoFit/>
          </a:bodyPr>
          <a:lstStyle/>
          <a:p>
            <a:pPr algn="l">
              <a:lnSpc>
                <a:spcPct val="132000"/>
              </a:lnSpc>
              <a:spcBef>
                <a:spcPts val="0"/>
              </a:spcBef>
              <a:spcAft>
                <a:spcPts val="0"/>
              </a:spcAft>
            </a:pPr>
            <a:r>
              <a:rPr sz="1000" b="0" i="1">
                <a:solidFill>
                  <a:srgbClr val="7C3FC2"/>
                </a:solidFill>
                <a:latin typeface="Segoe UI"/>
              </a:rPr>
              <a:t>ATLAS Phase 2 · Computational Basis · Part 2 · 27 August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