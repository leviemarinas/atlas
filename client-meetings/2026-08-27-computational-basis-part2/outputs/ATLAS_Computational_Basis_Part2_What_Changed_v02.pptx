
<file path=[Content_Types].xml><?xml version="1.0" encoding="utf-8"?>
<Types xmlns="http://schemas.openxmlformats.org/package/2006/content-types">
  <Default Extension="bin" ContentType="application/vnd.openxmlformats-officedocument.presentationml.printerSettings"/>
  <Default Extension="gif" ContentType="image/gi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eight things that changed, then say the deck follows them in order.</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agenda. Ask which of the eight the client wants most time on.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once that amounts on screen are demonstration data, so it does not need repeating.</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left column only. The client wrote it; they will recognise it.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are the ones with the largest build behind them.</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important section. Part 1 said an edit changes the next result; this is what protects the last one.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plainly: the behaviour Part 1 described was right, and this closes the gap it left.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at the version chip. It is the whole change in one control.</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audit answer. It is captured, not derived on open.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protection of history, not restriction of users.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code on this screen was used by the posted run, which is why every row is locked.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reasons name the transaction. Nothing has to be taken on trust.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row is the one to dwell on: Inactive replaces delete once payroll has used the code.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answers the largest unresolved item from the review.</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payroll-usage column is aggregated here, because one edit would reach every company.</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screen used during company setup, and revisited when a new standard is published.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Say the phrase 'a company never holds its own copy of a standard' — it is the point of the section.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Part 1 example deliberately. The client already knows the business rule.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Contrast with Part 1: CUS-900 typed by hand, Active on save, description required.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GIF does not play, the four notes carry the same sequence.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is the answer to the owner/type/unit/timing/missing-value item.</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evidence card is stored with the version. It is not recomputed when the record is opened.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contrast slide: nothing has used this rule, so every action is still available.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section, but it is what makes a formula sign-off reviewable months later.</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versions, each with its own expression and its own test. This is the audit evidence.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reviewer sees what the save will change before committing it.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change list is written into the log, per company.</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smaller items from the review, grouped.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card the next slide opens.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versions, two effective dates, two sets of rows. Payroll picks by payout date.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import change is the one to call out: it creates records now, which it did not in Part 1.</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Select all applies to everything the filter returned, not only the page on screen.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this as the join that was missing: the library and the payment catalogue never referred to each other.</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column is not a criticism — it is what Part 1 showed working. The right column is what was added.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new columns. The rest of the register is exactly as the client saw it in Part 1.</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centre of the section. Walk the two bound rows and the resolved column.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last two cards are the ones to dwell on: per variable, and checked before it saves.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read-only view. This is the page to open when someone questions an amount.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bound step carries a version, exactly like every other step in section 06.</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section is short. The point is singular: stated scope is now applied scope.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asked why this matters: two records that can disagree will eventually disagree.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covered count is the control to point at — the scope is checkable before it is saved.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first three headings in order — they are the sequence a payroll actually resolves.</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Info, not an error. The run completed; this is the record of a deliberate omission.</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meeting on this page. Agree owners and dates rather than debating each item here.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one-minute recap if time is short.</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needed if someone asks how the evidence was produced.</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End here.</a:t>
            </a:r>
          </a:p>
          <a:p/>
          <a:p>
            <a:r>
              <a:t>Presenter note: this deck continues the Part 1 walkthrough and covers what changed after the client's review. Screens were captured live from the ATLAS prototype on 27 August 2026, in the Atlas Simulator Sandbox company, against posted payroll PR-2025-11-E2E. Records, codes and amounts on screen are demonstration data — including the 8 units at PHP250 worked example carried over from Part 1.</a:t>
            </a:r>
          </a:p>
          <a:p/>
          <a:p>
            <a:r>
              <a:t>Evidence: computationGovernance.js, computationCatalog.js, computationBindings.js, applicabilityScope.js, payrollEngine.js, payrollRuns.js, ComputationalBasis.jsx, serviceModules.jsx, StandardComputationAdmin.jsx.</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gif"/><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Rectangle 3"/>
          <p:cNvSpPr/>
          <p:nvPr/>
        </p:nvSpPr>
        <p:spPr>
          <a:xfrm>
            <a:off x="8259775" y="0"/>
            <a:ext cx="3931920"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841248" y="1417320"/>
            <a:ext cx="7680960" cy="274320"/>
          </a:xfrm>
          <a:prstGeom prst="rect">
            <a:avLst/>
          </a:prstGeom>
          <a:noFill/>
        </p:spPr>
        <p:txBody>
          <a:bodyPr wrap="square" anchor="t" lIns="0" rIns="0" tIns="0" bIns="0">
            <a:spAutoFit/>
          </a:bodyPr>
          <a:lstStyle/>
          <a:p>
            <a:pPr algn="l">
              <a:lnSpc>
                <a:spcPct val="132000"/>
              </a:lnSpc>
              <a:spcBef>
                <a:spcPts val="0"/>
              </a:spcBef>
              <a:spcAft>
                <a:spcPts val="0"/>
              </a:spcAft>
            </a:pPr>
            <a:r>
              <a:rPr sz="1150" b="1" i="0">
                <a:solidFill>
                  <a:srgbClr val="7C3FC2"/>
                </a:solidFill>
                <a:latin typeface="Segoe UI Semibold"/>
              </a:rPr>
              <a:t>ATLAS PHASE 2 · PAYROLL · PART 2</a:t>
            </a:r>
          </a:p>
        </p:txBody>
      </p:sp>
      <p:sp>
        <p:nvSpPr>
          <p:cNvPr id="6" name="TextBox 5"/>
          <p:cNvSpPr txBox="1"/>
          <p:nvPr/>
        </p:nvSpPr>
        <p:spPr>
          <a:xfrm>
            <a:off x="841248" y="1847088"/>
            <a:ext cx="7863840" cy="1371600"/>
          </a:xfrm>
          <a:prstGeom prst="rect">
            <a:avLst/>
          </a:prstGeom>
          <a:noFill/>
        </p:spPr>
        <p:txBody>
          <a:bodyPr wrap="square" anchor="t" lIns="0" rIns="0" tIns="0" bIns="0">
            <a:spAutoFit/>
          </a:bodyPr>
          <a:lstStyle/>
          <a:p>
            <a:pPr algn="l">
              <a:lnSpc>
                <a:spcPct val="102000"/>
              </a:lnSpc>
              <a:spcBef>
                <a:spcPts val="0"/>
              </a:spcBef>
              <a:spcAft>
                <a:spcPts val="0"/>
              </a:spcAft>
            </a:pPr>
            <a:r>
              <a:rPr sz="5200" b="1" i="0">
                <a:solidFill>
                  <a:srgbClr val="FFFFFF"/>
                </a:solidFill>
                <a:latin typeface="Segoe UI Semibold"/>
              </a:rPr>
              <a:t>Computational Basis</a:t>
            </a:r>
          </a:p>
        </p:txBody>
      </p:sp>
      <p:sp>
        <p:nvSpPr>
          <p:cNvPr id="7" name="TextBox 6"/>
          <p:cNvSpPr txBox="1"/>
          <p:nvPr/>
        </p:nvSpPr>
        <p:spPr>
          <a:xfrm>
            <a:off x="841248" y="3127248"/>
            <a:ext cx="7223760" cy="914400"/>
          </a:xfrm>
          <a:prstGeom prst="rect">
            <a:avLst/>
          </a:prstGeom>
          <a:noFill/>
        </p:spPr>
        <p:txBody>
          <a:bodyPr wrap="square" anchor="t" lIns="0" rIns="0" tIns="0" bIns="0">
            <a:spAutoFit/>
          </a:bodyPr>
          <a:lstStyle/>
          <a:p>
            <a:pPr algn="l">
              <a:lnSpc>
                <a:spcPct val="140000"/>
              </a:lnSpc>
              <a:spcBef>
                <a:spcPts val="0"/>
              </a:spcBef>
              <a:spcAft>
                <a:spcPts val="0"/>
              </a:spcAft>
            </a:pPr>
            <a:r>
              <a:rPr sz="1500" b="0" i="0">
                <a:solidFill>
                  <a:srgbClr val="C5B8DC"/>
                </a:solidFill>
                <a:latin typeface="Segoe UI"/>
              </a:rPr>
              <a:t>What changed after your review: how payroll keeps its history, what can no longer be deleted, how one standard formula reaches many companies, and how each thing you pay now names the formula behind it and the people it reaches.</a:t>
            </a:r>
          </a:p>
        </p:txBody>
      </p:sp>
      <p:sp>
        <p:nvSpPr>
          <p:cNvPr id="8" name="Rounded Rectangle 7"/>
          <p:cNvSpPr/>
          <p:nvPr/>
        </p:nvSpPr>
        <p:spPr>
          <a:xfrm>
            <a:off x="841248" y="4224528"/>
            <a:ext cx="1591056"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1   1  Protect</a:t>
            </a:r>
          </a:p>
        </p:txBody>
      </p:sp>
      <p:sp>
        <p:nvSpPr>
          <p:cNvPr id="9" name="Rounded Rectangle 8"/>
          <p:cNvSpPr/>
          <p:nvPr/>
        </p:nvSpPr>
        <p:spPr>
          <a:xfrm>
            <a:off x="2578608" y="4224528"/>
            <a:ext cx="1492300"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2   2  Govern</a:t>
            </a:r>
          </a:p>
        </p:txBody>
      </p:sp>
      <p:sp>
        <p:nvSpPr>
          <p:cNvPr id="10" name="Rounded Rectangle 9"/>
          <p:cNvSpPr/>
          <p:nvPr/>
        </p:nvSpPr>
        <p:spPr>
          <a:xfrm>
            <a:off x="4217212" y="4224528"/>
            <a:ext cx="1591056"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3   3  Version</a:t>
            </a:r>
          </a:p>
        </p:txBody>
      </p:sp>
      <p:sp>
        <p:nvSpPr>
          <p:cNvPr id="11" name="Rounded Rectangle 10"/>
          <p:cNvSpPr/>
          <p:nvPr/>
        </p:nvSpPr>
        <p:spPr>
          <a:xfrm>
            <a:off x="5954572" y="4224528"/>
            <a:ext cx="1294790"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4   4  Bind</a:t>
            </a:r>
          </a:p>
        </p:txBody>
      </p:sp>
      <p:sp>
        <p:nvSpPr>
          <p:cNvPr id="12" name="Rounded Rectangle 11"/>
          <p:cNvSpPr/>
          <p:nvPr/>
        </p:nvSpPr>
        <p:spPr>
          <a:xfrm>
            <a:off x="7395666" y="4224528"/>
            <a:ext cx="1393545" cy="420624"/>
          </a:xfrm>
          <a:prstGeom prst="roundRect">
            <a:avLst>
              <a:gd name="adj" fmla="val 40000"/>
            </a:avLst>
          </a:prstGeom>
          <a:noFill/>
          <a:ln w="12700">
            <a:solidFill>
              <a:srgbClr val="7C3FC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FFFFFF"/>
                </a:solidFill>
                <a:latin typeface="Segoe UI Semibold"/>
              </a:rPr>
              <a:t>5   5  Scope</a:t>
            </a:r>
          </a:p>
        </p:txBody>
      </p:sp>
      <p:sp>
        <p:nvSpPr>
          <p:cNvPr id="13" name="TextBox 12"/>
          <p:cNvSpPr txBox="1"/>
          <p:nvPr/>
        </p:nvSpPr>
        <p:spPr>
          <a:xfrm>
            <a:off x="841248" y="5175504"/>
            <a:ext cx="7863840" cy="822960"/>
          </a:xfrm>
          <a:prstGeom prst="rect">
            <a:avLst/>
          </a:prstGeom>
          <a:noFill/>
        </p:spPr>
        <p:txBody>
          <a:bodyPr wrap="square" anchor="t" lIns="0" rIns="0" tIns="0" bIns="0">
            <a:spAutoFit/>
          </a:bodyPr>
          <a:lstStyle/>
          <a:p>
            <a:pPr algn="l">
              <a:lnSpc>
                <a:spcPct val="150000"/>
              </a:lnSpc>
              <a:spcBef>
                <a:spcPts val="0"/>
              </a:spcBef>
              <a:spcAft>
                <a:spcPts val="0"/>
              </a:spcAft>
            </a:pPr>
            <a:r>
              <a:rPr sz="1100" b="0" i="0">
                <a:solidFill>
                  <a:srgbClr val="7C3FC2"/>
                </a:solidFill>
                <a:latin typeface="Segoe UI"/>
              </a:rPr>
              <a:t>Continues the Part 1 walkthrough · prototype screens captured on 27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WHAT CHANGED</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Eight changes since your review</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Each one came out of the review, and each has a live screen behind it in this deck.</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claim in this deck is a live screen capture or a named source file.</a:t>
            </a:r>
          </a:p>
        </p:txBody>
      </p:sp>
      <p:sp>
        <p:nvSpPr>
          <p:cNvPr id="8" name="Rounded Rectangle 7"/>
          <p:cNvSpPr/>
          <p:nvPr/>
        </p:nvSpPr>
        <p:spPr>
          <a:xfrm>
            <a:off x="56692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06654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Payroll keeps the version it ran on</a:t>
            </a:r>
          </a:p>
        </p:txBody>
      </p:sp>
      <p:sp>
        <p:nvSpPr>
          <p:cNvPr id="12" name="TextBox 11"/>
          <p:cNvSpPr txBox="1"/>
          <p:nvPr/>
        </p:nvSpPr>
        <p:spPr>
          <a:xfrm>
            <a:off x="82296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Part 1 left this open. A transaction now records the exact formula version behind every amount, and keeps resolving it after the formula moves on.</a:t>
            </a:r>
          </a:p>
        </p:txBody>
      </p:sp>
      <p:sp>
        <p:nvSpPr>
          <p:cNvPr id="13" name="Rounded Rectangle 12"/>
          <p:cNvSpPr/>
          <p:nvPr/>
        </p:nvSpPr>
        <p:spPr>
          <a:xfrm>
            <a:off x="430773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188366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06654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Used rules stop being editable</a:t>
            </a:r>
          </a:p>
        </p:txBody>
      </p:sp>
      <p:sp>
        <p:nvSpPr>
          <p:cNvPr id="17" name="TextBox 16"/>
          <p:cNvSpPr txBox="1"/>
          <p:nvPr/>
        </p:nvSpPr>
        <p:spPr>
          <a:xfrm>
            <a:off x="456377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Once a posted payroll has applied a computation, edit and delete close — for the Super Admin too. Inactive replaces delete.</a:t>
            </a:r>
          </a:p>
        </p:txBody>
      </p:sp>
      <p:sp>
        <p:nvSpPr>
          <p:cNvPr id="18" name="Rounded Rectangle 17"/>
          <p:cNvSpPr/>
          <p:nvPr/>
        </p:nvSpPr>
        <p:spPr>
          <a:xfrm>
            <a:off x="804854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188366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06654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standard, applied per company</a:t>
            </a:r>
          </a:p>
        </p:txBody>
      </p:sp>
      <p:sp>
        <p:nvSpPr>
          <p:cNvPr id="22" name="TextBox 21"/>
          <p:cNvSpPr txBox="1"/>
          <p:nvPr/>
        </p:nvSpPr>
        <p:spPr>
          <a:xfrm>
            <a:off x="830458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An Atlas standard is defined once and applied to selected companies. No company holds its own copy of a standard formula.</a:t>
            </a:r>
          </a:p>
        </p:txBody>
      </p:sp>
      <p:sp>
        <p:nvSpPr>
          <p:cNvPr id="23" name="Rounded Rectangle 22"/>
          <p:cNvSpPr/>
          <p:nvPr/>
        </p:nvSpPr>
        <p:spPr>
          <a:xfrm>
            <a:off x="56692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37108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553968"/>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Codes, status and categories</a:t>
            </a:r>
          </a:p>
        </p:txBody>
      </p:sp>
      <p:sp>
        <p:nvSpPr>
          <p:cNvPr id="27" name="TextBox 26"/>
          <p:cNvSpPr txBox="1"/>
          <p:nvPr/>
        </p:nvSpPr>
        <p:spPr>
          <a:xfrm>
            <a:off x="82296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Codes are generated from the category, new rules start Inactive, and the category list is a controlled reference table.</a:t>
            </a:r>
          </a:p>
        </p:txBody>
      </p:sp>
      <p:sp>
        <p:nvSpPr>
          <p:cNvPr id="28" name="Rounded Rectangle 27"/>
          <p:cNvSpPr/>
          <p:nvPr/>
        </p:nvSpPr>
        <p:spPr>
          <a:xfrm>
            <a:off x="430773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37108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553968"/>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Evidence that stays with the record</a:t>
            </a:r>
          </a:p>
        </p:txBody>
      </p:sp>
      <p:sp>
        <p:nvSpPr>
          <p:cNvPr id="32" name="TextBox 31"/>
          <p:cNvSpPr txBox="1"/>
          <p:nvPr/>
        </p:nvSpPr>
        <p:spPr>
          <a:xfrm>
            <a:off x="456377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Test results are stored against the version they tested, and change history carries the before and after values.</a:t>
            </a:r>
          </a:p>
        </p:txBody>
      </p:sp>
      <p:sp>
        <p:nvSpPr>
          <p:cNvPr id="33" name="Rounded Rectangle 32"/>
          <p:cNvSpPr/>
          <p:nvPr/>
        </p:nvSpPr>
        <p:spPr>
          <a:xfrm>
            <a:off x="804854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371088"/>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553968"/>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Values that change on a date</a:t>
            </a:r>
          </a:p>
        </p:txBody>
      </p:sp>
      <p:sp>
        <p:nvSpPr>
          <p:cNvPr id="37" name="TextBox 36"/>
          <p:cNvSpPr txBox="1"/>
          <p:nvPr/>
        </p:nvSpPr>
        <p:spPr>
          <a:xfrm>
            <a:off x="830458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Reference sources keep every published version, and payroll resolves the one effective on its payout date.</a:t>
            </a:r>
          </a:p>
        </p:txBody>
      </p:sp>
      <p:sp>
        <p:nvSpPr>
          <p:cNvPr id="38" name="Rounded Rectangle 37"/>
          <p:cNvSpPr/>
          <p:nvPr/>
        </p:nvSpPr>
        <p:spPr>
          <a:xfrm>
            <a:off x="56692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66928" y="4858512"/>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722376" y="5041392"/>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7</a:t>
            </a:r>
          </a:p>
        </p:txBody>
      </p:sp>
      <p:sp>
        <p:nvSpPr>
          <p:cNvPr id="41" name="TextBox 40"/>
          <p:cNvSpPr txBox="1"/>
          <p:nvPr/>
        </p:nvSpPr>
        <p:spPr>
          <a:xfrm>
            <a:off x="113385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Each payment names its formula</a:t>
            </a:r>
          </a:p>
        </p:txBody>
      </p:sp>
      <p:sp>
        <p:nvSpPr>
          <p:cNvPr id="42" name="TextBox 41"/>
          <p:cNvSpPr txBox="1"/>
          <p:nvPr/>
        </p:nvSpPr>
        <p:spPr>
          <a:xfrm>
            <a:off x="82296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An earning, deduction, bonus or loan says which published computation produces its amount, and where each input in that formula comes from.</a:t>
            </a:r>
          </a:p>
        </p:txBody>
      </p:sp>
      <p:sp>
        <p:nvSpPr>
          <p:cNvPr id="43" name="Rounded Rectangle 42"/>
          <p:cNvSpPr/>
          <p:nvPr/>
        </p:nvSpPr>
        <p:spPr>
          <a:xfrm>
            <a:off x="430773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307738" y="4858512"/>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4463186" y="5041392"/>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8</a:t>
            </a:r>
          </a:p>
        </p:txBody>
      </p:sp>
      <p:sp>
        <p:nvSpPr>
          <p:cNvPr id="46" name="TextBox 45"/>
          <p:cNvSpPr txBox="1"/>
          <p:nvPr/>
        </p:nvSpPr>
        <p:spPr>
          <a:xfrm>
            <a:off x="487466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And names who it reaches</a:t>
            </a:r>
          </a:p>
        </p:txBody>
      </p:sp>
      <p:sp>
        <p:nvSpPr>
          <p:cNvPr id="47" name="TextBox 46"/>
          <p:cNvSpPr txBox="1"/>
          <p:nvPr/>
        </p:nvSpPr>
        <p:spPr>
          <a:xfrm>
            <a:off x="456377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Applicability is stated once, in one vocabulary, and payroll applies a rule only to the employees it covers.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HOW TO READ THIS DECK</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the deck is organised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Most pages walk through a screen. A few set up a decision to agree in the meeting.</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sp>
        <p:nvSpPr>
          <p:cNvPr id="8" name="Rounded Rectangle 7"/>
          <p:cNvSpPr/>
          <p:nvPr/>
        </p:nvSpPr>
        <p:spPr>
          <a:xfrm>
            <a:off x="56692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Continues Part 1</a:t>
            </a:r>
          </a:p>
        </p:txBody>
      </p:sp>
      <p:sp>
        <p:nvSpPr>
          <p:cNvPr id="12" name="TextBox 11"/>
          <p:cNvSpPr txBox="1"/>
          <p:nvPr/>
        </p:nvSpPr>
        <p:spPr>
          <a:xfrm>
            <a:off x="82296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This deck assumes the Part 1 walkthrough. It covers what changed after your review rather than repeating the module tour.</a:t>
            </a:r>
          </a:p>
        </p:txBody>
      </p:sp>
      <p:sp>
        <p:nvSpPr>
          <p:cNvPr id="13" name="Rounded Rectangle 12"/>
          <p:cNvSpPr/>
          <p:nvPr/>
        </p:nvSpPr>
        <p:spPr>
          <a:xfrm>
            <a:off x="430773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Walkthrough</a:t>
            </a:r>
          </a:p>
        </p:txBody>
      </p:sp>
      <p:sp>
        <p:nvSpPr>
          <p:cNvPr id="17" name="TextBox 16"/>
          <p:cNvSpPr txBox="1"/>
          <p:nvPr/>
        </p:nvSpPr>
        <p:spPr>
          <a:xfrm>
            <a:off x="456377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Screens captured from the running prototype on 27 August 2026, with numbered callouts on the controls they describe.</a:t>
            </a:r>
          </a:p>
        </p:txBody>
      </p:sp>
      <p:sp>
        <p:nvSpPr>
          <p:cNvPr id="18" name="Rounded Rectangle 17"/>
          <p:cNvSpPr/>
          <p:nvPr/>
        </p:nvSpPr>
        <p:spPr>
          <a:xfrm>
            <a:off x="8048548" y="2194560"/>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Navigation path</a:t>
            </a:r>
          </a:p>
        </p:txBody>
      </p:sp>
      <p:sp>
        <p:nvSpPr>
          <p:cNvPr id="22" name="TextBox 21"/>
          <p:cNvSpPr txBox="1"/>
          <p:nvPr/>
        </p:nvSpPr>
        <p:spPr>
          <a:xfrm>
            <a:off x="8304580" y="2907792"/>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Every screen page carries the path needed to reopen it in ATLAS.</a:t>
            </a:r>
          </a:p>
        </p:txBody>
      </p:sp>
      <p:sp>
        <p:nvSpPr>
          <p:cNvPr id="23" name="Rounded Rectangle 22"/>
          <p:cNvSpPr/>
          <p:nvPr/>
        </p:nvSpPr>
        <p:spPr>
          <a:xfrm>
            <a:off x="56692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For the meeting</a:t>
            </a:r>
          </a:p>
        </p:txBody>
      </p:sp>
      <p:sp>
        <p:nvSpPr>
          <p:cNvPr id="27" name="TextBox 26"/>
          <p:cNvSpPr txBox="1"/>
          <p:nvPr/>
        </p:nvSpPr>
        <p:spPr>
          <a:xfrm>
            <a:off x="82296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A few pages carry decisions to agree together. They are marked, and gathered again at the end.</a:t>
            </a:r>
          </a:p>
        </p:txBody>
      </p:sp>
      <p:sp>
        <p:nvSpPr>
          <p:cNvPr id="28" name="Rounded Rectangle 27"/>
          <p:cNvSpPr/>
          <p:nvPr/>
        </p:nvSpPr>
        <p:spPr>
          <a:xfrm>
            <a:off x="430773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Demonstration data</a:t>
            </a:r>
          </a:p>
        </p:txBody>
      </p:sp>
      <p:sp>
        <p:nvSpPr>
          <p:cNvPr id="32" name="TextBox 31"/>
          <p:cNvSpPr txBox="1"/>
          <p:nvPr/>
        </p:nvSpPr>
        <p:spPr>
          <a:xfrm>
            <a:off x="456377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Records, codes and amounts are samples from the prototype, including the worked example carried over from Part 1.</a:t>
            </a:r>
          </a:p>
        </p:txBody>
      </p:sp>
      <p:sp>
        <p:nvSpPr>
          <p:cNvPr id="33" name="Rounded Rectangle 32"/>
          <p:cNvSpPr/>
          <p:nvPr/>
        </p:nvSpPr>
        <p:spPr>
          <a:xfrm>
            <a:off x="8048548" y="3777234"/>
            <a:ext cx="3576218" cy="141808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77234"/>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60114"/>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1497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company, one pass</a:t>
            </a:r>
          </a:p>
        </p:txBody>
      </p:sp>
      <p:sp>
        <p:nvSpPr>
          <p:cNvPr id="37" name="TextBox 36"/>
          <p:cNvSpPr txBox="1"/>
          <p:nvPr/>
        </p:nvSpPr>
        <p:spPr>
          <a:xfrm>
            <a:off x="8304580" y="4490466"/>
            <a:ext cx="3100730" cy="631698"/>
          </a:xfrm>
          <a:prstGeom prst="rect">
            <a:avLst/>
          </a:prstGeom>
          <a:noFill/>
        </p:spPr>
        <p:txBody>
          <a:bodyPr wrap="square" anchor="t" lIns="0" rIns="0" tIns="0" bIns="0">
            <a:spAutoFit/>
          </a:bodyPr>
          <a:lstStyle/>
          <a:p>
            <a:pPr algn="l">
              <a:lnSpc>
                <a:spcPct val="130000"/>
              </a:lnSpc>
              <a:spcBef>
                <a:spcPts val="0"/>
              </a:spcBef>
              <a:spcAft>
                <a:spcPts val="0"/>
              </a:spcAft>
            </a:pPr>
            <a:r>
              <a:rPr sz="980" b="0" i="0">
                <a:solidFill>
                  <a:srgbClr val="6B6675"/>
                </a:solidFill>
                <a:latin typeface="Segoe UI"/>
              </a:rPr>
              <a:t>Every screen comes from the same sandbox company and the same posted transaction, PR-2025-11-E2E.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YOUR REVIEW · 1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you asked for, and where it now lives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review items on authoring and inputs, and the change each one produced.</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remaining items are on the next page.</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YOU ASKED FOR</a:t>
            </a:r>
          </a:p>
        </p:txBody>
      </p:sp>
      <p:sp>
        <p:nvSpPr>
          <p:cNvPr id="10" name="TextBox 9"/>
          <p:cNvSpPr txBox="1"/>
          <p:nvPr/>
        </p:nvSpPr>
        <p:spPr>
          <a:xfrm>
            <a:off x="4048871"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NOW HAPPENS</a:t>
            </a:r>
          </a:p>
        </p:txBody>
      </p:sp>
      <p:sp>
        <p:nvSpPr>
          <p:cNvPr id="11" name="TextBox 10"/>
          <p:cNvSpPr txBox="1"/>
          <p:nvPr/>
        </p:nvSpPr>
        <p:spPr>
          <a:xfrm>
            <a:off x="957779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SHOWN IN</a:t>
            </a:r>
          </a:p>
        </p:txBody>
      </p:sp>
      <p:sp>
        <p:nvSpPr>
          <p:cNvPr id="12" name="Rounded Rectangle 11"/>
          <p:cNvSpPr/>
          <p:nvPr/>
        </p:nvSpPr>
        <p:spPr>
          <a:xfrm>
            <a:off x="566928" y="2377440"/>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Computation code should follow the category</a:t>
            </a:r>
          </a:p>
        </p:txBody>
      </p:sp>
      <p:sp>
        <p:nvSpPr>
          <p:cNvPr id="14" name="TextBox 13"/>
          <p:cNvSpPr txBox="1"/>
          <p:nvPr/>
        </p:nvSpPr>
        <p:spPr>
          <a:xfrm>
            <a:off x="4048871" y="2496312"/>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Generated from the category and the next free sequence — ERN-007 for an earning, DED-004 for a deduction — then locked.</a:t>
            </a:r>
          </a:p>
        </p:txBody>
      </p:sp>
      <p:sp>
        <p:nvSpPr>
          <p:cNvPr id="15" name="TextBox 14"/>
          <p:cNvSpPr txBox="1"/>
          <p:nvPr/>
        </p:nvSpPr>
        <p:spPr>
          <a:xfrm>
            <a:off x="9577790" y="2496312"/>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16" name="Rounded Rectangle 15"/>
          <p:cNvSpPr/>
          <p:nvPr/>
        </p:nvSpPr>
        <p:spPr>
          <a:xfrm>
            <a:off x="566928" y="3152851"/>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271723"/>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 new rule should start inactive</a:t>
            </a:r>
          </a:p>
        </p:txBody>
      </p:sp>
      <p:sp>
        <p:nvSpPr>
          <p:cNvPr id="18" name="TextBox 17"/>
          <p:cNvSpPr txBox="1"/>
          <p:nvPr/>
        </p:nvSpPr>
        <p:spPr>
          <a:xfrm>
            <a:off x="4048871" y="3271723"/>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New computations are created Inactive, in the company and central libraries alike, and are activated deliberately.</a:t>
            </a:r>
          </a:p>
        </p:txBody>
      </p:sp>
      <p:sp>
        <p:nvSpPr>
          <p:cNvPr id="19" name="TextBox 18"/>
          <p:cNvSpPr txBox="1"/>
          <p:nvPr/>
        </p:nvSpPr>
        <p:spPr>
          <a:xfrm>
            <a:off x="9577790" y="3271723"/>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0" name="Rounded Rectangle 19"/>
          <p:cNvSpPr/>
          <p:nvPr/>
        </p:nvSpPr>
        <p:spPr>
          <a:xfrm>
            <a:off x="566928" y="3928262"/>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047134"/>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Description should be optional</a:t>
            </a:r>
          </a:p>
        </p:txBody>
      </p:sp>
      <p:sp>
        <p:nvSpPr>
          <p:cNvPr id="22" name="TextBox 21"/>
          <p:cNvSpPr txBox="1"/>
          <p:nvPr/>
        </p:nvSpPr>
        <p:spPr>
          <a:xfrm>
            <a:off x="4048871" y="4047134"/>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Description no longer blocks a save. It stays the recommended place to record inclusions and exclusions.</a:t>
            </a:r>
          </a:p>
        </p:txBody>
      </p:sp>
      <p:sp>
        <p:nvSpPr>
          <p:cNvPr id="23" name="TextBox 22"/>
          <p:cNvSpPr txBox="1"/>
          <p:nvPr/>
        </p:nvSpPr>
        <p:spPr>
          <a:xfrm>
            <a:off x="9577790" y="4047134"/>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4" name="Rounded Rectangle 23"/>
          <p:cNvSpPr/>
          <p:nvPr/>
        </p:nvSpPr>
        <p:spPr>
          <a:xfrm>
            <a:off x="566928" y="4703673"/>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822545"/>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Categories should come from a reference table</a:t>
            </a:r>
          </a:p>
        </p:txBody>
      </p:sp>
      <p:sp>
        <p:nvSpPr>
          <p:cNvPr id="26" name="TextBox 25"/>
          <p:cNvSpPr txBox="1"/>
          <p:nvPr/>
        </p:nvSpPr>
        <p:spPr>
          <a:xfrm>
            <a:off x="4048871" y="4822545"/>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Computation Category reference table owns the list and the code prefix each category generates.</a:t>
            </a:r>
          </a:p>
        </p:txBody>
      </p:sp>
      <p:sp>
        <p:nvSpPr>
          <p:cNvPr id="27" name="TextBox 26"/>
          <p:cNvSpPr txBox="1"/>
          <p:nvPr/>
        </p:nvSpPr>
        <p:spPr>
          <a:xfrm>
            <a:off x="9577790" y="4822545"/>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Creating a computation</a:t>
            </a:r>
          </a:p>
        </p:txBody>
      </p:sp>
      <p:sp>
        <p:nvSpPr>
          <p:cNvPr id="28" name="Rounded Rectangle 27"/>
          <p:cNvSpPr/>
          <p:nvPr/>
        </p:nvSpPr>
        <p:spPr>
          <a:xfrm>
            <a:off x="566928" y="5479084"/>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5597956"/>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Map fields need owner, type, unit, timing and missing-value</a:t>
            </a:r>
          </a:p>
        </p:txBody>
      </p:sp>
      <p:sp>
        <p:nvSpPr>
          <p:cNvPr id="30" name="TextBox 29"/>
          <p:cNvSpPr txBox="1"/>
          <p:nvPr/>
        </p:nvSpPr>
        <p:spPr>
          <a:xfrm>
            <a:off x="4048871" y="5597956"/>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All five are declared for every approved field, and shown on the map-field table and the record view.</a:t>
            </a:r>
          </a:p>
        </p:txBody>
      </p:sp>
      <p:sp>
        <p:nvSpPr>
          <p:cNvPr id="31" name="TextBox 30"/>
          <p:cNvSpPr txBox="1"/>
          <p:nvPr/>
        </p:nvSpPr>
        <p:spPr>
          <a:xfrm>
            <a:off x="9577790" y="5597956"/>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Map fields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YOUR REVIEW · 2 OF 2</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you asked for, and where it now lives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review items on history, protection and scope — the structural half of the change.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Business decisions still open are gathered near the end of the deck.</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YOU ASKED FOR</a:t>
            </a:r>
          </a:p>
        </p:txBody>
      </p:sp>
      <p:sp>
        <p:nvSpPr>
          <p:cNvPr id="10" name="TextBox 9"/>
          <p:cNvSpPr txBox="1"/>
          <p:nvPr/>
        </p:nvSpPr>
        <p:spPr>
          <a:xfrm>
            <a:off x="4048871"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NOW HAPPENS</a:t>
            </a:r>
          </a:p>
        </p:txBody>
      </p:sp>
      <p:sp>
        <p:nvSpPr>
          <p:cNvPr id="11" name="TextBox 10"/>
          <p:cNvSpPr txBox="1"/>
          <p:nvPr/>
        </p:nvSpPr>
        <p:spPr>
          <a:xfrm>
            <a:off x="957779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SHOWN IN</a:t>
            </a:r>
          </a:p>
        </p:txBody>
      </p:sp>
      <p:sp>
        <p:nvSpPr>
          <p:cNvPr id="12" name="Rounded Rectangle 11"/>
          <p:cNvSpPr/>
          <p:nvPr/>
        </p:nvSpPr>
        <p:spPr>
          <a:xfrm>
            <a:off x="566928" y="2377440"/>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Payroll must keep the version it used</a:t>
            </a:r>
          </a:p>
        </p:txBody>
      </p:sp>
      <p:sp>
        <p:nvSpPr>
          <p:cNvPr id="14" name="TextBox 13"/>
          <p:cNvSpPr txBox="1"/>
          <p:nvPr/>
        </p:nvSpPr>
        <p:spPr>
          <a:xfrm>
            <a:off x="4048871" y="2496312"/>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Each step records its version; the transaction stores a snapshot of every formula it applied and resolves through it.</a:t>
            </a:r>
          </a:p>
        </p:txBody>
      </p:sp>
      <p:sp>
        <p:nvSpPr>
          <p:cNvPr id="15" name="TextBox 14"/>
          <p:cNvSpPr txBox="1"/>
          <p:nvPr/>
        </p:nvSpPr>
        <p:spPr>
          <a:xfrm>
            <a:off x="9577790" y="2496312"/>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Historical protection</a:t>
            </a:r>
          </a:p>
        </p:txBody>
      </p:sp>
      <p:sp>
        <p:nvSpPr>
          <p:cNvPr id="16" name="Rounded Rectangle 15"/>
          <p:cNvSpPr/>
          <p:nvPr/>
        </p:nvSpPr>
        <p:spPr>
          <a:xfrm>
            <a:off x="566928" y="3346704"/>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465576"/>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Deletion should close once a code has been used</a:t>
            </a:r>
          </a:p>
        </p:txBody>
      </p:sp>
      <p:sp>
        <p:nvSpPr>
          <p:cNvPr id="18" name="TextBox 17"/>
          <p:cNvSpPr txBox="1"/>
          <p:nvPr/>
        </p:nvSpPr>
        <p:spPr>
          <a:xfrm>
            <a:off x="4048871" y="3465576"/>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Edit and delete close on posted usage; deactivation closes on any linked transaction. Version history blocks deletion.</a:t>
            </a:r>
          </a:p>
        </p:txBody>
      </p:sp>
      <p:sp>
        <p:nvSpPr>
          <p:cNvPr id="19" name="TextBox 18"/>
          <p:cNvSpPr txBox="1"/>
          <p:nvPr/>
        </p:nvSpPr>
        <p:spPr>
          <a:xfrm>
            <a:off x="9577790" y="3465576"/>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Delete protection</a:t>
            </a:r>
          </a:p>
        </p:txBody>
      </p:sp>
      <p:sp>
        <p:nvSpPr>
          <p:cNvPr id="20" name="Rounded Rectangle 19"/>
          <p:cNvSpPr/>
          <p:nvPr/>
        </p:nvSpPr>
        <p:spPr>
          <a:xfrm>
            <a:off x="566928" y="4315968"/>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434840"/>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Computations should be company-scoped</a:t>
            </a:r>
          </a:p>
        </p:txBody>
      </p:sp>
      <p:sp>
        <p:nvSpPr>
          <p:cNvPr id="22" name="TextBox 21"/>
          <p:cNvSpPr txBox="1"/>
          <p:nvPr/>
        </p:nvSpPr>
        <p:spPr>
          <a:xfrm>
            <a:off x="4048871" y="4434840"/>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Computations, assignments, reference sources, versions and history are all stored per company.</a:t>
            </a:r>
          </a:p>
        </p:txBody>
      </p:sp>
      <p:sp>
        <p:nvSpPr>
          <p:cNvPr id="23" name="TextBox 22"/>
          <p:cNvSpPr txBox="1"/>
          <p:nvPr/>
        </p:nvSpPr>
        <p:spPr>
          <a:xfrm>
            <a:off x="9577790" y="4434840"/>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Company scope</a:t>
            </a:r>
          </a:p>
        </p:txBody>
      </p:sp>
      <p:sp>
        <p:nvSpPr>
          <p:cNvPr id="24" name="Rounded Rectangle 23"/>
          <p:cNvSpPr/>
          <p:nvPr/>
        </p:nvSpPr>
        <p:spPr>
          <a:xfrm>
            <a:off x="566928" y="5285232"/>
            <a:ext cx="11057839" cy="896112"/>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5404104"/>
            <a:ext cx="3024743" cy="676656"/>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Reference sources should keep old versions</a:t>
            </a:r>
          </a:p>
        </p:txBody>
      </p:sp>
      <p:sp>
        <p:nvSpPr>
          <p:cNvPr id="26" name="TextBox 25"/>
          <p:cNvSpPr txBox="1"/>
          <p:nvPr/>
        </p:nvSpPr>
        <p:spPr>
          <a:xfrm>
            <a:off x="4048871" y="5404104"/>
            <a:ext cx="5236311"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published version is retained with its own effective date, and payroll resolves by payout date.</a:t>
            </a:r>
          </a:p>
        </p:txBody>
      </p:sp>
      <p:sp>
        <p:nvSpPr>
          <p:cNvPr id="27" name="TextBox 26"/>
          <p:cNvSpPr txBox="1"/>
          <p:nvPr/>
        </p:nvSpPr>
        <p:spPr>
          <a:xfrm>
            <a:off x="9577790" y="5404104"/>
            <a:ext cx="1918959" cy="676656"/>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Effective-dated values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06</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Payroll keeps the version it ran on</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Part 1 ended on this question. A transaction now records the exact formula behind every amount.</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version on the line</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snapshot</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Why it matters</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QUESTION FROM PART 1</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happens to a payroll when the formula changes</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confirmed that payroll evaluates the stored library. The open question was what that meant for a run that had already gone out.</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Confirmed in payrollEngine.js and payrollRuns.js, and covered by the governance test suite.</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3547872"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PART 1 · THE POSITION THEN</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Payroll read the library at run time</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Each step resolved its code and evaluated whatever expression the library held.</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trail named the code</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 ledger row proved which code produced an amount, but not which version of it.</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An edit changed the next result</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Correct, and expected. The concern was what it meant for a result already posted.</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419856"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PART 2 · THE POSITION NOW</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step records its version</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Every calculation step stores the version and effective date of the formula it applied.</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transaction keeps a snapshot</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At calculation time ATLAS stores every code applied, with its expression as it stood.</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 posted run resolves its own snapshot</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Publish version 1.4 tomorrow and the run that used 1.3 still reads, and reproduces, 1.3.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ANSWER TO PART 1'S OPEN QUESTION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amount now names the version that produced it</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ended on a question: if a formula is edited, what happens to the payroll that already ran? A payroll line now records the version it applied, not just the code.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Source · the posted transaction PR-2025-11-E2E, first employee result.</a:t>
            </a:r>
          </a:p>
        </p:txBody>
      </p:sp>
      <p:pic>
        <p:nvPicPr>
          <p:cNvPr id="9" name="Picture 8" descr="fg-trail-versions.png"/>
          <p:cNvPicPr>
            <a:picLocks noChangeAspect="1"/>
          </p:cNvPicPr>
          <p:nvPr/>
        </p:nvPicPr>
        <p:blipFill>
          <a:blip r:embed="rId2"/>
          <a:stretch>
            <a:fillRect/>
          </a:stretch>
        </p:blipFill>
        <p:spPr>
          <a:xfrm>
            <a:off x="1779144" y="2304288"/>
            <a:ext cx="8633407"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code, as before</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governed code the step applied. This is what Part 1 showed, and it has not changed.</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version, which is new</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exact published version this line evaluated. Edit the formula tomorrow and this figure still points at the version that produced it.</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amount it produced</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Because the version travels with the step, the amount stays reproducible from the formula that was in force, not the current one.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VERSION SNAPSHOT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transaction keeps the formulas it was computed with</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When a transaction is calculated, ATLAS stores every code it applied together with that code's expression and version. The transaction then explains itself from its own record.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Captured at calculation time on PR-2025-11-E2E. Sample amounts throughout.</a:t>
            </a:r>
          </a:p>
        </p:txBody>
      </p:sp>
      <p:pic>
        <p:nvPicPr>
          <p:cNvPr id="9" name="Picture 8" descr="fg-trail-snapshot.png"/>
          <p:cNvPicPr>
            <a:picLocks noChangeAspect="1"/>
          </p:cNvPicPr>
          <p:nvPr/>
        </p:nvPicPr>
        <p:blipFill>
          <a:blip r:embed="rId2"/>
          <a:stretch>
            <a:fillRect/>
          </a:stretch>
        </p:blipFill>
        <p:spPr>
          <a:xfrm>
            <a:off x="566928" y="3165103"/>
            <a:ext cx="5141671" cy="2173714"/>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Every code applied</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One row per computation the run touched, whether it produced an earning, a deduction or a table lookup.</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applied</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Captured at calculation time. Publishing a new version later does not reach back into this transaction.</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67665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date it was effective from</a:t>
            </a:r>
          </a:p>
        </p:txBody>
      </p:sp>
      <p:sp>
        <p:nvSpPr>
          <p:cNvPr id="21" name="TextBox 20"/>
          <p:cNvSpPr txBox="1"/>
          <p:nvPr/>
        </p:nvSpPr>
        <p:spPr>
          <a:xfrm>
            <a:off x="6202375" y="4325112"/>
            <a:ext cx="2340864" cy="429768"/>
          </a:xfrm>
          <a:prstGeom prst="rect">
            <a:avLst/>
          </a:prstGeom>
          <a:noFill/>
        </p:spPr>
        <p:txBody>
          <a:bodyPr wrap="square" anchor="t" lIns="0" rIns="0" tIns="0" bIns="0">
            <a:spAutoFit/>
          </a:bodyPr>
          <a:lstStyle/>
          <a:p>
            <a:pPr algn="l">
              <a:lnSpc>
                <a:spcPct val="126000"/>
              </a:lnSpc>
              <a:spcBef>
                <a:spcPts val="0"/>
              </a:spcBef>
              <a:spcAft>
                <a:spcPts val="0"/>
              </a:spcAft>
            </a:pPr>
            <a:r>
              <a:rPr sz="880" b="0" i="0">
                <a:solidFill>
                  <a:srgbClr val="6B6675"/>
                </a:solidFill>
                <a:latin typeface="Segoe UI"/>
              </a:rPr>
              <a:t>Shows which dated version was in force on the payout date, so the choice can be checked rather than assumed.</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Who owns the formula</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Separates the Atlas standards from anything the company defined itself, which decides who a change has to go through.</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expression as applied</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arithmetic exactly as it stood when the run was calculated. This is the line to read out when someone asks how the figure arose.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07</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What can no longer be deleted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Once a posted payroll has used a computation, the actions available on it change.</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register</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reasons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rules</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DELETE PROTECTION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register now shows what payroll has already used</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computation that has been through a payroll run stays fixed for the runs that used it. The register names those codes before anyone opens one.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basic-pay code shown was applied by PR-2025-11-E2E, which is why each one is protected.</a:t>
            </a:r>
          </a:p>
        </p:txBody>
      </p:sp>
      <p:pic>
        <p:nvPicPr>
          <p:cNvPr id="9" name="Picture 8" descr="fg-usage.png"/>
          <p:cNvPicPr>
            <a:picLocks noChangeAspect="1"/>
          </p:cNvPicPr>
          <p:nvPr/>
        </p:nvPicPr>
        <p:blipFill>
          <a:blip r:embed="rId2"/>
          <a:stretch>
            <a:fillRect/>
          </a:stretch>
        </p:blipFill>
        <p:spPr>
          <a:xfrm>
            <a:off x="2443748" y="2304288"/>
            <a:ext cx="7304198"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Payroll usage</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How many transactions have applied this code, and how many of those were posted. Hover a chip to see the transaction numbers.</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Status</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Active means payroll may select it now. Inactive keeps it available to explain earlier payrolls without offering it for new work.</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the row offers</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View and activate stay available. Edit is replaced by a lock, and deactivate is greyed, because a posted transaction depends on this code.</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Where it is maintained</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An Atlas standard is defined centrally and reaches this company by applicability. A company rule is maintained here.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DELETE PROTECTION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record says which transactions hold it, and why</a:t>
            </a:r>
          </a:p>
        </p:txBody>
      </p:sp>
      <p:sp>
        <p:nvSpPr>
          <p:cNvPr id="6" name="Rounded Rectangle 5"/>
          <p:cNvSpPr/>
          <p:nvPr/>
        </p:nvSpPr>
        <p:spPr>
          <a:xfrm>
            <a:off x="566928" y="1316736"/>
            <a:ext cx="6981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Opening a computation gives the reviewer the evidence behind the lock, in the same words the tooltip uses, so a refusal never has to be taken on trust.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Delete protection now checks payroll history, not only whether an assignment exists.</a:t>
            </a:r>
          </a:p>
        </p:txBody>
      </p:sp>
      <p:pic>
        <p:nvPicPr>
          <p:cNvPr id="9" name="Picture 8" descr="fg-protected.png"/>
          <p:cNvPicPr>
            <a:picLocks noChangeAspect="1"/>
          </p:cNvPicPr>
          <p:nvPr/>
        </p:nvPicPr>
        <p:blipFill>
          <a:blip r:embed="rId2"/>
          <a:stretch>
            <a:fillRect/>
          </a:stretch>
        </p:blipFill>
        <p:spPr>
          <a:xfrm>
            <a:off x="566928" y="2932460"/>
            <a:ext cx="6675120" cy="2639000"/>
          </a:xfrm>
          <a:prstGeom prst="rect">
            <a:avLst/>
          </a:prstGeom>
        </p:spPr>
      </p:pic>
      <p:sp>
        <p:nvSpPr>
          <p:cNvPr id="10" name="Rounded Rectangle 9"/>
          <p:cNvSpPr/>
          <p:nvPr/>
        </p:nvSpPr>
        <p:spPr>
          <a:xfrm>
            <a:off x="7534656" y="2304288"/>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Payroll usage</a:t>
            </a:r>
          </a:p>
        </p:txBody>
      </p:sp>
      <p:sp>
        <p:nvSpPr>
          <p:cNvPr id="13" name="TextBox 12"/>
          <p:cNvSpPr txBox="1"/>
          <p:nvPr/>
        </p:nvSpPr>
        <p:spPr>
          <a:xfrm>
            <a:off x="7735824" y="2706624"/>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transactions that applied this code, with the period and the status of each.</a:t>
            </a:r>
          </a:p>
        </p:txBody>
      </p:sp>
      <p:sp>
        <p:nvSpPr>
          <p:cNvPr id="14" name="Rounded Rectangle 13"/>
          <p:cNvSpPr/>
          <p:nvPr/>
        </p:nvSpPr>
        <p:spPr>
          <a:xfrm>
            <a:off x="7534656" y="3648456"/>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79476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Version used</a:t>
            </a:r>
          </a:p>
        </p:txBody>
      </p:sp>
      <p:sp>
        <p:nvSpPr>
          <p:cNvPr id="17" name="TextBox 16"/>
          <p:cNvSpPr txBox="1"/>
          <p:nvPr/>
        </p:nvSpPr>
        <p:spPr>
          <a:xfrm>
            <a:off x="7735824" y="4050792"/>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version that transaction ran on. Read across the row to see which formula produced the amounts in it.</a:t>
            </a:r>
          </a:p>
        </p:txBody>
      </p:sp>
      <p:sp>
        <p:nvSpPr>
          <p:cNvPr id="18" name="Rounded Rectangle 17"/>
          <p:cNvSpPr/>
          <p:nvPr/>
        </p:nvSpPr>
        <p:spPr>
          <a:xfrm>
            <a:off x="7534656" y="4992624"/>
            <a:ext cx="4090111"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513892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What is protected</a:t>
            </a:r>
          </a:p>
        </p:txBody>
      </p:sp>
      <p:sp>
        <p:nvSpPr>
          <p:cNvPr id="21" name="TextBox 20"/>
          <p:cNvSpPr txBox="1"/>
          <p:nvPr/>
        </p:nvSpPr>
        <p:spPr>
          <a:xfrm>
            <a:off x="7735824" y="5394960"/>
            <a:ext cx="3687775"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Each restriction with its reason and the transaction that causes it. When nothing has used the code, this section does not appear at all.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RULES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may be edited, and what may be deleted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same rule applies to a Client Admin and a Super Admin. What decides it is payroll history, not the role.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Deactivation is stricter than deletion on purpose: it stops a code mid-cycle.</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2600718"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THE COMPUTATION</a:t>
            </a:r>
          </a:p>
        </p:txBody>
      </p:sp>
      <p:sp>
        <p:nvSpPr>
          <p:cNvPr id="10" name="TextBox 9"/>
          <p:cNvSpPr txBox="1"/>
          <p:nvPr/>
        </p:nvSpPr>
        <p:spPr>
          <a:xfrm>
            <a:off x="3606558" y="1984248"/>
            <a:ext cx="182666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CAN BE EDITED</a:t>
            </a:r>
          </a:p>
        </p:txBody>
      </p:sp>
      <p:sp>
        <p:nvSpPr>
          <p:cNvPr id="11" name="TextBox 10"/>
          <p:cNvSpPr txBox="1"/>
          <p:nvPr/>
        </p:nvSpPr>
        <p:spPr>
          <a:xfrm>
            <a:off x="5707547" y="1984248"/>
            <a:ext cx="182666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CAN BE DELETED</a:t>
            </a:r>
          </a:p>
        </p:txBody>
      </p:sp>
      <p:sp>
        <p:nvSpPr>
          <p:cNvPr id="12" name="TextBox 11"/>
          <p:cNvSpPr txBox="1"/>
          <p:nvPr/>
        </p:nvSpPr>
        <p:spPr>
          <a:xfrm>
            <a:off x="7808536" y="1984248"/>
            <a:ext cx="3706502"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WHY</a:t>
            </a:r>
          </a:p>
        </p:txBody>
      </p:sp>
      <p:sp>
        <p:nvSpPr>
          <p:cNvPr id="13" name="Rounded Rectangle 12"/>
          <p:cNvSpPr/>
          <p:nvPr/>
        </p:nvSpPr>
        <p:spPr>
          <a:xfrm>
            <a:off x="566928" y="2377440"/>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 y="2496312"/>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Atlas standard, in a company</a:t>
            </a:r>
          </a:p>
        </p:txBody>
      </p:sp>
      <p:sp>
        <p:nvSpPr>
          <p:cNvPr id="15" name="TextBox 14"/>
          <p:cNvSpPr txBox="1"/>
          <p:nvPr/>
        </p:nvSpPr>
        <p:spPr>
          <a:xfrm>
            <a:off x="3606558" y="249631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Activate or deactivate only</a:t>
            </a:r>
          </a:p>
        </p:txBody>
      </p:sp>
      <p:sp>
        <p:nvSpPr>
          <p:cNvPr id="16" name="TextBox 15"/>
          <p:cNvSpPr txBox="1"/>
          <p:nvPr/>
        </p:nvSpPr>
        <p:spPr>
          <a:xfrm>
            <a:off x="5707547" y="249631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Never</a:t>
            </a:r>
          </a:p>
        </p:txBody>
      </p:sp>
      <p:sp>
        <p:nvSpPr>
          <p:cNvPr id="17" name="TextBox 16"/>
          <p:cNvSpPr txBox="1"/>
          <p:nvPr/>
        </p:nvSpPr>
        <p:spPr>
          <a:xfrm>
            <a:off x="7808536" y="2496312"/>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Formula changes belong to Settings. The company decides whether the standard applies and whether it is on.</a:t>
            </a:r>
          </a:p>
        </p:txBody>
      </p:sp>
      <p:sp>
        <p:nvSpPr>
          <p:cNvPr id="18" name="Rounded Rectangle 17"/>
          <p:cNvSpPr/>
          <p:nvPr/>
        </p:nvSpPr>
        <p:spPr>
          <a:xfrm>
            <a:off x="566928" y="3023616"/>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31520" y="3142488"/>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Atlas standard, in Settings</a:t>
            </a:r>
          </a:p>
        </p:txBody>
      </p:sp>
      <p:sp>
        <p:nvSpPr>
          <p:cNvPr id="20" name="TextBox 19"/>
          <p:cNvSpPr txBox="1"/>
          <p:nvPr/>
        </p:nvSpPr>
        <p:spPr>
          <a:xfrm>
            <a:off x="3606558" y="3142488"/>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While no posted transaction has used it</a:t>
            </a:r>
          </a:p>
        </p:txBody>
      </p:sp>
      <p:sp>
        <p:nvSpPr>
          <p:cNvPr id="21" name="TextBox 20"/>
          <p:cNvSpPr txBox="1"/>
          <p:nvPr/>
        </p:nvSpPr>
        <p:spPr>
          <a:xfrm>
            <a:off x="5707547" y="3142488"/>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While no posted transaction has used it</a:t>
            </a:r>
          </a:p>
        </p:txBody>
      </p:sp>
      <p:sp>
        <p:nvSpPr>
          <p:cNvPr id="22" name="TextBox 21"/>
          <p:cNvSpPr txBox="1"/>
          <p:nvPr/>
        </p:nvSpPr>
        <p:spPr>
          <a:xfrm>
            <a:off x="7808536" y="3142488"/>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One central definition. Once payroll has applied it, publish a new version instead.</a:t>
            </a:r>
          </a:p>
        </p:txBody>
      </p:sp>
      <p:sp>
        <p:nvSpPr>
          <p:cNvPr id="23" name="Rounded Rectangle 22"/>
          <p:cNvSpPr/>
          <p:nvPr/>
        </p:nvSpPr>
        <p:spPr>
          <a:xfrm>
            <a:off x="566928" y="3669792"/>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31520" y="3788664"/>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Company-defined, unused</a:t>
            </a:r>
          </a:p>
        </p:txBody>
      </p:sp>
      <p:sp>
        <p:nvSpPr>
          <p:cNvPr id="25" name="TextBox 24"/>
          <p:cNvSpPr txBox="1"/>
          <p:nvPr/>
        </p:nvSpPr>
        <p:spPr>
          <a:xfrm>
            <a:off x="3606558" y="3788664"/>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26" name="TextBox 25"/>
          <p:cNvSpPr txBox="1"/>
          <p:nvPr/>
        </p:nvSpPr>
        <p:spPr>
          <a:xfrm>
            <a:off x="5707547" y="3788664"/>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27" name="TextBox 26"/>
          <p:cNvSpPr txBox="1"/>
          <p:nvPr/>
        </p:nvSpPr>
        <p:spPr>
          <a:xfrm>
            <a:off x="7808536" y="3788664"/>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Nothing depends on it yet, so it can be corrected or removed outright.</a:t>
            </a:r>
          </a:p>
        </p:txBody>
      </p:sp>
      <p:sp>
        <p:nvSpPr>
          <p:cNvPr id="28" name="Rounded Rectangle 27"/>
          <p:cNvSpPr/>
          <p:nvPr/>
        </p:nvSpPr>
        <p:spPr>
          <a:xfrm>
            <a:off x="566928" y="4315968"/>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4434840"/>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019" b="1" i="0">
                <a:solidFill>
                  <a:srgbClr val="241243"/>
                </a:solidFill>
                <a:latin typeface="Segoe UI Semibold"/>
              </a:rPr>
              <a:t>Company-defined, used by a posted payroll</a:t>
            </a:r>
          </a:p>
        </p:txBody>
      </p:sp>
      <p:sp>
        <p:nvSpPr>
          <p:cNvPr id="30" name="TextBox 29"/>
          <p:cNvSpPr txBox="1"/>
          <p:nvPr/>
        </p:nvSpPr>
        <p:spPr>
          <a:xfrm>
            <a:off x="3606558" y="4434840"/>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 — publish a new version</a:t>
            </a:r>
          </a:p>
        </p:txBody>
      </p:sp>
      <p:sp>
        <p:nvSpPr>
          <p:cNvPr id="31" name="TextBox 30"/>
          <p:cNvSpPr txBox="1"/>
          <p:nvPr/>
        </p:nvSpPr>
        <p:spPr>
          <a:xfrm>
            <a:off x="5707547" y="4434840"/>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 — set it Inactive</a:t>
            </a:r>
          </a:p>
        </p:txBody>
      </p:sp>
      <p:sp>
        <p:nvSpPr>
          <p:cNvPr id="32" name="TextBox 31"/>
          <p:cNvSpPr txBox="1"/>
          <p:nvPr/>
        </p:nvSpPr>
        <p:spPr>
          <a:xfrm>
            <a:off x="7808536" y="4434840"/>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historical transaction must keep resolving the version it ran on.</a:t>
            </a:r>
          </a:p>
        </p:txBody>
      </p:sp>
      <p:sp>
        <p:nvSpPr>
          <p:cNvPr id="33" name="Rounded Rectangle 32"/>
          <p:cNvSpPr/>
          <p:nvPr/>
        </p:nvSpPr>
        <p:spPr>
          <a:xfrm>
            <a:off x="566928" y="4962144"/>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731520" y="5081016"/>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Anything linked to an open transaction</a:t>
            </a:r>
          </a:p>
        </p:txBody>
      </p:sp>
      <p:sp>
        <p:nvSpPr>
          <p:cNvPr id="35" name="TextBox 34"/>
          <p:cNvSpPr txBox="1"/>
          <p:nvPr/>
        </p:nvSpPr>
        <p:spPr>
          <a:xfrm>
            <a:off x="3606558" y="5081016"/>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36" name="TextBox 35"/>
          <p:cNvSpPr txBox="1"/>
          <p:nvPr/>
        </p:nvSpPr>
        <p:spPr>
          <a:xfrm>
            <a:off x="5707547" y="5081016"/>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a:t>
            </a:r>
          </a:p>
        </p:txBody>
      </p:sp>
      <p:sp>
        <p:nvSpPr>
          <p:cNvPr id="37" name="TextBox 36"/>
          <p:cNvSpPr txBox="1"/>
          <p:nvPr/>
        </p:nvSpPr>
        <p:spPr>
          <a:xfrm>
            <a:off x="7808536" y="5081016"/>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Deactivation is refused while any non-cancelled transaction references the code.</a:t>
            </a:r>
          </a:p>
        </p:txBody>
      </p:sp>
      <p:sp>
        <p:nvSpPr>
          <p:cNvPr id="38" name="Rounded Rectangle 37"/>
          <p:cNvSpPr/>
          <p:nvPr/>
        </p:nvSpPr>
        <p:spPr>
          <a:xfrm>
            <a:off x="566928" y="5608320"/>
            <a:ext cx="11057839" cy="573024"/>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31520" y="5727192"/>
            <a:ext cx="2582430" cy="353568"/>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Anything with published version history</a:t>
            </a:r>
          </a:p>
        </p:txBody>
      </p:sp>
      <p:sp>
        <p:nvSpPr>
          <p:cNvPr id="40" name="TextBox 39"/>
          <p:cNvSpPr txBox="1"/>
          <p:nvPr/>
        </p:nvSpPr>
        <p:spPr>
          <a:xfrm>
            <a:off x="3606558" y="572719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Yes</a:t>
            </a:r>
          </a:p>
        </p:txBody>
      </p:sp>
      <p:sp>
        <p:nvSpPr>
          <p:cNvPr id="41" name="TextBox 40"/>
          <p:cNvSpPr txBox="1"/>
          <p:nvPr/>
        </p:nvSpPr>
        <p:spPr>
          <a:xfrm>
            <a:off x="5707547" y="5727192"/>
            <a:ext cx="1808381" cy="353568"/>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No</a:t>
            </a:r>
          </a:p>
        </p:txBody>
      </p:sp>
      <p:sp>
        <p:nvSpPr>
          <p:cNvPr id="42" name="TextBox 41"/>
          <p:cNvSpPr txBox="1"/>
          <p:nvPr/>
        </p:nvSpPr>
        <p:spPr>
          <a:xfrm>
            <a:off x="7808536" y="5727192"/>
            <a:ext cx="3688214" cy="35356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Earlier payrolls resolve against those versions, so the code is retired rather than deleted.</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08</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One standard, applied per company</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How a standard formula reaches many companies without any of them holding a copy.</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central library</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Applicability</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model</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ONE STANDARD, APPLIED PER COMPANY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An Atlas standard is defined once, in Settings</a:t>
            </a:r>
          </a:p>
        </p:txBody>
      </p:sp>
      <p:sp>
        <p:nvSpPr>
          <p:cNvPr id="6" name="Rounded Rectangle 5"/>
          <p:cNvSpPr/>
          <p:nvPr/>
        </p:nvSpPr>
        <p:spPr>
          <a:xfrm>
            <a:off x="566928" y="1316736"/>
            <a:ext cx="4060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Settings › Standard Computation Library › P&amp;A Admin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A standard formula exists in exactly one place. A company does not receive a copy of it — it receives a decision about whether the standard applies there.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P&amp;A Admin view, filtered to the rate formulas. Client Admins see this library read-only.</a:t>
            </a:r>
          </a:p>
        </p:txBody>
      </p:sp>
      <p:pic>
        <p:nvPicPr>
          <p:cNvPr id="9" name="Picture 8" descr="fg-std-library.png"/>
          <p:cNvPicPr>
            <a:picLocks noChangeAspect="1"/>
          </p:cNvPicPr>
          <p:nvPr/>
        </p:nvPicPr>
        <p:blipFill>
          <a:blip r:embed="rId2"/>
          <a:stretch>
            <a:fillRect/>
          </a:stretch>
        </p:blipFill>
        <p:spPr>
          <a:xfrm>
            <a:off x="1446652" y="2304288"/>
            <a:ext cx="9298390" cy="2450592"/>
          </a:xfrm>
          <a:prstGeom prst="rect">
            <a:avLst/>
          </a:prstGeom>
        </p:spPr>
      </p:pic>
      <p:sp>
        <p:nvSpPr>
          <p:cNvPr id="10" name="Rounded Rectangle 9"/>
          <p:cNvSpPr/>
          <p:nvPr/>
        </p:nvSpPr>
        <p:spPr>
          <a:xfrm>
            <a:off x="566928"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Companies</a:t>
            </a:r>
          </a:p>
        </p:txBody>
      </p:sp>
      <p:sp>
        <p:nvSpPr>
          <p:cNvPr id="13" name="TextBox 12"/>
          <p:cNvSpPr txBox="1"/>
          <p:nvPr/>
        </p:nvSpPr>
        <p:spPr>
          <a:xfrm>
            <a:off x="768096"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How many companies this standard is applied to. Opening it gives the per-company view on the next page.</a:t>
            </a:r>
          </a:p>
        </p:txBody>
      </p:sp>
      <p:sp>
        <p:nvSpPr>
          <p:cNvPr id="14" name="Rounded Rectangle 13"/>
          <p:cNvSpPr/>
          <p:nvPr/>
        </p:nvSpPr>
        <p:spPr>
          <a:xfrm>
            <a:off x="3365677"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Payroll usage</a:t>
            </a:r>
          </a:p>
        </p:txBody>
      </p:sp>
      <p:sp>
        <p:nvSpPr>
          <p:cNvPr id="17" name="TextBox 16"/>
          <p:cNvSpPr txBox="1"/>
          <p:nvPr/>
        </p:nvSpPr>
        <p:spPr>
          <a:xfrm>
            <a:off x="3566845"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Aggregated across every company, because one edit here would reach all of them.</a:t>
            </a:r>
          </a:p>
        </p:txBody>
      </p:sp>
      <p:sp>
        <p:nvSpPr>
          <p:cNvPr id="18" name="Rounded Rectangle 17"/>
          <p:cNvSpPr/>
          <p:nvPr/>
        </p:nvSpPr>
        <p:spPr>
          <a:xfrm>
            <a:off x="6164426"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57216"/>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 standard payroll has used</a:t>
            </a:r>
          </a:p>
        </p:txBody>
      </p:sp>
      <p:sp>
        <p:nvSpPr>
          <p:cNvPr id="21" name="TextBox 20"/>
          <p:cNvSpPr txBox="1"/>
          <p:nvPr/>
        </p:nvSpPr>
        <p:spPr>
          <a:xfrm>
            <a:off x="6365594" y="5413248"/>
            <a:ext cx="225925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Edit and delete close once a posted transaction has applied the code — for a Super Admin as much as anyone.</a:t>
            </a:r>
          </a:p>
        </p:txBody>
      </p:sp>
      <p:sp>
        <p:nvSpPr>
          <p:cNvPr id="22" name="Rounded Rectangle 21"/>
          <p:cNvSpPr/>
          <p:nvPr/>
        </p:nvSpPr>
        <p:spPr>
          <a:xfrm>
            <a:off x="8963175" y="5010912"/>
            <a:ext cx="266158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57216"/>
            <a:ext cx="188434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 standard payroll has not used</a:t>
            </a:r>
          </a:p>
        </p:txBody>
      </p:sp>
      <p:sp>
        <p:nvSpPr>
          <p:cNvPr id="25" name="TextBox 24"/>
          <p:cNvSpPr txBox="1"/>
          <p:nvPr/>
        </p:nvSpPr>
        <p:spPr>
          <a:xfrm>
            <a:off x="9164343" y="5687568"/>
            <a:ext cx="2259253" cy="411480"/>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Holiday premium, on the same screen, stays fully maintainable. The rule is payroll history, not the role signed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ONE STANDARD, APPLIED PER COMPANY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Choosing which companies a standard applies to</a:t>
            </a:r>
          </a:p>
        </p:txBody>
      </p:sp>
      <p:sp>
        <p:nvSpPr>
          <p:cNvPr id="6" name="Rounded Rectangle 5"/>
          <p:cNvSpPr/>
          <p:nvPr/>
        </p:nvSpPr>
        <p:spPr>
          <a:xfrm>
            <a:off x="566928" y="1316736"/>
            <a:ext cx="37172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Settings › Standard Computation Library › Companies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is the company-assignment model in one screen: select the companies, and each one then activates or deactivates the standard in its own Computational Basis.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companies. Applicability is stored per code, per company.</a:t>
            </a:r>
          </a:p>
        </p:txBody>
      </p:sp>
      <p:pic>
        <p:nvPicPr>
          <p:cNvPr id="9" name="Picture 8" descr="fg-applicability.png"/>
          <p:cNvPicPr>
            <a:picLocks noChangeAspect="1"/>
          </p:cNvPicPr>
          <p:nvPr/>
        </p:nvPicPr>
        <p:blipFill>
          <a:blip r:embed="rId2"/>
          <a:stretch>
            <a:fillRect/>
          </a:stretch>
        </p:blipFill>
        <p:spPr>
          <a:xfrm>
            <a:off x="566928" y="2304288"/>
            <a:ext cx="4865987" cy="3895343"/>
          </a:xfrm>
          <a:prstGeom prst="rect">
            <a:avLst/>
          </a:prstGeom>
        </p:spPr>
      </p:pic>
      <p:sp>
        <p:nvSpPr>
          <p:cNvPr id="10" name="Rounded Rectangle 9"/>
          <p:cNvSpPr/>
          <p:nvPr/>
        </p:nvSpPr>
        <p:spPr>
          <a:xfrm>
            <a:off x="5725523" y="2304288"/>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5926691"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301595" y="2450592"/>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Apply, or withdraw</a:t>
            </a:r>
          </a:p>
        </p:txBody>
      </p:sp>
      <p:sp>
        <p:nvSpPr>
          <p:cNvPr id="13" name="TextBox 12"/>
          <p:cNvSpPr txBox="1"/>
          <p:nvPr/>
        </p:nvSpPr>
        <p:spPr>
          <a:xfrm>
            <a:off x="5926691" y="2706624"/>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Apply to every company is the usual setup case. Withdraw where unused skips any company whose payroll depends on the code.</a:t>
            </a:r>
          </a:p>
        </p:txBody>
      </p:sp>
      <p:sp>
        <p:nvSpPr>
          <p:cNvPr id="14" name="Rounded Rectangle 13"/>
          <p:cNvSpPr/>
          <p:nvPr/>
        </p:nvSpPr>
        <p:spPr>
          <a:xfrm>
            <a:off x="8743725" y="2304288"/>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8944893"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319797" y="2450592"/>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companies on the platform</a:t>
            </a:r>
          </a:p>
        </p:txBody>
      </p:sp>
      <p:sp>
        <p:nvSpPr>
          <p:cNvPr id="17" name="TextBox 16"/>
          <p:cNvSpPr txBox="1"/>
          <p:nvPr/>
        </p:nvSpPr>
        <p:spPr>
          <a:xfrm>
            <a:off x="8944893" y="2706624"/>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One row per company. Set during company setup, and revisited whenever a new standard is published.</a:t>
            </a:r>
          </a:p>
        </p:txBody>
      </p:sp>
      <p:sp>
        <p:nvSpPr>
          <p:cNvPr id="18" name="Rounded Rectangle 17"/>
          <p:cNvSpPr/>
          <p:nvPr/>
        </p:nvSpPr>
        <p:spPr>
          <a:xfrm>
            <a:off x="5725523" y="3648456"/>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926691"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301595" y="3794760"/>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Applied</a:t>
            </a:r>
          </a:p>
        </p:txBody>
      </p:sp>
      <p:sp>
        <p:nvSpPr>
          <p:cNvPr id="21" name="TextBox 20"/>
          <p:cNvSpPr txBox="1"/>
          <p:nvPr/>
        </p:nvSpPr>
        <p:spPr>
          <a:xfrm>
            <a:off x="5926691" y="4050792"/>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Whether the standard reaches this company at all. Clearing it removes the code from that company's library without touching the central definition.</a:t>
            </a:r>
          </a:p>
        </p:txBody>
      </p:sp>
      <p:sp>
        <p:nvSpPr>
          <p:cNvPr id="22" name="Rounded Rectangle 21"/>
          <p:cNvSpPr/>
          <p:nvPr/>
        </p:nvSpPr>
        <p:spPr>
          <a:xfrm>
            <a:off x="8743725" y="3648456"/>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8944893"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319797" y="3794760"/>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Status in company</a:t>
            </a:r>
          </a:p>
        </p:txBody>
      </p:sp>
      <p:sp>
        <p:nvSpPr>
          <p:cNvPr id="25" name="TextBox 24"/>
          <p:cNvSpPr txBox="1"/>
          <p:nvPr/>
        </p:nvSpPr>
        <p:spPr>
          <a:xfrm>
            <a:off x="8944893" y="4050792"/>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Each company activates or deactivates independently. One company switching a standard off does not affect any other.</a:t>
            </a:r>
          </a:p>
        </p:txBody>
      </p:sp>
      <p:sp>
        <p:nvSpPr>
          <p:cNvPr id="26" name="Rounded Rectangle 25"/>
          <p:cNvSpPr/>
          <p:nvPr/>
        </p:nvSpPr>
        <p:spPr>
          <a:xfrm>
            <a:off x="5725523" y="4992624"/>
            <a:ext cx="2881042"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5926691"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301595" y="5138928"/>
            <a:ext cx="2103802"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Payroll usage</a:t>
            </a:r>
          </a:p>
        </p:txBody>
      </p:sp>
      <p:sp>
        <p:nvSpPr>
          <p:cNvPr id="29" name="TextBox 28"/>
          <p:cNvSpPr txBox="1"/>
          <p:nvPr/>
        </p:nvSpPr>
        <p:spPr>
          <a:xfrm>
            <a:off x="5926691" y="5394960"/>
            <a:ext cx="2478706"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Withdrawal and deactivation are refused for a company whose payroll has already applied the code, and the refusal names the transaction.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MODEL</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a standard reaches a company</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One definition, applied to selected companies, activated by each of them independently.</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 company that needs different arithmetic creates its own computation rather than editing the standard.</a:t>
            </a:r>
          </a:p>
        </p:txBody>
      </p:sp>
      <p:sp>
        <p:nvSpPr>
          <p:cNvPr id="8" name="Rounded Rectangle 7"/>
          <p:cNvSpPr/>
          <p:nvPr/>
        </p:nvSpPr>
        <p:spPr>
          <a:xfrm>
            <a:off x="56692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Defined once</a:t>
            </a:r>
          </a:p>
        </p:txBody>
      </p:sp>
      <p:sp>
        <p:nvSpPr>
          <p:cNvPr id="12" name="TextBox 11"/>
          <p:cNvSpPr txBox="1"/>
          <p:nvPr/>
        </p:nvSpPr>
        <p:spPr>
          <a:xfrm>
            <a:off x="82296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An Atlas standard formula exists in exactly one record, in Settings. Nothing copies it into a company.</a:t>
            </a:r>
          </a:p>
        </p:txBody>
      </p:sp>
      <p:sp>
        <p:nvSpPr>
          <p:cNvPr id="13" name="Rounded Rectangle 12"/>
          <p:cNvSpPr/>
          <p:nvPr/>
        </p:nvSpPr>
        <p:spPr>
          <a:xfrm>
            <a:off x="430773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Applied to companies</a:t>
            </a:r>
          </a:p>
        </p:txBody>
      </p:sp>
      <p:sp>
        <p:nvSpPr>
          <p:cNvPr id="17" name="TextBox 16"/>
          <p:cNvSpPr txBox="1"/>
          <p:nvPr/>
        </p:nvSpPr>
        <p:spPr>
          <a:xfrm>
            <a:off x="456377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During company setup, a Super Admin selects which companies a standard applies to. It can be revisited at any time.</a:t>
            </a:r>
          </a:p>
        </p:txBody>
      </p:sp>
      <p:sp>
        <p:nvSpPr>
          <p:cNvPr id="18" name="Rounded Rectangle 17"/>
          <p:cNvSpPr/>
          <p:nvPr/>
        </p:nvSpPr>
        <p:spPr>
          <a:xfrm>
            <a:off x="8048548" y="21945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Activated per company</a:t>
            </a:r>
          </a:p>
        </p:txBody>
      </p:sp>
      <p:sp>
        <p:nvSpPr>
          <p:cNvPr id="22" name="TextBox 21"/>
          <p:cNvSpPr txBox="1"/>
          <p:nvPr/>
        </p:nvSpPr>
        <p:spPr>
          <a:xfrm>
            <a:off x="8304580" y="29077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Each company switches the standards applied to it on or off in its own Computational Basis, without affecting any other company.</a:t>
            </a:r>
          </a:p>
        </p:txBody>
      </p:sp>
      <p:sp>
        <p:nvSpPr>
          <p:cNvPr id="23" name="Rounded Rectangle 22"/>
          <p:cNvSpPr/>
          <p:nvPr/>
        </p:nvSpPr>
        <p:spPr>
          <a:xfrm>
            <a:off x="56692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Customised by variant</a:t>
            </a:r>
          </a:p>
        </p:txBody>
      </p:sp>
      <p:sp>
        <p:nvSpPr>
          <p:cNvPr id="27" name="TextBox 26"/>
          <p:cNvSpPr txBox="1"/>
          <p:nvPr/>
        </p:nvSpPr>
        <p:spPr>
          <a:xfrm>
            <a:off x="82296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company that needs different arithmetic creates its own computation rather than editing the standard, so the standard stays one definition.</a:t>
            </a:r>
          </a:p>
        </p:txBody>
      </p:sp>
      <p:sp>
        <p:nvSpPr>
          <p:cNvPr id="28" name="Rounded Rectangle 27"/>
          <p:cNvSpPr/>
          <p:nvPr/>
        </p:nvSpPr>
        <p:spPr>
          <a:xfrm>
            <a:off x="430773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Scoped storage</a:t>
            </a:r>
          </a:p>
        </p:txBody>
      </p:sp>
      <p:sp>
        <p:nvSpPr>
          <p:cNvPr id="32" name="TextBox 31"/>
          <p:cNvSpPr txBox="1"/>
          <p:nvPr/>
        </p:nvSpPr>
        <p:spPr>
          <a:xfrm>
            <a:off x="456377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Computations, assignments, reference sources, versions and change history are all held per company.</a:t>
            </a:r>
          </a:p>
        </p:txBody>
      </p:sp>
      <p:sp>
        <p:nvSpPr>
          <p:cNvPr id="33" name="Rounded Rectangle 32"/>
          <p:cNvSpPr/>
          <p:nvPr/>
        </p:nvSpPr>
        <p:spPr>
          <a:xfrm>
            <a:off x="8048548" y="37871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871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00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248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Protected by usage</a:t>
            </a:r>
          </a:p>
        </p:txBody>
      </p:sp>
      <p:sp>
        <p:nvSpPr>
          <p:cNvPr id="37" name="TextBox 36"/>
          <p:cNvSpPr txBox="1"/>
          <p:nvPr/>
        </p:nvSpPr>
        <p:spPr>
          <a:xfrm>
            <a:off x="8304580" y="45003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Withdrawing or deactivating is refused where that company's payroll already applied the code, and the refusal names the transaction.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09</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Creating a computation, revised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The same rule as Part 1, built again — with the code, the status and the inputs behaving differently.</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form</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map fields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test</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CREATING A COMPUTATION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same rule as Part 1, with three fields behaving differently</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This is the allowance from Part 1, built again. The code, the status and the description have all changed how they work.</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record ERN-007, Variable Allowance by Approved Units.</a:t>
            </a:r>
          </a:p>
        </p:txBody>
      </p:sp>
      <p:pic>
        <p:nvPicPr>
          <p:cNvPr id="9" name="Picture 8" descr="fg-create-details.png"/>
          <p:cNvPicPr>
            <a:picLocks noChangeAspect="1"/>
          </p:cNvPicPr>
          <p:nvPr/>
        </p:nvPicPr>
        <p:blipFill>
          <a:blip r:embed="rId2"/>
          <a:stretch>
            <a:fillRect/>
          </a:stretch>
        </p:blipFill>
        <p:spPr>
          <a:xfrm>
            <a:off x="2131285" y="2304288"/>
            <a:ext cx="7929125" cy="2235708"/>
          </a:xfrm>
          <a:prstGeom prst="rect">
            <a:avLst/>
          </a:prstGeom>
        </p:spPr>
      </p:pic>
      <p:sp>
        <p:nvSpPr>
          <p:cNvPr id="10" name="Rounded Rectangle 9"/>
          <p:cNvSpPr/>
          <p:nvPr/>
        </p:nvSpPr>
        <p:spPr>
          <a:xfrm>
            <a:off x="566928"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Generated, not typed</a:t>
            </a:r>
          </a:p>
        </p:txBody>
      </p:sp>
      <p:sp>
        <p:nvSpPr>
          <p:cNvPr id="13" name="TextBox 12"/>
          <p:cNvSpPr txBox="1"/>
          <p:nvPr/>
        </p:nvSpPr>
        <p:spPr>
          <a:xfrm>
            <a:off x="768096"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Derived from the category and the next free sequence, then locked. Part 1 had you invent CUS-900; this is ERN-007.</a:t>
            </a:r>
          </a:p>
        </p:txBody>
      </p:sp>
      <p:sp>
        <p:nvSpPr>
          <p:cNvPr id="14" name="Rounded Rectangle 13"/>
          <p:cNvSpPr/>
          <p:nvPr/>
        </p:nvSpPr>
        <p:spPr>
          <a:xfrm>
            <a:off x="2805927"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942332"/>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Computation name</a:t>
            </a:r>
          </a:p>
        </p:txBody>
      </p:sp>
      <p:sp>
        <p:nvSpPr>
          <p:cNvPr id="17" name="TextBox 16"/>
          <p:cNvSpPr txBox="1"/>
          <p:nvPr/>
        </p:nvSpPr>
        <p:spPr>
          <a:xfrm>
            <a:off x="3007095" y="5198364"/>
            <a:ext cx="169950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Unchanged. Name the amount being calculated, in the words Finance reviews it in.</a:t>
            </a:r>
          </a:p>
        </p:txBody>
      </p:sp>
      <p:sp>
        <p:nvSpPr>
          <p:cNvPr id="18" name="Rounded Rectangle 17"/>
          <p:cNvSpPr/>
          <p:nvPr/>
        </p:nvSpPr>
        <p:spPr>
          <a:xfrm>
            <a:off x="5044926"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Category is controlled</a:t>
            </a:r>
          </a:p>
        </p:txBody>
      </p:sp>
      <p:sp>
        <p:nvSpPr>
          <p:cNvPr id="21" name="TextBox 20"/>
          <p:cNvSpPr txBox="1"/>
          <p:nvPr/>
        </p:nvSpPr>
        <p:spPr>
          <a:xfrm>
            <a:off x="5246094"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00" b="0" i="0">
                <a:solidFill>
                  <a:srgbClr val="6B6675"/>
                </a:solidFill>
                <a:latin typeface="Segoe UI"/>
              </a:rPr>
              <a:t>The list comes from the Computation Category reference table, so a category is governed like any other reference value.</a:t>
            </a:r>
          </a:p>
        </p:txBody>
      </p:sp>
      <p:sp>
        <p:nvSpPr>
          <p:cNvPr id="22" name="Rounded Rectangle 21"/>
          <p:cNvSpPr/>
          <p:nvPr/>
        </p:nvSpPr>
        <p:spPr>
          <a:xfrm>
            <a:off x="7283925"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942332"/>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It starts Inactive</a:t>
            </a:r>
          </a:p>
        </p:txBody>
      </p:sp>
      <p:sp>
        <p:nvSpPr>
          <p:cNvPr id="25" name="TextBox 24"/>
          <p:cNvSpPr txBox="1"/>
          <p:nvPr/>
        </p:nvSpPr>
        <p:spPr>
          <a:xfrm>
            <a:off x="7485093" y="5198364"/>
            <a:ext cx="1699503" cy="90068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 rule under construction is not selectable by payroll. Somebody activates it once it has been reviewed.</a:t>
            </a:r>
          </a:p>
        </p:txBody>
      </p:sp>
      <p:sp>
        <p:nvSpPr>
          <p:cNvPr id="26" name="Rounded Rectangle 25"/>
          <p:cNvSpPr/>
          <p:nvPr/>
        </p:nvSpPr>
        <p:spPr>
          <a:xfrm>
            <a:off x="9522924" y="4796028"/>
            <a:ext cx="2101839" cy="140360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93318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942332"/>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Description is optional</a:t>
            </a:r>
          </a:p>
        </p:txBody>
      </p:sp>
      <p:sp>
        <p:nvSpPr>
          <p:cNvPr id="29" name="TextBox 28"/>
          <p:cNvSpPr txBox="1"/>
          <p:nvPr/>
        </p:nvSpPr>
        <p:spPr>
          <a:xfrm>
            <a:off x="9724092" y="5472684"/>
            <a:ext cx="1699503" cy="62636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Still the best place to record what the rule includes and excludes, but it no longer blocks a save.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CREATING A COMPUTATION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code follows the category until it is saved</a:t>
            </a:r>
          </a:p>
        </p:txBody>
      </p:sp>
      <p:sp>
        <p:nvSpPr>
          <p:cNvPr id="6" name="Rounded Rectangle 5"/>
          <p:cNvSpPr/>
          <p:nvPr/>
        </p:nvSpPr>
        <p:spPr>
          <a:xfrm>
            <a:off x="566928" y="1316736"/>
            <a:ext cx="78955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Changing the category regenerates the code. After the first save it is fixed, because payroll transactions print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Recorded from the prototype. The animation plays in slideshow view.</a:t>
            </a:r>
          </a:p>
        </p:txBody>
      </p:sp>
      <p:pic>
        <p:nvPicPr>
          <p:cNvPr id="9" name="Picture 8" descr="create-walkthrough.gif"/>
          <p:cNvPicPr>
            <a:picLocks noChangeAspect="1"/>
          </p:cNvPicPr>
          <p:nvPr/>
        </p:nvPicPr>
        <p:blipFill>
          <a:blip r:embed="rId2"/>
          <a:stretch>
            <a:fillRect/>
          </a:stretch>
        </p:blipFill>
        <p:spPr>
          <a:xfrm>
            <a:off x="566928" y="2340864"/>
            <a:ext cx="5401452" cy="3803903"/>
          </a:xfrm>
          <a:prstGeom prst="rect">
            <a:avLst/>
          </a:prstGeom>
        </p:spPr>
      </p:pic>
      <p:sp>
        <p:nvSpPr>
          <p:cNvPr id="10" name="Oval 9"/>
          <p:cNvSpPr/>
          <p:nvPr/>
        </p:nvSpPr>
        <p:spPr>
          <a:xfrm>
            <a:off x="8220456" y="2340864"/>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1</a:t>
            </a:r>
          </a:p>
        </p:txBody>
      </p:sp>
      <p:sp>
        <p:nvSpPr>
          <p:cNvPr id="11" name="TextBox 10"/>
          <p:cNvSpPr txBox="1"/>
          <p:nvPr/>
        </p:nvSpPr>
        <p:spPr>
          <a:xfrm>
            <a:off x="8622792" y="2359152"/>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Pick the category first</a:t>
            </a:r>
          </a:p>
        </p:txBody>
      </p:sp>
      <p:sp>
        <p:nvSpPr>
          <p:cNvPr id="12" name="TextBox 11"/>
          <p:cNvSpPr txBox="1"/>
          <p:nvPr/>
        </p:nvSpPr>
        <p:spPr>
          <a:xfrm>
            <a:off x="8622792" y="2615184"/>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The category decides the code family — ERN for an earning, DED for a deduction, BEN for a benefit.</a:t>
            </a:r>
          </a:p>
        </p:txBody>
      </p:sp>
      <p:sp>
        <p:nvSpPr>
          <p:cNvPr id="13" name="Oval 12"/>
          <p:cNvSpPr/>
          <p:nvPr/>
        </p:nvSpPr>
        <p:spPr>
          <a:xfrm>
            <a:off x="8220456" y="3182112"/>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2</a:t>
            </a:r>
          </a:p>
        </p:txBody>
      </p:sp>
      <p:sp>
        <p:nvSpPr>
          <p:cNvPr id="14" name="TextBox 13"/>
          <p:cNvSpPr txBox="1"/>
          <p:nvPr/>
        </p:nvSpPr>
        <p:spPr>
          <a:xfrm>
            <a:off x="8622792" y="3200400"/>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The code follows</a:t>
            </a:r>
          </a:p>
        </p:txBody>
      </p:sp>
      <p:sp>
        <p:nvSpPr>
          <p:cNvPr id="15" name="TextBox 14"/>
          <p:cNvSpPr txBox="1"/>
          <p:nvPr/>
        </p:nvSpPr>
        <p:spPr>
          <a:xfrm>
            <a:off x="8622792" y="3456432"/>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ATLAS takes the category's prefix and the first free three-digit sequence.</a:t>
            </a:r>
          </a:p>
        </p:txBody>
      </p:sp>
      <p:sp>
        <p:nvSpPr>
          <p:cNvPr id="16" name="Oval 15"/>
          <p:cNvSpPr/>
          <p:nvPr/>
        </p:nvSpPr>
        <p:spPr>
          <a:xfrm>
            <a:off x="8220456" y="4023360"/>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3</a:t>
            </a:r>
          </a:p>
        </p:txBody>
      </p:sp>
      <p:sp>
        <p:nvSpPr>
          <p:cNvPr id="17" name="TextBox 16"/>
          <p:cNvSpPr txBox="1"/>
          <p:nvPr/>
        </p:nvSpPr>
        <p:spPr>
          <a:xfrm>
            <a:off x="8622792" y="4041648"/>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Then it locks</a:t>
            </a:r>
          </a:p>
        </p:txBody>
      </p:sp>
      <p:sp>
        <p:nvSpPr>
          <p:cNvPr id="18" name="TextBox 17"/>
          <p:cNvSpPr txBox="1"/>
          <p:nvPr/>
        </p:nvSpPr>
        <p:spPr>
          <a:xfrm>
            <a:off x="8622792" y="4297680"/>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From the first save the code is read-only. Nothing downstream has to cope with a code that moved.</a:t>
            </a:r>
          </a:p>
        </p:txBody>
      </p:sp>
      <p:sp>
        <p:nvSpPr>
          <p:cNvPr id="19" name="Oval 18"/>
          <p:cNvSpPr/>
          <p:nvPr/>
        </p:nvSpPr>
        <p:spPr>
          <a:xfrm>
            <a:off x="8220456" y="4864608"/>
            <a:ext cx="310896" cy="310896"/>
          </a:xfrm>
          <a:prstGeom prst="ellipse">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Semibold"/>
              </a:rPr>
              <a:t>4</a:t>
            </a:r>
          </a:p>
        </p:txBody>
      </p:sp>
      <p:sp>
        <p:nvSpPr>
          <p:cNvPr id="20" name="TextBox 19"/>
          <p:cNvSpPr txBox="1"/>
          <p:nvPr/>
        </p:nvSpPr>
        <p:spPr>
          <a:xfrm>
            <a:off x="8622792" y="4882896"/>
            <a:ext cx="2947111" cy="274320"/>
          </a:xfrm>
          <a:prstGeom prst="rect">
            <a:avLst/>
          </a:prstGeom>
          <a:noFill/>
        </p:spPr>
        <p:txBody>
          <a:bodyPr wrap="square" anchor="t" lIns="0" rIns="0" tIns="0" bIns="0">
            <a:spAutoFit/>
          </a:bodyPr>
          <a:lstStyle/>
          <a:p>
            <a:pPr algn="l">
              <a:lnSpc>
                <a:spcPct val="115000"/>
              </a:lnSpc>
              <a:spcBef>
                <a:spcPts val="0"/>
              </a:spcBef>
              <a:spcAft>
                <a:spcPts val="0"/>
              </a:spcAft>
            </a:pPr>
            <a:r>
              <a:rPr sz="1220" b="1" i="0">
                <a:solidFill>
                  <a:srgbClr val="241243"/>
                </a:solidFill>
                <a:latin typeface="Segoe UI Semibold"/>
              </a:rPr>
              <a:t>Built, tested, then published</a:t>
            </a:r>
          </a:p>
        </p:txBody>
      </p:sp>
      <p:sp>
        <p:nvSpPr>
          <p:cNvPr id="21" name="TextBox 20"/>
          <p:cNvSpPr txBox="1"/>
          <p:nvPr/>
        </p:nvSpPr>
        <p:spPr>
          <a:xfrm>
            <a:off x="8622792" y="5138928"/>
            <a:ext cx="2947111" cy="566928"/>
          </a:xfrm>
          <a:prstGeom prst="rect">
            <a:avLst/>
          </a:prstGeom>
          <a:noFill/>
        </p:spPr>
        <p:txBody>
          <a:bodyPr wrap="square" anchor="t" lIns="0" rIns="0" tIns="0" bIns="0">
            <a:spAutoFit/>
          </a:bodyPr>
          <a:lstStyle/>
          <a:p>
            <a:pPr algn="l">
              <a:lnSpc>
                <a:spcPct val="128000"/>
              </a:lnSpc>
              <a:spcBef>
                <a:spcPts val="0"/>
              </a:spcBef>
              <a:spcAft>
                <a:spcPts val="0"/>
              </a:spcAft>
            </a:pPr>
            <a:r>
              <a:rPr sz="1019" b="0" i="0">
                <a:solidFill>
                  <a:srgbClr val="6B6675"/>
                </a:solidFill>
                <a:latin typeface="Segoe UI"/>
              </a:rPr>
              <a:t>The record is created Inactive at version 1.0, with the test evidence filed against it.</a:t>
            </a:r>
          </a:p>
        </p:txBody>
      </p:sp>
      <p:sp>
        <p:nvSpPr>
          <p:cNvPr id="22" name="Rounded Rectangle 21"/>
          <p:cNvSpPr/>
          <p:nvPr/>
        </p:nvSpPr>
        <p:spPr>
          <a:xfrm>
            <a:off x="8220456" y="5559552"/>
            <a:ext cx="3404311" cy="512064"/>
          </a:xfrm>
          <a:prstGeom prst="roundRect">
            <a:avLst>
              <a:gd name="adj" fmla="val 8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a:lstStyle/>
          <a:p>
            <a:pPr algn="ctr"/>
            <a:r>
              <a:rPr sz="1050" b="1">
                <a:solidFill>
                  <a:srgbClr val="54248F"/>
                </a:solidFill>
                <a:latin typeface="Segoe UI Semibold"/>
              </a:rPr>
              <a:t>ANIMATED CAPTURE  ·  PLAYS IN SLIDE SHOW</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MAP FIELDS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input now declares where it comes from</a:t>
            </a:r>
          </a:p>
        </p:txBody>
      </p:sp>
      <p:sp>
        <p:nvSpPr>
          <p:cNvPr id="6" name="Rounded Rectangle 5"/>
          <p:cNvSpPr/>
          <p:nvPr/>
        </p:nvSpPr>
        <p:spPr>
          <a:xfrm>
            <a:off x="566928" y="1316736"/>
            <a:ext cx="88861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Formula setup</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showed the token, its kind and a sample value. The five columns the meeting asked for are the contract between this formula and the module that supplies each value.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Every approved field in the palette carries all five, not only the ones shown here.</a:t>
            </a:r>
          </a:p>
        </p:txBody>
      </p:sp>
      <p:pic>
        <p:nvPicPr>
          <p:cNvPr id="9" name="Picture 8" descr="fg-mapfields.png"/>
          <p:cNvPicPr>
            <a:picLocks noChangeAspect="1"/>
          </p:cNvPicPr>
          <p:nvPr/>
        </p:nvPicPr>
        <p:blipFill>
          <a:blip r:embed="rId2"/>
          <a:stretch>
            <a:fillRect/>
          </a:stretch>
        </p:blipFill>
        <p:spPr>
          <a:xfrm>
            <a:off x="566929" y="2566054"/>
            <a:ext cx="11057836" cy="1552155"/>
          </a:xfrm>
          <a:prstGeom prst="rect">
            <a:avLst/>
          </a:prstGeom>
        </p:spPr>
      </p:pic>
      <p:sp>
        <p:nvSpPr>
          <p:cNvPr id="10" name="Rounded Rectangle 9"/>
          <p:cNvSpPr/>
          <p:nvPr/>
        </p:nvSpPr>
        <p:spPr>
          <a:xfrm>
            <a:off x="566928"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520545"/>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Owner / source module</a:t>
            </a:r>
          </a:p>
        </p:txBody>
      </p:sp>
      <p:sp>
        <p:nvSpPr>
          <p:cNvPr id="13" name="TextBox 12"/>
          <p:cNvSpPr txBox="1"/>
          <p:nvPr/>
        </p:nvSpPr>
        <p:spPr>
          <a:xfrm>
            <a:off x="768096" y="5050897"/>
            <a:ext cx="1699503" cy="786384"/>
          </a:xfrm>
          <a:prstGeom prst="rect">
            <a:avLst/>
          </a:prstGeom>
          <a:noFill/>
        </p:spPr>
        <p:txBody>
          <a:bodyPr wrap="square" anchor="t" lIns="0" rIns="0" tIns="0" bIns="0">
            <a:spAutoFit/>
          </a:bodyPr>
          <a:lstStyle/>
          <a:p>
            <a:pPr algn="l">
              <a:lnSpc>
                <a:spcPct val="126000"/>
              </a:lnSpc>
              <a:spcBef>
                <a:spcPts val="0"/>
              </a:spcBef>
              <a:spcAft>
                <a:spcPts val="0"/>
              </a:spcAft>
            </a:pPr>
            <a:r>
              <a:rPr sz="975" b="0" i="0">
                <a:solidFill>
                  <a:srgbClr val="6B6675"/>
                </a:solidFill>
                <a:latin typeface="Segoe UI"/>
              </a:rPr>
              <a:t>Which part of ATLAS produces this value at run time — the masterfile, timekeeping, a reference source, a statutory table, or another computation.</a:t>
            </a:r>
          </a:p>
        </p:txBody>
      </p:sp>
      <p:sp>
        <p:nvSpPr>
          <p:cNvPr id="14" name="Rounded Rectangle 13"/>
          <p:cNvSpPr/>
          <p:nvPr/>
        </p:nvSpPr>
        <p:spPr>
          <a:xfrm>
            <a:off x="2805927"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Data type</a:t>
            </a:r>
          </a:p>
        </p:txBody>
      </p:sp>
      <p:sp>
        <p:nvSpPr>
          <p:cNvPr id="17" name="TextBox 16"/>
          <p:cNvSpPr txBox="1"/>
          <p:nvPr/>
        </p:nvSpPr>
        <p:spPr>
          <a:xfrm>
            <a:off x="3007095"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Currency, decimal, integer or rate. It decides how the value is read and how it should be rounded.</a:t>
            </a:r>
          </a:p>
        </p:txBody>
      </p:sp>
      <p:sp>
        <p:nvSpPr>
          <p:cNvPr id="18" name="Rounded Rectangle 17"/>
          <p:cNvSpPr/>
          <p:nvPr/>
        </p:nvSpPr>
        <p:spPr>
          <a:xfrm>
            <a:off x="5044926"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Unit</a:t>
            </a:r>
          </a:p>
        </p:txBody>
      </p:sp>
      <p:sp>
        <p:nvSpPr>
          <p:cNvPr id="21" name="TextBox 20"/>
          <p:cNvSpPr txBox="1"/>
          <p:nvPr/>
        </p:nvSpPr>
        <p:spPr>
          <a:xfrm>
            <a:off x="5246094"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Pesos, hours, minutes, days, units or a multiplier. Two numbers of the same type still only combine when their units agree.</a:t>
            </a:r>
          </a:p>
        </p:txBody>
      </p:sp>
      <p:sp>
        <p:nvSpPr>
          <p:cNvPr id="22" name="Rounded Rectangle 21"/>
          <p:cNvSpPr/>
          <p:nvPr/>
        </p:nvSpPr>
        <p:spPr>
          <a:xfrm>
            <a:off x="7283925"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520545"/>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Timing</a:t>
            </a:r>
          </a:p>
        </p:txBody>
      </p:sp>
      <p:sp>
        <p:nvSpPr>
          <p:cNvPr id="25" name="TextBox 24"/>
          <p:cNvSpPr txBox="1"/>
          <p:nvPr/>
        </p:nvSpPr>
        <p:spPr>
          <a:xfrm>
            <a:off x="7485093" y="4776577"/>
            <a:ext cx="1699503" cy="106070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When the value is resolved: effective on the payout date, per cutoff, year to date, or computed inside this run.</a:t>
            </a:r>
          </a:p>
        </p:txBody>
      </p:sp>
      <p:sp>
        <p:nvSpPr>
          <p:cNvPr id="26" name="Rounded Rectangle 25"/>
          <p:cNvSpPr/>
          <p:nvPr/>
        </p:nvSpPr>
        <p:spPr>
          <a:xfrm>
            <a:off x="9522924" y="4374241"/>
            <a:ext cx="2101839" cy="156362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511401"/>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520545"/>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If the value is missing</a:t>
            </a:r>
          </a:p>
        </p:txBody>
      </p:sp>
      <p:sp>
        <p:nvSpPr>
          <p:cNvPr id="29" name="TextBox 28"/>
          <p:cNvSpPr txBox="1"/>
          <p:nvPr/>
        </p:nvSpPr>
        <p:spPr>
          <a:xfrm>
            <a:off x="9724092" y="5050897"/>
            <a:ext cx="1699503" cy="786384"/>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What payroll does when the owning module supplies nothing. Treated as zero, or required and the run stops — the distinction the meeting asked to settle per field.</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TEST EVIDENCE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test result is kept, not recalculated later</a:t>
            </a:r>
          </a:p>
        </p:txBody>
      </p:sp>
      <p:sp>
        <p:nvSpPr>
          <p:cNvPr id="6" name="Rounded Rectangle 5"/>
          <p:cNvSpPr/>
          <p:nvPr/>
        </p:nvSpPr>
        <p:spPr>
          <a:xfrm>
            <a:off x="566928" y="1316736"/>
            <a:ext cx="8958939"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Create computation › Test calculation</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 ran the test and showed the answer. The evidence is now stored against the version you publish, so a reviewer reads what was tested rather than a fresh sample.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In this demonstration · 8 units × ₱250 = ₱2,000, matching the manual check.</a:t>
            </a:r>
          </a:p>
        </p:txBody>
      </p:sp>
      <p:pic>
        <p:nvPicPr>
          <p:cNvPr id="9" name="Picture 8" descr="fg-test.png"/>
          <p:cNvPicPr>
            <a:picLocks noChangeAspect="1"/>
          </p:cNvPicPr>
          <p:nvPr/>
        </p:nvPicPr>
        <p:blipFill>
          <a:blip r:embed="rId2"/>
          <a:stretch>
            <a:fillRect/>
          </a:stretch>
        </p:blipFill>
        <p:spPr>
          <a:xfrm>
            <a:off x="2545928" y="2304288"/>
            <a:ext cx="7099839"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One input per mapped field</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Unchanged. Use values a reviewer can verify by hand — here, eight approved units at ₱250.</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Expected result</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New, and optional. State the amount you expect and ATLAS records Passed or Failed against it instead of only the figure it produced.</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run</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Evaluates the draft. It does not save the record, create payroll, or touch any employee.</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evidence that is stored</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Inputs, expected amount, actual amount, result, who tested it and when. This is filed with the version, and shown against it afterwards.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COMPANY-DEFINED COMPUTATIONS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rule nothing has used stays fully editable</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protections are about payroll history, not about locking the library. A company rule no transaction has touched can still be changed or removed.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record created during this walkthrough.</a:t>
            </a:r>
          </a:p>
        </p:txBody>
      </p:sp>
      <p:pic>
        <p:nvPicPr>
          <p:cNvPr id="9" name="Picture 8" descr="fg-newrow.png"/>
          <p:cNvPicPr>
            <a:picLocks noChangeAspect="1"/>
          </p:cNvPicPr>
          <p:nvPr/>
        </p:nvPicPr>
        <p:blipFill>
          <a:blip r:embed="rId2"/>
          <a:stretch>
            <a:fillRect/>
          </a:stretch>
        </p:blipFill>
        <p:spPr>
          <a:xfrm>
            <a:off x="566931" y="2653701"/>
            <a:ext cx="11057833" cy="1696902"/>
          </a:xfrm>
          <a:prstGeom prst="rect">
            <a:avLst/>
          </a:prstGeom>
        </p:spPr>
      </p:pic>
      <p:sp>
        <p:nvSpPr>
          <p:cNvPr id="10" name="Rounded Rectangle 9"/>
          <p:cNvSpPr/>
          <p:nvPr/>
        </p:nvSpPr>
        <p:spPr>
          <a:xfrm>
            <a:off x="566928"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Generated code</a:t>
            </a:r>
          </a:p>
        </p:txBody>
      </p:sp>
      <p:sp>
        <p:nvSpPr>
          <p:cNvPr id="13" name="TextBox 12"/>
          <p:cNvSpPr txBox="1"/>
          <p:nvPr/>
        </p:nvSpPr>
        <p:spPr>
          <a:xfrm>
            <a:off x="768096"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ERN-007, from the Earnings category. It sorts and reads beside the Atlas earnings standards.</a:t>
            </a:r>
          </a:p>
        </p:txBody>
      </p:sp>
      <p:sp>
        <p:nvSpPr>
          <p:cNvPr id="14" name="Rounded Rectangle 13"/>
          <p:cNvSpPr/>
          <p:nvPr/>
        </p:nvSpPr>
        <p:spPr>
          <a:xfrm>
            <a:off x="2805927"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007095"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381999"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Company-defined</a:t>
            </a:r>
          </a:p>
        </p:txBody>
      </p:sp>
      <p:sp>
        <p:nvSpPr>
          <p:cNvPr id="17" name="TextBox 16"/>
          <p:cNvSpPr txBox="1"/>
          <p:nvPr/>
        </p:nvSpPr>
        <p:spPr>
          <a:xfrm>
            <a:off x="3007095"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Created for this company and maintained here, unlike an Atlas standard.</a:t>
            </a:r>
          </a:p>
        </p:txBody>
      </p:sp>
      <p:sp>
        <p:nvSpPr>
          <p:cNvPr id="18" name="Rounded Rectangle 17"/>
          <p:cNvSpPr/>
          <p:nvPr/>
        </p:nvSpPr>
        <p:spPr>
          <a:xfrm>
            <a:off x="5044926"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5246094"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5620998"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Inactive on creation</a:t>
            </a:r>
          </a:p>
        </p:txBody>
      </p:sp>
      <p:sp>
        <p:nvSpPr>
          <p:cNvPr id="21" name="TextBox 20"/>
          <p:cNvSpPr txBox="1"/>
          <p:nvPr/>
        </p:nvSpPr>
        <p:spPr>
          <a:xfrm>
            <a:off x="5246094"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It was created Inactive. Nothing selects it for payroll until somebody activates it.</a:t>
            </a:r>
          </a:p>
        </p:txBody>
      </p:sp>
      <p:sp>
        <p:nvSpPr>
          <p:cNvPr id="22" name="Rounded Rectangle 21"/>
          <p:cNvSpPr/>
          <p:nvPr/>
        </p:nvSpPr>
        <p:spPr>
          <a:xfrm>
            <a:off x="7283925"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485093"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7859997" y="4752939"/>
            <a:ext cx="13245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Not used yet</a:t>
            </a:r>
          </a:p>
        </p:txBody>
      </p:sp>
      <p:sp>
        <p:nvSpPr>
          <p:cNvPr id="25" name="TextBox 24"/>
          <p:cNvSpPr txBox="1"/>
          <p:nvPr/>
        </p:nvSpPr>
        <p:spPr>
          <a:xfrm>
            <a:off x="7485093" y="5008971"/>
            <a:ext cx="169950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No payroll transaction references it, which is what keeps the next column open.</a:t>
            </a:r>
          </a:p>
        </p:txBody>
      </p:sp>
      <p:sp>
        <p:nvSpPr>
          <p:cNvPr id="26" name="Rounded Rectangle 25"/>
          <p:cNvSpPr/>
          <p:nvPr/>
        </p:nvSpPr>
        <p:spPr>
          <a:xfrm>
            <a:off x="9522924" y="4606635"/>
            <a:ext cx="210183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9724092" y="4743795"/>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10098996" y="4752939"/>
            <a:ext cx="1324599" cy="67665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Every action available</a:t>
            </a:r>
          </a:p>
        </p:txBody>
      </p:sp>
      <p:sp>
        <p:nvSpPr>
          <p:cNvPr id="29" name="TextBox 28"/>
          <p:cNvSpPr txBox="1"/>
          <p:nvPr/>
        </p:nvSpPr>
        <p:spPr>
          <a:xfrm>
            <a:off x="9724092" y="5283291"/>
            <a:ext cx="1699503" cy="466344"/>
          </a:xfrm>
          <a:prstGeom prst="rect">
            <a:avLst/>
          </a:prstGeom>
          <a:noFill/>
        </p:spPr>
        <p:txBody>
          <a:bodyPr wrap="square" anchor="t" lIns="0" rIns="0" tIns="0" bIns="0">
            <a:spAutoFit/>
          </a:bodyPr>
          <a:lstStyle/>
          <a:p>
            <a:pPr algn="l">
              <a:lnSpc>
                <a:spcPct val="126000"/>
              </a:lnSpc>
              <a:spcBef>
                <a:spcPts val="0"/>
              </a:spcBef>
              <a:spcAft>
                <a:spcPts val="0"/>
              </a:spcAft>
            </a:pPr>
            <a:r>
              <a:rPr sz="850" b="0" i="0">
                <a:solidFill>
                  <a:srgbClr val="6B6675"/>
                </a:solidFill>
                <a:latin typeface="Segoe UI"/>
              </a:rPr>
              <a:t>View, activate, edit and delete. Compare this row with the protected standards shown earlier.</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10</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Evidence that stays with the record</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Versions keep their own formula and their own proof, and the log carries the values that changed.</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Version history</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diff</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log</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VERSION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Each version keeps its formula and its proof</a:t>
            </a:r>
          </a:p>
        </p:txBody>
      </p:sp>
      <p:sp>
        <p:nvSpPr>
          <p:cNvPr id="6" name="Rounded Rectangle 5"/>
          <p:cNvSpPr/>
          <p:nvPr/>
        </p:nvSpPr>
        <p:spPr>
          <a:xfrm>
            <a:off x="566928" y="1316736"/>
            <a:ext cx="800976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View › Version history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Editing the rule published version 1.1 and left 1.0 intact. Both versions carry the expression they published and the test that was run against it.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Editing the expression retires the earlier test, so each version publishes with proof of the formula it contains.</a:t>
            </a:r>
          </a:p>
        </p:txBody>
      </p:sp>
      <p:pic>
        <p:nvPicPr>
          <p:cNvPr id="9" name="Picture 8" descr="fg-versions.png"/>
          <p:cNvPicPr>
            <a:picLocks noChangeAspect="1"/>
          </p:cNvPicPr>
          <p:nvPr/>
        </p:nvPicPr>
        <p:blipFill>
          <a:blip r:embed="rId2"/>
          <a:stretch>
            <a:fillRect/>
          </a:stretch>
        </p:blipFill>
        <p:spPr>
          <a:xfrm>
            <a:off x="566928" y="2304288"/>
            <a:ext cx="5318111" cy="3895343"/>
          </a:xfrm>
          <a:prstGeom prst="rect">
            <a:avLst/>
          </a:prstGeom>
        </p:spPr>
      </p:pic>
      <p:sp>
        <p:nvSpPr>
          <p:cNvPr id="10" name="Rounded Rectangle 9"/>
          <p:cNvSpPr/>
          <p:nvPr/>
        </p:nvSpPr>
        <p:spPr>
          <a:xfrm>
            <a:off x="6177647" y="2304288"/>
            <a:ext cx="5447120"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37881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753719" y="2450592"/>
            <a:ext cx="466988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current version</a:t>
            </a:r>
          </a:p>
        </p:txBody>
      </p:sp>
      <p:sp>
        <p:nvSpPr>
          <p:cNvPr id="13" name="TextBox 12"/>
          <p:cNvSpPr txBox="1"/>
          <p:nvPr/>
        </p:nvSpPr>
        <p:spPr>
          <a:xfrm>
            <a:off x="6378815" y="2706624"/>
            <a:ext cx="5044784"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Its expression, the change note, who published it and when, what changed against the version before it, and the test evidence recorded for this formula.</a:t>
            </a:r>
          </a:p>
        </p:txBody>
      </p:sp>
      <p:sp>
        <p:nvSpPr>
          <p:cNvPr id="14" name="Rounded Rectangle 13"/>
          <p:cNvSpPr/>
          <p:nvPr/>
        </p:nvSpPr>
        <p:spPr>
          <a:xfrm>
            <a:off x="6177647" y="4320540"/>
            <a:ext cx="5447120"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378815"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6753719" y="4466844"/>
            <a:ext cx="466988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it replaced</a:t>
            </a:r>
          </a:p>
        </p:txBody>
      </p:sp>
      <p:sp>
        <p:nvSpPr>
          <p:cNvPr id="17" name="TextBox 16"/>
          <p:cNvSpPr txBox="1"/>
          <p:nvPr/>
        </p:nvSpPr>
        <p:spPr>
          <a:xfrm>
            <a:off x="6378815" y="4722876"/>
            <a:ext cx="5044784"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Kept in full, with its own expression and its own evidence. This is what a payroll computed before the change still resolves against.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CHANGE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You see what the save will change before you make it</a:t>
            </a:r>
          </a:p>
        </p:txBody>
      </p:sp>
      <p:sp>
        <p:nvSpPr>
          <p:cNvPr id="6" name="Rounded Rectangle 5"/>
          <p:cNvSpPr/>
          <p:nvPr/>
        </p:nvSpPr>
        <p:spPr>
          <a:xfrm>
            <a:off x="566928" y="1316736"/>
            <a:ext cx="87464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 › Edit computation › Change details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Change details now compares the draft against the published record and lists the fields that will move, with their values on both sides.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edit: adding a rest-day premium and moving the effective date.</a:t>
            </a:r>
          </a:p>
        </p:txBody>
      </p:sp>
      <p:pic>
        <p:nvPicPr>
          <p:cNvPr id="9" name="Picture 8" descr="fg-diff.png"/>
          <p:cNvPicPr>
            <a:picLocks noChangeAspect="1"/>
          </p:cNvPicPr>
          <p:nvPr/>
        </p:nvPicPr>
        <p:blipFill>
          <a:blip r:embed="rId2"/>
          <a:stretch>
            <a:fillRect/>
          </a:stretch>
        </p:blipFill>
        <p:spPr>
          <a:xfrm>
            <a:off x="1579573" y="2304288"/>
            <a:ext cx="9032548"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fields tracked</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Expression, status, effective date, name, category and description. A change to any of them is recorded.</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Before</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value on the published record, as payroll would resolve it until this save goes through.</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After</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value the draft will publish. The same list is written into change history when you save.</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CHANGE HISTORY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log records the change, not only that something changed</a:t>
            </a:r>
          </a:p>
        </p:txBody>
      </p:sp>
      <p:sp>
        <p:nvSpPr>
          <p:cNvPr id="6" name="Rounded Rectangle 5"/>
          <p:cNvSpPr/>
          <p:nvPr/>
        </p:nvSpPr>
        <p:spPr>
          <a:xfrm>
            <a:off x="566928" y="1316736"/>
            <a:ext cx="6622436"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Change history</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Part 1's history gave the item, action, version, user and date. It now carries the before and after values on the same entry.</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Entries are recorded per company. Reference source versions and activations appear in the same list.</a:t>
            </a:r>
          </a:p>
        </p:txBody>
      </p:sp>
      <p:pic>
        <p:nvPicPr>
          <p:cNvPr id="9" name="Picture 8" descr="fg-history.png"/>
          <p:cNvPicPr>
            <a:picLocks noChangeAspect="1"/>
          </p:cNvPicPr>
          <p:nvPr/>
        </p:nvPicPr>
        <p:blipFill>
          <a:blip r:embed="rId2"/>
          <a:stretch>
            <a:fillRect/>
          </a:stretch>
        </p:blipFill>
        <p:spPr>
          <a:xfrm>
            <a:off x="1984299" y="2304288"/>
            <a:ext cx="8223097"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was changed</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code and name of the record, and the kind of thing it is — a computation, an assignment or a reference source.</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Before and after</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Each changed field with its previous and new value, so an edit can be reconstructed without opening the record.</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Who, when, which version</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actor, the timestamp and the version the change produced — the three facts an audit asks for.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11</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Values and volume</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Rates that change on a date, and maintaining a register once it grows.</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Reference versions</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Bulk maintenance</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Import</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EFFECTIVE-DATED VALUES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reference source now carries its published versions</a:t>
            </a:r>
          </a:p>
        </p:txBody>
      </p:sp>
      <p:sp>
        <p:nvSpPr>
          <p:cNvPr id="6" name="Rounded Rectangle 5"/>
          <p:cNvSpPr/>
          <p:nvPr/>
        </p:nvSpPr>
        <p:spPr>
          <a:xfrm>
            <a:off x="566928" y="1316736"/>
            <a:ext cx="6809613"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Reference sources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card shows how many versions exist, and opens the history beside the usual manage, template and upload actions.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Statutory sources stay linked here and maintained in Settings.</a:t>
            </a:r>
          </a:p>
        </p:txBody>
      </p:sp>
      <p:pic>
        <p:nvPicPr>
          <p:cNvPr id="9" name="Picture 8" descr="ref-card.png"/>
          <p:cNvPicPr>
            <a:picLocks noChangeAspect="1"/>
          </p:cNvPicPr>
          <p:nvPr/>
        </p:nvPicPr>
        <p:blipFill>
          <a:blip r:embed="rId2"/>
          <a:stretch>
            <a:fillRect/>
          </a:stretch>
        </p:blipFill>
        <p:spPr>
          <a:xfrm>
            <a:off x="4213554" y="2304288"/>
            <a:ext cx="3764587" cy="2706624"/>
          </a:xfrm>
          <a:prstGeom prst="rect">
            <a:avLst/>
          </a:prstGeom>
        </p:spPr>
      </p:pic>
      <p:sp>
        <p:nvSpPr>
          <p:cNvPr id="10" name="Rectangle 9"/>
          <p:cNvSpPr/>
          <p:nvPr/>
        </p:nvSpPr>
        <p:spPr>
          <a:xfrm>
            <a:off x="566928"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32"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Published versions</a:t>
            </a:r>
          </a:p>
        </p:txBody>
      </p:sp>
      <p:sp>
        <p:nvSpPr>
          <p:cNvPr id="12" name="TextBox 11"/>
          <p:cNvSpPr txBox="1"/>
          <p:nvPr/>
        </p:nvSpPr>
        <p:spPr>
          <a:xfrm>
            <a:off x="713232"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Every version that has been issued, not just the current one.</a:t>
            </a:r>
          </a:p>
        </p:txBody>
      </p:sp>
      <p:sp>
        <p:nvSpPr>
          <p:cNvPr id="13" name="Rectangle 12"/>
          <p:cNvSpPr/>
          <p:nvPr/>
        </p:nvSpPr>
        <p:spPr>
          <a:xfrm>
            <a:off x="4301642"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447946"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Versions</a:t>
            </a:r>
          </a:p>
        </p:txBody>
      </p:sp>
      <p:sp>
        <p:nvSpPr>
          <p:cNvPr id="15" name="TextBox 14"/>
          <p:cNvSpPr txBox="1"/>
          <p:nvPr/>
        </p:nvSpPr>
        <p:spPr>
          <a:xfrm>
            <a:off x="4447946"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Opens the full history with each version's rows.</a:t>
            </a:r>
          </a:p>
        </p:txBody>
      </p:sp>
      <p:sp>
        <p:nvSpPr>
          <p:cNvPr id="16" name="Rectangle 15"/>
          <p:cNvSpPr/>
          <p:nvPr/>
        </p:nvSpPr>
        <p:spPr>
          <a:xfrm>
            <a:off x="8036356" y="5321808"/>
            <a:ext cx="32918" cy="78638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82660" y="5321808"/>
            <a:ext cx="3405530" cy="274320"/>
          </a:xfrm>
          <a:prstGeom prst="rect">
            <a:avLst/>
          </a:prstGeom>
          <a:noFill/>
        </p:spPr>
        <p:txBody>
          <a:bodyPr wrap="square" anchor="t" lIns="0" rIns="0" tIns="0" bIns="0">
            <a:spAutoFit/>
          </a:bodyPr>
          <a:lstStyle/>
          <a:p>
            <a:pPr algn="l">
              <a:lnSpc>
                <a:spcPct val="115000"/>
              </a:lnSpc>
              <a:spcBef>
                <a:spcPts val="0"/>
              </a:spcBef>
              <a:spcAft>
                <a:spcPts val="300"/>
              </a:spcAft>
            </a:pPr>
            <a:r>
              <a:rPr sz="1150" b="1" i="0">
                <a:solidFill>
                  <a:srgbClr val="241243"/>
                </a:solidFill>
                <a:latin typeface="Segoe UI Semibold"/>
              </a:rPr>
              <a:t>Upload version</a:t>
            </a:r>
          </a:p>
        </p:txBody>
      </p:sp>
      <p:sp>
        <p:nvSpPr>
          <p:cNvPr id="18" name="TextBox 17"/>
          <p:cNvSpPr txBox="1"/>
          <p:nvPr/>
        </p:nvSpPr>
        <p:spPr>
          <a:xfrm>
            <a:off x="8182660" y="5559552"/>
            <a:ext cx="3405530" cy="621792"/>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Publishes a new version and keeps the one it supersedes.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EFFECTIVE-DATED VALUES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new rate does not overwrite the old one</a:t>
            </a:r>
          </a:p>
        </p:txBody>
      </p:sp>
      <p:sp>
        <p:nvSpPr>
          <p:cNvPr id="6" name="Rounded Rectangle 5"/>
          <p:cNvSpPr/>
          <p:nvPr/>
        </p:nvSpPr>
        <p:spPr>
          <a:xfrm>
            <a:off x="566928" y="1316736"/>
            <a:ext cx="744446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Reference sources › Versions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Publishing a new version of a reference source keeps the version it supersedes, so a payroll computed under the old ceiling still resolves the old ceiling.</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Demonstration: a De Minimis ceiling republished with a January effective date.</a:t>
            </a:r>
          </a:p>
        </p:txBody>
      </p:sp>
      <p:pic>
        <p:nvPicPr>
          <p:cNvPr id="9" name="Picture 8" descr="fg-ref-versions.png"/>
          <p:cNvPicPr>
            <a:picLocks noChangeAspect="1"/>
          </p:cNvPicPr>
          <p:nvPr/>
        </p:nvPicPr>
        <p:blipFill>
          <a:blip r:embed="rId2"/>
          <a:stretch>
            <a:fillRect/>
          </a:stretch>
        </p:blipFill>
        <p:spPr>
          <a:xfrm>
            <a:off x="566928" y="2304288"/>
            <a:ext cx="6569375" cy="3895343"/>
          </a:xfrm>
          <a:prstGeom prst="rect">
            <a:avLst/>
          </a:prstGeom>
        </p:spPr>
      </p:pic>
      <p:sp>
        <p:nvSpPr>
          <p:cNvPr id="10" name="Rounded Rectangle 9"/>
          <p:cNvSpPr/>
          <p:nvPr/>
        </p:nvSpPr>
        <p:spPr>
          <a:xfrm>
            <a:off x="7428911" y="2304288"/>
            <a:ext cx="4195856"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30079"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004983" y="2450592"/>
            <a:ext cx="3418616"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current version</a:t>
            </a:r>
          </a:p>
        </p:txBody>
      </p:sp>
      <p:sp>
        <p:nvSpPr>
          <p:cNvPr id="13" name="TextBox 12"/>
          <p:cNvSpPr txBox="1"/>
          <p:nvPr/>
        </p:nvSpPr>
        <p:spPr>
          <a:xfrm>
            <a:off x="7630079" y="2706624"/>
            <a:ext cx="3793520"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Effective from its own date, with the rows as they now stand. Payroll uses this for any payout date on or after that date.</a:t>
            </a:r>
          </a:p>
        </p:txBody>
      </p:sp>
      <p:sp>
        <p:nvSpPr>
          <p:cNvPr id="14" name="Rounded Rectangle 13"/>
          <p:cNvSpPr/>
          <p:nvPr/>
        </p:nvSpPr>
        <p:spPr>
          <a:xfrm>
            <a:off x="7428911" y="4320540"/>
            <a:ext cx="4195856" cy="1879092"/>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630079"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004983" y="4466844"/>
            <a:ext cx="3418616"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version it replaced</a:t>
            </a:r>
          </a:p>
        </p:txBody>
      </p:sp>
      <p:sp>
        <p:nvSpPr>
          <p:cNvPr id="17" name="TextBox 16"/>
          <p:cNvSpPr txBox="1"/>
          <p:nvPr/>
        </p:nvSpPr>
        <p:spPr>
          <a:xfrm>
            <a:off x="7630079" y="4722876"/>
            <a:ext cx="3793520" cy="1376172"/>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Kept with its own rows and its own effective date. A payout date before the change still resolves these values.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BULK MAINTENANCE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Maintaining the register once it grows</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Filtering, selecting and moving a set of rules together, and loading a migration in one file.</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A bulk action reports the codes it could not move, and why, rather than skipping them silently.</a:t>
            </a:r>
          </a:p>
        </p:txBody>
      </p:sp>
      <p:sp>
        <p:nvSpPr>
          <p:cNvPr id="9" name="Rounded Rectangle 8"/>
          <p:cNvSpPr/>
          <p:nvPr/>
        </p:nvSpPr>
        <p:spPr>
          <a:xfrm>
            <a:off x="56692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2237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2" name="TextBox 11"/>
          <p:cNvSpPr txBox="1"/>
          <p:nvPr/>
        </p:nvSpPr>
        <p:spPr>
          <a:xfrm>
            <a:off x="113385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Select what the filter found</a:t>
            </a:r>
          </a:p>
        </p:txBody>
      </p:sp>
      <p:sp>
        <p:nvSpPr>
          <p:cNvPr id="13" name="TextBox 12"/>
          <p:cNvSpPr txBox="1"/>
          <p:nvPr/>
        </p:nvSpPr>
        <p:spPr>
          <a:xfrm>
            <a:off x="82296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Search and filter the register, then select every row the filter returned — not only the page on screen.</a:t>
            </a:r>
          </a:p>
        </p:txBody>
      </p:sp>
      <p:sp>
        <p:nvSpPr>
          <p:cNvPr id="14" name="Rounded Rectangle 13"/>
          <p:cNvSpPr/>
          <p:nvPr/>
        </p:nvSpPr>
        <p:spPr>
          <a:xfrm>
            <a:off x="430773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0773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6318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7" name="TextBox 16"/>
          <p:cNvSpPr txBox="1"/>
          <p:nvPr/>
        </p:nvSpPr>
        <p:spPr>
          <a:xfrm>
            <a:off x="487466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Move a set together</a:t>
            </a:r>
          </a:p>
        </p:txBody>
      </p:sp>
      <p:sp>
        <p:nvSpPr>
          <p:cNvPr id="18" name="TextBox 17"/>
          <p:cNvSpPr txBox="1"/>
          <p:nvPr/>
        </p:nvSpPr>
        <p:spPr>
          <a:xfrm>
            <a:off x="456377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Activate or deactivate the whole selection in one action, with the codes that could not move reported by code and reason.</a:t>
            </a:r>
          </a:p>
        </p:txBody>
      </p:sp>
      <p:sp>
        <p:nvSpPr>
          <p:cNvPr id="19" name="Rounded Rectangle 18"/>
          <p:cNvSpPr/>
          <p:nvPr/>
        </p:nvSpPr>
        <p:spPr>
          <a:xfrm>
            <a:off x="804854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854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0399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2" name="TextBox 21"/>
          <p:cNvSpPr txBox="1"/>
          <p:nvPr/>
        </p:nvSpPr>
        <p:spPr>
          <a:xfrm>
            <a:off x="861547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Import creates as well as updates</a:t>
            </a:r>
          </a:p>
        </p:txBody>
      </p:sp>
      <p:sp>
        <p:nvSpPr>
          <p:cNvPr id="23" name="TextBox 22"/>
          <p:cNvSpPr txBox="1"/>
          <p:nvPr/>
        </p:nvSpPr>
        <p:spPr>
          <a:xfrm>
            <a:off x="830458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row whose code exists updates that computation. A row whose code is new — or blank — creates one, generated from its category.</a:t>
            </a:r>
          </a:p>
        </p:txBody>
      </p:sp>
      <p:sp>
        <p:nvSpPr>
          <p:cNvPr id="24" name="Rounded Rectangle 23"/>
          <p:cNvSpPr/>
          <p:nvPr/>
        </p:nvSpPr>
        <p:spPr>
          <a:xfrm>
            <a:off x="56692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2237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7" name="TextBox 26"/>
          <p:cNvSpPr txBox="1"/>
          <p:nvPr/>
        </p:nvSpPr>
        <p:spPr>
          <a:xfrm>
            <a:off x="113385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New rows arrive Inactive</a:t>
            </a:r>
          </a:p>
        </p:txBody>
      </p:sp>
      <p:sp>
        <p:nvSpPr>
          <p:cNvPr id="28" name="TextBox 27"/>
          <p:cNvSpPr txBox="1"/>
          <p:nvPr/>
        </p:nvSpPr>
        <p:spPr>
          <a:xfrm>
            <a:off x="82296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Imported records are created Inactive so a migration can be reviewed before any of it computes.</a:t>
            </a:r>
          </a:p>
        </p:txBody>
      </p:sp>
      <p:sp>
        <p:nvSpPr>
          <p:cNvPr id="29" name="Rounded Rectangle 28"/>
          <p:cNvSpPr/>
          <p:nvPr/>
        </p:nvSpPr>
        <p:spPr>
          <a:xfrm>
            <a:off x="430773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0773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6318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2" name="TextBox 31"/>
          <p:cNvSpPr txBox="1"/>
          <p:nvPr/>
        </p:nvSpPr>
        <p:spPr>
          <a:xfrm>
            <a:off x="487466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Standards stay as they are</a:t>
            </a:r>
          </a:p>
        </p:txBody>
      </p:sp>
      <p:sp>
        <p:nvSpPr>
          <p:cNvPr id="33" name="TextBox 32"/>
          <p:cNvSpPr txBox="1"/>
          <p:nvPr/>
        </p:nvSpPr>
        <p:spPr>
          <a:xfrm>
            <a:off x="456377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company import leaves every Atlas standard untouched, and reports those rows as unchanged rather than passing over them in silence.</a:t>
            </a:r>
          </a:p>
        </p:txBody>
      </p:sp>
      <p:sp>
        <p:nvSpPr>
          <p:cNvPr id="34" name="Rounded Rectangle 33"/>
          <p:cNvSpPr/>
          <p:nvPr/>
        </p:nvSpPr>
        <p:spPr>
          <a:xfrm>
            <a:off x="804854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4854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0399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7" name="TextBox 36"/>
          <p:cNvSpPr txBox="1"/>
          <p:nvPr/>
        </p:nvSpPr>
        <p:spPr>
          <a:xfrm>
            <a:off x="861547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 template matches the importer</a:t>
            </a:r>
          </a:p>
        </p:txBody>
      </p:sp>
      <p:sp>
        <p:nvSpPr>
          <p:cNvPr id="38" name="TextBox 37"/>
          <p:cNvSpPr txBox="1"/>
          <p:nvPr/>
        </p:nvSpPr>
        <p:spPr>
          <a:xfrm>
            <a:off x="830458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Download template carries the real headers, rows from this company, and a commented key of every category, status and approved field.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BULK MAINTENANCE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Filter, select, and move a set of rules together</a:t>
            </a:r>
          </a:p>
        </p:txBody>
      </p:sp>
      <p:sp>
        <p:nvSpPr>
          <p:cNvPr id="6" name="Rounded Rectangle 5"/>
          <p:cNvSpPr/>
          <p:nvPr/>
        </p:nvSpPr>
        <p:spPr>
          <a:xfrm>
            <a:off x="566928" y="1316736"/>
            <a:ext cx="656836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Computational Basis › Computations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Filtering the register down and acting on what the filter found, which is how the register is maintained once a company has more than a handful of rules.</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Bulk import also creates records now, not only updates: see the next page.</a:t>
            </a:r>
          </a:p>
        </p:txBody>
      </p:sp>
      <p:pic>
        <p:nvPicPr>
          <p:cNvPr id="9" name="Picture 8" descr="fg-bulk.png"/>
          <p:cNvPicPr>
            <a:picLocks noChangeAspect="1"/>
          </p:cNvPicPr>
          <p:nvPr/>
        </p:nvPicPr>
        <p:blipFill>
          <a:blip r:embed="rId2"/>
          <a:stretch>
            <a:fillRect/>
          </a:stretch>
        </p:blipFill>
        <p:spPr>
          <a:xfrm>
            <a:off x="2267591" y="2304288"/>
            <a:ext cx="7656512"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Act on the selection</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Activate or deactivate everything selected. Anything a payroll transaction holds is reported by code rather than skipped silently.</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Select all filtered</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Selects every row the current search and filters return, not only the page on screen.</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Select individually</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Pick specific rules out of the filtered set when only some of them are moving.</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12</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Every payment names its formula</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Computational Basis holds the calculations. Services Information holds what the company pays. This is the join between them.</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register</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The binding</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On the payroll line</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JOIN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Two catalogues that never referred to each other</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formula library and the payment configurations were each complete on their own. What was missing was the statement that connects a particular payment to a particular formula.</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Binding is optional: a configuration that binds nothing keeps the treatment it had before.</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2523744"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WHAT EACH ONE HELD</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library held the arithmetic</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 published, versioned, tested computation — but nothing saying which of the company's payments used it.</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configuration held the payment</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An earning or deduction with its taxability, its accounting mapping and its amount — but no formula.</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connection was in people's heads</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Which calculation belonged to which payment was known, agreed and written down elsewhere, but not held in the record.</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419856"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WHAT THE RECORD HOLDS NOW</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The payment names its formula</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One field on the configuration: the published computation that produces this amount.</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And the source of every input</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Each variable in that formula is bound to where its value comes from, and the binding is stored with the record.</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Payroll applies exactly that</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bound formula becomes a step on the payroll line, with its code, its version and the sources it drew on.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JOIN THAT WAS MISSING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Each thing you pay now names the formula behind it</a:t>
            </a:r>
          </a:p>
        </p:txBody>
      </p:sp>
      <p:sp>
        <p:nvSpPr>
          <p:cNvPr id="6" name="Rounded Rectangle 5"/>
          <p:cNvSpPr/>
          <p:nvPr/>
        </p:nvSpPr>
        <p:spPr>
          <a:xfrm>
            <a:off x="566928" y="1316736"/>
            <a:ext cx="504118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Deductions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Computational Basis says what a calculation is. This register says what the company pays. Two new columns connect them: who a deduction reaches, and which published formula produces its amount.</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Cash Advance is bound here; the rest of the register is left as it was.</a:t>
            </a:r>
          </a:p>
        </p:txBody>
      </p:sp>
      <p:pic>
        <p:nvPicPr>
          <p:cNvPr id="9" name="Picture 8" descr="fg-bind-register.png"/>
          <p:cNvPicPr>
            <a:picLocks noChangeAspect="1"/>
          </p:cNvPicPr>
          <p:nvPr/>
        </p:nvPicPr>
        <p:blipFill>
          <a:blip r:embed="rId2"/>
          <a:stretch>
            <a:fillRect/>
          </a:stretch>
        </p:blipFill>
        <p:spPr>
          <a:xfrm>
            <a:off x="2711697" y="2304288"/>
            <a:ext cx="6768301" cy="2450592"/>
          </a:xfrm>
          <a:prstGeom prst="rect">
            <a:avLst/>
          </a:prstGeom>
        </p:spPr>
      </p:pic>
      <p:sp>
        <p:nvSpPr>
          <p:cNvPr id="10" name="Rounded Rectangle 9"/>
          <p:cNvSpPr/>
          <p:nvPr/>
        </p:nvSpPr>
        <p:spPr>
          <a:xfrm>
            <a:off x="566928"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Who it applies to</a:t>
            </a:r>
          </a:p>
        </p:txBody>
      </p:sp>
      <p:sp>
        <p:nvSpPr>
          <p:cNvPr id="13" name="TextBox 12"/>
          <p:cNvSpPr txBox="1"/>
          <p:nvPr/>
        </p:nvSpPr>
        <p:spPr>
          <a:xfrm>
            <a:off x="768096"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employees this configuration reaches. Payroll applies it to those employees and to nobody else.</a:t>
            </a:r>
          </a:p>
        </p:txBody>
      </p:sp>
      <p:sp>
        <p:nvSpPr>
          <p:cNvPr id="14" name="Rounded Rectangle 13"/>
          <p:cNvSpPr/>
          <p:nvPr/>
        </p:nvSpPr>
        <p:spPr>
          <a:xfrm>
            <a:off x="4298594"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formula that computes it</a:t>
            </a:r>
          </a:p>
        </p:txBody>
      </p:sp>
      <p:sp>
        <p:nvSpPr>
          <p:cNvPr id="17" name="TextBox 16"/>
          <p:cNvSpPr txBox="1"/>
          <p:nvPr/>
        </p:nvSpPr>
        <p:spPr>
          <a:xfrm>
            <a:off x="4499762"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published computation this deduction runs. Open the row to see where each of that formula's inputs comes from.</a:t>
            </a:r>
          </a:p>
        </p:txBody>
      </p:sp>
      <p:sp>
        <p:nvSpPr>
          <p:cNvPr id="18" name="Rounded Rectangle 17"/>
          <p:cNvSpPr/>
          <p:nvPr/>
        </p:nvSpPr>
        <p:spPr>
          <a:xfrm>
            <a:off x="8030260" y="5010912"/>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5148072"/>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5157216"/>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Or no formula at all</a:t>
            </a:r>
          </a:p>
        </p:txBody>
      </p:sp>
      <p:sp>
        <p:nvSpPr>
          <p:cNvPr id="21" name="TextBox 20"/>
          <p:cNvSpPr txBox="1"/>
          <p:nvPr/>
        </p:nvSpPr>
        <p:spPr>
          <a:xfrm>
            <a:off x="8231428" y="5413248"/>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A configuration that binds nothing keeps the treatment it had before. Binding is something you add where it earns its place.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VARIABLE BINDING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Every input in the formula gets a stated source</a:t>
            </a:r>
          </a:p>
        </p:txBody>
      </p:sp>
      <p:sp>
        <p:nvSpPr>
          <p:cNvPr id="6" name="Rounded Rectangle 5"/>
          <p:cNvSpPr/>
          <p:nvPr/>
        </p:nvSpPr>
        <p:spPr>
          <a:xfrm>
            <a:off x="566928" y="1316736"/>
            <a:ext cx="68160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Deductions › Edit › Computation Binding</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Picking a formula raises the question the review kept returning to: where does each value come from? Each variable is answered here, and the answer is stored with the configuration.</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Two of the four sources are in use here; the others are a configuration field and a reference-source row.</a:t>
            </a:r>
          </a:p>
        </p:txBody>
      </p:sp>
      <p:pic>
        <p:nvPicPr>
          <p:cNvPr id="9" name="Picture 8" descr="fg-bind-step.png"/>
          <p:cNvPicPr>
            <a:picLocks noChangeAspect="1"/>
          </p:cNvPicPr>
          <p:nvPr/>
        </p:nvPicPr>
        <p:blipFill>
          <a:blip r:embed="rId2"/>
          <a:stretch>
            <a:fillRect/>
          </a:stretch>
        </p:blipFill>
        <p:spPr>
          <a:xfrm>
            <a:off x="566928" y="2951665"/>
            <a:ext cx="5141671" cy="2600590"/>
          </a:xfrm>
          <a:prstGeom prst="rect">
            <a:avLst/>
          </a:prstGeom>
        </p:spPr>
      </p:pic>
      <p:sp>
        <p:nvSpPr>
          <p:cNvPr id="10" name="Rounded Rectangle 9"/>
          <p:cNvSpPr/>
          <p:nvPr/>
        </p:nvSpPr>
        <p:spPr>
          <a:xfrm>
            <a:off x="600120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620237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657727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formula, as published</a:t>
            </a:r>
          </a:p>
        </p:txBody>
      </p:sp>
      <p:sp>
        <p:nvSpPr>
          <p:cNvPr id="13" name="TextBox 12"/>
          <p:cNvSpPr txBox="1"/>
          <p:nvPr/>
        </p:nvSpPr>
        <p:spPr>
          <a:xfrm>
            <a:off x="620237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expression, its version and its effective date, shown from the library rather than retyped here.</a:t>
            </a:r>
          </a:p>
        </p:txBody>
      </p:sp>
      <p:sp>
        <p:nvSpPr>
          <p:cNvPr id="14" name="Rounded Rectangle 13"/>
          <p:cNvSpPr/>
          <p:nvPr/>
        </p:nvSpPr>
        <p:spPr>
          <a:xfrm>
            <a:off x="8881567" y="2304288"/>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9082735"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9457639" y="2450592"/>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 value payroll produces</a:t>
            </a:r>
          </a:p>
        </p:txBody>
      </p:sp>
      <p:sp>
        <p:nvSpPr>
          <p:cNvPr id="17" name="TextBox 16"/>
          <p:cNvSpPr txBox="1"/>
          <p:nvPr/>
        </p:nvSpPr>
        <p:spPr>
          <a:xfrm>
            <a:off x="9082735" y="2706624"/>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daily rate comes from the employee's own salary record while the run computes, so each person is priced on their own rate.</a:t>
            </a:r>
          </a:p>
        </p:txBody>
      </p:sp>
      <p:sp>
        <p:nvSpPr>
          <p:cNvPr id="18" name="Rounded Rectangle 17"/>
          <p:cNvSpPr/>
          <p:nvPr/>
        </p:nvSpPr>
        <p:spPr>
          <a:xfrm>
            <a:off x="600120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20237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577279" y="3794760"/>
            <a:ext cx="1965960" cy="67665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A value this configuration decides</a:t>
            </a:r>
          </a:p>
        </p:txBody>
      </p:sp>
      <p:sp>
        <p:nvSpPr>
          <p:cNvPr id="21" name="TextBox 20"/>
          <p:cNvSpPr txBox="1"/>
          <p:nvPr/>
        </p:nvSpPr>
        <p:spPr>
          <a:xfrm>
            <a:off x="6202375" y="4325112"/>
            <a:ext cx="2340864" cy="429768"/>
          </a:xfrm>
          <a:prstGeom prst="rect">
            <a:avLst/>
          </a:prstGeom>
          <a:noFill/>
        </p:spPr>
        <p:txBody>
          <a:bodyPr wrap="square" anchor="t" lIns="0" rIns="0" tIns="0" bIns="0">
            <a:spAutoFit/>
          </a:bodyPr>
          <a:lstStyle/>
          <a:p>
            <a:pPr algn="l">
              <a:lnSpc>
                <a:spcPct val="126000"/>
              </a:lnSpc>
              <a:spcBef>
                <a:spcPts val="0"/>
              </a:spcBef>
              <a:spcAft>
                <a:spcPts val="0"/>
              </a:spcAft>
            </a:pPr>
            <a:r>
              <a:rPr sz="880" b="0" i="0">
                <a:solidFill>
                  <a:srgbClr val="6B6675"/>
                </a:solidFill>
                <a:latin typeface="Segoe UI"/>
              </a:rPr>
              <a:t>The number of days is a property of this deduction, not of the employee, so it is set once here.</a:t>
            </a:r>
          </a:p>
        </p:txBody>
      </p:sp>
      <p:sp>
        <p:nvSpPr>
          <p:cNvPr id="22" name="Rounded Rectangle 21"/>
          <p:cNvSpPr/>
          <p:nvPr/>
        </p:nvSpPr>
        <p:spPr>
          <a:xfrm>
            <a:off x="8881567" y="3648456"/>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082735" y="378561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457639" y="3794760"/>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What each one resolves to</a:t>
            </a:r>
          </a:p>
        </p:txBody>
      </p:sp>
      <p:sp>
        <p:nvSpPr>
          <p:cNvPr id="25" name="TextBox 24"/>
          <p:cNvSpPr txBox="1"/>
          <p:nvPr/>
        </p:nvSpPr>
        <p:spPr>
          <a:xfrm>
            <a:off x="9082735" y="4050792"/>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The figure each source currently yields, so a binding can be read rather than inferred.</a:t>
            </a:r>
          </a:p>
        </p:txBody>
      </p:sp>
      <p:sp>
        <p:nvSpPr>
          <p:cNvPr id="26" name="Rounded Rectangle 25"/>
          <p:cNvSpPr/>
          <p:nvPr/>
        </p:nvSpPr>
        <p:spPr>
          <a:xfrm>
            <a:off x="6001207" y="4992624"/>
            <a:ext cx="2743200" cy="1207008"/>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Oval 26"/>
          <p:cNvSpPr/>
          <p:nvPr/>
        </p:nvSpPr>
        <p:spPr>
          <a:xfrm>
            <a:off x="6202375" y="512978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5</a:t>
            </a:r>
          </a:p>
        </p:txBody>
      </p:sp>
      <p:sp>
        <p:nvSpPr>
          <p:cNvPr id="28" name="TextBox 27"/>
          <p:cNvSpPr txBox="1"/>
          <p:nvPr/>
        </p:nvSpPr>
        <p:spPr>
          <a:xfrm>
            <a:off x="6577279" y="5138928"/>
            <a:ext cx="1965960"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amount, before you save</a:t>
            </a:r>
          </a:p>
        </p:txBody>
      </p:sp>
      <p:sp>
        <p:nvSpPr>
          <p:cNvPr id="29" name="TextBox 28"/>
          <p:cNvSpPr txBox="1"/>
          <p:nvPr/>
        </p:nvSpPr>
        <p:spPr>
          <a:xfrm>
            <a:off x="6202375" y="5394960"/>
            <a:ext cx="2340864" cy="704088"/>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Runs the formula against sample values so the configuration can be checked without waiting for a payroll.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SOURCES</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Where a variable's value can come from</a:t>
            </a:r>
          </a:p>
        </p:txBody>
      </p:sp>
      <p:sp>
        <p:nvSpPr>
          <p:cNvPr id="6" name="Rounded Rectangle 5"/>
          <p:cNvSpPr/>
          <p:nvPr/>
        </p:nvSpPr>
        <p:spPr>
          <a:xfrm>
            <a:off x="566928" y="1316736"/>
            <a:ext cx="6816012"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Deductions › Edit › Computation Binding</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Four kinds of source, chosen once per variable rather than once per formula.</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worked example uses two of the four; the others are a field on the record and a reference-source row.</a:t>
            </a:r>
          </a:p>
        </p:txBody>
      </p:sp>
      <p:sp>
        <p:nvSpPr>
          <p:cNvPr id="9" name="Rounded Rectangle 8"/>
          <p:cNvSpPr/>
          <p:nvPr/>
        </p:nvSpPr>
        <p:spPr>
          <a:xfrm>
            <a:off x="56692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ectangle 9"/>
          <p:cNvSpPr/>
          <p:nvPr/>
        </p:nvSpPr>
        <p:spPr>
          <a:xfrm>
            <a:off x="56692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2237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2" name="TextBox 11"/>
          <p:cNvSpPr txBox="1"/>
          <p:nvPr/>
        </p:nvSpPr>
        <p:spPr>
          <a:xfrm>
            <a:off x="113385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Payroll runtime</a:t>
            </a:r>
          </a:p>
        </p:txBody>
      </p:sp>
      <p:sp>
        <p:nvSpPr>
          <p:cNvPr id="13" name="TextBox 12"/>
          <p:cNvSpPr txBox="1"/>
          <p:nvPr/>
        </p:nvSpPr>
        <p:spPr>
          <a:xfrm>
            <a:off x="82296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module that owns the value supplies it while the run computes — the salary record, the timekeeping punches, or an earlier step of the same payroll.</a:t>
            </a:r>
          </a:p>
        </p:txBody>
      </p:sp>
      <p:sp>
        <p:nvSpPr>
          <p:cNvPr id="14" name="Rounded Rectangle 13"/>
          <p:cNvSpPr/>
          <p:nvPr/>
        </p:nvSpPr>
        <p:spPr>
          <a:xfrm>
            <a:off x="430773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Rectangle 14"/>
          <p:cNvSpPr/>
          <p:nvPr/>
        </p:nvSpPr>
        <p:spPr>
          <a:xfrm>
            <a:off x="430773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Oval 15"/>
          <p:cNvSpPr/>
          <p:nvPr/>
        </p:nvSpPr>
        <p:spPr>
          <a:xfrm>
            <a:off x="446318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7" name="TextBox 16"/>
          <p:cNvSpPr txBox="1"/>
          <p:nvPr/>
        </p:nvSpPr>
        <p:spPr>
          <a:xfrm>
            <a:off x="487466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This configuration</a:t>
            </a:r>
          </a:p>
        </p:txBody>
      </p:sp>
      <p:sp>
        <p:nvSpPr>
          <p:cNvPr id="18" name="TextBox 17"/>
          <p:cNvSpPr txBox="1"/>
          <p:nvPr/>
        </p:nvSpPr>
        <p:spPr>
          <a:xfrm>
            <a:off x="456377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number set on the record itself: the default amount, a rate, a factor. Use it where the value belongs to the payment rather than the person.</a:t>
            </a:r>
          </a:p>
        </p:txBody>
      </p:sp>
      <p:sp>
        <p:nvSpPr>
          <p:cNvPr id="19" name="Rounded Rectangle 18"/>
          <p:cNvSpPr/>
          <p:nvPr/>
        </p:nvSpPr>
        <p:spPr>
          <a:xfrm>
            <a:off x="8048548" y="2651760"/>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Rectangle 19"/>
          <p:cNvSpPr/>
          <p:nvPr/>
        </p:nvSpPr>
        <p:spPr>
          <a:xfrm>
            <a:off x="8048548" y="26517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Oval 20"/>
          <p:cNvSpPr/>
          <p:nvPr/>
        </p:nvSpPr>
        <p:spPr>
          <a:xfrm>
            <a:off x="8203996" y="28346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2" name="TextBox 21"/>
          <p:cNvSpPr txBox="1"/>
          <p:nvPr/>
        </p:nvSpPr>
        <p:spPr>
          <a:xfrm>
            <a:off x="8615476" y="28895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Reference source</a:t>
            </a:r>
          </a:p>
        </p:txBody>
      </p:sp>
      <p:sp>
        <p:nvSpPr>
          <p:cNvPr id="23" name="TextBox 22"/>
          <p:cNvSpPr txBox="1"/>
          <p:nvPr/>
        </p:nvSpPr>
        <p:spPr>
          <a:xfrm>
            <a:off x="8304580" y="3364992"/>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row of a formula reference source, read at the version effective on the payout date, so a rate change on a date reaches every configuration that cites it.</a:t>
            </a:r>
          </a:p>
        </p:txBody>
      </p:sp>
      <p:sp>
        <p:nvSpPr>
          <p:cNvPr id="24" name="Rounded Rectangle 23"/>
          <p:cNvSpPr/>
          <p:nvPr/>
        </p:nvSpPr>
        <p:spPr>
          <a:xfrm>
            <a:off x="56692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Rectangle 24"/>
          <p:cNvSpPr/>
          <p:nvPr/>
        </p:nvSpPr>
        <p:spPr>
          <a:xfrm>
            <a:off x="56692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Oval 25"/>
          <p:cNvSpPr/>
          <p:nvPr/>
        </p:nvSpPr>
        <p:spPr>
          <a:xfrm>
            <a:off x="72237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7" name="TextBox 26"/>
          <p:cNvSpPr txBox="1"/>
          <p:nvPr/>
        </p:nvSpPr>
        <p:spPr>
          <a:xfrm>
            <a:off x="113385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Fixed value</a:t>
            </a:r>
          </a:p>
        </p:txBody>
      </p:sp>
      <p:sp>
        <p:nvSpPr>
          <p:cNvPr id="28" name="TextBox 27"/>
          <p:cNvSpPr txBox="1"/>
          <p:nvPr/>
        </p:nvSpPr>
        <p:spPr>
          <a:xfrm>
            <a:off x="82296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constant that belongs to this configuration alone. The plainest option, and the right one where the number is genuinely a property of this rule.</a:t>
            </a:r>
          </a:p>
        </p:txBody>
      </p:sp>
      <p:sp>
        <p:nvSpPr>
          <p:cNvPr id="29" name="Rounded Rectangle 28"/>
          <p:cNvSpPr/>
          <p:nvPr/>
        </p:nvSpPr>
        <p:spPr>
          <a:xfrm>
            <a:off x="430773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Rectangle 29"/>
          <p:cNvSpPr/>
          <p:nvPr/>
        </p:nvSpPr>
        <p:spPr>
          <a:xfrm>
            <a:off x="430773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Oval 30"/>
          <p:cNvSpPr/>
          <p:nvPr/>
        </p:nvSpPr>
        <p:spPr>
          <a:xfrm>
            <a:off x="446318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2" name="TextBox 31"/>
          <p:cNvSpPr txBox="1"/>
          <p:nvPr/>
        </p:nvSpPr>
        <p:spPr>
          <a:xfrm>
            <a:off x="487466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Chosen per variable</a:t>
            </a:r>
          </a:p>
        </p:txBody>
      </p:sp>
      <p:sp>
        <p:nvSpPr>
          <p:cNvPr id="33" name="TextBox 32"/>
          <p:cNvSpPr txBox="1"/>
          <p:nvPr/>
        </p:nvSpPr>
        <p:spPr>
          <a:xfrm>
            <a:off x="456377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choice is made once for each input, not once for the formula, so a single calculation can draw on several modules at the same time.</a:t>
            </a:r>
          </a:p>
        </p:txBody>
      </p:sp>
      <p:sp>
        <p:nvSpPr>
          <p:cNvPr id="34" name="Rounded Rectangle 33"/>
          <p:cNvSpPr/>
          <p:nvPr/>
        </p:nvSpPr>
        <p:spPr>
          <a:xfrm>
            <a:off x="8048548" y="4244339"/>
            <a:ext cx="3576218" cy="1427987"/>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Rectangle 34"/>
          <p:cNvSpPr/>
          <p:nvPr/>
        </p:nvSpPr>
        <p:spPr>
          <a:xfrm>
            <a:off x="8048548" y="4244339"/>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Oval 35"/>
          <p:cNvSpPr/>
          <p:nvPr/>
        </p:nvSpPr>
        <p:spPr>
          <a:xfrm>
            <a:off x="8203996" y="4427219"/>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7" name="TextBox 36"/>
          <p:cNvSpPr txBox="1"/>
          <p:nvPr/>
        </p:nvSpPr>
        <p:spPr>
          <a:xfrm>
            <a:off x="8615476" y="4482083"/>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Checked before it saves</a:t>
            </a:r>
          </a:p>
        </p:txBody>
      </p:sp>
      <p:sp>
        <p:nvSpPr>
          <p:cNvPr id="38" name="TextBox 37"/>
          <p:cNvSpPr txBox="1"/>
          <p:nvPr/>
        </p:nvSpPr>
        <p:spPr>
          <a:xfrm>
            <a:off x="8304580" y="4957571"/>
            <a:ext cx="3100730" cy="641603"/>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variable left unanswered stops the save and names itself, rather than resolving to nothing and quietly producing a smaller amount.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THE RECORD, AS A REVIEWER READS IT</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The binding is part of the record, not a setting behind it</a:t>
            </a:r>
          </a:p>
        </p:txBody>
      </p:sp>
      <p:sp>
        <p:nvSpPr>
          <p:cNvPr id="6" name="Rounded Rectangle 5"/>
          <p:cNvSpPr/>
          <p:nvPr/>
        </p:nvSpPr>
        <p:spPr>
          <a:xfrm>
            <a:off x="566928" y="1316736"/>
            <a:ext cx="545393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Deductions › View</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Opening the configuration shows the formula and every variable with the source that feeds it — the page to read when someone asks why a deduction came out as it did.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same table the editor shows, in read-only form.</a:t>
            </a:r>
          </a:p>
        </p:txBody>
      </p:sp>
      <p:pic>
        <p:nvPicPr>
          <p:cNvPr id="9" name="Picture 8" descr="fg-bind-drawer.png"/>
          <p:cNvPicPr>
            <a:picLocks noChangeAspect="1"/>
          </p:cNvPicPr>
          <p:nvPr/>
        </p:nvPicPr>
        <p:blipFill>
          <a:blip r:embed="rId2"/>
          <a:stretch>
            <a:fillRect/>
          </a:stretch>
        </p:blipFill>
        <p:spPr>
          <a:xfrm>
            <a:off x="566928" y="2427788"/>
            <a:ext cx="6675120" cy="3648344"/>
          </a:xfrm>
          <a:prstGeom prst="rect">
            <a:avLst/>
          </a:prstGeom>
        </p:spPr>
      </p:pic>
      <p:sp>
        <p:nvSpPr>
          <p:cNvPr id="10" name="Rounded Rectangle 9"/>
          <p:cNvSpPr/>
          <p:nvPr/>
        </p:nvSpPr>
        <p:spPr>
          <a:xfrm>
            <a:off x="7534656" y="2304288"/>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735824" y="244144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8110728" y="2450592"/>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formula and its version</a:t>
            </a:r>
          </a:p>
        </p:txBody>
      </p:sp>
      <p:sp>
        <p:nvSpPr>
          <p:cNvPr id="13" name="TextBox 12"/>
          <p:cNvSpPr txBox="1"/>
          <p:nvPr/>
        </p:nvSpPr>
        <p:spPr>
          <a:xfrm>
            <a:off x="7735824" y="2706624"/>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Named and dated, so the reviewer knows which published version this configuration is bound to.</a:t>
            </a:r>
          </a:p>
        </p:txBody>
      </p:sp>
      <p:sp>
        <p:nvSpPr>
          <p:cNvPr id="14" name="Rounded Rectangle 13"/>
          <p:cNvSpPr/>
          <p:nvPr/>
        </p:nvSpPr>
        <p:spPr>
          <a:xfrm>
            <a:off x="7534656" y="3312414"/>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7735824" y="344957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8110728" y="3458718"/>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kind of source</a:t>
            </a:r>
          </a:p>
        </p:txBody>
      </p:sp>
      <p:sp>
        <p:nvSpPr>
          <p:cNvPr id="17" name="TextBox 16"/>
          <p:cNvSpPr txBox="1"/>
          <p:nvPr/>
        </p:nvSpPr>
        <p:spPr>
          <a:xfrm>
            <a:off x="7735824" y="3714750"/>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Payroll runtime, this configuration, a reference source, or a fixed value. Four kinds, one per variable.</a:t>
            </a:r>
          </a:p>
        </p:txBody>
      </p:sp>
      <p:sp>
        <p:nvSpPr>
          <p:cNvPr id="18" name="Rounded Rectangle 17"/>
          <p:cNvSpPr/>
          <p:nvPr/>
        </p:nvSpPr>
        <p:spPr>
          <a:xfrm>
            <a:off x="7534656" y="4320540"/>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7735824" y="4457700"/>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110728" y="4466844"/>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The source itself</a:t>
            </a:r>
          </a:p>
        </p:txBody>
      </p:sp>
      <p:sp>
        <p:nvSpPr>
          <p:cNvPr id="21" name="TextBox 20"/>
          <p:cNvSpPr txBox="1"/>
          <p:nvPr/>
        </p:nvSpPr>
        <p:spPr>
          <a:xfrm>
            <a:off x="7735824" y="4722876"/>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Which module produces it, which field on this record, or which row of which reference source.</a:t>
            </a:r>
          </a:p>
        </p:txBody>
      </p:sp>
      <p:sp>
        <p:nvSpPr>
          <p:cNvPr id="22" name="Rounded Rectangle 21"/>
          <p:cNvSpPr/>
          <p:nvPr/>
        </p:nvSpPr>
        <p:spPr>
          <a:xfrm>
            <a:off x="7534656" y="5328666"/>
            <a:ext cx="4090111" cy="870966"/>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7735824" y="546582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8110728" y="5474970"/>
            <a:ext cx="3312871" cy="402336"/>
          </a:xfrm>
          <a:prstGeom prst="rect">
            <a:avLst/>
          </a:prstGeom>
          <a:noFill/>
        </p:spPr>
        <p:txBody>
          <a:bodyPr wrap="square" anchor="t" lIns="0" rIns="0" tIns="0" bIns="0">
            <a:spAutoFit/>
          </a:bodyPr>
          <a:lstStyle/>
          <a:p>
            <a:pPr algn="l">
              <a:lnSpc>
                <a:spcPct val="115000"/>
              </a:lnSpc>
              <a:spcBef>
                <a:spcPts val="0"/>
              </a:spcBef>
              <a:spcAft>
                <a:spcPts val="0"/>
              </a:spcAft>
            </a:pPr>
            <a:r>
              <a:rPr sz="1160" b="1" i="0">
                <a:solidFill>
                  <a:srgbClr val="241243"/>
                </a:solidFill>
                <a:latin typeface="Segoe UI Semibold"/>
              </a:rPr>
              <a:t>What it resolves to now</a:t>
            </a:r>
          </a:p>
        </p:txBody>
      </p:sp>
      <p:sp>
        <p:nvSpPr>
          <p:cNvPr id="25" name="TextBox 24"/>
          <p:cNvSpPr txBox="1"/>
          <p:nvPr/>
        </p:nvSpPr>
        <p:spPr>
          <a:xfrm>
            <a:off x="7735824" y="5731002"/>
            <a:ext cx="3687775" cy="368046"/>
          </a:xfrm>
          <a:prstGeom prst="rect">
            <a:avLst/>
          </a:prstGeom>
          <a:noFill/>
        </p:spPr>
        <p:txBody>
          <a:bodyPr wrap="square" anchor="t" lIns="0" rIns="0" tIns="0" bIns="0">
            <a:spAutoFit/>
          </a:bodyPr>
          <a:lstStyle/>
          <a:p>
            <a:pPr algn="l">
              <a:lnSpc>
                <a:spcPct val="126000"/>
              </a:lnSpc>
              <a:spcBef>
                <a:spcPts val="0"/>
              </a:spcBef>
              <a:spcAft>
                <a:spcPts val="0"/>
              </a:spcAft>
            </a:pPr>
            <a:r>
              <a:rPr sz="1030" b="0" i="0">
                <a:solidFill>
                  <a:srgbClr val="6B6675"/>
                </a:solidFill>
                <a:latin typeface="Segoe UI"/>
              </a:rPr>
              <a:t>Today's figure for each input, so the record can be checked without opening a payroll.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 THE PAYROLL LINE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 bound amount explains itself like any other</a:t>
            </a:r>
          </a:p>
        </p:txBody>
      </p:sp>
      <p:sp>
        <p:nvSpPr>
          <p:cNvPr id="6" name="Rounded Rectangle 5"/>
          <p:cNvSpPr/>
          <p:nvPr/>
        </p:nvSpPr>
        <p:spPr>
          <a:xfrm>
            <a:off x="566928" y="1316736"/>
            <a:ext cx="5469514"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Employee result › How it was computed</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configuration's formula becomes a step on the payroll trail, carrying the code, the version, the sources it drew on and the amount it produced.</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employee's own daily rate, so this figure differs per person by design.</a:t>
            </a:r>
          </a:p>
        </p:txBody>
      </p:sp>
      <p:pic>
        <p:nvPicPr>
          <p:cNvPr id="9" name="Picture 8" descr="fg-bind-trail.png"/>
          <p:cNvPicPr>
            <a:picLocks noChangeAspect="1"/>
          </p:cNvPicPr>
          <p:nvPr/>
        </p:nvPicPr>
        <p:blipFill>
          <a:blip r:embed="rId2"/>
          <a:stretch>
            <a:fillRect/>
          </a:stretch>
        </p:blipFill>
        <p:spPr>
          <a:xfrm>
            <a:off x="566932" y="3056063"/>
            <a:ext cx="11057831" cy="947041"/>
          </a:xfrm>
          <a:prstGeom prst="rect">
            <a:avLst/>
          </a:prstGeom>
        </p:spPr>
      </p:pic>
      <p:sp>
        <p:nvSpPr>
          <p:cNvPr id="10" name="Rounded Rectangle 9"/>
          <p:cNvSpPr/>
          <p:nvPr/>
        </p:nvSpPr>
        <p:spPr>
          <a:xfrm>
            <a:off x="566928" y="425913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39629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40544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code, and its version</a:t>
            </a:r>
          </a:p>
        </p:txBody>
      </p:sp>
      <p:sp>
        <p:nvSpPr>
          <p:cNvPr id="13" name="TextBox 12"/>
          <p:cNvSpPr txBox="1"/>
          <p:nvPr/>
        </p:nvSpPr>
        <p:spPr>
          <a:xfrm>
            <a:off x="768096" y="466147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governed computation and the exact version it applied — so a bound amount stays reproducible after the formula moves on, like every step in section 06.</a:t>
            </a:r>
          </a:p>
        </p:txBody>
      </p:sp>
      <p:sp>
        <p:nvSpPr>
          <p:cNvPr id="14" name="Rounded Rectangle 13"/>
          <p:cNvSpPr/>
          <p:nvPr/>
        </p:nvSpPr>
        <p:spPr>
          <a:xfrm>
            <a:off x="4298594" y="425913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99762" y="439629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4874666" y="440544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Where each input came from</a:t>
            </a:r>
          </a:p>
        </p:txBody>
      </p:sp>
      <p:sp>
        <p:nvSpPr>
          <p:cNvPr id="17" name="TextBox 16"/>
          <p:cNvSpPr txBox="1"/>
          <p:nvPr/>
        </p:nvSpPr>
        <p:spPr>
          <a:xfrm>
            <a:off x="4499762" y="466147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step names the source of every variable, so the figure can be traced back through the configuration to the modules that fed it.</a:t>
            </a:r>
          </a:p>
        </p:txBody>
      </p:sp>
      <p:sp>
        <p:nvSpPr>
          <p:cNvPr id="18" name="Rounded Rectangle 17"/>
          <p:cNvSpPr/>
          <p:nvPr/>
        </p:nvSpPr>
        <p:spPr>
          <a:xfrm>
            <a:off x="8030260" y="4259136"/>
            <a:ext cx="3594506"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8231428" y="4396296"/>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8606332" y="4405440"/>
            <a:ext cx="2817266"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The amount</a:t>
            </a:r>
          </a:p>
        </p:txBody>
      </p:sp>
      <p:sp>
        <p:nvSpPr>
          <p:cNvPr id="21" name="TextBox 20"/>
          <p:cNvSpPr txBox="1"/>
          <p:nvPr/>
        </p:nvSpPr>
        <p:spPr>
          <a:xfrm>
            <a:off x="8231428" y="4661472"/>
            <a:ext cx="3192170"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Produced by evaluating the published formula, not by an amount typed beside the deduction.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1737360"/>
            <a:ext cx="1463040" cy="914400"/>
          </a:xfrm>
          <a:prstGeom prst="rect">
            <a:avLst/>
          </a:prstGeom>
          <a:noFill/>
        </p:spPr>
        <p:txBody>
          <a:bodyPr wrap="square" anchor="t" lIns="0" rIns="0" tIns="0" bIns="0">
            <a:spAutoFit/>
          </a:bodyPr>
          <a:lstStyle/>
          <a:p>
            <a:pPr algn="l">
              <a:lnSpc>
                <a:spcPct val="100000"/>
              </a:lnSpc>
              <a:spcBef>
                <a:spcPts val="0"/>
              </a:spcBef>
              <a:spcAft>
                <a:spcPts val="0"/>
              </a:spcAft>
            </a:pPr>
            <a:r>
              <a:rPr sz="6400" b="1" i="0">
                <a:solidFill>
                  <a:srgbClr val="7C3FC2"/>
                </a:solidFill>
                <a:latin typeface="Segoe UI Semibold"/>
              </a:rPr>
              <a:t>13</a:t>
            </a:r>
          </a:p>
        </p:txBody>
      </p:sp>
      <p:sp>
        <p:nvSpPr>
          <p:cNvPr id="5" name="TextBox 4"/>
          <p:cNvSpPr txBox="1"/>
          <p:nvPr/>
        </p:nvSpPr>
        <p:spPr>
          <a:xfrm>
            <a:off x="841248" y="2615184"/>
            <a:ext cx="8778240" cy="914400"/>
          </a:xfrm>
          <a:prstGeom prst="rect">
            <a:avLst/>
          </a:prstGeom>
          <a:noFill/>
        </p:spPr>
        <p:txBody>
          <a:bodyPr wrap="square" anchor="t" lIns="0" rIns="0" tIns="0" bIns="0">
            <a:spAutoFit/>
          </a:bodyPr>
          <a:lstStyle/>
          <a:p>
            <a:pPr algn="l">
              <a:lnSpc>
                <a:spcPct val="106000"/>
              </a:lnSpc>
              <a:spcBef>
                <a:spcPts val="0"/>
              </a:spcBef>
              <a:spcAft>
                <a:spcPts val="0"/>
              </a:spcAft>
            </a:pPr>
            <a:r>
              <a:rPr sz="3800" b="1" i="0">
                <a:solidFill>
                  <a:srgbClr val="FFFFFF"/>
                </a:solidFill>
                <a:latin typeface="Segoe UI Semibold"/>
              </a:rPr>
              <a:t>Who a rule reaches</a:t>
            </a:r>
          </a:p>
        </p:txBody>
      </p:sp>
      <p:sp>
        <p:nvSpPr>
          <p:cNvPr id="6" name="TextBox 5"/>
          <p:cNvSpPr txBox="1"/>
          <p:nvPr/>
        </p:nvSpPr>
        <p:spPr>
          <a:xfrm>
            <a:off x="841248" y="3639312"/>
            <a:ext cx="7680960" cy="731520"/>
          </a:xfrm>
          <a:prstGeom prst="rect">
            <a:avLst/>
          </a:prstGeom>
          <a:noFill/>
        </p:spPr>
        <p:txBody>
          <a:bodyPr wrap="square" anchor="t" lIns="0" rIns="0" tIns="0" bIns="0">
            <a:spAutoFit/>
          </a:bodyPr>
          <a:lstStyle/>
          <a:p>
            <a:pPr algn="l">
              <a:lnSpc>
                <a:spcPct val="140000"/>
              </a:lnSpc>
              <a:spcBef>
                <a:spcPts val="0"/>
              </a:spcBef>
              <a:spcAft>
                <a:spcPts val="0"/>
              </a:spcAft>
            </a:pPr>
            <a:r>
              <a:rPr sz="1450" b="0" i="0">
                <a:solidFill>
                  <a:srgbClr val="C5B8DC"/>
                </a:solidFill>
                <a:latin typeface="Segoe UI"/>
              </a:rPr>
              <a:t>Employee group was written on several screens. It is now written once, in one vocabulary, and payroll acts on it.</a:t>
            </a:r>
          </a:p>
        </p:txBody>
      </p:sp>
      <p:sp>
        <p:nvSpPr>
          <p:cNvPr id="7" name="TextBox 6"/>
          <p:cNvSpPr txBox="1"/>
          <p:nvPr/>
        </p:nvSpPr>
        <p:spPr>
          <a:xfrm>
            <a:off x="84124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One vocabulary</a:t>
            </a:r>
          </a:p>
        </p:txBody>
      </p:sp>
      <p:sp>
        <p:nvSpPr>
          <p:cNvPr id="8" name="Rectangle 7"/>
          <p:cNvSpPr/>
          <p:nvPr/>
        </p:nvSpPr>
        <p:spPr>
          <a:xfrm>
            <a:off x="84124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349300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Three questions</a:t>
            </a:r>
          </a:p>
        </p:txBody>
      </p:sp>
      <p:sp>
        <p:nvSpPr>
          <p:cNvPr id="10" name="Rectangle 9"/>
          <p:cNvSpPr/>
          <p:nvPr/>
        </p:nvSpPr>
        <p:spPr>
          <a:xfrm>
            <a:off x="349300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144768" y="4828032"/>
            <a:ext cx="2395728" cy="1097280"/>
          </a:xfrm>
          <a:prstGeom prst="rect">
            <a:avLst/>
          </a:prstGeom>
          <a:noFill/>
        </p:spPr>
        <p:txBody>
          <a:bodyPr wrap="square" anchor="t" lIns="0" rIns="0" tIns="0" bIns="0">
            <a:spAutoFit/>
          </a:bodyPr>
          <a:lstStyle/>
          <a:p>
            <a:pPr algn="l">
              <a:lnSpc>
                <a:spcPct val="130000"/>
              </a:lnSpc>
              <a:spcBef>
                <a:spcPts val="0"/>
              </a:spcBef>
              <a:spcAft>
                <a:spcPts val="0"/>
              </a:spcAft>
            </a:pPr>
            <a:r>
              <a:rPr sz="1150" b="1" i="0">
                <a:solidFill>
                  <a:srgbClr val="FFFFFF"/>
                </a:solidFill>
                <a:latin typeface="Segoe UI Semibold"/>
              </a:rPr>
              <a:t>Enforced, and reported</a:t>
            </a:r>
          </a:p>
        </p:txBody>
      </p:sp>
      <p:sp>
        <p:nvSpPr>
          <p:cNvPr id="12" name="Rectangle 11"/>
          <p:cNvSpPr/>
          <p:nvPr/>
        </p:nvSpPr>
        <p:spPr>
          <a:xfrm>
            <a:off x="6144768" y="4645152"/>
            <a:ext cx="2139696" cy="32004"/>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SCOPE</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Saying who a rule covers, once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Employee group appeared on more than one screen, in more than one vocabulary. Consolidating it means a group means the same thing everywhere, and the place it is written is the place that decides.</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employee groups come from the same list HRM, the policy engines and payroll all read.</a:t>
            </a:r>
          </a:p>
        </p:txBody>
      </p:sp>
      <p:sp>
        <p:nvSpPr>
          <p:cNvPr id="8" name="Rounded Rectangle 7"/>
          <p:cNvSpPr/>
          <p:nvPr/>
        </p:nvSpPr>
        <p:spPr>
          <a:xfrm>
            <a:off x="566928"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5400903" cy="4572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Rounded Rectangle 9"/>
          <p:cNvSpPr/>
          <p:nvPr/>
        </p:nvSpPr>
        <p:spPr>
          <a:xfrm>
            <a:off x="804672" y="2121408"/>
            <a:ext cx="3163824" cy="256032"/>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54248F"/>
                </a:solidFill>
                <a:latin typeface="Segoe UI Semibold"/>
              </a:rPr>
              <a:t>HOW SCOPE WAS DESCRIBED</a:t>
            </a:r>
          </a:p>
        </p:txBody>
      </p:sp>
      <p:sp>
        <p:nvSpPr>
          <p:cNvPr id="11" name="TextBox 10"/>
          <p:cNvSpPr txBox="1"/>
          <p:nvPr/>
        </p:nvSpPr>
        <p:spPr>
          <a:xfrm>
            <a:off x="804672"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Group appeared on several screens</a:t>
            </a:r>
          </a:p>
        </p:txBody>
      </p:sp>
      <p:sp>
        <p:nvSpPr>
          <p:cNvPr id="12" name="TextBox 11"/>
          <p:cNvSpPr txBox="1"/>
          <p:nvPr/>
        </p:nvSpPr>
        <p:spPr>
          <a:xfrm>
            <a:off x="804672"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configurations, the assignments and the policy engines each carried their own way of describing an employee group.</a:t>
            </a:r>
          </a:p>
        </p:txBody>
      </p:sp>
      <p:sp>
        <p:nvSpPr>
          <p:cNvPr id="13" name="TextBox 12"/>
          <p:cNvSpPr txBox="1"/>
          <p:nvPr/>
        </p:nvSpPr>
        <p:spPr>
          <a:xfrm>
            <a:off x="804672"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Only some of them decided anything</a:t>
            </a:r>
          </a:p>
        </p:txBody>
      </p:sp>
      <p:sp>
        <p:nvSpPr>
          <p:cNvPr id="14" name="TextBox 13"/>
          <p:cNvSpPr txBox="1"/>
          <p:nvPr/>
        </p:nvSpPr>
        <p:spPr>
          <a:xfrm>
            <a:off x="804672"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The transaction, the registers and the policy engines were read by payroll. The configuration and assignment fields were recorded but never consulted.</a:t>
            </a:r>
          </a:p>
        </p:txBody>
      </p:sp>
      <p:sp>
        <p:nvSpPr>
          <p:cNvPr id="15" name="TextBox 14"/>
          <p:cNvSpPr txBox="1"/>
          <p:nvPr/>
        </p:nvSpPr>
        <p:spPr>
          <a:xfrm>
            <a:off x="804672"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Two records could disagree</a:t>
            </a:r>
          </a:p>
        </p:txBody>
      </p:sp>
      <p:sp>
        <p:nvSpPr>
          <p:cNvPr id="16" name="TextBox 15"/>
          <p:cNvSpPr txBox="1"/>
          <p:nvPr/>
        </p:nvSpPr>
        <p:spPr>
          <a:xfrm>
            <a:off x="804672"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Nothing stopped a configuration saying one thing and the register another, with only one of them affecting the payroll.</a:t>
            </a:r>
          </a:p>
        </p:txBody>
      </p:sp>
      <p:sp>
        <p:nvSpPr>
          <p:cNvPr id="17" name="Rounded Rectangle 16"/>
          <p:cNvSpPr/>
          <p:nvPr/>
        </p:nvSpPr>
        <p:spPr>
          <a:xfrm>
            <a:off x="6223863" y="1883664"/>
            <a:ext cx="5400903" cy="4297680"/>
          </a:xfrm>
          <a:prstGeom prst="roundRect">
            <a:avLst>
              <a:gd name="adj" fmla="val 4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Rectangle 17"/>
          <p:cNvSpPr/>
          <p:nvPr/>
        </p:nvSpPr>
        <p:spPr>
          <a:xfrm>
            <a:off x="6223863" y="1883664"/>
            <a:ext cx="5400903" cy="45720"/>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ounded Rectangle 18"/>
          <p:cNvSpPr/>
          <p:nvPr/>
        </p:nvSpPr>
        <p:spPr>
          <a:xfrm>
            <a:off x="6461607" y="2121408"/>
            <a:ext cx="3163824" cy="256032"/>
          </a:xfrm>
          <a:prstGeom prst="roundRect">
            <a:avLst>
              <a:gd name="adj" fmla="val 50000"/>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0" bIns="0"/>
          <a:lstStyle/>
          <a:p>
            <a:pPr algn="ctr"/>
            <a:r>
              <a:rPr sz="1000" b="1">
                <a:solidFill>
                  <a:srgbClr val="0F766E"/>
                </a:solidFill>
                <a:latin typeface="Segoe UI Semibold"/>
              </a:rPr>
              <a:t>HOW IT IS DESCRIBED NOW</a:t>
            </a:r>
          </a:p>
        </p:txBody>
      </p:sp>
      <p:sp>
        <p:nvSpPr>
          <p:cNvPr id="20" name="TextBox 19"/>
          <p:cNvSpPr txBox="1"/>
          <p:nvPr/>
        </p:nvSpPr>
        <p:spPr>
          <a:xfrm>
            <a:off x="6461607" y="2578608"/>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One vocabulary</a:t>
            </a:r>
          </a:p>
        </p:txBody>
      </p:sp>
      <p:sp>
        <p:nvSpPr>
          <p:cNvPr id="21" name="TextBox 20"/>
          <p:cNvSpPr txBox="1"/>
          <p:nvPr/>
        </p:nvSpPr>
        <p:spPr>
          <a:xfrm>
            <a:off x="6461607" y="2834640"/>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Everybody, an employee group, a department, or named individuals — the same four choices, reading from the same employee groups, everywhere.</a:t>
            </a:r>
          </a:p>
        </p:txBody>
      </p:sp>
      <p:sp>
        <p:nvSpPr>
          <p:cNvPr id="22" name="TextBox 21"/>
          <p:cNvSpPr txBox="1"/>
          <p:nvPr/>
        </p:nvSpPr>
        <p:spPr>
          <a:xfrm>
            <a:off x="6461607" y="3742944"/>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Three places, three questions</a:t>
            </a:r>
          </a:p>
        </p:txBody>
      </p:sp>
      <p:sp>
        <p:nvSpPr>
          <p:cNvPr id="23" name="TextBox 22"/>
          <p:cNvSpPr txBox="1"/>
          <p:nvPr/>
        </p:nvSpPr>
        <p:spPr>
          <a:xfrm>
            <a:off x="6461607" y="3998976"/>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Who is in the run, who carries the item, and who the rule can reach. Each question is answered in exactly one place.</a:t>
            </a:r>
          </a:p>
        </p:txBody>
      </p:sp>
      <p:sp>
        <p:nvSpPr>
          <p:cNvPr id="24" name="TextBox 23"/>
          <p:cNvSpPr txBox="1"/>
          <p:nvPr/>
        </p:nvSpPr>
        <p:spPr>
          <a:xfrm>
            <a:off x="6461607" y="4907280"/>
            <a:ext cx="4925415" cy="274320"/>
          </a:xfrm>
          <a:prstGeom prst="rect">
            <a:avLst/>
          </a:prstGeom>
          <a:noFill/>
        </p:spPr>
        <p:txBody>
          <a:bodyPr wrap="square" anchor="t" lIns="0" rIns="0" tIns="0" bIns="0">
            <a:spAutoFit/>
          </a:bodyPr>
          <a:lstStyle/>
          <a:p>
            <a:pPr algn="l">
              <a:lnSpc>
                <a:spcPct val="115000"/>
              </a:lnSpc>
              <a:spcBef>
                <a:spcPts val="0"/>
              </a:spcBef>
              <a:spcAft>
                <a:spcPts val="0"/>
              </a:spcAft>
            </a:pPr>
            <a:r>
              <a:rPr sz="1240" b="1" i="0">
                <a:solidFill>
                  <a:srgbClr val="241243"/>
                </a:solidFill>
                <a:latin typeface="Segoe UI Semibold"/>
              </a:rPr>
              <a:t>Stated scope is applied scope</a:t>
            </a:r>
          </a:p>
        </p:txBody>
      </p:sp>
      <p:sp>
        <p:nvSpPr>
          <p:cNvPr id="25" name="TextBox 24"/>
          <p:cNvSpPr txBox="1"/>
          <p:nvPr/>
        </p:nvSpPr>
        <p:spPr>
          <a:xfrm>
            <a:off x="6461607" y="5163312"/>
            <a:ext cx="4925415" cy="835152"/>
          </a:xfrm>
          <a:prstGeom prst="rect">
            <a:avLst/>
          </a:prstGeom>
          <a:noFill/>
        </p:spPr>
        <p:txBody>
          <a:bodyPr wrap="square" anchor="t" lIns="0" rIns="0" tIns="0" bIns="0">
            <a:spAutoFit/>
          </a:bodyPr>
          <a:lstStyle/>
          <a:p>
            <a:pPr algn="l">
              <a:lnSpc>
                <a:spcPct val="130000"/>
              </a:lnSpc>
              <a:spcBef>
                <a:spcPts val="0"/>
              </a:spcBef>
              <a:spcAft>
                <a:spcPts val="0"/>
              </a:spcAft>
            </a:pPr>
            <a:r>
              <a:rPr sz="1060" b="0" i="0">
                <a:solidFill>
                  <a:srgbClr val="6B6675"/>
                </a:solidFill>
                <a:latin typeface="Segoe UI"/>
              </a:rPr>
              <a:t>What the configuration says is what payroll does, and where a rule is withheld the transaction records which employee and why.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APPLICABILITY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One way of saying who a rule covers</a:t>
            </a:r>
          </a:p>
        </p:txBody>
      </p:sp>
      <p:sp>
        <p:nvSpPr>
          <p:cNvPr id="6" name="Rounded Rectangle 5"/>
          <p:cNvSpPr/>
          <p:nvPr/>
        </p:nvSpPr>
        <p:spPr>
          <a:xfrm>
            <a:off x="566928" y="1316736"/>
            <a:ext cx="6590587"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Core › Company Configuration › Services Information › Payroll › Deductions › Edit › Deduction Details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same four choices the policy engines already use — everybody, an employee group, a department, or named individuals — now sit on the payroll configurations too, and payroll honours them.</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Seven of the sandbox company's employees fall in this group.</a:t>
            </a:r>
          </a:p>
        </p:txBody>
      </p:sp>
      <p:pic>
        <p:nvPicPr>
          <p:cNvPr id="9" name="Picture 8" descr="fg-bind-scope.png"/>
          <p:cNvPicPr>
            <a:picLocks noChangeAspect="1"/>
          </p:cNvPicPr>
          <p:nvPr/>
        </p:nvPicPr>
        <p:blipFill>
          <a:blip r:embed="rId2"/>
          <a:stretch>
            <a:fillRect/>
          </a:stretch>
        </p:blipFill>
        <p:spPr>
          <a:xfrm>
            <a:off x="991382" y="2304288"/>
            <a:ext cx="10208931" cy="2395728"/>
          </a:xfrm>
          <a:prstGeom prst="rect">
            <a:avLst/>
          </a:prstGeom>
        </p:spPr>
      </p:pic>
      <p:sp>
        <p:nvSpPr>
          <p:cNvPr id="10" name="Rounded Rectangle 9"/>
          <p:cNvSpPr/>
          <p:nvPr/>
        </p:nvSpPr>
        <p:spPr>
          <a:xfrm>
            <a:off x="566928"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How to describe the group</a:t>
            </a:r>
          </a:p>
        </p:txBody>
      </p:sp>
      <p:sp>
        <p:nvSpPr>
          <p:cNvPr id="13" name="TextBox 12"/>
          <p:cNvSpPr txBox="1"/>
          <p:nvPr/>
        </p:nvSpPr>
        <p:spPr>
          <a:xfrm>
            <a:off x="768096"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Everybody, an employee group, a department, or a list of named people. Choose the smallest description that genuinely shares the rule.</a:t>
            </a:r>
          </a:p>
        </p:txBody>
      </p:sp>
      <p:sp>
        <p:nvSpPr>
          <p:cNvPr id="14" name="Rounded Rectangle 13"/>
          <p:cNvSpPr/>
          <p:nvPr/>
        </p:nvSpPr>
        <p:spPr>
          <a:xfrm>
            <a:off x="3365677"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3566845"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3941749"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Which one</a:t>
            </a:r>
          </a:p>
        </p:txBody>
      </p:sp>
      <p:sp>
        <p:nvSpPr>
          <p:cNvPr id="17" name="TextBox 16"/>
          <p:cNvSpPr txBox="1"/>
          <p:nvPr/>
        </p:nvSpPr>
        <p:spPr>
          <a:xfrm>
            <a:off x="3566845"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employee groups come from the same list HRM and the policy engines read, so a group means the same thing everywhere.</a:t>
            </a:r>
          </a:p>
        </p:txBody>
      </p:sp>
      <p:sp>
        <p:nvSpPr>
          <p:cNvPr id="18" name="Rounded Rectangle 17"/>
          <p:cNvSpPr/>
          <p:nvPr/>
        </p:nvSpPr>
        <p:spPr>
          <a:xfrm>
            <a:off x="6164426"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Oval 18"/>
          <p:cNvSpPr/>
          <p:nvPr/>
        </p:nvSpPr>
        <p:spPr>
          <a:xfrm>
            <a:off x="6365594"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3</a:t>
            </a:r>
          </a:p>
        </p:txBody>
      </p:sp>
      <p:sp>
        <p:nvSpPr>
          <p:cNvPr id="20" name="TextBox 19"/>
          <p:cNvSpPr txBox="1"/>
          <p:nvPr/>
        </p:nvSpPr>
        <p:spPr>
          <a:xfrm>
            <a:off x="6740498"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How many that reaches</a:t>
            </a:r>
          </a:p>
        </p:txBody>
      </p:sp>
      <p:sp>
        <p:nvSpPr>
          <p:cNvPr id="21" name="TextBox 20"/>
          <p:cNvSpPr txBox="1"/>
          <p:nvPr/>
        </p:nvSpPr>
        <p:spPr>
          <a:xfrm>
            <a:off x="6365594"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The count updates as you choose, so the scope can be checked against the roster before it is saved rather than after a payroll runs.</a:t>
            </a:r>
          </a:p>
        </p:txBody>
      </p:sp>
      <p:sp>
        <p:nvSpPr>
          <p:cNvPr id="22" name="Rounded Rectangle 21"/>
          <p:cNvSpPr/>
          <p:nvPr/>
        </p:nvSpPr>
        <p:spPr>
          <a:xfrm>
            <a:off x="8963175" y="4956048"/>
            <a:ext cx="2661589" cy="1243584"/>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Oval 22"/>
          <p:cNvSpPr/>
          <p:nvPr/>
        </p:nvSpPr>
        <p:spPr>
          <a:xfrm>
            <a:off x="9164343" y="5093208"/>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4</a:t>
            </a:r>
          </a:p>
        </p:txBody>
      </p:sp>
      <p:sp>
        <p:nvSpPr>
          <p:cNvPr id="24" name="TextBox 23"/>
          <p:cNvSpPr txBox="1"/>
          <p:nvPr/>
        </p:nvSpPr>
        <p:spPr>
          <a:xfrm>
            <a:off x="9539247" y="5102352"/>
            <a:ext cx="188434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What it will do</a:t>
            </a:r>
          </a:p>
        </p:txBody>
      </p:sp>
      <p:sp>
        <p:nvSpPr>
          <p:cNvPr id="25" name="TextBox 24"/>
          <p:cNvSpPr txBox="1"/>
          <p:nvPr/>
        </p:nvSpPr>
        <p:spPr>
          <a:xfrm>
            <a:off x="9164343" y="5358384"/>
            <a:ext cx="2259253" cy="740664"/>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States the consequence in a sentence: payroll applies this configuration only to the employees it covers.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ONE PLACE PER QUESTION</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Where scope is decided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Three questions, each answered in exactly one place, so there is no second record to reconcile.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Employee groups are shared with HRM and the policy engines rather than redefined for payroll.</a:t>
            </a:r>
          </a:p>
        </p:txBody>
      </p:sp>
      <p:sp>
        <p:nvSpPr>
          <p:cNvPr id="8" name="Rounded Rectangle 7"/>
          <p:cNvSpPr/>
          <p:nvPr/>
        </p:nvSpPr>
        <p:spPr>
          <a:xfrm>
            <a:off x="56692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1</a:t>
            </a:r>
          </a:p>
        </p:txBody>
      </p:sp>
      <p:sp>
        <p:nvSpPr>
          <p:cNvPr id="11" name="TextBox 10"/>
          <p:cNvSpPr txBox="1"/>
          <p:nvPr/>
        </p:nvSpPr>
        <p:spPr>
          <a:xfrm>
            <a:off x="113385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The transaction decides who is in the run</a:t>
            </a:r>
          </a:p>
        </p:txBody>
      </p:sp>
      <p:sp>
        <p:nvSpPr>
          <p:cNvPr id="12" name="TextBox 11"/>
          <p:cNvSpPr txBox="1"/>
          <p:nvPr/>
        </p:nvSpPr>
        <p:spPr>
          <a:xfrm>
            <a:off x="82296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Payment mode, employment status and the included list settle which employees the payroll covers at all.</a:t>
            </a:r>
          </a:p>
        </p:txBody>
      </p:sp>
      <p:sp>
        <p:nvSpPr>
          <p:cNvPr id="13" name="Rounded Rectangle 12"/>
          <p:cNvSpPr/>
          <p:nvPr/>
        </p:nvSpPr>
        <p:spPr>
          <a:xfrm>
            <a:off x="430773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2</a:t>
            </a:r>
          </a:p>
        </p:txBody>
      </p:sp>
      <p:sp>
        <p:nvSpPr>
          <p:cNvPr id="16" name="TextBox 15"/>
          <p:cNvSpPr txBox="1"/>
          <p:nvPr/>
        </p:nvSpPr>
        <p:spPr>
          <a:xfrm>
            <a:off x="487466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The register decides who carries an item</a:t>
            </a:r>
          </a:p>
        </p:txBody>
      </p:sp>
      <p:sp>
        <p:nvSpPr>
          <p:cNvPr id="17" name="TextBox 16"/>
          <p:cNvSpPr txBox="1"/>
          <p:nvPr/>
        </p:nvSpPr>
        <p:spPr>
          <a:xfrm>
            <a:off x="456377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An earning or deduction is assigned to a named employee for a period, with its own amount and balance.</a:t>
            </a:r>
          </a:p>
        </p:txBody>
      </p:sp>
      <p:sp>
        <p:nvSpPr>
          <p:cNvPr id="18" name="Rounded Rectangle 17"/>
          <p:cNvSpPr/>
          <p:nvPr/>
        </p:nvSpPr>
        <p:spPr>
          <a:xfrm>
            <a:off x="8048548" y="2194560"/>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2194560"/>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377440"/>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3</a:t>
            </a:r>
          </a:p>
        </p:txBody>
      </p:sp>
      <p:sp>
        <p:nvSpPr>
          <p:cNvPr id="21" name="TextBox 20"/>
          <p:cNvSpPr txBox="1"/>
          <p:nvPr/>
        </p:nvSpPr>
        <p:spPr>
          <a:xfrm>
            <a:off x="8615476" y="2432304"/>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The configuration decides who it can reach</a:t>
            </a:r>
          </a:p>
        </p:txBody>
      </p:sp>
      <p:sp>
        <p:nvSpPr>
          <p:cNvPr id="22" name="TextBox 21"/>
          <p:cNvSpPr txBox="1"/>
          <p:nvPr/>
        </p:nvSpPr>
        <p:spPr>
          <a:xfrm>
            <a:off x="8304580" y="2907792"/>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Applicability narrows a rule to a group, a department or named people. Payroll applies it inside that scope and withholds it outside.</a:t>
            </a:r>
          </a:p>
        </p:txBody>
      </p:sp>
      <p:sp>
        <p:nvSpPr>
          <p:cNvPr id="23" name="Rounded Rectangle 22"/>
          <p:cNvSpPr/>
          <p:nvPr/>
        </p:nvSpPr>
        <p:spPr>
          <a:xfrm>
            <a:off x="56692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4</a:t>
            </a:r>
          </a:p>
        </p:txBody>
      </p:sp>
      <p:sp>
        <p:nvSpPr>
          <p:cNvPr id="26" name="TextBox 25"/>
          <p:cNvSpPr txBox="1"/>
          <p:nvPr/>
        </p:nvSpPr>
        <p:spPr>
          <a:xfrm>
            <a:off x="113385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 one-off answers to none of them</a:t>
            </a:r>
          </a:p>
        </p:txBody>
      </p:sp>
      <p:sp>
        <p:nvSpPr>
          <p:cNvPr id="27" name="TextBox 26"/>
          <p:cNvSpPr txBox="1"/>
          <p:nvPr/>
        </p:nvSpPr>
        <p:spPr>
          <a:xfrm>
            <a:off x="82296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An amount encoded directly on a transaction, or a loan already on schedule, is an instruction rather than a rule. It is never withheld.</a:t>
            </a:r>
          </a:p>
        </p:txBody>
      </p:sp>
      <p:sp>
        <p:nvSpPr>
          <p:cNvPr id="28" name="Rounded Rectangle 27"/>
          <p:cNvSpPr/>
          <p:nvPr/>
        </p:nvSpPr>
        <p:spPr>
          <a:xfrm>
            <a:off x="430773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5</a:t>
            </a:r>
          </a:p>
        </p:txBody>
      </p:sp>
      <p:sp>
        <p:nvSpPr>
          <p:cNvPr id="31" name="TextBox 30"/>
          <p:cNvSpPr txBox="1"/>
          <p:nvPr/>
        </p:nvSpPr>
        <p:spPr>
          <a:xfrm>
            <a:off x="487466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The groups come from one list</a:t>
            </a:r>
          </a:p>
        </p:txBody>
      </p:sp>
      <p:sp>
        <p:nvSpPr>
          <p:cNvPr id="32" name="TextBox 31"/>
          <p:cNvSpPr txBox="1"/>
          <p:nvPr/>
        </p:nvSpPr>
        <p:spPr>
          <a:xfrm>
            <a:off x="456377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Employee groups are read from the same place HRM, the policy engines and payroll all read, so a group means the same thing in each of them.</a:t>
            </a:r>
          </a:p>
        </p:txBody>
      </p:sp>
      <p:sp>
        <p:nvSpPr>
          <p:cNvPr id="33" name="Rounded Rectangle 32"/>
          <p:cNvSpPr/>
          <p:nvPr/>
        </p:nvSpPr>
        <p:spPr>
          <a:xfrm>
            <a:off x="8048548" y="3797046"/>
            <a:ext cx="3576218" cy="1437894"/>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797046"/>
            <a:ext cx="3576218" cy="41148"/>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979926"/>
            <a:ext cx="310896" cy="310896"/>
          </a:xfrm>
          <a:prstGeom prst="ellipse">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54248F"/>
                </a:solidFill>
                <a:latin typeface="Segoe UI Semibold"/>
              </a:rPr>
              <a:t>6</a:t>
            </a:r>
          </a:p>
        </p:txBody>
      </p:sp>
      <p:sp>
        <p:nvSpPr>
          <p:cNvPr id="36" name="TextBox 35"/>
          <p:cNvSpPr txBox="1"/>
          <p:nvPr/>
        </p:nvSpPr>
        <p:spPr>
          <a:xfrm>
            <a:off x="8615476" y="4034790"/>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Existing records start unrestricted</a:t>
            </a:r>
          </a:p>
        </p:txBody>
      </p:sp>
      <p:sp>
        <p:nvSpPr>
          <p:cNvPr id="37" name="TextBox 36"/>
          <p:cNvSpPr txBox="1"/>
          <p:nvPr/>
        </p:nvSpPr>
        <p:spPr>
          <a:xfrm>
            <a:off x="8304580" y="4510278"/>
            <a:ext cx="3100730" cy="651510"/>
          </a:xfrm>
          <a:prstGeom prst="rect">
            <a:avLst/>
          </a:prstGeom>
          <a:noFill/>
        </p:spPr>
        <p:txBody>
          <a:bodyPr wrap="square" anchor="t" lIns="0" rIns="0" tIns="0" bIns="0">
            <a:spAutoFit/>
          </a:bodyPr>
          <a:lstStyle/>
          <a:p>
            <a:pPr algn="l">
              <a:lnSpc>
                <a:spcPct val="130000"/>
              </a:lnSpc>
              <a:spcBef>
                <a:spcPts val="0"/>
              </a:spcBef>
              <a:spcAft>
                <a:spcPts val="0"/>
              </a:spcAft>
            </a:pPr>
            <a:r>
              <a:rPr sz="1019" b="0" i="0">
                <a:solidFill>
                  <a:srgbClr val="6B6675"/>
                </a:solidFill>
                <a:latin typeface="Segoe UI"/>
              </a:rPr>
              <a:t>Configurations carried over from before cover every employee, so nothing stopped being paid on the day this arrived. Narrowing is a deliberate act.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APPLICABILITY, ENFORCED</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An employee outside the group is told about, not skipped</a:t>
            </a:r>
          </a:p>
        </p:txBody>
      </p:sp>
      <p:sp>
        <p:nvSpPr>
          <p:cNvPr id="6" name="Rounded Rectangle 5"/>
          <p:cNvSpPr/>
          <p:nvPr/>
        </p:nvSpPr>
        <p:spPr>
          <a:xfrm>
            <a:off x="566928" y="1316736"/>
            <a:ext cx="3710515" cy="310896"/>
          </a:xfrm>
          <a:prstGeom prst="roundRect">
            <a:avLst>
              <a:gd name="adj" fmla="val 50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201168" rIns="201168" tIns="0" bIns="0"/>
          <a:lstStyle/>
          <a:p>
            <a:pPr algn="l"/>
            <a:r>
              <a:rPr sz="1040" b="1">
                <a:solidFill>
                  <a:srgbClr val="54248F"/>
                </a:solidFill>
                <a:latin typeface="Segoe UI Semibold"/>
              </a:rPr>
              <a:t>Payroll › Payroll Processing › Transaction › Exceptions</a:t>
            </a:r>
          </a:p>
        </p:txBody>
      </p:sp>
      <p:sp>
        <p:nvSpPr>
          <p:cNvPr id="7" name="TextBox 6"/>
          <p:cNvSpPr txBox="1"/>
          <p:nvPr/>
        </p:nvSpPr>
        <p:spPr>
          <a:xfrm>
            <a:off x="566928" y="17556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 same configuration, the same payroll run, a different employee. Because he is not in the group it covers, the deduction did not apply — and the run says so rather than leaving a silent gap.</a:t>
            </a:r>
          </a:p>
        </p:txBody>
      </p:sp>
      <p:sp>
        <p:nvSpPr>
          <p:cNvPr id="8" name="TextBox 7"/>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Info, not an error: nothing went wrong, and the run completed.</a:t>
            </a:r>
          </a:p>
        </p:txBody>
      </p:sp>
      <p:pic>
        <p:nvPicPr>
          <p:cNvPr id="9" name="Picture 8" descr="fg-scope-withheld.png"/>
          <p:cNvPicPr>
            <a:picLocks noChangeAspect="1"/>
          </p:cNvPicPr>
          <p:nvPr/>
        </p:nvPicPr>
        <p:blipFill>
          <a:blip r:embed="rId2"/>
          <a:stretch>
            <a:fillRect/>
          </a:stretch>
        </p:blipFill>
        <p:spPr>
          <a:xfrm>
            <a:off x="566929" y="2926265"/>
            <a:ext cx="11057837" cy="1206637"/>
          </a:xfrm>
          <a:prstGeom prst="rect">
            <a:avLst/>
          </a:prstGeom>
        </p:spPr>
      </p:pic>
      <p:sp>
        <p:nvSpPr>
          <p:cNvPr id="10" name="Rounded Rectangle 9"/>
          <p:cNvSpPr/>
          <p:nvPr/>
        </p:nvSpPr>
        <p:spPr>
          <a:xfrm>
            <a:off x="566928" y="4388934"/>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Oval 10"/>
          <p:cNvSpPr/>
          <p:nvPr/>
        </p:nvSpPr>
        <p:spPr>
          <a:xfrm>
            <a:off x="768096" y="452609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1</a:t>
            </a:r>
          </a:p>
        </p:txBody>
      </p:sp>
      <p:sp>
        <p:nvSpPr>
          <p:cNvPr id="12" name="TextBox 11"/>
          <p:cNvSpPr txBox="1"/>
          <p:nvPr/>
        </p:nvSpPr>
        <p:spPr>
          <a:xfrm>
            <a:off x="1143000" y="4535238"/>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Who it concerns</a:t>
            </a:r>
          </a:p>
        </p:txBody>
      </p:sp>
      <p:sp>
        <p:nvSpPr>
          <p:cNvPr id="13" name="TextBox 12"/>
          <p:cNvSpPr txBox="1"/>
          <p:nvPr/>
        </p:nvSpPr>
        <p:spPr>
          <a:xfrm>
            <a:off x="768096" y="4791270"/>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Named on the transaction's own exception register, beside everything else the run wants a human to look at.</a:t>
            </a:r>
          </a:p>
        </p:txBody>
      </p:sp>
      <p:sp>
        <p:nvSpPr>
          <p:cNvPr id="14" name="Rounded Rectangle 13"/>
          <p:cNvSpPr/>
          <p:nvPr/>
        </p:nvSpPr>
        <p:spPr>
          <a:xfrm>
            <a:off x="6164427" y="4388934"/>
            <a:ext cx="5460339" cy="1188720"/>
          </a:xfrm>
          <a:prstGeom prst="roundRect">
            <a:avLst>
              <a:gd name="adj" fmla="val 6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6365595" y="4526094"/>
            <a:ext cx="274320" cy="274320"/>
          </a:xfrm>
          <a:prstGeom prst="ellipse">
            <a:avLst/>
          </a:prstGeom>
          <a:solidFill>
            <a:srgbClr val="E4572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FFFFFF"/>
                </a:solidFill>
                <a:latin typeface="Segoe UI Semibold"/>
              </a:rPr>
              <a:t>2</a:t>
            </a:r>
          </a:p>
        </p:txBody>
      </p:sp>
      <p:sp>
        <p:nvSpPr>
          <p:cNvPr id="16" name="TextBox 15"/>
          <p:cNvSpPr txBox="1"/>
          <p:nvPr/>
        </p:nvSpPr>
        <p:spPr>
          <a:xfrm>
            <a:off x="6740499" y="4535238"/>
            <a:ext cx="4683099" cy="402336"/>
          </a:xfrm>
          <a:prstGeom prst="rect">
            <a:avLst/>
          </a:prstGeom>
          <a:noFill/>
        </p:spPr>
        <p:txBody>
          <a:bodyPr wrap="square" anchor="t" lIns="0" rIns="0" tIns="0" bIns="0">
            <a:spAutoFit/>
          </a:bodyPr>
          <a:lstStyle/>
          <a:p>
            <a:pPr algn="l">
              <a:lnSpc>
                <a:spcPct val="115000"/>
              </a:lnSpc>
              <a:spcBef>
                <a:spcPts val="0"/>
              </a:spcBef>
              <a:spcAft>
                <a:spcPts val="0"/>
              </a:spcAft>
            </a:pPr>
            <a:r>
              <a:rPr sz="1140" b="1" i="0">
                <a:solidFill>
                  <a:srgbClr val="241243"/>
                </a:solidFill>
                <a:latin typeface="Segoe UI Semibold"/>
              </a:rPr>
              <a:t>Why it did not apply</a:t>
            </a:r>
          </a:p>
        </p:txBody>
      </p:sp>
      <p:sp>
        <p:nvSpPr>
          <p:cNvPr id="17" name="TextBox 16"/>
          <p:cNvSpPr txBox="1"/>
          <p:nvPr/>
        </p:nvSpPr>
        <p:spPr>
          <a:xfrm>
            <a:off x="6365595" y="4791270"/>
            <a:ext cx="5058003" cy="685800"/>
          </a:xfrm>
          <a:prstGeom prst="rect">
            <a:avLst/>
          </a:prstGeom>
          <a:noFill/>
        </p:spPr>
        <p:txBody>
          <a:bodyPr wrap="square" anchor="t" lIns="0" rIns="0" tIns="0" bIns="0">
            <a:spAutoFit/>
          </a:bodyPr>
          <a:lstStyle/>
          <a:p>
            <a:pPr algn="l">
              <a:lnSpc>
                <a:spcPct val="126000"/>
              </a:lnSpc>
              <a:spcBef>
                <a:spcPts val="0"/>
              </a:spcBef>
              <a:spcAft>
                <a:spcPts val="0"/>
              </a:spcAft>
            </a:pPr>
            <a:r>
              <a:rPr sz="1000" b="0" i="0">
                <a:solidFill>
                  <a:srgbClr val="6B6675"/>
                </a:solidFill>
                <a:latin typeface="Segoe UI"/>
              </a:rPr>
              <a:t>Names the configuration and the group it covers, so the omission can be confirmed as intended rather than investigated as a fault.</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FOR THE MEETING</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Decisions to agree before go-live</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These are the business decisions still open. Each one has a screen behind it in this deck.</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The build proceeded on the defaults described here so the screens could be shown; each remains a decision to confirm.</a:t>
            </a:r>
          </a:p>
        </p:txBody>
      </p:sp>
      <p:sp>
        <p:nvSpPr>
          <p:cNvPr id="8" name="Rounded Rectangle 7"/>
          <p:cNvSpPr/>
          <p:nvPr/>
        </p:nvSpPr>
        <p:spPr>
          <a:xfrm>
            <a:off x="56692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066544"/>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1</a:t>
            </a:r>
          </a:p>
        </p:txBody>
      </p:sp>
      <p:sp>
        <p:nvSpPr>
          <p:cNvPr id="11" name="TextBox 10"/>
          <p:cNvSpPr txBox="1"/>
          <p:nvPr/>
        </p:nvSpPr>
        <p:spPr>
          <a:xfrm>
            <a:off x="113385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Owner and fallback per field</a:t>
            </a:r>
          </a:p>
        </p:txBody>
      </p:sp>
      <p:sp>
        <p:nvSpPr>
          <p:cNvPr id="12" name="TextBox 11"/>
          <p:cNvSpPr txBox="1"/>
          <p:nvPr/>
        </p:nvSpPr>
        <p:spPr>
          <a:xfrm>
            <a:off x="82296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925" b="0" i="0">
                <a:solidFill>
                  <a:srgbClr val="6B6675"/>
                </a:solidFill>
                <a:latin typeface="Segoe UI"/>
              </a:rPr>
              <a:t>The map-field table now declares owner, type, unit, timing and missing-value for every approved field. Confirm those defaults against how your source modules actually behave.</a:t>
            </a:r>
          </a:p>
        </p:txBody>
      </p:sp>
      <p:sp>
        <p:nvSpPr>
          <p:cNvPr id="13" name="Rounded Rectangle 12"/>
          <p:cNvSpPr/>
          <p:nvPr/>
        </p:nvSpPr>
        <p:spPr>
          <a:xfrm>
            <a:off x="430773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1883664"/>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066544"/>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2</a:t>
            </a:r>
          </a:p>
        </p:txBody>
      </p:sp>
      <p:sp>
        <p:nvSpPr>
          <p:cNvPr id="16" name="TextBox 15"/>
          <p:cNvSpPr txBox="1"/>
          <p:nvPr/>
        </p:nvSpPr>
        <p:spPr>
          <a:xfrm>
            <a:off x="487466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50" b="1" i="0">
                <a:solidFill>
                  <a:srgbClr val="241243"/>
                </a:solidFill>
                <a:latin typeface="Segoe UI Semibold"/>
              </a:rPr>
              <a:t>Which companies get which standards</a:t>
            </a:r>
          </a:p>
        </p:txBody>
      </p:sp>
      <p:sp>
        <p:nvSpPr>
          <p:cNvPr id="17" name="TextBox 16"/>
          <p:cNvSpPr txBox="1"/>
          <p:nvPr/>
        </p:nvSpPr>
        <p:spPr>
          <a:xfrm>
            <a:off x="456377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Applicability defaults to every company. Decide whether that is right at go-live, or whether standards should be applied selectively per client.</a:t>
            </a:r>
          </a:p>
        </p:txBody>
      </p:sp>
      <p:sp>
        <p:nvSpPr>
          <p:cNvPr id="18" name="Rounded Rectangle 17"/>
          <p:cNvSpPr/>
          <p:nvPr/>
        </p:nvSpPr>
        <p:spPr>
          <a:xfrm>
            <a:off x="804854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1883664"/>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066544"/>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3</a:t>
            </a:r>
          </a:p>
        </p:txBody>
      </p:sp>
      <p:sp>
        <p:nvSpPr>
          <p:cNvPr id="21" name="TextBox 20"/>
          <p:cNvSpPr txBox="1"/>
          <p:nvPr/>
        </p:nvSpPr>
        <p:spPr>
          <a:xfrm>
            <a:off x="861547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Approval before activation</a:t>
            </a:r>
          </a:p>
        </p:txBody>
      </p:sp>
      <p:sp>
        <p:nvSpPr>
          <p:cNvPr id="22" name="TextBox 21"/>
          <p:cNvSpPr txBox="1"/>
          <p:nvPr/>
        </p:nvSpPr>
        <p:spPr>
          <a:xfrm>
            <a:off x="830458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Today a rule is validated, tested and then activated. Confirm whether that is enough, or whether Draft → For Approval → Active is required.</a:t>
            </a:r>
          </a:p>
        </p:txBody>
      </p:sp>
      <p:sp>
        <p:nvSpPr>
          <p:cNvPr id="23" name="Rounded Rectangle 22"/>
          <p:cNvSpPr/>
          <p:nvPr/>
        </p:nvSpPr>
        <p:spPr>
          <a:xfrm>
            <a:off x="56692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37108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55396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4</a:t>
            </a:r>
          </a:p>
        </p:txBody>
      </p:sp>
      <p:sp>
        <p:nvSpPr>
          <p:cNvPr id="26" name="TextBox 25"/>
          <p:cNvSpPr txBox="1"/>
          <p:nvPr/>
        </p:nvSpPr>
        <p:spPr>
          <a:xfrm>
            <a:off x="113385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50" b="1" i="0">
                <a:solidFill>
                  <a:srgbClr val="241243"/>
                </a:solidFill>
                <a:latin typeface="Segoe UI Semibold"/>
              </a:rPr>
              <a:t>Timekeeping and Computational Basis</a:t>
            </a:r>
          </a:p>
        </p:txBody>
      </p:sp>
      <p:sp>
        <p:nvSpPr>
          <p:cNvPr id="27" name="TextBox 26"/>
          <p:cNvSpPr txBox="1"/>
          <p:nvPr/>
        </p:nvSpPr>
        <p:spPr>
          <a:xfrm>
            <a:off x="82296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Timekeeping produces the quantities; Computational Basis prices them. Confirm the boundary for absences, lates, undertime and approved overtime.</a:t>
            </a:r>
          </a:p>
        </p:txBody>
      </p:sp>
      <p:sp>
        <p:nvSpPr>
          <p:cNvPr id="28" name="Rounded Rectangle 27"/>
          <p:cNvSpPr/>
          <p:nvPr/>
        </p:nvSpPr>
        <p:spPr>
          <a:xfrm>
            <a:off x="430773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37108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55396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5</a:t>
            </a:r>
          </a:p>
        </p:txBody>
      </p:sp>
      <p:sp>
        <p:nvSpPr>
          <p:cNvPr id="31" name="TextBox 30"/>
          <p:cNvSpPr txBox="1"/>
          <p:nvPr/>
        </p:nvSpPr>
        <p:spPr>
          <a:xfrm>
            <a:off x="487466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00" b="1" i="0">
                <a:solidFill>
                  <a:srgbClr val="241243"/>
                </a:solidFill>
                <a:latin typeface="Segoe UI Semibold"/>
              </a:rPr>
              <a:t>Where company Computational Basis lives</a:t>
            </a:r>
          </a:p>
        </p:txBody>
      </p:sp>
      <p:sp>
        <p:nvSpPr>
          <p:cNvPr id="32" name="TextBox 31"/>
          <p:cNvSpPr txBox="1"/>
          <p:nvPr/>
        </p:nvSpPr>
        <p:spPr>
          <a:xfrm>
            <a:off x="456377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It sits under Services Information, with the standard library in Settings. Confirm that split, or move the company view.</a:t>
            </a:r>
          </a:p>
        </p:txBody>
      </p:sp>
      <p:sp>
        <p:nvSpPr>
          <p:cNvPr id="33" name="Rounded Rectangle 32"/>
          <p:cNvSpPr/>
          <p:nvPr/>
        </p:nvSpPr>
        <p:spPr>
          <a:xfrm>
            <a:off x="804854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371088"/>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553968"/>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6</a:t>
            </a:r>
          </a:p>
        </p:txBody>
      </p:sp>
      <p:sp>
        <p:nvSpPr>
          <p:cNvPr id="36" name="TextBox 35"/>
          <p:cNvSpPr txBox="1"/>
          <p:nvPr/>
        </p:nvSpPr>
        <p:spPr>
          <a:xfrm>
            <a:off x="861547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Reference source ownership</a:t>
            </a:r>
          </a:p>
        </p:txBody>
      </p:sp>
      <p:sp>
        <p:nvSpPr>
          <p:cNvPr id="37" name="TextBox 36"/>
          <p:cNvSpPr txBox="1"/>
          <p:nvPr/>
        </p:nvSpPr>
        <p:spPr>
          <a:xfrm>
            <a:off x="830458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Statutory sources are maintained in Settings and read here. Confirm who publishes a new version of each company-owned source, and on what notice.</a:t>
            </a:r>
          </a:p>
        </p:txBody>
      </p:sp>
      <p:sp>
        <p:nvSpPr>
          <p:cNvPr id="38" name="Rounded Rectangle 37"/>
          <p:cNvSpPr/>
          <p:nvPr/>
        </p:nvSpPr>
        <p:spPr>
          <a:xfrm>
            <a:off x="56692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66928" y="4858512"/>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722376" y="5041392"/>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7</a:t>
            </a:r>
          </a:p>
        </p:txBody>
      </p:sp>
      <p:sp>
        <p:nvSpPr>
          <p:cNvPr id="41" name="TextBox 40"/>
          <p:cNvSpPr txBox="1"/>
          <p:nvPr/>
        </p:nvSpPr>
        <p:spPr>
          <a:xfrm>
            <a:off x="113385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Which payments to bind first</a:t>
            </a:r>
          </a:p>
        </p:txBody>
      </p:sp>
      <p:sp>
        <p:nvSpPr>
          <p:cNvPr id="42" name="TextBox 41"/>
          <p:cNvSpPr txBox="1"/>
          <p:nvPr/>
        </p:nvSpPr>
        <p:spPr>
          <a:xfrm>
            <a:off x="82296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925" b="0" i="0">
                <a:solidFill>
                  <a:srgbClr val="6B6675"/>
                </a:solidFill>
                <a:latin typeface="Segoe UI"/>
              </a:rPr>
              <a:t>Binding is optional and added where it earns its place. Agree which earnings and deductions should be computed from a formula at go-live, and which stay a fixed amount.</a:t>
            </a:r>
          </a:p>
        </p:txBody>
      </p:sp>
      <p:sp>
        <p:nvSpPr>
          <p:cNvPr id="43" name="Rounded Rectangle 42"/>
          <p:cNvSpPr/>
          <p:nvPr/>
        </p:nvSpPr>
        <p:spPr>
          <a:xfrm>
            <a:off x="430773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307738" y="4858512"/>
            <a:ext cx="3576218" cy="411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4463186" y="5041392"/>
            <a:ext cx="310896" cy="310896"/>
          </a:xfrm>
          <a:prstGeom prst="ellipse">
            <a:avLst/>
          </a:prstGeom>
          <a:solidFill>
            <a:srgbClr val="FDF3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B45309"/>
                </a:solidFill>
                <a:latin typeface="Segoe UI Semibold"/>
              </a:rPr>
              <a:t>8</a:t>
            </a:r>
          </a:p>
        </p:txBody>
      </p:sp>
      <p:sp>
        <p:nvSpPr>
          <p:cNvPr id="46" name="TextBox 45"/>
          <p:cNvSpPr txBox="1"/>
          <p:nvPr/>
        </p:nvSpPr>
        <p:spPr>
          <a:xfrm>
            <a:off x="487466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225" b="1" i="0">
                <a:solidFill>
                  <a:srgbClr val="241243"/>
                </a:solidFill>
                <a:latin typeface="Segoe UI Semibold"/>
              </a:rPr>
              <a:t>The scope each configuration starts on</a:t>
            </a:r>
          </a:p>
        </p:txBody>
      </p:sp>
      <p:sp>
        <p:nvSpPr>
          <p:cNvPr id="47" name="TextBox 46"/>
          <p:cNvSpPr txBox="1"/>
          <p:nvPr/>
        </p:nvSpPr>
        <p:spPr>
          <a:xfrm>
            <a:off x="456377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Existing records were carried over covering every employee, so nothing stopped being paid. Agree which of them should be narrowed, and to what.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SUMMARY</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What this walkthrough covered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Eight changes, each shown on a live screen, so the meeting starts from the same baseline.</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Screens are live captures of the ATLAS prototype. The records, codes and amounts shown are demonstration data.</a:t>
            </a:r>
          </a:p>
        </p:txBody>
      </p:sp>
      <p:sp>
        <p:nvSpPr>
          <p:cNvPr id="8" name="Rounded Rectangle 7"/>
          <p:cNvSpPr/>
          <p:nvPr/>
        </p:nvSpPr>
        <p:spPr>
          <a:xfrm>
            <a:off x="56692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566928" y="1883664"/>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Oval 9"/>
          <p:cNvSpPr/>
          <p:nvPr/>
        </p:nvSpPr>
        <p:spPr>
          <a:xfrm>
            <a:off x="722376" y="2066544"/>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1</a:t>
            </a:r>
          </a:p>
        </p:txBody>
      </p:sp>
      <p:sp>
        <p:nvSpPr>
          <p:cNvPr id="11" name="TextBox 10"/>
          <p:cNvSpPr txBox="1"/>
          <p:nvPr/>
        </p:nvSpPr>
        <p:spPr>
          <a:xfrm>
            <a:off x="113385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Payroll history is protected</a:t>
            </a:r>
          </a:p>
        </p:txBody>
      </p:sp>
      <p:sp>
        <p:nvSpPr>
          <p:cNvPr id="12" name="TextBox 11"/>
          <p:cNvSpPr txBox="1"/>
          <p:nvPr/>
        </p:nvSpPr>
        <p:spPr>
          <a:xfrm>
            <a:off x="82296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Every step records its version, and a transaction resolves the snapshot it captured rather than the current library.</a:t>
            </a:r>
          </a:p>
        </p:txBody>
      </p:sp>
      <p:sp>
        <p:nvSpPr>
          <p:cNvPr id="13" name="Rounded Rectangle 12"/>
          <p:cNvSpPr/>
          <p:nvPr/>
        </p:nvSpPr>
        <p:spPr>
          <a:xfrm>
            <a:off x="430773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Rectangle 13"/>
          <p:cNvSpPr/>
          <p:nvPr/>
        </p:nvSpPr>
        <p:spPr>
          <a:xfrm>
            <a:off x="4307738" y="1883664"/>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Oval 14"/>
          <p:cNvSpPr/>
          <p:nvPr/>
        </p:nvSpPr>
        <p:spPr>
          <a:xfrm>
            <a:off x="4463186" y="2066544"/>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2</a:t>
            </a:r>
          </a:p>
        </p:txBody>
      </p:sp>
      <p:sp>
        <p:nvSpPr>
          <p:cNvPr id="16" name="TextBox 15"/>
          <p:cNvSpPr txBox="1"/>
          <p:nvPr/>
        </p:nvSpPr>
        <p:spPr>
          <a:xfrm>
            <a:off x="487466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Protection is provable</a:t>
            </a:r>
          </a:p>
        </p:txBody>
      </p:sp>
      <p:sp>
        <p:nvSpPr>
          <p:cNvPr id="17" name="TextBox 16"/>
          <p:cNvSpPr txBox="1"/>
          <p:nvPr/>
        </p:nvSpPr>
        <p:spPr>
          <a:xfrm>
            <a:off x="456377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The register, the record view and the Settings library all name the transactions that hold a code, and refuse with a reason.</a:t>
            </a:r>
          </a:p>
        </p:txBody>
      </p:sp>
      <p:sp>
        <p:nvSpPr>
          <p:cNvPr id="18" name="Rounded Rectangle 17"/>
          <p:cNvSpPr/>
          <p:nvPr/>
        </p:nvSpPr>
        <p:spPr>
          <a:xfrm>
            <a:off x="8048548" y="1883664"/>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Rectangle 18"/>
          <p:cNvSpPr/>
          <p:nvPr/>
        </p:nvSpPr>
        <p:spPr>
          <a:xfrm>
            <a:off x="8048548" y="1883664"/>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Oval 19"/>
          <p:cNvSpPr/>
          <p:nvPr/>
        </p:nvSpPr>
        <p:spPr>
          <a:xfrm>
            <a:off x="8203996" y="2066544"/>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3</a:t>
            </a:r>
          </a:p>
        </p:txBody>
      </p:sp>
      <p:sp>
        <p:nvSpPr>
          <p:cNvPr id="21" name="TextBox 20"/>
          <p:cNvSpPr txBox="1"/>
          <p:nvPr/>
        </p:nvSpPr>
        <p:spPr>
          <a:xfrm>
            <a:off x="8615476" y="2121408"/>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One standard, many companies</a:t>
            </a:r>
          </a:p>
        </p:txBody>
      </p:sp>
      <p:sp>
        <p:nvSpPr>
          <p:cNvPr id="22" name="TextBox 21"/>
          <p:cNvSpPr txBox="1"/>
          <p:nvPr/>
        </p:nvSpPr>
        <p:spPr>
          <a:xfrm>
            <a:off x="8304580" y="2596896"/>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standard is defined once and applied per company, with each company controlling activation independently.</a:t>
            </a:r>
          </a:p>
        </p:txBody>
      </p:sp>
      <p:sp>
        <p:nvSpPr>
          <p:cNvPr id="23" name="Rounded Rectangle 22"/>
          <p:cNvSpPr/>
          <p:nvPr/>
        </p:nvSpPr>
        <p:spPr>
          <a:xfrm>
            <a:off x="56692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Rectangle 23"/>
          <p:cNvSpPr/>
          <p:nvPr/>
        </p:nvSpPr>
        <p:spPr>
          <a:xfrm>
            <a:off x="566928" y="3371088"/>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Oval 24"/>
          <p:cNvSpPr/>
          <p:nvPr/>
        </p:nvSpPr>
        <p:spPr>
          <a:xfrm>
            <a:off x="722376" y="3553968"/>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4</a:t>
            </a:r>
          </a:p>
        </p:txBody>
      </p:sp>
      <p:sp>
        <p:nvSpPr>
          <p:cNvPr id="26" name="TextBox 25"/>
          <p:cNvSpPr txBox="1"/>
          <p:nvPr/>
        </p:nvSpPr>
        <p:spPr>
          <a:xfrm>
            <a:off x="113385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Authoring is governed</a:t>
            </a:r>
          </a:p>
        </p:txBody>
      </p:sp>
      <p:sp>
        <p:nvSpPr>
          <p:cNvPr id="27" name="TextBox 26"/>
          <p:cNvSpPr txBox="1"/>
          <p:nvPr/>
        </p:nvSpPr>
        <p:spPr>
          <a:xfrm>
            <a:off x="82296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Category-driven codes, Inactive on creation, controlled categories, optional description, and map fields that declare their contract.</a:t>
            </a:r>
          </a:p>
        </p:txBody>
      </p:sp>
      <p:sp>
        <p:nvSpPr>
          <p:cNvPr id="28" name="Rounded Rectangle 27"/>
          <p:cNvSpPr/>
          <p:nvPr/>
        </p:nvSpPr>
        <p:spPr>
          <a:xfrm>
            <a:off x="430773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Rectangle 28"/>
          <p:cNvSpPr/>
          <p:nvPr/>
        </p:nvSpPr>
        <p:spPr>
          <a:xfrm>
            <a:off x="4307738" y="3371088"/>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Oval 29"/>
          <p:cNvSpPr/>
          <p:nvPr/>
        </p:nvSpPr>
        <p:spPr>
          <a:xfrm>
            <a:off x="4463186" y="3553968"/>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5</a:t>
            </a:r>
          </a:p>
        </p:txBody>
      </p:sp>
      <p:sp>
        <p:nvSpPr>
          <p:cNvPr id="31" name="TextBox 30"/>
          <p:cNvSpPr txBox="1"/>
          <p:nvPr/>
        </p:nvSpPr>
        <p:spPr>
          <a:xfrm>
            <a:off x="487466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Evidence stays with the record</a:t>
            </a:r>
          </a:p>
        </p:txBody>
      </p:sp>
      <p:sp>
        <p:nvSpPr>
          <p:cNvPr id="32" name="TextBox 31"/>
          <p:cNvSpPr txBox="1"/>
          <p:nvPr/>
        </p:nvSpPr>
        <p:spPr>
          <a:xfrm>
            <a:off x="456377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Test evidence is filed against the version it tested; change history carries before and after values.</a:t>
            </a:r>
          </a:p>
        </p:txBody>
      </p:sp>
      <p:sp>
        <p:nvSpPr>
          <p:cNvPr id="33" name="Rounded Rectangle 32"/>
          <p:cNvSpPr/>
          <p:nvPr/>
        </p:nvSpPr>
        <p:spPr>
          <a:xfrm>
            <a:off x="8048548" y="3371088"/>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Rectangle 33"/>
          <p:cNvSpPr/>
          <p:nvPr/>
        </p:nvSpPr>
        <p:spPr>
          <a:xfrm>
            <a:off x="8048548" y="3371088"/>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Oval 34"/>
          <p:cNvSpPr/>
          <p:nvPr/>
        </p:nvSpPr>
        <p:spPr>
          <a:xfrm>
            <a:off x="8203996" y="3553968"/>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6</a:t>
            </a:r>
          </a:p>
        </p:txBody>
      </p:sp>
      <p:sp>
        <p:nvSpPr>
          <p:cNvPr id="36" name="TextBox 35"/>
          <p:cNvSpPr txBox="1"/>
          <p:nvPr/>
        </p:nvSpPr>
        <p:spPr>
          <a:xfrm>
            <a:off x="8615476" y="3608832"/>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Values are effective-dated</a:t>
            </a:r>
          </a:p>
        </p:txBody>
      </p:sp>
      <p:sp>
        <p:nvSpPr>
          <p:cNvPr id="37" name="TextBox 36"/>
          <p:cNvSpPr txBox="1"/>
          <p:nvPr/>
        </p:nvSpPr>
        <p:spPr>
          <a:xfrm>
            <a:off x="8304580" y="4084320"/>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Reference sources keep every published version, and payroll resolves the version in force on the payout date.</a:t>
            </a:r>
          </a:p>
        </p:txBody>
      </p:sp>
      <p:sp>
        <p:nvSpPr>
          <p:cNvPr id="38" name="Rounded Rectangle 37"/>
          <p:cNvSpPr/>
          <p:nvPr/>
        </p:nvSpPr>
        <p:spPr>
          <a:xfrm>
            <a:off x="56692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Rectangle 38"/>
          <p:cNvSpPr/>
          <p:nvPr/>
        </p:nvSpPr>
        <p:spPr>
          <a:xfrm>
            <a:off x="566928" y="4858512"/>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Oval 39"/>
          <p:cNvSpPr/>
          <p:nvPr/>
        </p:nvSpPr>
        <p:spPr>
          <a:xfrm>
            <a:off x="722376" y="5041392"/>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7</a:t>
            </a:r>
          </a:p>
        </p:txBody>
      </p:sp>
      <p:sp>
        <p:nvSpPr>
          <p:cNvPr id="41" name="TextBox 40"/>
          <p:cNvSpPr txBox="1"/>
          <p:nvPr/>
        </p:nvSpPr>
        <p:spPr>
          <a:xfrm>
            <a:off x="113385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Payments are bound to formulas</a:t>
            </a:r>
          </a:p>
        </p:txBody>
      </p:sp>
      <p:sp>
        <p:nvSpPr>
          <p:cNvPr id="42" name="TextBox 41"/>
          <p:cNvSpPr txBox="1"/>
          <p:nvPr/>
        </p:nvSpPr>
        <p:spPr>
          <a:xfrm>
            <a:off x="82296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A configuration names the computation that produces its amount and the source of every variable that computation needs.</a:t>
            </a:r>
          </a:p>
        </p:txBody>
      </p:sp>
      <p:sp>
        <p:nvSpPr>
          <p:cNvPr id="43" name="Rounded Rectangle 42"/>
          <p:cNvSpPr/>
          <p:nvPr/>
        </p:nvSpPr>
        <p:spPr>
          <a:xfrm>
            <a:off x="4307738" y="4858512"/>
            <a:ext cx="3576218" cy="1322832"/>
          </a:xfrm>
          <a:prstGeom prst="roundRect">
            <a:avLst>
              <a:gd name="adj" fmla="val 5000"/>
            </a:avLst>
          </a:prstGeom>
          <a:solidFill>
            <a:srgbClr val="FFFFFF"/>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Rectangle 43"/>
          <p:cNvSpPr/>
          <p:nvPr/>
        </p:nvSpPr>
        <p:spPr>
          <a:xfrm>
            <a:off x="4307738" y="4858512"/>
            <a:ext cx="3576218" cy="41148"/>
          </a:xfrm>
          <a:prstGeom prst="rect">
            <a:avLst/>
          </a:prstGeom>
          <a:solidFill>
            <a:srgbClr val="0F76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Oval 44"/>
          <p:cNvSpPr/>
          <p:nvPr/>
        </p:nvSpPr>
        <p:spPr>
          <a:xfrm>
            <a:off x="4463186" y="5041392"/>
            <a:ext cx="310896" cy="310896"/>
          </a:xfrm>
          <a:prstGeom prst="ellipse">
            <a:avLst/>
          </a:prstGeom>
          <a:solidFill>
            <a:srgbClr val="E6F4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0F766E"/>
                </a:solidFill>
                <a:latin typeface="Segoe UI Semibold"/>
              </a:rPr>
              <a:t>8</a:t>
            </a:r>
          </a:p>
        </p:txBody>
      </p:sp>
      <p:sp>
        <p:nvSpPr>
          <p:cNvPr id="46" name="TextBox 45"/>
          <p:cNvSpPr txBox="1"/>
          <p:nvPr/>
        </p:nvSpPr>
        <p:spPr>
          <a:xfrm>
            <a:off x="4874666" y="5096256"/>
            <a:ext cx="2789834" cy="365760"/>
          </a:xfrm>
          <a:prstGeom prst="rect">
            <a:avLst/>
          </a:prstGeom>
          <a:noFill/>
        </p:spPr>
        <p:txBody>
          <a:bodyPr wrap="square" anchor="t" lIns="0" rIns="0" tIns="0" bIns="0">
            <a:spAutoFit/>
          </a:bodyPr>
          <a:lstStyle/>
          <a:p>
            <a:pPr algn="l">
              <a:lnSpc>
                <a:spcPct val="114000"/>
              </a:lnSpc>
              <a:spcBef>
                <a:spcPts val="0"/>
              </a:spcBef>
              <a:spcAft>
                <a:spcPts val="0"/>
              </a:spcAft>
            </a:pPr>
            <a:r>
              <a:rPr sz="1300" b="1" i="0">
                <a:solidFill>
                  <a:srgbClr val="241243"/>
                </a:solidFill>
                <a:latin typeface="Segoe UI Semibold"/>
              </a:rPr>
              <a:t>Scope is stated once and applied</a:t>
            </a:r>
          </a:p>
        </p:txBody>
      </p:sp>
      <p:sp>
        <p:nvSpPr>
          <p:cNvPr id="47" name="TextBox 46"/>
          <p:cNvSpPr txBox="1"/>
          <p:nvPr/>
        </p:nvSpPr>
        <p:spPr>
          <a:xfrm>
            <a:off x="4563770" y="5571744"/>
            <a:ext cx="3100730" cy="536448"/>
          </a:xfrm>
          <a:prstGeom prst="rect">
            <a:avLst/>
          </a:prstGeom>
          <a:noFill/>
        </p:spPr>
        <p:txBody>
          <a:bodyPr wrap="square" anchor="t" lIns="0" rIns="0" tIns="0" bIns="0">
            <a:spAutoFit/>
          </a:bodyPr>
          <a:lstStyle/>
          <a:p>
            <a:pPr algn="l">
              <a:lnSpc>
                <a:spcPct val="130000"/>
              </a:lnSpc>
              <a:spcBef>
                <a:spcPts val="0"/>
              </a:spcBef>
              <a:spcAft>
                <a:spcPts val="0"/>
              </a:spcAft>
            </a:pPr>
            <a:r>
              <a:rPr sz="1000" b="0" i="0">
                <a:solidFill>
                  <a:srgbClr val="6B6675"/>
                </a:solidFill>
                <a:latin typeface="Segoe UI"/>
              </a:rPr>
              <a:t>One applicability model across the policy engines and the payroll configurations, enforced by the run and reported where it withholds.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2191695" cy="91440"/>
          </a:xfrm>
          <a:prstGeom prst="rect">
            <a:avLst/>
          </a:prstGeom>
          <a:solidFill>
            <a:srgbClr val="54248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566928" y="420624"/>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1050" b="1" i="0">
                <a:solidFill>
                  <a:srgbClr val="7C3FC2"/>
                </a:solidFill>
                <a:latin typeface="Segoe UI Semibold"/>
              </a:rPr>
              <a:t>APPENDIX</a:t>
            </a:r>
          </a:p>
        </p:txBody>
      </p:sp>
      <p:sp>
        <p:nvSpPr>
          <p:cNvPr id="5" name="TextBox 4"/>
          <p:cNvSpPr txBox="1"/>
          <p:nvPr/>
        </p:nvSpPr>
        <p:spPr>
          <a:xfrm>
            <a:off x="566928" y="694944"/>
            <a:ext cx="11057839" cy="658368"/>
          </a:xfrm>
          <a:prstGeom prst="rect">
            <a:avLst/>
          </a:prstGeom>
          <a:noFill/>
        </p:spPr>
        <p:txBody>
          <a:bodyPr wrap="square" anchor="t" lIns="0" rIns="0" tIns="0" bIns="0">
            <a:spAutoFit/>
          </a:bodyPr>
          <a:lstStyle/>
          <a:p>
            <a:pPr algn="l">
              <a:lnSpc>
                <a:spcPct val="105000"/>
              </a:lnSpc>
              <a:spcBef>
                <a:spcPts val="0"/>
              </a:spcBef>
              <a:spcAft>
                <a:spcPts val="0"/>
              </a:spcAft>
            </a:pPr>
            <a:r>
              <a:rPr sz="2900" b="1" i="0">
                <a:solidFill>
                  <a:srgbClr val="241243"/>
                </a:solidFill>
                <a:latin typeface="Segoe UI Semibold"/>
              </a:rPr>
              <a:t>How this deck was prepared</a:t>
            </a:r>
          </a:p>
        </p:txBody>
      </p:sp>
      <p:sp>
        <p:nvSpPr>
          <p:cNvPr id="6" name="TextBox 5"/>
          <p:cNvSpPr txBox="1"/>
          <p:nvPr/>
        </p:nvSpPr>
        <p:spPr>
          <a:xfrm>
            <a:off x="566928" y="1298448"/>
            <a:ext cx="9692640" cy="457200"/>
          </a:xfrm>
          <a:prstGeom prst="rect">
            <a:avLst/>
          </a:prstGeom>
          <a:noFill/>
        </p:spPr>
        <p:txBody>
          <a:bodyPr wrap="square" anchor="t" lIns="0" rIns="0" tIns="0" bIns="0">
            <a:spAutoFit/>
          </a:bodyPr>
          <a:lstStyle/>
          <a:p>
            <a:pPr algn="l">
              <a:lnSpc>
                <a:spcPct val="128000"/>
              </a:lnSpc>
              <a:spcBef>
                <a:spcPts val="0"/>
              </a:spcBef>
              <a:spcAft>
                <a:spcPts val="0"/>
              </a:spcAft>
            </a:pPr>
            <a:r>
              <a:rPr sz="1350" b="0" i="0">
                <a:solidFill>
                  <a:srgbClr val="6B6675"/>
                </a:solidFill>
                <a:latin typeface="Segoe UI"/>
              </a:rPr>
              <a:t>So the screens and the claims behind them can be checked.</a:t>
            </a:r>
          </a:p>
        </p:txBody>
      </p:sp>
      <p:sp>
        <p:nvSpPr>
          <p:cNvPr id="7" name="TextBox 6"/>
          <p:cNvSpPr txBox="1"/>
          <p:nvPr/>
        </p:nvSpPr>
        <p:spPr>
          <a:xfrm>
            <a:off x="566928" y="6382512"/>
            <a:ext cx="11057839" cy="237744"/>
          </a:xfrm>
          <a:prstGeom prst="rect">
            <a:avLst/>
          </a:prstGeom>
          <a:noFill/>
        </p:spPr>
        <p:txBody>
          <a:bodyPr wrap="square" anchor="t" lIns="0" rIns="0" tIns="0" bIns="0">
            <a:spAutoFit/>
          </a:bodyPr>
          <a:lstStyle/>
          <a:p>
            <a:pPr algn="l">
              <a:lnSpc>
                <a:spcPct val="132000"/>
              </a:lnSpc>
              <a:spcBef>
                <a:spcPts val="0"/>
              </a:spcBef>
              <a:spcAft>
                <a:spcPts val="0"/>
              </a:spcAft>
            </a:pPr>
            <a:r>
              <a:rPr sz="900" b="0" i="1">
                <a:solidFill>
                  <a:srgbClr val="6B6675"/>
                </a:solidFill>
                <a:latin typeface="Segoe UI"/>
              </a:rPr>
              <a:t>Callout markers were placed from the element rectangles recorded when each screen was captured.</a:t>
            </a:r>
          </a:p>
        </p:txBody>
      </p:sp>
      <p:sp>
        <p:nvSpPr>
          <p:cNvPr id="8" name="Rounded Rectangle 7"/>
          <p:cNvSpPr/>
          <p:nvPr/>
        </p:nvSpPr>
        <p:spPr>
          <a:xfrm>
            <a:off x="566928" y="1883664"/>
            <a:ext cx="11057839" cy="402336"/>
          </a:xfrm>
          <a:prstGeom prst="roundRect">
            <a:avLst>
              <a:gd name="adj" fmla="val 4000"/>
            </a:avLst>
          </a:prstGeom>
          <a:solidFill>
            <a:srgbClr val="F2EB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731520" y="1984248"/>
            <a:ext cx="1937247"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SOURCE</a:t>
            </a:r>
          </a:p>
        </p:txBody>
      </p:sp>
      <p:sp>
        <p:nvSpPr>
          <p:cNvPr id="10" name="TextBox 9"/>
          <p:cNvSpPr txBox="1"/>
          <p:nvPr/>
        </p:nvSpPr>
        <p:spPr>
          <a:xfrm>
            <a:off x="2943087" y="1984248"/>
            <a:ext cx="5254599"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WHAT WAS USED</a:t>
            </a:r>
          </a:p>
        </p:txBody>
      </p:sp>
      <p:sp>
        <p:nvSpPr>
          <p:cNvPr id="11" name="TextBox 10"/>
          <p:cNvSpPr txBox="1"/>
          <p:nvPr/>
        </p:nvSpPr>
        <p:spPr>
          <a:xfrm>
            <a:off x="8472006" y="1984248"/>
            <a:ext cx="3043031" cy="274320"/>
          </a:xfrm>
          <a:prstGeom prst="rect">
            <a:avLst/>
          </a:prstGeom>
          <a:noFill/>
        </p:spPr>
        <p:txBody>
          <a:bodyPr wrap="square" anchor="t" lIns="0" rIns="0" tIns="0" bIns="0">
            <a:spAutoFit/>
          </a:bodyPr>
          <a:lstStyle/>
          <a:p>
            <a:pPr algn="l">
              <a:lnSpc>
                <a:spcPct val="132000"/>
              </a:lnSpc>
              <a:spcBef>
                <a:spcPts val="0"/>
              </a:spcBef>
              <a:spcAft>
                <a:spcPts val="0"/>
              </a:spcAft>
            </a:pPr>
            <a:r>
              <a:rPr sz="950" b="1" i="0">
                <a:solidFill>
                  <a:srgbClr val="54248F"/>
                </a:solidFill>
                <a:latin typeface="Segoe UI Semibold"/>
              </a:rPr>
              <a:t>WHERE IT APPEARS</a:t>
            </a:r>
          </a:p>
        </p:txBody>
      </p:sp>
      <p:sp>
        <p:nvSpPr>
          <p:cNvPr id="12" name="Rounded Rectangle 11"/>
          <p:cNvSpPr/>
          <p:nvPr/>
        </p:nvSpPr>
        <p:spPr>
          <a:xfrm>
            <a:off x="566928" y="2377440"/>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31520" y="2496312"/>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Live prototype</a:t>
            </a:r>
          </a:p>
        </p:txBody>
      </p:sp>
      <p:sp>
        <p:nvSpPr>
          <p:cNvPr id="14" name="TextBox 13"/>
          <p:cNvSpPr txBox="1"/>
          <p:nvPr/>
        </p:nvSpPr>
        <p:spPr>
          <a:xfrm>
            <a:off x="2943087" y="2496312"/>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ATLAS local application, captured on 27 August 2026 from the running build.</a:t>
            </a:r>
          </a:p>
        </p:txBody>
      </p:sp>
      <p:sp>
        <p:nvSpPr>
          <p:cNvPr id="15" name="TextBox 14"/>
          <p:cNvSpPr txBox="1"/>
          <p:nvPr/>
        </p:nvSpPr>
        <p:spPr>
          <a:xfrm>
            <a:off x="8472006" y="2496312"/>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Every screenshot and the animated walkthrough.</a:t>
            </a:r>
          </a:p>
        </p:txBody>
      </p:sp>
      <p:sp>
        <p:nvSpPr>
          <p:cNvPr id="16" name="Rounded Rectangle 15"/>
          <p:cNvSpPr/>
          <p:nvPr/>
        </p:nvSpPr>
        <p:spPr>
          <a:xfrm>
            <a:off x="566928" y="3152851"/>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31520" y="3271723"/>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Posted payroll</a:t>
            </a:r>
          </a:p>
        </p:txBody>
      </p:sp>
      <p:sp>
        <p:nvSpPr>
          <p:cNvPr id="18" name="TextBox 17"/>
          <p:cNvSpPr txBox="1"/>
          <p:nvPr/>
        </p:nvSpPr>
        <p:spPr>
          <a:xfrm>
            <a:off x="2943087" y="3271723"/>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PR-2025-11-E2E, a semi-monthly run calculated, reviewed, approved and posted in the prototype through its own workflow.</a:t>
            </a:r>
          </a:p>
        </p:txBody>
      </p:sp>
      <p:sp>
        <p:nvSpPr>
          <p:cNvPr id="19" name="TextBox 18"/>
          <p:cNvSpPr txBox="1"/>
          <p:nvPr/>
        </p:nvSpPr>
        <p:spPr>
          <a:xfrm>
            <a:off x="8472006" y="3271723"/>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version snapshot, and every payroll-usage figure.</a:t>
            </a:r>
          </a:p>
        </p:txBody>
      </p:sp>
      <p:sp>
        <p:nvSpPr>
          <p:cNvPr id="20" name="Rounded Rectangle 19"/>
          <p:cNvSpPr/>
          <p:nvPr/>
        </p:nvSpPr>
        <p:spPr>
          <a:xfrm>
            <a:off x="566928" y="3928262"/>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31520" y="4047134"/>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Application source</a:t>
            </a:r>
          </a:p>
        </p:txBody>
      </p:sp>
      <p:sp>
        <p:nvSpPr>
          <p:cNvPr id="22" name="TextBox 21"/>
          <p:cNvSpPr txBox="1"/>
          <p:nvPr/>
        </p:nvSpPr>
        <p:spPr>
          <a:xfrm>
            <a:off x="2943087" y="4047134"/>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975" b="0" i="0">
                <a:solidFill>
                  <a:srgbClr val="6B6675"/>
                </a:solidFill>
                <a:latin typeface="Segoe UI"/>
              </a:rPr>
              <a:t>computationGovernance.js, computationCatalog.js, computationBindings.js, applicabilityScope.js, payrollEngine.js, payrollRuns.js, ComputationalBasis.jsx, serviceModules.jsx.</a:t>
            </a:r>
          </a:p>
        </p:txBody>
      </p:sp>
      <p:sp>
        <p:nvSpPr>
          <p:cNvPr id="23" name="TextBox 22"/>
          <p:cNvSpPr txBox="1"/>
          <p:nvPr/>
        </p:nvSpPr>
        <p:spPr>
          <a:xfrm>
            <a:off x="8472006" y="4047134"/>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rules described on the protection, company-scope, binding and applicability pages.</a:t>
            </a:r>
          </a:p>
        </p:txBody>
      </p:sp>
      <p:sp>
        <p:nvSpPr>
          <p:cNvPr id="24" name="Rounded Rectangle 23"/>
          <p:cNvSpPr/>
          <p:nvPr/>
        </p:nvSpPr>
        <p:spPr>
          <a:xfrm>
            <a:off x="566928" y="4703673"/>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31520" y="4822545"/>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 second payroll</a:t>
            </a:r>
          </a:p>
        </p:txBody>
      </p:sp>
      <p:sp>
        <p:nvSpPr>
          <p:cNvPr id="26" name="TextBox 25"/>
          <p:cNvSpPr txBox="1"/>
          <p:nvPr/>
        </p:nvSpPr>
        <p:spPr>
          <a:xfrm>
            <a:off x="2943087" y="4822545"/>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PR-2025-11-001, a November run calculated over the bound configuration so the same rule could be seen applying to one employee and withheld from another.</a:t>
            </a:r>
          </a:p>
        </p:txBody>
      </p:sp>
      <p:sp>
        <p:nvSpPr>
          <p:cNvPr id="27" name="TextBox 26"/>
          <p:cNvSpPr txBox="1"/>
          <p:nvPr/>
        </p:nvSpPr>
        <p:spPr>
          <a:xfrm>
            <a:off x="8472006" y="4822545"/>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bound payroll step and the exception register.</a:t>
            </a:r>
          </a:p>
        </p:txBody>
      </p:sp>
      <p:sp>
        <p:nvSpPr>
          <p:cNvPr id="28" name="Rounded Rectangle 27"/>
          <p:cNvSpPr/>
          <p:nvPr/>
        </p:nvSpPr>
        <p:spPr>
          <a:xfrm>
            <a:off x="566928" y="5479084"/>
            <a:ext cx="11057839" cy="702259"/>
          </a:xfrm>
          <a:prstGeom prst="roundRect">
            <a:avLst>
              <a:gd name="adj" fmla="val 5000"/>
            </a:avLst>
          </a:prstGeom>
          <a:solidFill>
            <a:srgbClr val="F7F8FB"/>
          </a:solidFill>
          <a:ln w="12700">
            <a:solidFill>
              <a:srgbClr val="E8E7ED"/>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31520" y="5597956"/>
            <a:ext cx="1918959" cy="482803"/>
          </a:xfrm>
          <a:prstGeom prst="rect">
            <a:avLst/>
          </a:prstGeom>
          <a:noFill/>
        </p:spPr>
        <p:txBody>
          <a:bodyPr wrap="square" anchor="t" lIns="0" rIns="0" tIns="0" bIns="0">
            <a:spAutoFit/>
          </a:bodyPr>
          <a:lstStyle/>
          <a:p>
            <a:pPr algn="l">
              <a:lnSpc>
                <a:spcPct val="130000"/>
              </a:lnSpc>
              <a:spcBef>
                <a:spcPts val="0"/>
              </a:spcBef>
              <a:spcAft>
                <a:spcPts val="0"/>
              </a:spcAft>
            </a:pPr>
            <a:r>
              <a:rPr sz="1120" b="1" i="0">
                <a:solidFill>
                  <a:srgbClr val="241243"/>
                </a:solidFill>
                <a:latin typeface="Segoe UI Semibold"/>
              </a:rPr>
              <a:t>Automated checks</a:t>
            </a:r>
          </a:p>
        </p:txBody>
      </p:sp>
      <p:sp>
        <p:nvSpPr>
          <p:cNvPr id="30" name="TextBox 29"/>
          <p:cNvSpPr txBox="1"/>
          <p:nvPr/>
        </p:nvSpPr>
        <p:spPr>
          <a:xfrm>
            <a:off x="2943087" y="5597956"/>
            <a:ext cx="5236311"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The prototype's test suite, including a governance suite covering delete protection, company isolation and version resolution.</a:t>
            </a:r>
          </a:p>
        </p:txBody>
      </p:sp>
      <p:sp>
        <p:nvSpPr>
          <p:cNvPr id="31" name="TextBox 30"/>
          <p:cNvSpPr txBox="1"/>
          <p:nvPr/>
        </p:nvSpPr>
        <p:spPr>
          <a:xfrm>
            <a:off x="8472006" y="5597956"/>
            <a:ext cx="3024743" cy="482803"/>
          </a:xfrm>
          <a:prstGeom prst="rect">
            <a:avLst/>
          </a:prstGeom>
          <a:noFill/>
        </p:spPr>
        <p:txBody>
          <a:bodyPr wrap="square" anchor="t" lIns="0" rIns="0" tIns="0" bIns="0">
            <a:spAutoFit/>
          </a:bodyPr>
          <a:lstStyle/>
          <a:p>
            <a:pPr algn="l">
              <a:lnSpc>
                <a:spcPct val="130000"/>
              </a:lnSpc>
              <a:spcBef>
                <a:spcPts val="0"/>
              </a:spcBef>
              <a:spcAft>
                <a:spcPts val="0"/>
              </a:spcAft>
            </a:pPr>
            <a:r>
              <a:rPr sz="1050" b="0" i="0">
                <a:solidFill>
                  <a:srgbClr val="6B6675"/>
                </a:solidFill>
                <a:latin typeface="Segoe UI"/>
              </a:rPr>
              <a:t>Confirmation that the rules hold outside the screens shown.</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412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0" y="0"/>
            <a:ext cx="146304" cy="6858000"/>
          </a:xfrm>
          <a:prstGeom prst="rect">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841248" y="841248"/>
            <a:ext cx="9509760" cy="822960"/>
          </a:xfrm>
          <a:prstGeom prst="rect">
            <a:avLst/>
          </a:prstGeom>
          <a:noFill/>
        </p:spPr>
        <p:txBody>
          <a:bodyPr wrap="square" anchor="t" lIns="0" rIns="0" tIns="0" bIns="0">
            <a:spAutoFit/>
          </a:bodyPr>
          <a:lstStyle/>
          <a:p>
            <a:pPr algn="l">
              <a:lnSpc>
                <a:spcPct val="106000"/>
              </a:lnSpc>
              <a:spcBef>
                <a:spcPts val="0"/>
              </a:spcBef>
              <a:spcAft>
                <a:spcPts val="0"/>
              </a:spcAft>
            </a:pPr>
            <a:r>
              <a:rPr sz="3400" b="1" i="0">
                <a:solidFill>
                  <a:srgbClr val="FFFFFF"/>
                </a:solidFill>
                <a:latin typeface="Segoe UI Semibold"/>
              </a:rPr>
              <a:t>Key takeaways</a:t>
            </a:r>
          </a:p>
        </p:txBody>
      </p:sp>
      <p:sp>
        <p:nvSpPr>
          <p:cNvPr id="5" name="Oval 4"/>
          <p:cNvSpPr/>
          <p:nvPr/>
        </p:nvSpPr>
        <p:spPr>
          <a:xfrm>
            <a:off x="795528" y="1892808"/>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1</a:t>
            </a:r>
          </a:p>
        </p:txBody>
      </p:sp>
      <p:sp>
        <p:nvSpPr>
          <p:cNvPr id="6" name="TextBox 5"/>
          <p:cNvSpPr txBox="1"/>
          <p:nvPr/>
        </p:nvSpPr>
        <p:spPr>
          <a:xfrm>
            <a:off x="1499616" y="1883664"/>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Payroll explains itself from its own record</a:t>
            </a:r>
          </a:p>
        </p:txBody>
      </p:sp>
      <p:sp>
        <p:nvSpPr>
          <p:cNvPr id="7" name="TextBox 6"/>
          <p:cNvSpPr txBox="1"/>
          <p:nvPr/>
        </p:nvSpPr>
        <p:spPr>
          <a:xfrm>
            <a:off x="1499616" y="2176272"/>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A transaction stores the version and expression behind every amount, so an earlier payroll stays reproducible after the formula changes.</a:t>
            </a:r>
          </a:p>
        </p:txBody>
      </p:sp>
      <p:sp>
        <p:nvSpPr>
          <p:cNvPr id="8" name="Oval 7"/>
          <p:cNvSpPr/>
          <p:nvPr/>
        </p:nvSpPr>
        <p:spPr>
          <a:xfrm>
            <a:off x="795528" y="2916936"/>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2</a:t>
            </a:r>
          </a:p>
        </p:txBody>
      </p:sp>
      <p:sp>
        <p:nvSpPr>
          <p:cNvPr id="9" name="TextBox 8"/>
          <p:cNvSpPr txBox="1"/>
          <p:nvPr/>
        </p:nvSpPr>
        <p:spPr>
          <a:xfrm>
            <a:off x="1499616" y="2907792"/>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Use closes the door, not the role</a:t>
            </a:r>
          </a:p>
        </p:txBody>
      </p:sp>
      <p:sp>
        <p:nvSpPr>
          <p:cNvPr id="10" name="TextBox 9"/>
          <p:cNvSpPr txBox="1"/>
          <p:nvPr/>
        </p:nvSpPr>
        <p:spPr>
          <a:xfrm>
            <a:off x="1499616" y="3200400"/>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What may be edited or deleted depends on whether a posted payroll applied the code — the same rule for a Client Admin and a Super Admin.</a:t>
            </a:r>
          </a:p>
        </p:txBody>
      </p:sp>
      <p:sp>
        <p:nvSpPr>
          <p:cNvPr id="11" name="Oval 10"/>
          <p:cNvSpPr/>
          <p:nvPr/>
        </p:nvSpPr>
        <p:spPr>
          <a:xfrm>
            <a:off x="795528" y="3941064"/>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3</a:t>
            </a:r>
          </a:p>
        </p:txBody>
      </p:sp>
      <p:sp>
        <p:nvSpPr>
          <p:cNvPr id="12" name="TextBox 11"/>
          <p:cNvSpPr txBox="1"/>
          <p:nvPr/>
        </p:nvSpPr>
        <p:spPr>
          <a:xfrm>
            <a:off x="1499616" y="3931920"/>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A standard is one record</a:t>
            </a:r>
          </a:p>
        </p:txBody>
      </p:sp>
      <p:sp>
        <p:nvSpPr>
          <p:cNvPr id="13" name="TextBox 12"/>
          <p:cNvSpPr txBox="1"/>
          <p:nvPr/>
        </p:nvSpPr>
        <p:spPr>
          <a:xfrm>
            <a:off x="1499616" y="4224528"/>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Defined centrally, applied to selected companies, activated by each. No company holds its own copy.</a:t>
            </a:r>
          </a:p>
        </p:txBody>
      </p:sp>
      <p:sp>
        <p:nvSpPr>
          <p:cNvPr id="14" name="Oval 13"/>
          <p:cNvSpPr/>
          <p:nvPr/>
        </p:nvSpPr>
        <p:spPr>
          <a:xfrm>
            <a:off x="795528" y="4965192"/>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4</a:t>
            </a:r>
          </a:p>
        </p:txBody>
      </p:sp>
      <p:sp>
        <p:nvSpPr>
          <p:cNvPr id="15" name="TextBox 14"/>
          <p:cNvSpPr txBox="1"/>
          <p:nvPr/>
        </p:nvSpPr>
        <p:spPr>
          <a:xfrm>
            <a:off x="1499616" y="4956048"/>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A payment names its formula and its inputs</a:t>
            </a:r>
          </a:p>
        </p:txBody>
      </p:sp>
      <p:sp>
        <p:nvSpPr>
          <p:cNvPr id="16" name="TextBox 15"/>
          <p:cNvSpPr txBox="1"/>
          <p:nvPr/>
        </p:nvSpPr>
        <p:spPr>
          <a:xfrm>
            <a:off x="1499616" y="5248656"/>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An earning or deduction says which computation produces its amount and where each variable comes from, and payroll applies exactly that.</a:t>
            </a:r>
          </a:p>
        </p:txBody>
      </p:sp>
      <p:sp>
        <p:nvSpPr>
          <p:cNvPr id="17" name="Oval 16"/>
          <p:cNvSpPr/>
          <p:nvPr/>
        </p:nvSpPr>
        <p:spPr>
          <a:xfrm>
            <a:off x="795528" y="5989320"/>
            <a:ext cx="420624" cy="420624"/>
          </a:xfrm>
          <a:prstGeom prst="ellipse">
            <a:avLst/>
          </a:prstGeom>
          <a:solidFill>
            <a:srgbClr val="7C3FC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Segoe UI Semibold"/>
              </a:rPr>
              <a:t>5</a:t>
            </a:r>
          </a:p>
        </p:txBody>
      </p:sp>
      <p:sp>
        <p:nvSpPr>
          <p:cNvPr id="18" name="TextBox 17"/>
          <p:cNvSpPr txBox="1"/>
          <p:nvPr/>
        </p:nvSpPr>
        <p:spPr>
          <a:xfrm>
            <a:off x="1499616" y="5980176"/>
            <a:ext cx="9692640" cy="292608"/>
          </a:xfrm>
          <a:prstGeom prst="rect">
            <a:avLst/>
          </a:prstGeom>
          <a:noFill/>
        </p:spPr>
        <p:txBody>
          <a:bodyPr wrap="square" anchor="t" lIns="0" rIns="0" tIns="0" bIns="0">
            <a:spAutoFit/>
          </a:bodyPr>
          <a:lstStyle/>
          <a:p>
            <a:pPr algn="l">
              <a:lnSpc>
                <a:spcPct val="115000"/>
              </a:lnSpc>
              <a:spcBef>
                <a:spcPts val="0"/>
              </a:spcBef>
              <a:spcAft>
                <a:spcPts val="0"/>
              </a:spcAft>
            </a:pPr>
            <a:r>
              <a:rPr sz="1500" b="1" i="0">
                <a:solidFill>
                  <a:srgbClr val="FFFFFF"/>
                </a:solidFill>
                <a:latin typeface="Segoe UI Semibold"/>
              </a:rPr>
              <a:t>Scope is stated once, and honoured</a:t>
            </a:r>
          </a:p>
        </p:txBody>
      </p:sp>
      <p:sp>
        <p:nvSpPr>
          <p:cNvPr id="19" name="TextBox 18"/>
          <p:cNvSpPr txBox="1"/>
          <p:nvPr/>
        </p:nvSpPr>
        <p:spPr>
          <a:xfrm>
            <a:off x="1499616" y="6272784"/>
            <a:ext cx="9509760" cy="548640"/>
          </a:xfrm>
          <a:prstGeom prst="rect">
            <a:avLst/>
          </a:prstGeom>
          <a:noFill/>
        </p:spPr>
        <p:txBody>
          <a:bodyPr wrap="square" anchor="t" lIns="0" rIns="0" tIns="0" bIns="0">
            <a:spAutoFit/>
          </a:bodyPr>
          <a:lstStyle/>
          <a:p>
            <a:pPr algn="l">
              <a:lnSpc>
                <a:spcPct val="134000"/>
              </a:lnSpc>
              <a:spcBef>
                <a:spcPts val="0"/>
              </a:spcBef>
              <a:spcAft>
                <a:spcPts val="0"/>
              </a:spcAft>
            </a:pPr>
            <a:r>
              <a:rPr sz="1160" b="0" i="0">
                <a:solidFill>
                  <a:srgbClr val="C5B8DC"/>
                </a:solidFill>
                <a:latin typeface="Segoe UI"/>
              </a:rPr>
              <a:t>Who a rule covers is said in one place, in one vocabulary, and payroll withholds the rule from anyone outside it — visibly.</a:t>
            </a:r>
          </a:p>
        </p:txBody>
      </p:sp>
      <p:sp>
        <p:nvSpPr>
          <p:cNvPr id="20" name="TextBox 19"/>
          <p:cNvSpPr txBox="1"/>
          <p:nvPr/>
        </p:nvSpPr>
        <p:spPr>
          <a:xfrm>
            <a:off x="841248" y="6199632"/>
            <a:ext cx="10424160" cy="365760"/>
          </a:xfrm>
          <a:prstGeom prst="rect">
            <a:avLst/>
          </a:prstGeom>
          <a:noFill/>
        </p:spPr>
        <p:txBody>
          <a:bodyPr wrap="square" anchor="t" lIns="0" rIns="0" tIns="0" bIns="0">
            <a:spAutoFit/>
          </a:bodyPr>
          <a:lstStyle/>
          <a:p>
            <a:pPr algn="l">
              <a:lnSpc>
                <a:spcPct val="132000"/>
              </a:lnSpc>
              <a:spcBef>
                <a:spcPts val="0"/>
              </a:spcBef>
              <a:spcAft>
                <a:spcPts val="0"/>
              </a:spcAft>
            </a:pPr>
            <a:r>
              <a:rPr sz="1000" b="0" i="1">
                <a:solidFill>
                  <a:srgbClr val="7C3FC2"/>
                </a:solidFill>
                <a:latin typeface="Segoe UI"/>
              </a:rPr>
              <a:t>ATLAS Phase 2 · Computational Basis · Part 2 · 27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